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Lst>
  <p:notesMasterIdLst>
    <p:notesMasterId r:id="rId9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rt here" id="{8f585246-3d72-b4a2-045d-4ea44bd2a0eb}">
          <p14:sldIdLst>
            <p14:sldId id="256"/>
            <p14:sldId id="257"/>
            <p14:sldId id="258"/>
          </p14:sldIdLst>
        </p14:section>
        <p14:section name="01 Packet Tracer basics" id="{b480a99b-f156-8269-03bc-55802afc4e68}">
          <p14:sldIdLst>
            <p14:sldId id="259"/>
            <p14:sldId id="260"/>
            <p14:sldId id="261"/>
            <p14:sldId id="262"/>
            <p14:sldId id="263"/>
            <p14:sldId id="264"/>
          </p14:sldIdLst>
        </p14:section>
        <p14:section name="02 The IOS command line" id="{4a638322-a4a0-2f51-d2f9-236da2e5f9a3}">
          <p14:sldIdLst>
            <p14:sldId id="265"/>
            <p14:sldId id="266"/>
            <p14:sldId id="267"/>
            <p14:sldId id="268"/>
            <p14:sldId id="269"/>
          </p14:sldIdLst>
        </p14:section>
        <p14:section name="03 Basic set-up &amp; SSH" id="{169a4bd1-791d-f0e0-e711-19c938797def}">
          <p14:sldIdLst>
            <p14:sldId id="270"/>
            <p14:sldId id="271"/>
            <p14:sldId id="272"/>
            <p14:sldId id="273"/>
            <p14:sldId id="274"/>
            <p14:sldId id="275"/>
            <p14:sldId id="276"/>
            <p14:sldId id="277"/>
            <p14:sldId id="278"/>
            <p14:sldId id="279"/>
            <p14:sldId id="280"/>
          </p14:sldIdLst>
        </p14:section>
        <p14:section name="04 VLANs &amp; trunks" id="{1f84299d-6968-8214-4007-4d1a566e3f54}">
          <p14:sldIdLst>
            <p14:sldId id="281"/>
            <p14:sldId id="282"/>
            <p14:sldId id="283"/>
            <p14:sldId id="284"/>
            <p14:sldId id="285"/>
            <p14:sldId id="286"/>
            <p14:sldId id="287"/>
            <p14:sldId id="288"/>
            <p14:sldId id="289"/>
          </p14:sldIdLst>
        </p14:section>
        <p14:section name="05 Inter-VLAN routing" id="{0c7d9675-38f2-4a2d-0bb3-854448a74e67}">
          <p14:sldIdLst>
            <p14:sldId id="290"/>
            <p14:sldId id="291"/>
            <p14:sldId id="292"/>
            <p14:sldId id="293"/>
            <p14:sldId id="294"/>
            <p14:sldId id="295"/>
          </p14:sldIdLst>
        </p14:section>
        <p14:section name="06 DHCP" id="{047d2232-391f-cc62-f2d4-525badb43093}">
          <p14:sldIdLst>
            <p14:sldId id="296"/>
            <p14:sldId id="297"/>
            <p14:sldId id="298"/>
            <p14:sldId id="299"/>
            <p14:sldId id="300"/>
            <p14:sldId id="301"/>
            <p14:sldId id="302"/>
            <p14:sldId id="303"/>
          </p14:sldIdLst>
        </p14:section>
        <p14:section name="07 Routing" id="{7055f4a0-19ff-8f77-9028-da10320dea36}">
          <p14:sldIdLst>
            <p14:sldId id="304"/>
            <p14:sldId id="305"/>
            <p14:sldId id="306"/>
            <p14:sldId id="307"/>
            <p14:sldId id="308"/>
            <p14:sldId id="309"/>
            <p14:sldId id="310"/>
            <p14:sldId id="311"/>
            <p14:sldId id="312"/>
            <p14:sldId id="313"/>
            <p14:sldId id="314"/>
          </p14:sldIdLst>
        </p14:section>
        <p14:section name="08 Security &amp; NAT" id="{759ec7e9-59da-2938-b99d-44f0bb922910}">
          <p14:sldIdLst>
            <p14:sldId id="315"/>
            <p14:sldId id="316"/>
            <p14:sldId id="317"/>
            <p14:sldId id="318"/>
            <p14:sldId id="319"/>
            <p14:sldId id="320"/>
            <p14:sldId id="321"/>
            <p14:sldId id="322"/>
            <p14:sldId id="323"/>
          </p14:sldIdLst>
        </p14:section>
        <p14:section name="09 STP &amp; EtherChannel" id="{06de71a5-1827-dc8b-ccb7-ed4e5ac7d727}">
          <p14:sldIdLst>
            <p14:sldId id="324"/>
            <p14:sldId id="325"/>
            <p14:sldId id="326"/>
            <p14:sldId id="327"/>
            <p14:sldId id="328"/>
          </p14:sldIdLst>
        </p14:section>
        <p14:section name="10 Management &amp; IPv6" id="{81ad4aba-b291-bbb5-128c-beb288cda841}">
          <p14:sldIdLst>
            <p14:sldId id="329"/>
            <p14:sldId id="330"/>
            <p14:sldId id="331"/>
            <p14:sldId id="332"/>
            <p14:sldId id="333"/>
            <p14:sldId id="334"/>
          </p14:sldIdLst>
        </p14:section>
        <p14:section name="11 Troubleshooting" id="{0b9f36a3-b9cf-f86e-d282-607dec41c589}">
          <p14:sldIdLst>
            <p14:sldId id="335"/>
            <p14:sldId id="336"/>
            <p14:sldId id="337"/>
            <p14:sldId id="338"/>
            <p14:sldId id="339"/>
            <p14:sldId id="340"/>
          </p14:sldIdLst>
        </p14:section>
        <p14:section name="12 Practice &amp; quick reference" id="{ea55489f-08b3-9c9e-7e1c-2f4e92533712}">
          <p14:sldIdLst>
            <p14:sldId id="341"/>
            <p14:sldId id="342"/>
            <p14:sldId id="343"/>
            <p14:sldId id="344"/>
            <p14:sldId id="345"/>
            <p14:sldId id="346"/>
          </p14:sldIdLst>
        </p14:section>
        <p14:section name="Close" id="{533145ed-1a98-5e45-118d-f91e460a1eda}">
          <p14:sldIdLst>
            <p14:sldId id="34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notesMaster" Target="notesMasters/notesMaster1.xml"/><Relationship Id="rId95" Type="http://schemas.openxmlformats.org/officeDocument/2006/relationships/presProps" Target="presProps.xml"/><Relationship Id="rId96" Type="http://schemas.openxmlformats.org/officeDocument/2006/relationships/viewProps" Target="viewProps.xml"/><Relationship Id="rId97" Type="http://schemas.openxmlformats.org/officeDocument/2006/relationships/theme" Target="theme/theme1.xml"/><Relationship Id="rId9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workbook pulls the Packet Tracer part of the unit into one place and turns it into step-by-step skills. Every slide starts with “How to…”, so trainees can find a skill fast and practise it alone. Commands are on the left (exactly what to type), the meaning is on the right, and each slide ends with a check and a common mistake.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anatomy once. Point out that the prompt is not typed, and that every command slide has the same layout, so trainees always know where to look. Encourage the study routine: the “break it and fix it” step builds troubleshooting skill.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Interactive menu: in Slide Show, click a tile to jump to that part. Every slide has a home button (bottom right) that returns here. Suggested order for a new class: 01 → 12. For revision, jump straight to the part you need.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01 is about the tool, not the commands. Trainees who are confident with Packet Tracer make fewer “mystery” mistakes later (wrong cable, port off, simulation left 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Packet Tracer on the projector and point at each numbered area. Positions move slightly between versions 8.x and 9.x, but the names stay the same — hovering over a button shows its name. Ask trainees to save an empty file with the naming pattern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 of thumb: “different devices – straight; same devices – cross”. A PC and a router count as the same kind (both are hosts), so a direct PC–router link needs a cross-over. Show the amber light on a new switch link and use Fast Forward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both ways. The console method matters because it is how a brand-new real device is configured, and assessors like to see it. Point out the Equivalent IOS Commands box in the Config tab as a learning aid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trainees say the three numbers aloud: address, mask, gateway. “Request timed out” means no answer; “Destination host unreachable” means a router said it has no route. Show ipconfig before every ping when troubleshooting.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one ping in Simulation mode with ARP + ICMP filters. Ask: why does ARP happen first? (The PC knows the IP but not the MAC.) Run it again — no ARP this time, because the ARP table now has the entry. This is also how to see DHCP DORA in part 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time here: most beginner errors are a correct command typed in the wrong mode, or a wrong interface name. The building analogy works well: reception (&gt;), manager’s office (#), workshop (config)#, small rooms (config-if)#.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the building on the board. Have trainees move in and out of each mode and say the prompt aloud. Quick drill: “Get me to line configuration for the console” → enable, configure terminal, line console 0. Then “back to privileged mode in one step” →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 key a habit. A good exercise: give trainees a command they have never seen (e.g. “find the command that shows the clock”) and let them discover it with ? (show clock).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each error live. Ask trainees to read the message aloud and say what kind of mistake it is (wrong mode, missing value, typo, design error) before fixing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4331 catch: in Packet Tracer its third port G0/0/2 is an empty SFP slot. Click the router → Physical tab → power switch off → drag GLC-T into the slot next to G0/0/1 → power on. Labs in this workbook that use G0/0/2 need this step. Modules are always added with the power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follows Lab 1: R1 (4331), S1 (2960), PC-A and PC-B. Every later lab starts with this starter pack, so drill it until trainees can type it from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along with trainees. Ask before each line: “What will change on the screen?” (for hostname: the prompt). Point out that the same commands work on a switch — only the prompt says Switch instead of Router.
Click-to-reveal: each click shows the next explanation; the last click shows Check it and Watch out. Before each click, ask a trainee to predict what the command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Common mistake: setting the console password but forgetting login. Demonstrate it: remove login, log out, and show that no password is asked. Then put it back.
Click-to-reveal: each click shows the next explanation; the last click shows Check it and Watch out. Before each click, ask a trainee to predict what the command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Saving the .pkt file stores the whole lab, but assessors check that each device’s startup-config is saved too, and real devices need it. Teach both habits: Ctrl+S for the file, copy run start for each device.
Click-to-reveal: each click shows the next explanation; the last click shows Check it and Watch out. Before each click, ask a trainee to predict what the command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why does a router need an IP on each port but a switch does not? (A router joins different networks; a switch forwards inside one.)
Click-to-reveal: each click shows the next explanation; the last click shows Check it and Watch out. Before each click, ask a trainee to predict what the command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output aloud row by row. Then break the network on purpose (unplug a cable, shut a port) and let trainees diagnose from the Status and Protocol columns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with the router: switch ports are on by default and need no IP; only the SVI does. In part 04 the management address moves to VLAN 99.
Click-to-reveal: each click shows the next explanation; the last click shows Check it and Watch out. Before each click, ask a trainee to predict what the command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Spaces around the dash are optional in Packet Tracer (fa0/1-24 also works). Shutting unused ports is free, effective security — assessors look for it.
Click-to-reveal: each click shows the next explanation; the last click shows Check it and Watch out. Before each click, ask a trainee to predict what the command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Remind trainees of the four ingredients: hostname, domain name, user account, RSA keys. If any is missing, SSH will not start.
Click-to-reveal: each click shows the next explanation; the last click shows Check it and Watch out. Before each click, ask a trainee to predict what the command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a trainee log in as helpdesk and try configure terminal — it fails until they enter enable. That shows privilege levels in action.
Click-to-reveal: each click shows the next explanation; the last click shows Check it and Watch out. Before each click, ask a trainee to predict what the command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about 4 hours including the SSH test. Assess with the checklist: correct cabling, own CLI typing, saved configs, successful tests, and the trainee explaining each command.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2 runs through parts 04 and 05: VLANs and trunks first, then router-on-a-stick. Part 06 (Lab 4) adds DHCP to the same file. Save a copy of the .pkt after each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building analogy: one floor (switch), walls (VLANs), a lift between floors that carries everyone but keeps their badges (the trunk and its tags). Ask: if VLAN 10 and VLAN 20 PCs are on the same switch, can they ping? (No — not without a router.)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trainees copy this plan into their notebooks before building. Assessors expect the plan (VLAN table and addressing) as evidence, and the topology labelled with Notes in Packet Tracer.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why names matter: six months later nobody remembers that VLAN 30 is finance. Show show vlan brief before and after.
Click-to-reveal: each click shows the next explanation; the last click shows Check it and Watch out. Before each click, ask a trainee to predict what the command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trainees give PC1 and PC4 (both VLAN 10) addresses and ping: it works across the switches only after the trunk on the next slide is up. PC1 to PC2 (different VLANs) must fail until part 05.
Click-to-reveal: each click shows the next explanation; the last click shows Check it and Watch out. Before each click, ask a trainee to predict what the command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PC1 can ping PC4 (same VLAN, different switches). Break it on purpose: remove VLAN 10 from the allowed list on one end and watch the ping fail.
Click-to-reveal: each click shows the next explanation; the last click shows Check it and Watch out. Before each click, ask a trainee to predict what the command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part 05 is finished, SSH from PC1 to 192.168.99.2 to prove the management VLAN works through the router.
Click-to-reveal: each click shows the next explanation; the last click shows Check it and Watch out. Before each click, ask a trainee to predict what the command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Trainees often panic that trunk ports are missing from show vlan brief. Explain that trunks belong to all allowed VLANs, so they are listed in show interfaces trunk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Troubleshooting-log example (Lab 8): “PC3 cannot ping PC6 → show interfaces trunk → VLAN 30 not allowed → switchport trunk allowed vlan add 30 → PASS”.
Click-to-reveal: each click shows the next explanation; the last click shows Check it and Watch out. Before each click, ask a trainee to predict what the command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Continue the Lab 2 file. Before starting, prove the problem: PC1 (VLAN 10) cannot ping PC2 (VLAN 20). After this part, it 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method a school with 40 VLANs should use (Layer 3 switch) and which a small office with one router should use (router-on-a-stick). The legacy method is examined as a comparison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the “stick”: one cable, many VLANs. Each sub-interface is a door for one VLAN. The number after the dot is only a label; the dot1Q number is what really matters.
Click-to-reveal: each click shows the next explanation; the last click shows Check it and Watch out. Before each click, ask a trainee to predict what the command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matrix: PC1→PC2, PC1→PC3, PC2→PC6, and from PC1 ping 192.168.99.2 (S1 management). Then SSH from PC1 to S1 through the router.
Click-to-reveal: each click shows the next explanation; the last click shows Check it and Watch out. Before each click, ask a trainee to predict what the command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in Simulation mode. Click the PDU on the trunk link going up and coming down: the 802.1Q VLAN number changes from 10 to 20. That is the whole idea of router-on-a-stick.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a small separate file for this: one 3560, two PCs in VLAN 10 and 20 on its access ports. In the capstone project the core switch works this way, with ip helper-address on each SVI for DHCP.
Click-to-reveal: each click shows the next explanation; the last click shows Check it and Watch out. Before each click, ask a trainee to predict what the command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4 here builds on the Lab 2 file: add a server LAN on R1 G0/0/0 (192.168.50.0/24: SRV1 = 192.168.50.10 for DNS/web, SRV2 = 192.168.50.11 for DHCP) and a LIBRARY LAN on R1 G0/0/2 (192.168.40.0/24). On a 4331, G0/0/2 needs a GLC-T module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Watch DORA in Simulation mode: filter DHCP only, set a PC to DHCP, and step through the four messages. Ask why Discover and Request are broadcasts (the PC has no address and does not know the server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the order: exclusions first, then the pool. If the pool exists first, a PC may lease an address that you meant to give a printer.
Click-to-reveal: each click shows the next explanation; the last click shows Check it and Watch out. Before each click, ask a trainee to predict what the command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 PC keeps “Requesting IP address”, check the VLAN of its switch port and the trunk to R1 — the DHCP request has to reach the right sub-interface.
Click-to-reveal: each click shows the next explanation; the last click shows Check it and Watch out. Before each click, ask a trainee to predict what the command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how does R1 know which pool to use? The request arrives on G0/0/1.20, whose address is 192.168.20.1, so R1 uses the pool whose network contains that address.
Click-to-reveal: each click shows the next explanation; the last click shows Check it and Watch out. Before each click, ask a trainee to predict what the command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trainees find their own PC in the binding table by matching MAC addresses. This is also the quickest way to find a device that has “disappeared” on a real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large networks work: one central DHCP server, and a helper address on every client-facing router interface or SVI. Show the relayed Discover in Simulation mode: it leaves R1 as a unicast from 192.168.40.1.
Click-to-reveal: each click shows the next explanation. Before each click, ask a trainee to predict what the command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Fault-finding game: inject one of these faults into a trainee’s file and let a partner diagnose it using only the What you see column, show commands and ipconfig.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3: three 4331 routers in a triangle joined by /30 links, each with its own LAN. Do the parts in order and remove each method before the next, because the route with the lowest administrative distance always wins.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/30 has exactly two usable addresses — one for each router on the link. Ask trainees to work out the four addresses of 10.0.0.4/30 (network .4, R2 .5, R3 .6, broadcast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Analogy: the routing table is the signboards at a junction — “Nakuru: left, Mombasa: right”. The default route is the board that says “everywhere else: take the highway”.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the floating route: shut R1’s G0/0/1 and look at show ip route — the S route via 10.0.0.10 appears. No shut it again and the original route returns.
Click-to-reveal: each click shows the next explanation; the last click shows Check it and Watch out. Before each click, ask a trainee to predict what the command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ISP link appears in Lab 6 (part 08) and in Challenge lab B. In Lab 3, try the branch idea: replace R2’s static routes with one default route to R1.
Click-to-reveal: each click shows the next explanation; the last click shows Check it and Watch out. Before each click, ask a trainee to predict what the command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Wildcard trick: 255.255.255.255 minus the subnet mask. For /24: 0.0.0.255; for /30: 0.0.0.3. The next slide has R2 and R3 in full.
Click-to-reveal: each click shows the next explanation; the last click shows Check it and Watch out. Before each click, ask a trainee to predict what the command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Common errors: typing the subnet mask instead of the wildcard (OSPF accepts it but matches nothing useful), or a network statement that does not cover the link. show ip protocols reveals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Failover test: start ping -t from PC1 to PC2, then shut R1 G0/0/1. OSPF reroutes through R3 after a few lost replies. Compare with the static lab, where nothing happens without the floating route.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commands on R2 and R3 — with RIP the network statements are identical on all three routers (172.16.0.0 and 10.0.0.0). RIP updates every 30 seconds; use Fast Forward Time.
Click-to-reveal: each click shows the next explanation; the last click shows Check it and Watch out. Before each click, ask a trainee to predict what the command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in the comparison table from the original Lab 3 part E: code, AD, metric to 172.16.2.0, failover time, lines of configuration per router.
Click-to-reveal: each click shows the next explanation; the last click shows Check it and Watch out. Before each click, ask a trainee to predict what the command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the basis of the Lab 8 troubleshooting challenge. Ask trainees to log each fault as: symptom → test → finding → fix → re-test.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6 implements a written policy. Read the policy with the class first and ask which tool enforces each line: port security, a standard ACL on the VTY lines, an extended ACL, PAT, static NAT.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ISP link is a /29 so that the static NAT address 203.0.113.5 sits in the same subnet as R1’s outside interface — the ISP router then reaches it without extra routes. G0/0/2 on a 4331 needs a GLC-T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Violation test: swap STAFF-PC for a “ROGUE” laptop, ping, and Fa0/2 goes err-disabled (red). Save the config after the sticky MACs are learned, or they are lost at reload.
Click-to-reveal: each click shows the next explanation; the last click shows Check it and Watch out. Before each click, ask a trainee to predict what the command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a few packets through the flow chart. The order trap: a broad deny above a specific permit blocks everything the permit was meant to allow.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SSH must already be configured on R1 (part 03). This is the “standard ACL near the destination” rule in action: the destination is R1 itself.
Click-to-reveal: each click shows the next explanation; the last click shows Check it and Watch out. Before each click, ask a trainee to predict what the command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line aloud as a sentence: “permit TCP from any student to host .100, port 80”. Long lines wrap in the slide, but in the CLI each permit/deny is typed on one line.
Click-to-reveal: each click shows the next explanation; the last click shows Check it and Watch out. Before each click, ask a trainee to predict what the command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ACLs are stateless: the reply from STU-PC1 enters G0/0/1 and is checked like any other packet, so line 20 drops it. Ask the class how they would allow staff to ping students (permit icmp echo-reply before line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one packet: 192.168.20.15:1025 becomes 203.0.113.2:1025 on the way out; the reply to 203.0.113.2:1025 is translated back. A second PC using port 1025 gets another public port — that is how thousands of users share one address.
Click-to-reveal: each click shows the next explanation; the last click shows Check it and Watch out. Before each click, ask a trainee to predict what the command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Static NAT is two-way and permanent; PAT entries appear only while a conversation is active. Clear dynamic entries with clear ip nat translation * if trainees want to watch them appear again.
Click-to-reveal: each click shows the next explanation; the last click shows Check it and Watch out. Before each click, ask a trainee to predict what the command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7: three 2960 switches in a triangle (cross-over cables), S1–S2 joined by two links that become an EtherChannel. PC1 on S3 Fa0/10 and PC2 on S1 Fa0/10, both in VLAN 10. All inter-switch links are trunks.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a broadcast storm only in theory — in Packet Tracer STP is on by default, which is why some ports show amber for about 30 seconds when you connect them. Ask: which port would you block to break the triangle? STP decides it for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root primary, the switch with the lowest MAC address wins by accident — often the oldest, slowest switch. Do the same PortFast and BPDU Guard on S1 Fa0/10 for PC2.
Click-to-reveal: each click shows the next explanation; the last click shows Check it and Watch out. Before each click, ask a trainee to predict what the command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During the failover test, Fa0/4 changes from Altn BLK to Root FWD and only 1–3 replies are lost. Stop ping -t with Ctrl+C. Repeat the test with classic STP (spanning-tree mode pvst) to compare recovery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LACP modes: active + active or active + passive form a bundle; passive + passive never does. Mode on forces a bundle without negotiation and must be on at both ends.
Click-to-reveal: each click shows the next explanation; the last click shows Check it and Watch out. Before each click, ask a trainee to predict what the command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9 uses the Lab 4 (DHCP) file with SRV1 (192.168.50.10) on the server LAN: switch on its NTP, SYSLOG and TFTP services first. Lab 10 (IPv6) uses a separate two-router file (R1–R2 with one LAN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NTP can take a minute to synchronise — use Fast Forward Time. Generate a log message on purpose (shut and no shut an interface) and find it on SRV1 with the correct timestamp.
Click-to-reveal: each click shows the next explanation; the last click shows Check it and Watch out. Before each click, ask a trainee to predict what the command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Mapping exercise: give trainees an unlabelled topology and let them draw it using only show cdp neighbors on each device.
Click-to-reveal: each click shows the next explanation; the last click shows Check it and Watch out. Before each click, ask a trainee to predict what the command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restore merges the file into the running-config; then save it with copy running-config startup-config. Good file names (device + date) make it easy to roll back to a known good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IPv4 and IPv6 can run on the same ports at the same time (dual stack). Remind trainees that IPv6 never uses broadcasts — Router Advertisements are multicasts.
Click-to-reveal: each click shows the next explanation; the last click shows Check it and Watch out. Before each click, ask a trainee to predict what the command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for fast trainees: replace the static routes with OSPFv3, or add IPv4 to the same ports for a dual-stack network.
Click-to-reveal: each click shows the next explanation; the last click shows Check it and Watch out. Before each click, ask a trainee to predict what the command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supports the Lab 8 troubleshooting challenge: the trainer injects 6–8 faults into a working Lab 2 + Lab 3 network; pairs find, fix and log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steps 1–3 work but 4 fails → the LAN is fine; look at routing (show ip route on each router, both directions). Steps 1–4 work but 5 fails → DNS (server address in the PC or the DHCP pool).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Turn this into a quiz: read a question, trainees shout the command. Remember the do prefix: from config mode type do show ip interface brief.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trainees which of these they have already met. Most have met the first three in Lab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row matters: trainees often “fix” a working network because the first ping lost one reply. Teach them to ping twice before deciding.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8: write a test plan (10+ tests) before touching anything, test bottom-up with the ping ladder, then log each fault in this format and write a one-page test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challenge labs for revision before the practical CAT. Trainees should build them from a blank workspace, without the slides, then use the slides only to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Assessment tip: watch trainees type rather than only checking the result, and ask them to explain three commands of your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PAT across OSPF: R1’s links to R2 and R3 are also ip nat inside, and access-list 1 must include all three LAN subnets.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Print this slide for each trainee. They tick a line only after doing the task from a blank workspace without help; anything unticked becomes their practice plan for the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Lines that start with a space are typed inside the interface (or line) above them. “...” means “switchport port-security” or “switchport trunk” as in the line above.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these cards for timed drills: call out a task (“default route to the ISP”) and trainees write the command in 10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asking each trainee to name one command they will practise tonight. Remind them that the assessment is practical: they must type the configuration themselves and explain what each command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jpe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T_CONTENT">
    <p:bg>
      <p:bgPr>
        <a:solidFill>
          <a:srgbClr val="FFFFFF"/>
        </a:solidFill>
      </p:bgPr>
    </p:bg>
    <p:spTree>
      <p:nvGrpSpPr>
        <p:cNvPr id="1" name=""/>
        <p:cNvGrpSpPr/>
        <p:nvPr/>
      </p:nvGrpSpPr>
      <p:grpSpPr>
        <a:xfrm>
          <a:off x="0" y="0"/>
          <a:ext cx="0" cy="0"/>
          <a:chOff x="0" y="0"/>
          <a:chExt cx="0" cy="0"/>
        </a:xfrm>
      </p:grpSpPr>
      <p:pic>
        <p:nvPicPr>
          <p:cNvPr id="2" name="Image 0" descr="Kabete National Polytechnic logo">    </p:cNvPr>
          <p:cNvPicPr>
            <a:picLocks noChangeAspect="1"/>
          </p:cNvPicPr>
          <p:nvPr/>
        </p:nvPicPr>
        <p:blipFill>
          <a:blip r:embed="rId1"/>
          <a:stretch>
            <a:fillRect/>
          </a:stretch>
        </p:blipFill>
        <p:spPr>
          <a:xfrm>
            <a:off x="10908792" y="219456"/>
            <a:ext cx="786384" cy="478941"/>
          </a:xfrm>
          <a:prstGeom prst="rect">
            <a:avLst/>
          </a:prstGeom>
        </p:spPr>
      </p:pic>
      <p:sp>
        <p:nvSpPr>
          <p:cNvPr id="3" name="Text 0"/>
          <p:cNvSpPr/>
          <p:nvPr/>
        </p:nvSpPr>
        <p:spPr>
          <a:xfrm>
            <a:off x="548640" y="6464808"/>
            <a:ext cx="8686800" cy="219456"/>
          </a:xfrm>
          <a:prstGeom prst="rect">
            <a:avLst/>
          </a:prstGeom>
          <a:noFill/>
          <a:ln/>
        </p:spPr>
        <p:txBody>
          <a:bodyPr wrap="square" lIns="0" tIns="0" rIns="0" bIns="0" rtlCol="0" anchor="ctr"/>
          <a:lstStyle/>
          <a:p>
            <a:pPr indent="0" marL="0">
              <a:buNone/>
            </a:pPr>
            <a:r>
              <a:rPr lang="en-US" sz="900" dirty="0">
                <a:solidFill>
                  <a:srgbClr val="6B6B6B"/>
                </a:solidFill>
              </a:rPr>
              <a:t>How to configure switches and routers in Packet Tracer  •  0612 451 07A  •  Kabete National Polytechnic</a:t>
            </a:r>
            <a:endParaRPr lang="en-US" sz="900" dirty="0"/>
          </a:p>
        </p:txBody>
      </p:sp>
      <p:sp>
        <p:nvSpPr>
          <p:cNvPr id="4" name="Text 1"/>
          <p:cNvSpPr/>
          <p:nvPr>
            <p:ph idx="102" type="body" hasCustomPrompt="1"/>
          </p:nvPr>
        </p:nvSpPr>
        <p:spPr>
          <a:xfrm>
            <a:off x="548640" y="274320"/>
            <a:ext cx="9966960" cy="256032"/>
          </a:xfrm>
          <a:prstGeom prst="rect">
            <a:avLst/>
          </a:prstGeom>
          <a:noFill/>
          <a:ln/>
        </p:spPr>
        <p:txBody>
          <a:bodyPr wrap="square" rtlCol="0"/>
          <a:lstStyle>
            <a:lvl1pPr algn="l" indent="0" marL="0">
              <a:buNone/>
              <a:defRPr lang="en-US" sz="1100" b="1" spc="100" kern="0" dirty="0">
                <a:solidFill>
                  <a:schemeClr val="accent2"/>
                </a:solidFill>
              </a:defRPr>
            </a:lvl1pPr>
          </a:lstStyle>
          <a:p>
            <a:pPr algn="l" indent="0" marL="0">
              <a:buNone/>
            </a:pPr>
            <a:endParaRPr lang="en-US" sz="1100" dirty="0"/>
          </a:p>
        </p:txBody>
      </p:sp>
      <p:sp>
        <p:nvSpPr>
          <p:cNvPr id="5" name="Text 1"/>
          <p:cNvSpPr/>
          <p:nvPr>
            <p:ph idx="103" type="title" hasCustomPrompt="1"/>
          </p:nvPr>
        </p:nvSpPr>
        <p:spPr>
          <a:xfrm>
            <a:off x="548640" y="548640"/>
            <a:ext cx="10149840" cy="548640"/>
          </a:xfrm>
          <a:prstGeom prst="rect">
            <a:avLst/>
          </a:prstGeom>
          <a:noFill/>
          <a:ln/>
        </p:spPr>
        <p:txBody>
          <a:bodyPr wrap="square" rtlCol="0"/>
          <a:lstStyle>
            <a:lvl1pPr algn="l" indent="0" marL="0">
              <a:buNone/>
              <a:defRPr lang="en-US" sz="2600" b="1" dirty="0">
                <a:solidFill>
                  <a:schemeClr val="accent1"/>
                </a:solidFill>
              </a:defRPr>
            </a:lvl1pPr>
          </a:lstStyle>
          <a:p>
            <a:pPr algn="l" indent="0" marL="0">
              <a:buNone/>
            </a:pPr>
            <a:endParaRPr lang="en-US" sz="2600" dirty="0"/>
          </a:p>
        </p:txBody>
      </p:sp>
      <p:sp>
        <p:nvSpPr>
          <p:cNvPr id="25" name="Slide Number Placeholder 0"/>
          <p:cNvSpPr>
            <a:spLocks noGrp="1"/>
          </p:cNvSpPr>
          <p:nvPr>
            <p:ph type="sldNum" sz="quarter" idx="4294967295"/>
          </p:nvPr>
        </p:nvSpPr>
        <p:spPr>
          <a:xfrm>
            <a:off x="10698480" y="6464808"/>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T_DIVIDER">
    <p:bg>
      <p:bgPr>
        <a:solidFill>
          <a:srgbClr val="1E5631"/>
        </a:solidFill>
      </p:bgPr>
    </p:bg>
    <p:spTree>
      <p:nvGrpSpPr>
        <p:cNvPr id="1" name=""/>
        <p:cNvGrpSpPr/>
        <p:nvPr/>
      </p:nvGrpSpPr>
      <p:grpSpPr>
        <a:xfrm>
          <a:off x="0" y="0"/>
          <a:ext cx="0" cy="0"/>
          <a:chOff x="0" y="0"/>
          <a:chExt cx="0" cy="0"/>
        </a:xfrm>
      </p:grpSpPr>
      <p:sp>
        <p:nvSpPr>
          <p:cNvPr id="2" name="Text 0"/>
          <p:cNvSpPr/>
          <p:nvPr/>
        </p:nvSpPr>
        <p:spPr>
          <a:xfrm>
            <a:off x="7452360" y="-2194560"/>
            <a:ext cx="6949440" cy="6949440"/>
          </a:xfrm>
          <a:prstGeom prst="ellipse">
            <a:avLst/>
          </a:prstGeom>
          <a:solidFill>
            <a:srgbClr val="2B7043">
              <a:alpha val="45000"/>
            </a:srgbClr>
          </a:solidFill>
          <a:ln/>
        </p:spPr>
        <p:txBody>
          <a:bodyPr wrap="square" rtlCol="0" anchor="ctr"/>
          <a:lstStyle/>
          <a:p>
            <a:pPr indent="0" marL="0">
              <a:buNone/>
            </a:pPr>
            <a:endParaRPr lang="en-US" dirty="0"/>
          </a:p>
        </p:txBody>
      </p:sp>
      <p:sp>
        <p:nvSpPr>
          <p:cNvPr id="3" name="Text 1"/>
          <p:cNvSpPr/>
          <p:nvPr>
            <p:ph idx="101" type="body" hasCustomPrompt="1"/>
          </p:nvPr>
        </p:nvSpPr>
        <p:spPr>
          <a:xfrm>
            <a:off x="548640" y="685800"/>
            <a:ext cx="3200400" cy="1143000"/>
          </a:xfrm>
          <a:prstGeom prst="rect">
            <a:avLst/>
          </a:prstGeom>
          <a:noFill/>
          <a:ln/>
        </p:spPr>
        <p:txBody>
          <a:bodyPr wrap="square" rtlCol="0"/>
          <a:lstStyle>
            <a:lvl1pPr algn="l" indent="0" marL="0">
              <a:buNone/>
              <a:defRPr lang="en-US" sz="7200" b="1" dirty="0">
                <a:solidFill>
                  <a:schemeClr val="accent3"/>
                </a:solidFill>
                <a:latin typeface="Cambria" pitchFamily="34" charset="0"/>
                <a:ea typeface="Cambria" pitchFamily="34" charset="-122"/>
                <a:cs typeface="Cambria" pitchFamily="34" charset="-120"/>
              </a:defRPr>
            </a:lvl1pPr>
          </a:lstStyle>
          <a:p>
            <a:pPr algn="l" indent="0" marL="0">
              <a:buNone/>
            </a:pPr>
            <a:endParaRPr lang="en-US" sz="7200" dirty="0"/>
          </a:p>
        </p:txBody>
      </p:sp>
      <p:sp>
        <p:nvSpPr>
          <p:cNvPr id="4" name="Text 1"/>
          <p:cNvSpPr/>
          <p:nvPr>
            <p:ph idx="102" type="title" hasCustomPrompt="1"/>
          </p:nvPr>
        </p:nvSpPr>
        <p:spPr>
          <a:xfrm>
            <a:off x="548640" y="2011680"/>
            <a:ext cx="6492240" cy="1600200"/>
          </a:xfrm>
          <a:prstGeom prst="rect">
            <a:avLst/>
          </a:prstGeom>
          <a:noFill/>
          <a:ln/>
        </p:spPr>
        <p:txBody>
          <a:bodyPr wrap="square" rtlCol="0"/>
          <a:lstStyle>
            <a:lvl1pPr algn="l" indent="0" marL="0">
              <a:buNone/>
              <a:defRPr lang="en-US" sz="3400" b="1" dirty="0">
                <a:solidFill>
                  <a:srgbClr val="FFFFFF"/>
                </a:solidFill>
              </a:defRPr>
            </a:lvl1pPr>
          </a:lstStyle>
          <a:p>
            <a:pPr algn="l" indent="0" marL="0">
              <a:buNone/>
            </a:pPr>
            <a:endParaRPr lang="en-US" sz="3400" dirty="0"/>
          </a:p>
        </p:txBody>
      </p:sp>
      <p:sp>
        <p:nvSpPr>
          <p:cNvPr id="5" name="Text 1"/>
          <p:cNvSpPr/>
          <p:nvPr>
            <p:ph idx="103" type="body" hasCustomPrompt="1"/>
          </p:nvPr>
        </p:nvSpPr>
        <p:spPr>
          <a:xfrm>
            <a:off x="548640" y="3703320"/>
            <a:ext cx="6309360" cy="1188720"/>
          </a:xfrm>
          <a:prstGeom prst="rect">
            <a:avLst/>
          </a:prstGeom>
          <a:noFill/>
          <a:ln/>
        </p:spPr>
        <p:txBody>
          <a:bodyPr wrap="square" rtlCol="0"/>
          <a:lstStyle>
            <a:lvl1pPr algn="l" indent="0" marL="0">
              <a:buNone/>
              <a:defRPr lang="en-US" sz="1600" dirty="0">
                <a:solidFill>
                  <a:srgbClr val="CFE3D4"/>
                </a:solidFill>
              </a:defRPr>
            </a:lvl1pPr>
          </a:lstStyle>
          <a:p>
            <a:pPr algn="l" indent="0" marL="0">
              <a:buNone/>
            </a:pPr>
            <a:endParaRPr lang="en-US" sz="1600" dirty="0"/>
          </a:p>
        </p:txBody>
      </p:sp>
      <p:sp>
        <p:nvSpPr>
          <p:cNvPr id="25" name="Slide Number Placeholder 0"/>
          <p:cNvSpPr>
            <a:spLocks noGrp="1"/>
          </p:cNvSpPr>
          <p:nvPr>
            <p:ph type="sldNum" sz="quarter" idx="4294967295"/>
          </p:nvPr>
        </p:nvSpPr>
        <p:spPr>
          <a:xfrm>
            <a:off x="10698480" y="6464808"/>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CFE3D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PT_COVER">
    <p:bg>
      <p:bgPr>
        <a:solidFill>
          <a:srgbClr val="1E5631"/>
        </a:solidFill>
      </p:bgPr>
    </p:bg>
    <p:spTree>
      <p:nvGrpSpPr>
        <p:cNvPr id="1" name=""/>
        <p:cNvGrpSpPr/>
        <p:nvPr/>
      </p:nvGrpSpPr>
      <p:grpSpPr>
        <a:xfrm>
          <a:off x="0" y="0"/>
          <a:ext cx="0" cy="0"/>
          <a:chOff x="0" y="0"/>
          <a:chExt cx="0" cy="0"/>
        </a:xfrm>
      </p:grpSpPr>
      <p:sp>
        <p:nvSpPr>
          <p:cNvPr id="2" name="Text 0"/>
          <p:cNvSpPr/>
          <p:nvPr/>
        </p:nvSpPr>
        <p:spPr>
          <a:xfrm>
            <a:off x="7680960" y="-2651760"/>
            <a:ext cx="7223760" cy="7223760"/>
          </a:xfrm>
          <a:prstGeom prst="ellipse">
            <a:avLst/>
          </a:prstGeom>
          <a:solidFill>
            <a:srgbClr val="2B7043">
              <a:alpha val="45000"/>
            </a:srgbClr>
          </a:solidFill>
          <a:ln/>
        </p:spPr>
        <p:txBody>
          <a:bodyPr wrap="square" rtlCol="0" anchor="ctr"/>
          <a:lstStyle/>
          <a:p>
            <a:pPr indent="0" marL="0">
              <a:buNone/>
            </a:pPr>
            <a:endParaRPr lang="en-US" dirty="0"/>
          </a:p>
        </p:txBody>
      </p:sp>
      <p:sp>
        <p:nvSpPr>
          <p:cNvPr id="3" name="Text 1"/>
          <p:cNvSpPr/>
          <p:nvPr/>
        </p:nvSpPr>
        <p:spPr>
          <a:xfrm>
            <a:off x="9966960" y="4754880"/>
            <a:ext cx="3291840" cy="3291840"/>
          </a:xfrm>
          <a:prstGeom prst="ellipse">
            <a:avLst/>
          </a:prstGeom>
          <a:solidFill>
            <a:srgbClr val="24663A">
              <a:alpha val="70000"/>
            </a:srgbClr>
          </a:solidFill>
          <a:ln/>
        </p:spPr>
        <p:txBody>
          <a:bodyPr wrap="square" rtlCol="0" anchor="ctr"/>
          <a:lstStyle/>
          <a:p>
            <a:pPr indent="0" marL="0">
              <a:buNone/>
            </a:pP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698480" y="6464808"/>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slideLayout" Target="../slideLayouts/slideLayout4.xml"/><Relationship Id="rId9"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2-1.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 Type="http://schemas.openxmlformats.org/officeDocument/2006/relationships/slide" Target="slide3.xml"/><Relationship Id="rId4" Type="http://schemas.openxmlformats.org/officeDocument/2006/relationships/slide" Target="slide4.xml"/><Relationship Id="rId6" Type="http://schemas.openxmlformats.org/officeDocument/2006/relationships/slide" Target="slide10.xml"/><Relationship Id="rId8" Type="http://schemas.openxmlformats.org/officeDocument/2006/relationships/slide" Target="slide15.xml"/><Relationship Id="rId10" Type="http://schemas.openxmlformats.org/officeDocument/2006/relationships/slide" Target="slide26.xml"/><Relationship Id="rId12" Type="http://schemas.openxmlformats.org/officeDocument/2006/relationships/slide" Target="slide35.xml"/><Relationship Id="rId14" Type="http://schemas.openxmlformats.org/officeDocument/2006/relationships/slide" Target="slide41.xml"/><Relationship Id="rId16" Type="http://schemas.openxmlformats.org/officeDocument/2006/relationships/slide" Target="slide49.xml"/><Relationship Id="rId18" Type="http://schemas.openxmlformats.org/officeDocument/2006/relationships/slide" Target="slide60.xml"/><Relationship Id="rId20" Type="http://schemas.openxmlformats.org/officeDocument/2006/relationships/slide" Target="slide69.xml"/><Relationship Id="rId22" Type="http://schemas.openxmlformats.org/officeDocument/2006/relationships/slide" Target="slide74.xml"/><Relationship Id="rId24" Type="http://schemas.openxmlformats.org/officeDocument/2006/relationships/slide" Target="slide80.xml"/><Relationship Id="rId26" Type="http://schemas.openxmlformats.org/officeDocument/2006/relationships/slide" Target="slide86.xml"/><Relationship Id="rId1" Type="http://schemas.openxmlformats.org/officeDocument/2006/relationships/image" Target="../media/image-3-1.png"/><Relationship Id="rId3" Type="http://schemas.openxmlformats.org/officeDocument/2006/relationships/image" Target="../media/image-3-2.png"/><Relationship Id="rId5" Type="http://schemas.openxmlformats.org/officeDocument/2006/relationships/image" Target="../media/image-3-3.png"/><Relationship Id="rId7" Type="http://schemas.openxmlformats.org/officeDocument/2006/relationships/image" Target="../media/image-3-4.png"/><Relationship Id="rId9" Type="http://schemas.openxmlformats.org/officeDocument/2006/relationships/image" Target="../media/image-3-5.png"/><Relationship Id="rId11" Type="http://schemas.openxmlformats.org/officeDocument/2006/relationships/image" Target="../media/image-3-6.png"/><Relationship Id="rId13" Type="http://schemas.openxmlformats.org/officeDocument/2006/relationships/image" Target="../media/image-3-7.png"/><Relationship Id="rId15" Type="http://schemas.openxmlformats.org/officeDocument/2006/relationships/image" Target="../media/image-3-8.png"/><Relationship Id="rId17" Type="http://schemas.openxmlformats.org/officeDocument/2006/relationships/image" Target="../media/image-3-9.png"/><Relationship Id="rId19" Type="http://schemas.openxmlformats.org/officeDocument/2006/relationships/image" Target="../media/image-3-10.png"/><Relationship Id="rId21" Type="http://schemas.openxmlformats.org/officeDocument/2006/relationships/image" Target="../media/image-3-11.png"/><Relationship Id="rId23" Type="http://schemas.openxmlformats.org/officeDocument/2006/relationships/image" Target="../media/image-3-12.png"/><Relationship Id="rId25" Type="http://schemas.openxmlformats.org/officeDocument/2006/relationships/image" Target="../media/image-3-13.png"/><Relationship Id="rId27" Type="http://schemas.openxmlformats.org/officeDocument/2006/relationships/slideLayout" Target="../slideLayouts/slideLayout2.xml"/><Relationship Id="rId2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 Target="slide3.xml"/><Relationship Id="rId1" Type="http://schemas.openxmlformats.org/officeDocument/2006/relationships/image" Target="../media/image-4-1.jpeg"/><Relationship Id="rId2" Type="http://schemas.openxmlformats.org/officeDocument/2006/relationships/image" Target="../media/image-4-2.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5-1.png"/><Relationship Id="rId3" Type="http://schemas.openxmlformats.org/officeDocument/2006/relationships/image" Target="../media/image-5-2.png"/><Relationship Id="rId4" Type="http://schemas.openxmlformats.org/officeDocument/2006/relationships/image" Target="../media/image-5-3.png"/><Relationship Id="rId5" Type="http://schemas.openxmlformats.org/officeDocument/2006/relationships/image" Target="../media/image-5-4.png"/><Relationship Id="rId6" Type="http://schemas.openxmlformats.org/officeDocument/2006/relationships/image" Target="../media/image-5-5.png"/><Relationship Id="rId7" Type="http://schemas.openxmlformats.org/officeDocument/2006/relationships/image" Target="../media/image-5-6.png"/><Relationship Id="rId8" Type="http://schemas.openxmlformats.org/officeDocument/2006/relationships/image" Target="../media/image-5-7.png"/><Relationship Id="rId9" Type="http://schemas.openxmlformats.org/officeDocument/2006/relationships/image" Target="../media/image-5-8.png"/><Relationship Id="rId10" Type="http://schemas.openxmlformats.org/officeDocument/2006/relationships/image" Target="../media/image-5-9.png"/><Relationship Id="rId11" Type="http://schemas.openxmlformats.org/officeDocument/2006/relationships/image" Target="../media/image-5-10.png"/><Relationship Id="rId12" Type="http://schemas.openxmlformats.org/officeDocument/2006/relationships/image" Target="../media/image-5-11.png"/><Relationship Id="rId13" Type="http://schemas.openxmlformats.org/officeDocument/2006/relationships/image" Target="../media/image-5-12.png"/><Relationship Id="rId14" Type="http://schemas.openxmlformats.org/officeDocument/2006/relationships/image" Target="../media/image-5-13.png"/><Relationship Id="rId15" Type="http://schemas.openxmlformats.org/officeDocument/2006/relationships/image" Target="../media/image-5-14.png"/><Relationship Id="rId16" Type="http://schemas.openxmlformats.org/officeDocument/2006/relationships/image" Target="../media/image-5-15.png"/><Relationship Id="rId17" Type="http://schemas.openxmlformats.org/officeDocument/2006/relationships/image" Target="../media/image-5-16.png"/><Relationship Id="rId18" Type="http://schemas.openxmlformats.org/officeDocument/2006/relationships/image" Target="../media/image-5-17.png"/><Relationship Id="rId19" Type="http://schemas.openxmlformats.org/officeDocument/2006/relationships/image" Target="../media/image-5-18.png"/><Relationship Id="rId20" Type="http://schemas.openxmlformats.org/officeDocument/2006/relationships/image" Target="../media/image-5-19.png"/><Relationship Id="rId21" Type="http://schemas.openxmlformats.org/officeDocument/2006/relationships/image" Target="../media/image-5-20.png"/><Relationship Id="rId22" Type="http://schemas.openxmlformats.org/officeDocument/2006/relationships/image" Target="../media/image-5-21.png"/><Relationship Id="rId23" Type="http://schemas.openxmlformats.org/officeDocument/2006/relationships/slideLayout" Target="../slideLayouts/slideLayout2.xml"/><Relationship Id="rId2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6-1.png"/><Relationship Id="rId3" Type="http://schemas.openxmlformats.org/officeDocument/2006/relationships/image" Target="../media/image-6-2.png"/><Relationship Id="rId4" Type="http://schemas.openxmlformats.org/officeDocument/2006/relationships/image" Target="../media/image-6-3.png"/><Relationship Id="rId5" Type="http://schemas.openxmlformats.org/officeDocument/2006/relationships/image" Target="../media/image-6-4.png"/><Relationship Id="rId6" Type="http://schemas.openxmlformats.org/officeDocument/2006/relationships/slideLayout" Target="../slideLayouts/slideLayout2.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7-1.png"/><Relationship Id="rId3" Type="http://schemas.openxmlformats.org/officeDocument/2006/relationships/image" Target="../media/image-7-2.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8-1.png"/><Relationship Id="rId3" Type="http://schemas.openxmlformats.org/officeDocument/2006/relationships/image" Target="../media/image-8-2.png"/><Relationship Id="rId4" Type="http://schemas.openxmlformats.org/officeDocument/2006/relationships/image" Target="../media/image-8-3.png"/><Relationship Id="rId5" Type="http://schemas.openxmlformats.org/officeDocument/2006/relationships/slideLayout" Target="../slideLayouts/slideLayout2.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9-1.png"/><Relationship Id="rId3" Type="http://schemas.openxmlformats.org/officeDocument/2006/relationships/image" Target="../media/image-9-2.png"/><Relationship Id="rId4" Type="http://schemas.openxmlformats.org/officeDocument/2006/relationships/image" Target="../media/image-9-3.png"/><Relationship Id="rId5" Type="http://schemas.openxmlformats.org/officeDocument/2006/relationships/image" Target="../media/image-9-4.png"/><Relationship Id="rId6" Type="http://schemas.openxmlformats.org/officeDocument/2006/relationships/image" Target="../media/image-9-5.png"/><Relationship Id="rId7" Type="http://schemas.openxmlformats.org/officeDocument/2006/relationships/image" Target="../media/image-9-6.png"/><Relationship Id="rId8" Type="http://schemas.openxmlformats.org/officeDocument/2006/relationships/image" Target="../media/image-9-7.png"/><Relationship Id="rId9" Type="http://schemas.openxmlformats.org/officeDocument/2006/relationships/image" Target="../media/image-9-8.png"/><Relationship Id="rId10" Type="http://schemas.openxmlformats.org/officeDocument/2006/relationships/slideLayout" Target="../slideLayouts/slideLayout2.xml"/><Relationship Id="rId11"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slide" Target="slide3.xml"/><Relationship Id="rId1" Type="http://schemas.openxmlformats.org/officeDocument/2006/relationships/image" Target="../media/image-10-1.jpeg"/><Relationship Id="rId2" Type="http://schemas.openxmlformats.org/officeDocument/2006/relationships/image" Target="../media/image-10-2.pn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11-1.png"/><Relationship Id="rId3" Type="http://schemas.openxmlformats.org/officeDocument/2006/relationships/image" Target="../media/image-11-2.png"/><Relationship Id="rId4" Type="http://schemas.openxmlformats.org/officeDocument/2006/relationships/image" Target="../media/image-11-3.png"/><Relationship Id="rId5" Type="http://schemas.openxmlformats.org/officeDocument/2006/relationships/slideLayout" Target="../slideLayouts/slideLayout2.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12-1.png"/><Relationship Id="rId3" Type="http://schemas.openxmlformats.org/officeDocument/2006/relationships/image" Target="../media/image-12-2.png"/><Relationship Id="rId4" Type="http://schemas.openxmlformats.org/officeDocument/2006/relationships/slideLayout" Target="../slideLayouts/slideLayout2.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13-1.png"/><Relationship Id="rId3" Type="http://schemas.openxmlformats.org/officeDocument/2006/relationships/image" Target="../media/image-13-2.png"/><Relationship Id="rId4" Type="http://schemas.openxmlformats.org/officeDocument/2006/relationships/slideLayout" Target="../slideLayouts/slideLayout2.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14-1.pn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slide" Target="slide3.xml"/><Relationship Id="rId1" Type="http://schemas.openxmlformats.org/officeDocument/2006/relationships/image" Target="../media/image-15-1.jpeg"/><Relationship Id="rId2" Type="http://schemas.openxmlformats.org/officeDocument/2006/relationships/image" Target="../media/image-15-2.png"/><Relationship Id="rId4" Type="http://schemas.openxmlformats.org/officeDocument/2006/relationships/slideLayout" Target="../slideLayouts/slideLayout3.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16-1.png"/><Relationship Id="rId3" Type="http://schemas.openxmlformats.org/officeDocument/2006/relationships/image" Target="../media/image-16-2.png"/><Relationship Id="rId4" Type="http://schemas.openxmlformats.org/officeDocument/2006/relationships/image" Target="../media/image-16-3.png"/><Relationship Id="rId5" Type="http://schemas.openxmlformats.org/officeDocument/2006/relationships/slideLayout" Target="../slideLayouts/slideLayout2.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17-1.png"/><Relationship Id="rId3" Type="http://schemas.openxmlformats.org/officeDocument/2006/relationships/image" Target="../media/image-17-2.png"/><Relationship Id="rId4" Type="http://schemas.openxmlformats.org/officeDocument/2006/relationships/image" Target="../media/image-17-3.png"/><Relationship Id="rId5" Type="http://schemas.openxmlformats.org/officeDocument/2006/relationships/slideLayout" Target="../slideLayouts/slideLayout2.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18-1.png"/><Relationship Id="rId3" Type="http://schemas.openxmlformats.org/officeDocument/2006/relationships/image" Target="../media/image-18-2.png"/><Relationship Id="rId4" Type="http://schemas.openxmlformats.org/officeDocument/2006/relationships/image" Target="../media/image-18-3.png"/><Relationship Id="rId5" Type="http://schemas.openxmlformats.org/officeDocument/2006/relationships/slideLayout" Target="../slideLayouts/slideLayout2.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19-1.png"/><Relationship Id="rId3" Type="http://schemas.openxmlformats.org/officeDocument/2006/relationships/image" Target="../media/image-19-2.png"/><Relationship Id="rId4" Type="http://schemas.openxmlformats.org/officeDocument/2006/relationships/image" Target="../media/image-19-3.png"/><Relationship Id="rId5" Type="http://schemas.openxmlformats.org/officeDocument/2006/relationships/slideLayout" Target="../slideLayouts/slideLayout2.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20-1.png"/><Relationship Id="rId3" Type="http://schemas.openxmlformats.org/officeDocument/2006/relationships/image" Target="../media/image-20-2.png"/><Relationship Id="rId4" Type="http://schemas.openxmlformats.org/officeDocument/2006/relationships/slideLayout" Target="../slideLayouts/slideLayout2.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21-1.png"/><Relationship Id="rId3" Type="http://schemas.openxmlformats.org/officeDocument/2006/relationships/image" Target="../media/image-21-2.png"/><Relationship Id="rId4" Type="http://schemas.openxmlformats.org/officeDocument/2006/relationships/image" Target="../media/image-21-3.png"/><Relationship Id="rId5" Type="http://schemas.openxmlformats.org/officeDocument/2006/relationships/slideLayout" Target="../slideLayouts/slideLayout2.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22-1.png"/><Relationship Id="rId3" Type="http://schemas.openxmlformats.org/officeDocument/2006/relationships/image" Target="../media/image-22-2.png"/><Relationship Id="rId4" Type="http://schemas.openxmlformats.org/officeDocument/2006/relationships/image" Target="../media/image-22-3.png"/><Relationship Id="rId5" Type="http://schemas.openxmlformats.org/officeDocument/2006/relationships/slideLayout" Target="../slideLayouts/slideLayout2.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23-1.png"/><Relationship Id="rId3" Type="http://schemas.openxmlformats.org/officeDocument/2006/relationships/image" Target="../media/image-23-2.png"/><Relationship Id="rId4" Type="http://schemas.openxmlformats.org/officeDocument/2006/relationships/image" Target="../media/image-23-3.png"/><Relationship Id="rId5" Type="http://schemas.openxmlformats.org/officeDocument/2006/relationships/slideLayout" Target="../slideLayouts/slideLayout2.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24-1.png"/><Relationship Id="rId3" Type="http://schemas.openxmlformats.org/officeDocument/2006/relationships/image" Target="../media/image-24-2.png"/><Relationship Id="rId4" Type="http://schemas.openxmlformats.org/officeDocument/2006/relationships/image" Target="../media/image-24-3.png"/><Relationship Id="rId5" Type="http://schemas.openxmlformats.org/officeDocument/2006/relationships/slideLayout" Target="../slideLayouts/slideLayout2.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25-1.png"/><Relationship Id="rId3" Type="http://schemas.openxmlformats.org/officeDocument/2006/relationships/image" Target="../media/image-25-2.png"/><Relationship Id="rId4" Type="http://schemas.openxmlformats.org/officeDocument/2006/relationships/image" Target="../media/image-25-3.png"/><Relationship Id="rId5" Type="http://schemas.openxmlformats.org/officeDocument/2006/relationships/image" Target="../media/image-25-4.png"/><Relationship Id="rId6" Type="http://schemas.openxmlformats.org/officeDocument/2006/relationships/image" Target="../media/image-25-5.png"/><Relationship Id="rId7" Type="http://schemas.openxmlformats.org/officeDocument/2006/relationships/slideLayout" Target="../slideLayouts/slideLayout2.xml"/><Relationship Id="rId8"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3" Type="http://schemas.openxmlformats.org/officeDocument/2006/relationships/slide" Target="slide3.xml"/><Relationship Id="rId1" Type="http://schemas.openxmlformats.org/officeDocument/2006/relationships/image" Target="../media/image-26-1.jpeg"/><Relationship Id="rId2" Type="http://schemas.openxmlformats.org/officeDocument/2006/relationships/image" Target="../media/image-26-2.png"/><Relationship Id="rId4" Type="http://schemas.openxmlformats.org/officeDocument/2006/relationships/slideLayout" Target="../slideLayouts/slideLayout3.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27-1.png"/><Relationship Id="rId3" Type="http://schemas.openxmlformats.org/officeDocument/2006/relationships/image" Target="../media/image-27-2.png"/><Relationship Id="rId4" Type="http://schemas.openxmlformats.org/officeDocument/2006/relationships/image" Target="../media/image-27-3.png"/><Relationship Id="rId5" Type="http://schemas.openxmlformats.org/officeDocument/2006/relationships/image" Target="../media/image-27-4.png"/><Relationship Id="rId6" Type="http://schemas.openxmlformats.org/officeDocument/2006/relationships/image" Target="../media/image-27-5.png"/><Relationship Id="rId7" Type="http://schemas.openxmlformats.org/officeDocument/2006/relationships/image" Target="../media/image-27-6.png"/><Relationship Id="rId8" Type="http://schemas.openxmlformats.org/officeDocument/2006/relationships/image" Target="../media/image-27-7.png"/><Relationship Id="rId9" Type="http://schemas.openxmlformats.org/officeDocument/2006/relationships/image" Target="../media/image-27-8.png"/><Relationship Id="rId10" Type="http://schemas.openxmlformats.org/officeDocument/2006/relationships/image" Target="../media/image-27-9.png"/><Relationship Id="rId11" Type="http://schemas.openxmlformats.org/officeDocument/2006/relationships/slideLayout" Target="../slideLayouts/slideLayout2.xml"/><Relationship Id="rId1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28-1.png"/><Relationship Id="rId3" Type="http://schemas.openxmlformats.org/officeDocument/2006/relationships/image" Target="../media/image-28-2.png"/><Relationship Id="rId4" Type="http://schemas.openxmlformats.org/officeDocument/2006/relationships/image" Target="../media/image-28-3.png"/><Relationship Id="rId5" Type="http://schemas.openxmlformats.org/officeDocument/2006/relationships/image" Target="../media/image-28-4.png"/><Relationship Id="rId6" Type="http://schemas.openxmlformats.org/officeDocument/2006/relationships/image" Target="../media/image-28-5.png"/><Relationship Id="rId7" Type="http://schemas.openxmlformats.org/officeDocument/2006/relationships/image" Target="../media/image-28-6.png"/><Relationship Id="rId8" Type="http://schemas.openxmlformats.org/officeDocument/2006/relationships/image" Target="../media/image-28-7.png"/><Relationship Id="rId9" Type="http://schemas.openxmlformats.org/officeDocument/2006/relationships/image" Target="../media/image-28-8.png"/><Relationship Id="rId10" Type="http://schemas.openxmlformats.org/officeDocument/2006/relationships/image" Target="../media/image-28-9.png"/><Relationship Id="rId11" Type="http://schemas.openxmlformats.org/officeDocument/2006/relationships/image" Target="../media/image-28-10.png"/><Relationship Id="rId12" Type="http://schemas.openxmlformats.org/officeDocument/2006/relationships/slideLayout" Target="../slideLayouts/slideLayout2.xml"/><Relationship Id="rId1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29-1.png"/><Relationship Id="rId3" Type="http://schemas.openxmlformats.org/officeDocument/2006/relationships/image" Target="../media/image-29-2.png"/><Relationship Id="rId4" Type="http://schemas.openxmlformats.org/officeDocument/2006/relationships/image" Target="../media/image-29-3.png"/><Relationship Id="rId5" Type="http://schemas.openxmlformats.org/officeDocument/2006/relationships/slideLayout" Target="../slideLayouts/slideLayout2.xml"/><Relationship Id="rId6"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30-1.png"/><Relationship Id="rId3" Type="http://schemas.openxmlformats.org/officeDocument/2006/relationships/image" Target="../media/image-30-2.png"/><Relationship Id="rId4" Type="http://schemas.openxmlformats.org/officeDocument/2006/relationships/image" Target="../media/image-30-3.png"/><Relationship Id="rId5" Type="http://schemas.openxmlformats.org/officeDocument/2006/relationships/slideLayout" Target="../slideLayouts/slideLayout2.xml"/><Relationship Id="rId6"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31-1.png"/><Relationship Id="rId3" Type="http://schemas.openxmlformats.org/officeDocument/2006/relationships/image" Target="../media/image-31-2.png"/><Relationship Id="rId4" Type="http://schemas.openxmlformats.org/officeDocument/2006/relationships/image" Target="../media/image-31-3.png"/><Relationship Id="rId5" Type="http://schemas.openxmlformats.org/officeDocument/2006/relationships/slideLayout" Target="../slideLayouts/slideLayout2.xml"/><Relationship Id="rId6"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32-1.png"/><Relationship Id="rId3" Type="http://schemas.openxmlformats.org/officeDocument/2006/relationships/image" Target="../media/image-32-2.png"/><Relationship Id="rId4" Type="http://schemas.openxmlformats.org/officeDocument/2006/relationships/image" Target="../media/image-32-3.png"/><Relationship Id="rId5" Type="http://schemas.openxmlformats.org/officeDocument/2006/relationships/slideLayout" Target="../slideLayouts/slideLayout2.xml"/><Relationship Id="rId6"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33-1.png"/><Relationship Id="rId3" Type="http://schemas.openxmlformats.org/officeDocument/2006/relationships/slideLayout" Target="../slideLayouts/slideLayout2.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34-1.png"/><Relationship Id="rId3" Type="http://schemas.openxmlformats.org/officeDocument/2006/relationships/image" Target="../media/image-34-2.png"/><Relationship Id="rId4" Type="http://schemas.openxmlformats.org/officeDocument/2006/relationships/image" Target="../media/image-34-3.png"/><Relationship Id="rId5" Type="http://schemas.openxmlformats.org/officeDocument/2006/relationships/slideLayout" Target="../slideLayouts/slideLayout2.xml"/><Relationship Id="rId6"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3" Type="http://schemas.openxmlformats.org/officeDocument/2006/relationships/slide" Target="slide3.xml"/><Relationship Id="rId1" Type="http://schemas.openxmlformats.org/officeDocument/2006/relationships/image" Target="../media/image-35-1.jpeg"/><Relationship Id="rId2" Type="http://schemas.openxmlformats.org/officeDocument/2006/relationships/image" Target="../media/image-35-2.png"/><Relationship Id="rId4" Type="http://schemas.openxmlformats.org/officeDocument/2006/relationships/slideLayout" Target="../slideLayouts/slideLayout3.xml"/><Relationship Id="rId5"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36-1.png"/><Relationship Id="rId3" Type="http://schemas.openxmlformats.org/officeDocument/2006/relationships/image" Target="../media/image-36-2.png"/><Relationship Id="rId4" Type="http://schemas.openxmlformats.org/officeDocument/2006/relationships/image" Target="../media/image-36-3.png"/><Relationship Id="rId5" Type="http://schemas.openxmlformats.org/officeDocument/2006/relationships/image" Target="../media/image-36-4.png"/><Relationship Id="rId6" Type="http://schemas.openxmlformats.org/officeDocument/2006/relationships/image" Target="../media/image-36-5.png"/><Relationship Id="rId7" Type="http://schemas.openxmlformats.org/officeDocument/2006/relationships/image" Target="../media/image-36-6.png"/><Relationship Id="rId8" Type="http://schemas.openxmlformats.org/officeDocument/2006/relationships/image" Target="../media/image-36-7.png"/><Relationship Id="rId9" Type="http://schemas.openxmlformats.org/officeDocument/2006/relationships/image" Target="../media/image-36-8.png"/><Relationship Id="rId10" Type="http://schemas.openxmlformats.org/officeDocument/2006/relationships/image" Target="../media/image-36-9.png"/><Relationship Id="rId11" Type="http://schemas.openxmlformats.org/officeDocument/2006/relationships/image" Target="../media/image-36-10.png"/><Relationship Id="rId12" Type="http://schemas.openxmlformats.org/officeDocument/2006/relationships/slideLayout" Target="../slideLayouts/slideLayout2.xml"/><Relationship Id="rId1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37-1.png"/><Relationship Id="rId3" Type="http://schemas.openxmlformats.org/officeDocument/2006/relationships/image" Target="../media/image-37-2.png"/><Relationship Id="rId4" Type="http://schemas.openxmlformats.org/officeDocument/2006/relationships/image" Target="../media/image-37-3.png"/><Relationship Id="rId5" Type="http://schemas.openxmlformats.org/officeDocument/2006/relationships/slideLayout" Target="../slideLayouts/slideLayout2.xml"/><Relationship Id="rId6"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38-1.png"/><Relationship Id="rId3" Type="http://schemas.openxmlformats.org/officeDocument/2006/relationships/image" Target="../media/image-38-2.png"/><Relationship Id="rId4" Type="http://schemas.openxmlformats.org/officeDocument/2006/relationships/image" Target="../media/image-38-3.png"/><Relationship Id="rId5" Type="http://schemas.openxmlformats.org/officeDocument/2006/relationships/slideLayout" Target="../slideLayouts/slideLayout2.xml"/><Relationship Id="rId6"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39-1.png"/><Relationship Id="rId3" Type="http://schemas.openxmlformats.org/officeDocument/2006/relationships/image" Target="../media/image-39-2.png"/><Relationship Id="rId4" Type="http://schemas.openxmlformats.org/officeDocument/2006/relationships/image" Target="../media/image-39-3.png"/><Relationship Id="rId5" Type="http://schemas.openxmlformats.org/officeDocument/2006/relationships/image" Target="../media/image-39-4.png"/><Relationship Id="rId6" Type="http://schemas.openxmlformats.org/officeDocument/2006/relationships/image" Target="../media/image-39-5.png"/><Relationship Id="rId7" Type="http://schemas.openxmlformats.org/officeDocument/2006/relationships/image" Target="../media/image-39-6.png"/><Relationship Id="rId8" Type="http://schemas.openxmlformats.org/officeDocument/2006/relationships/slideLayout" Target="../slideLayouts/slideLayout2.xml"/><Relationship Id="rId9"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40-1.png"/><Relationship Id="rId3" Type="http://schemas.openxmlformats.org/officeDocument/2006/relationships/image" Target="../media/image-40-2.png"/><Relationship Id="rId4" Type="http://schemas.openxmlformats.org/officeDocument/2006/relationships/image" Target="../media/image-40-3.png"/><Relationship Id="rId5" Type="http://schemas.openxmlformats.org/officeDocument/2006/relationships/slideLayout" Target="../slideLayouts/slideLayout2.xml"/><Relationship Id="rId6"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3" Type="http://schemas.openxmlformats.org/officeDocument/2006/relationships/slide" Target="slide3.xml"/><Relationship Id="rId1" Type="http://schemas.openxmlformats.org/officeDocument/2006/relationships/image" Target="../media/image-41-1.jpeg"/><Relationship Id="rId2" Type="http://schemas.openxmlformats.org/officeDocument/2006/relationships/image" Target="../media/image-41-2.png"/><Relationship Id="rId4" Type="http://schemas.openxmlformats.org/officeDocument/2006/relationships/slideLayout" Target="../slideLayouts/slideLayout3.xml"/><Relationship Id="rId5"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42-1.png"/><Relationship Id="rId3" Type="http://schemas.openxmlformats.org/officeDocument/2006/relationships/image" Target="../media/image-42-2.png"/><Relationship Id="rId4" Type="http://schemas.openxmlformats.org/officeDocument/2006/relationships/image" Target="../media/image-42-3.png"/><Relationship Id="rId5" Type="http://schemas.openxmlformats.org/officeDocument/2006/relationships/image" Target="../media/image-42-4.png"/><Relationship Id="rId6" Type="http://schemas.openxmlformats.org/officeDocument/2006/relationships/slideLayout" Target="../slideLayouts/slideLayout2.xml"/><Relationship Id="rId7"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43-1.png"/><Relationship Id="rId3" Type="http://schemas.openxmlformats.org/officeDocument/2006/relationships/image" Target="../media/image-43-2.png"/><Relationship Id="rId4" Type="http://schemas.openxmlformats.org/officeDocument/2006/relationships/image" Target="../media/image-43-3.png"/><Relationship Id="rId5" Type="http://schemas.openxmlformats.org/officeDocument/2006/relationships/slideLayout" Target="../slideLayouts/slideLayout2.xml"/><Relationship Id="rId6"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44-1.png"/><Relationship Id="rId3" Type="http://schemas.openxmlformats.org/officeDocument/2006/relationships/image" Target="../media/image-44-2.png"/><Relationship Id="rId4" Type="http://schemas.openxmlformats.org/officeDocument/2006/relationships/image" Target="../media/image-44-3.png"/><Relationship Id="rId5" Type="http://schemas.openxmlformats.org/officeDocument/2006/relationships/slideLayout" Target="../slideLayouts/slideLayout2.xml"/><Relationship Id="rId6"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45-1.png"/><Relationship Id="rId3" Type="http://schemas.openxmlformats.org/officeDocument/2006/relationships/image" Target="../media/image-45-2.png"/><Relationship Id="rId4" Type="http://schemas.openxmlformats.org/officeDocument/2006/relationships/image" Target="../media/image-45-3.png"/><Relationship Id="rId5" Type="http://schemas.openxmlformats.org/officeDocument/2006/relationships/slideLayout" Target="../slideLayouts/slideLayout2.xml"/><Relationship Id="rId6"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46-1.png"/><Relationship Id="rId3" Type="http://schemas.openxmlformats.org/officeDocument/2006/relationships/slideLayout" Target="../slideLayouts/slideLayout2.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47-1.png"/><Relationship Id="rId3" Type="http://schemas.openxmlformats.org/officeDocument/2006/relationships/image" Target="../media/image-47-2.png"/><Relationship Id="rId4" Type="http://schemas.openxmlformats.org/officeDocument/2006/relationships/image" Target="../media/image-47-3.png"/><Relationship Id="rId5" Type="http://schemas.openxmlformats.org/officeDocument/2006/relationships/image" Target="../media/image-47-4.png"/><Relationship Id="rId6" Type="http://schemas.openxmlformats.org/officeDocument/2006/relationships/slideLayout" Target="../slideLayouts/slideLayout2.xml"/><Relationship Id="rId7"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48-1.png"/><Relationship Id="rId3" Type="http://schemas.openxmlformats.org/officeDocument/2006/relationships/image" Target="../media/image-48-2.png"/><Relationship Id="rId4" Type="http://schemas.openxmlformats.org/officeDocument/2006/relationships/slideLayout" Target="../slideLayouts/slideLayout2.xml"/><Relationship Id="rId5"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3" Type="http://schemas.openxmlformats.org/officeDocument/2006/relationships/slide" Target="slide3.xml"/><Relationship Id="rId1" Type="http://schemas.openxmlformats.org/officeDocument/2006/relationships/image" Target="../media/image-49-1.jpeg"/><Relationship Id="rId2" Type="http://schemas.openxmlformats.org/officeDocument/2006/relationships/image" Target="../media/image-49-2.png"/><Relationship Id="rId4" Type="http://schemas.openxmlformats.org/officeDocument/2006/relationships/slideLayout" Target="../slideLayouts/slideLayout3.xml"/><Relationship Id="rId5"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50-1.png"/><Relationship Id="rId3" Type="http://schemas.openxmlformats.org/officeDocument/2006/relationships/image" Target="../media/image-50-2.png"/><Relationship Id="rId4" Type="http://schemas.openxmlformats.org/officeDocument/2006/relationships/image" Target="../media/image-50-3.png"/><Relationship Id="rId5" Type="http://schemas.openxmlformats.org/officeDocument/2006/relationships/image" Target="../media/image-50-4.png"/><Relationship Id="rId6" Type="http://schemas.openxmlformats.org/officeDocument/2006/relationships/image" Target="../media/image-50-5.png"/><Relationship Id="rId7" Type="http://schemas.openxmlformats.org/officeDocument/2006/relationships/image" Target="../media/image-50-6.png"/><Relationship Id="rId8" Type="http://schemas.openxmlformats.org/officeDocument/2006/relationships/image" Target="../media/image-50-7.png"/><Relationship Id="rId9" Type="http://schemas.openxmlformats.org/officeDocument/2006/relationships/slideLayout" Target="../slideLayouts/slideLayout2.xml"/><Relationship Id="rId10"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51-1.png"/><Relationship Id="rId3" Type="http://schemas.openxmlformats.org/officeDocument/2006/relationships/slideLayout" Target="../slideLayouts/slideLayout2.xml"/><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52-1.png"/><Relationship Id="rId3" Type="http://schemas.openxmlformats.org/officeDocument/2006/relationships/image" Target="../media/image-52-2.png"/><Relationship Id="rId4" Type="http://schemas.openxmlformats.org/officeDocument/2006/relationships/image" Target="../media/image-52-3.png"/><Relationship Id="rId5" Type="http://schemas.openxmlformats.org/officeDocument/2006/relationships/slideLayout" Target="../slideLayouts/slideLayout2.xml"/><Relationship Id="rId6"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53-1.png"/><Relationship Id="rId3" Type="http://schemas.openxmlformats.org/officeDocument/2006/relationships/image" Target="../media/image-53-2.png"/><Relationship Id="rId4" Type="http://schemas.openxmlformats.org/officeDocument/2006/relationships/image" Target="../media/image-53-3.png"/><Relationship Id="rId5" Type="http://schemas.openxmlformats.org/officeDocument/2006/relationships/slideLayout" Target="../slideLayouts/slideLayout2.xml"/><Relationship Id="rId6"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54-1.png"/><Relationship Id="rId3" Type="http://schemas.openxmlformats.org/officeDocument/2006/relationships/image" Target="../media/image-54-2.png"/><Relationship Id="rId4" Type="http://schemas.openxmlformats.org/officeDocument/2006/relationships/image" Target="../media/image-54-3.png"/><Relationship Id="rId5" Type="http://schemas.openxmlformats.org/officeDocument/2006/relationships/slideLayout" Target="../slideLayouts/slideLayout2.xml"/><Relationship Id="rId6"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55-1.png"/><Relationship Id="rId3" Type="http://schemas.openxmlformats.org/officeDocument/2006/relationships/slideLayout" Target="../slideLayouts/slideLayout2.xml"/><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56-1.png"/><Relationship Id="rId3" Type="http://schemas.openxmlformats.org/officeDocument/2006/relationships/slideLayout" Target="../slideLayouts/slideLayout2.xml"/><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57-1.png"/><Relationship Id="rId3" Type="http://schemas.openxmlformats.org/officeDocument/2006/relationships/image" Target="../media/image-57-2.png"/><Relationship Id="rId4" Type="http://schemas.openxmlformats.org/officeDocument/2006/relationships/image" Target="../media/image-57-3.png"/><Relationship Id="rId5" Type="http://schemas.openxmlformats.org/officeDocument/2006/relationships/slideLayout" Target="../slideLayouts/slideLayout2.xml"/><Relationship Id="rId6"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58-1.png"/><Relationship Id="rId3" Type="http://schemas.openxmlformats.org/officeDocument/2006/relationships/image" Target="../media/image-58-2.png"/><Relationship Id="rId4" Type="http://schemas.openxmlformats.org/officeDocument/2006/relationships/image" Target="../media/image-58-3.png"/><Relationship Id="rId5" Type="http://schemas.openxmlformats.org/officeDocument/2006/relationships/slideLayout" Target="../slideLayouts/slideLayout2.xml"/><Relationship Id="rId6"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59-1.png"/><Relationship Id="rId3" Type="http://schemas.openxmlformats.org/officeDocument/2006/relationships/image" Target="../media/image-59-2.png"/><Relationship Id="rId4" Type="http://schemas.openxmlformats.org/officeDocument/2006/relationships/slideLayout" Target="../slideLayouts/slideLayout2.xml"/><Relationship Id="rId5"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3" Type="http://schemas.openxmlformats.org/officeDocument/2006/relationships/slide" Target="slide3.xml"/><Relationship Id="rId1" Type="http://schemas.openxmlformats.org/officeDocument/2006/relationships/image" Target="../media/image-60-1.jpeg"/><Relationship Id="rId2" Type="http://schemas.openxmlformats.org/officeDocument/2006/relationships/image" Target="../media/image-60-2.png"/><Relationship Id="rId4" Type="http://schemas.openxmlformats.org/officeDocument/2006/relationships/slideLayout" Target="../slideLayouts/slideLayout3.xml"/><Relationship Id="rId5"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61-1.png"/><Relationship Id="rId3" Type="http://schemas.openxmlformats.org/officeDocument/2006/relationships/image" Target="../media/image-61-2.png"/><Relationship Id="rId4" Type="http://schemas.openxmlformats.org/officeDocument/2006/relationships/image" Target="../media/image-61-3.png"/><Relationship Id="rId5" Type="http://schemas.openxmlformats.org/officeDocument/2006/relationships/image" Target="../media/image-61-4.png"/><Relationship Id="rId6" Type="http://schemas.openxmlformats.org/officeDocument/2006/relationships/image" Target="../media/image-61-5.png"/><Relationship Id="rId7" Type="http://schemas.openxmlformats.org/officeDocument/2006/relationships/image" Target="../media/image-61-6.png"/><Relationship Id="rId8" Type="http://schemas.openxmlformats.org/officeDocument/2006/relationships/image" Target="../media/image-61-7.png"/><Relationship Id="rId9" Type="http://schemas.openxmlformats.org/officeDocument/2006/relationships/image" Target="../media/image-61-8.png"/><Relationship Id="rId10" Type="http://schemas.openxmlformats.org/officeDocument/2006/relationships/image" Target="../media/image-61-9.png"/><Relationship Id="rId11" Type="http://schemas.openxmlformats.org/officeDocument/2006/relationships/image" Target="../media/image-61-10.png"/><Relationship Id="rId12" Type="http://schemas.openxmlformats.org/officeDocument/2006/relationships/slideLayout" Target="../slideLayouts/slideLayout2.xml"/><Relationship Id="rId1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62-1.png"/><Relationship Id="rId3" Type="http://schemas.openxmlformats.org/officeDocument/2006/relationships/image" Target="../media/image-62-2.png"/><Relationship Id="rId4" Type="http://schemas.openxmlformats.org/officeDocument/2006/relationships/image" Target="../media/image-62-3.png"/><Relationship Id="rId5" Type="http://schemas.openxmlformats.org/officeDocument/2006/relationships/slideLayout" Target="../slideLayouts/slideLayout2.xml"/><Relationship Id="rId6"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63-1.png"/><Relationship Id="rId3" Type="http://schemas.openxmlformats.org/officeDocument/2006/relationships/slideLayout" Target="../slideLayouts/slideLayout2.xml"/><Relationship Id="rId4"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64-1.png"/><Relationship Id="rId3" Type="http://schemas.openxmlformats.org/officeDocument/2006/relationships/image" Target="../media/image-64-2.png"/><Relationship Id="rId4" Type="http://schemas.openxmlformats.org/officeDocument/2006/relationships/image" Target="../media/image-64-3.png"/><Relationship Id="rId5" Type="http://schemas.openxmlformats.org/officeDocument/2006/relationships/slideLayout" Target="../slideLayouts/slideLayout2.xml"/><Relationship Id="rId6"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65-1.png"/><Relationship Id="rId3" Type="http://schemas.openxmlformats.org/officeDocument/2006/relationships/image" Target="../media/image-65-2.png"/><Relationship Id="rId4" Type="http://schemas.openxmlformats.org/officeDocument/2006/relationships/image" Target="../media/image-65-3.png"/><Relationship Id="rId5" Type="http://schemas.openxmlformats.org/officeDocument/2006/relationships/slideLayout" Target="../slideLayouts/slideLayout2.xml"/><Relationship Id="rId6"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66-1.png"/><Relationship Id="rId3" Type="http://schemas.openxmlformats.org/officeDocument/2006/relationships/slideLayout" Target="../slideLayouts/slideLayout2.xml"/><Relationship Id="rId4"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67-1.png"/><Relationship Id="rId3" Type="http://schemas.openxmlformats.org/officeDocument/2006/relationships/image" Target="../media/image-67-2.png"/><Relationship Id="rId4" Type="http://schemas.openxmlformats.org/officeDocument/2006/relationships/image" Target="../media/image-67-3.png"/><Relationship Id="rId5" Type="http://schemas.openxmlformats.org/officeDocument/2006/relationships/slideLayout" Target="../slideLayouts/slideLayout2.xml"/><Relationship Id="rId6"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68-1.png"/><Relationship Id="rId3" Type="http://schemas.openxmlformats.org/officeDocument/2006/relationships/image" Target="../media/image-68-2.png"/><Relationship Id="rId4" Type="http://schemas.openxmlformats.org/officeDocument/2006/relationships/image" Target="../media/image-68-3.png"/><Relationship Id="rId5" Type="http://schemas.openxmlformats.org/officeDocument/2006/relationships/slideLayout" Target="../slideLayouts/slideLayout2.xml"/><Relationship Id="rId6"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3" Type="http://schemas.openxmlformats.org/officeDocument/2006/relationships/slide" Target="slide3.xml"/><Relationship Id="rId1" Type="http://schemas.openxmlformats.org/officeDocument/2006/relationships/image" Target="../media/image-69-1.jpeg"/><Relationship Id="rId2" Type="http://schemas.openxmlformats.org/officeDocument/2006/relationships/image" Target="../media/image-69-2.png"/><Relationship Id="rId4" Type="http://schemas.openxmlformats.org/officeDocument/2006/relationships/slideLayout" Target="../slideLayouts/slideLayout3.xml"/><Relationship Id="rId5"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70-1.png"/><Relationship Id="rId3" Type="http://schemas.openxmlformats.org/officeDocument/2006/relationships/image" Target="../media/image-70-2.png"/><Relationship Id="rId4" Type="http://schemas.openxmlformats.org/officeDocument/2006/relationships/image" Target="../media/image-70-3.png"/><Relationship Id="rId5" Type="http://schemas.openxmlformats.org/officeDocument/2006/relationships/image" Target="../media/image-70-4.png"/><Relationship Id="rId6" Type="http://schemas.openxmlformats.org/officeDocument/2006/relationships/image" Target="../media/image-70-5.png"/><Relationship Id="rId7" Type="http://schemas.openxmlformats.org/officeDocument/2006/relationships/image" Target="../media/image-70-6.png"/><Relationship Id="rId8" Type="http://schemas.openxmlformats.org/officeDocument/2006/relationships/slideLayout" Target="../slideLayouts/slideLayout2.xml"/><Relationship Id="rId9"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71-1.png"/><Relationship Id="rId3" Type="http://schemas.openxmlformats.org/officeDocument/2006/relationships/image" Target="../media/image-71-2.png"/><Relationship Id="rId4" Type="http://schemas.openxmlformats.org/officeDocument/2006/relationships/image" Target="../media/image-71-3.png"/><Relationship Id="rId5" Type="http://schemas.openxmlformats.org/officeDocument/2006/relationships/slideLayout" Target="../slideLayouts/slideLayout2.xml"/><Relationship Id="rId6"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72-1.png"/><Relationship Id="rId3" Type="http://schemas.openxmlformats.org/officeDocument/2006/relationships/slideLayout" Target="../slideLayouts/slideLayout2.xml"/><Relationship Id="rId4"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73-1.png"/><Relationship Id="rId3" Type="http://schemas.openxmlformats.org/officeDocument/2006/relationships/image" Target="../media/image-73-2.png"/><Relationship Id="rId4" Type="http://schemas.openxmlformats.org/officeDocument/2006/relationships/image" Target="../media/image-73-3.png"/><Relationship Id="rId5" Type="http://schemas.openxmlformats.org/officeDocument/2006/relationships/slideLayout" Target="../slideLayouts/slideLayout2.xml"/><Relationship Id="rId6"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3" Type="http://schemas.openxmlformats.org/officeDocument/2006/relationships/slide" Target="slide3.xml"/><Relationship Id="rId1" Type="http://schemas.openxmlformats.org/officeDocument/2006/relationships/image" Target="../media/image-74-1.jpeg"/><Relationship Id="rId2" Type="http://schemas.openxmlformats.org/officeDocument/2006/relationships/image" Target="../media/image-74-2.png"/><Relationship Id="rId4" Type="http://schemas.openxmlformats.org/officeDocument/2006/relationships/slideLayout" Target="../slideLayouts/slideLayout3.xml"/><Relationship Id="rId5"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75-1.png"/><Relationship Id="rId3" Type="http://schemas.openxmlformats.org/officeDocument/2006/relationships/image" Target="../media/image-75-2.png"/><Relationship Id="rId4" Type="http://schemas.openxmlformats.org/officeDocument/2006/relationships/image" Target="../media/image-75-3.png"/><Relationship Id="rId5" Type="http://schemas.openxmlformats.org/officeDocument/2006/relationships/slideLayout" Target="../slideLayouts/slideLayout2.xml"/><Relationship Id="rId6"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76-1.png"/><Relationship Id="rId3" Type="http://schemas.openxmlformats.org/officeDocument/2006/relationships/image" Target="../media/image-76-2.png"/><Relationship Id="rId4" Type="http://schemas.openxmlformats.org/officeDocument/2006/relationships/image" Target="../media/image-76-3.png"/><Relationship Id="rId5" Type="http://schemas.openxmlformats.org/officeDocument/2006/relationships/slideLayout" Target="../slideLayouts/slideLayout2.xml"/><Relationship Id="rId6"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77-1.png"/><Relationship Id="rId3" Type="http://schemas.openxmlformats.org/officeDocument/2006/relationships/image" Target="../media/image-77-2.png"/><Relationship Id="rId4" Type="http://schemas.openxmlformats.org/officeDocument/2006/relationships/slideLayout" Target="../slideLayouts/slideLayout2.xml"/><Relationship Id="rId5"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78-1.png"/><Relationship Id="rId3" Type="http://schemas.openxmlformats.org/officeDocument/2006/relationships/image" Target="../media/image-78-2.png"/><Relationship Id="rId4" Type="http://schemas.openxmlformats.org/officeDocument/2006/relationships/image" Target="../media/image-78-3.png"/><Relationship Id="rId5" Type="http://schemas.openxmlformats.org/officeDocument/2006/relationships/slideLayout" Target="../slideLayouts/slideLayout2.xml"/><Relationship Id="rId6"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79-1.png"/><Relationship Id="rId3" Type="http://schemas.openxmlformats.org/officeDocument/2006/relationships/image" Target="../media/image-79-2.png"/><Relationship Id="rId4" Type="http://schemas.openxmlformats.org/officeDocument/2006/relationships/image" Target="../media/image-79-3.png"/><Relationship Id="rId5" Type="http://schemas.openxmlformats.org/officeDocument/2006/relationships/slideLayout" Target="../slideLayouts/slideLayout2.xml"/><Relationship Id="rId6"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3" Type="http://schemas.openxmlformats.org/officeDocument/2006/relationships/slide" Target="slide3.xml"/><Relationship Id="rId1" Type="http://schemas.openxmlformats.org/officeDocument/2006/relationships/image" Target="../media/image-80-1.jpeg"/><Relationship Id="rId2" Type="http://schemas.openxmlformats.org/officeDocument/2006/relationships/image" Target="../media/image-80-2.png"/><Relationship Id="rId4" Type="http://schemas.openxmlformats.org/officeDocument/2006/relationships/slideLayout" Target="../slideLayouts/slideLayout3.xml"/><Relationship Id="rId5"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81-1.png"/><Relationship Id="rId3" Type="http://schemas.openxmlformats.org/officeDocument/2006/relationships/slideLayout" Target="../slideLayouts/slideLayout2.xml"/><Relationship Id="rId4"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82-1.png"/><Relationship Id="rId3" Type="http://schemas.openxmlformats.org/officeDocument/2006/relationships/slideLayout" Target="../slideLayouts/slideLayout2.xml"/><Relationship Id="rId4"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83-1.png"/><Relationship Id="rId3" Type="http://schemas.openxmlformats.org/officeDocument/2006/relationships/image" Target="../media/image-83-2.png"/><Relationship Id="rId4" Type="http://schemas.openxmlformats.org/officeDocument/2006/relationships/slideLayout" Target="../slideLayouts/slideLayout2.xml"/><Relationship Id="rId5"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84-1.png"/><Relationship Id="rId3" Type="http://schemas.openxmlformats.org/officeDocument/2006/relationships/image" Target="../media/image-84-2.png"/><Relationship Id="rId4" Type="http://schemas.openxmlformats.org/officeDocument/2006/relationships/slideLayout" Target="../slideLayouts/slideLayout2.xml"/><Relationship Id="rId5"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85-1.png"/><Relationship Id="rId3" Type="http://schemas.openxmlformats.org/officeDocument/2006/relationships/image" Target="../media/image-85-2.png"/><Relationship Id="rId4" Type="http://schemas.openxmlformats.org/officeDocument/2006/relationships/image" Target="../media/image-85-3.png"/><Relationship Id="rId5" Type="http://schemas.openxmlformats.org/officeDocument/2006/relationships/slideLayout" Target="../slideLayouts/slideLayout2.xml"/><Relationship Id="rId6"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3" Type="http://schemas.openxmlformats.org/officeDocument/2006/relationships/slide" Target="slide3.xml"/><Relationship Id="rId1" Type="http://schemas.openxmlformats.org/officeDocument/2006/relationships/image" Target="../media/image-86-1.jpeg"/><Relationship Id="rId2" Type="http://schemas.openxmlformats.org/officeDocument/2006/relationships/image" Target="../media/image-86-2.png"/><Relationship Id="rId4" Type="http://schemas.openxmlformats.org/officeDocument/2006/relationships/slideLayout" Target="../slideLayouts/slideLayout3.xml"/><Relationship Id="rId5"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87-1.png"/><Relationship Id="rId3" Type="http://schemas.openxmlformats.org/officeDocument/2006/relationships/image" Target="../media/image-87-2.png"/><Relationship Id="rId4" Type="http://schemas.openxmlformats.org/officeDocument/2006/relationships/image" Target="../media/image-87-3.png"/><Relationship Id="rId5" Type="http://schemas.openxmlformats.org/officeDocument/2006/relationships/image" Target="../media/image-87-4.png"/><Relationship Id="rId6" Type="http://schemas.openxmlformats.org/officeDocument/2006/relationships/image" Target="../media/image-87-5.png"/><Relationship Id="rId7" Type="http://schemas.openxmlformats.org/officeDocument/2006/relationships/image" Target="../media/image-87-6.png"/><Relationship Id="rId8" Type="http://schemas.openxmlformats.org/officeDocument/2006/relationships/image" Target="../media/image-87-7.png"/><Relationship Id="rId9" Type="http://schemas.openxmlformats.org/officeDocument/2006/relationships/image" Target="../media/image-87-8.png"/><Relationship Id="rId10" Type="http://schemas.openxmlformats.org/officeDocument/2006/relationships/image" Target="../media/image-87-9.png"/><Relationship Id="rId11" Type="http://schemas.openxmlformats.org/officeDocument/2006/relationships/image" Target="../media/image-87-10.png"/><Relationship Id="rId12" Type="http://schemas.openxmlformats.org/officeDocument/2006/relationships/slideLayout" Target="../slideLayouts/slideLayout2.xml"/><Relationship Id="rId1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88-1.png"/><Relationship Id="rId3" Type="http://schemas.openxmlformats.org/officeDocument/2006/relationships/image" Target="../media/image-88-2.png"/><Relationship Id="rId4" Type="http://schemas.openxmlformats.org/officeDocument/2006/relationships/image" Target="../media/image-88-3.png"/><Relationship Id="rId5" Type="http://schemas.openxmlformats.org/officeDocument/2006/relationships/image" Target="../media/image-88-4.png"/><Relationship Id="rId6" Type="http://schemas.openxmlformats.org/officeDocument/2006/relationships/image" Target="../media/image-88-5.png"/><Relationship Id="rId7" Type="http://schemas.openxmlformats.org/officeDocument/2006/relationships/image" Target="../media/image-88-6.png"/><Relationship Id="rId8" Type="http://schemas.openxmlformats.org/officeDocument/2006/relationships/image" Target="../media/image-88-7.png"/><Relationship Id="rId9" Type="http://schemas.openxmlformats.org/officeDocument/2006/relationships/image" Target="../media/image-88-8.png"/><Relationship Id="rId10" Type="http://schemas.openxmlformats.org/officeDocument/2006/relationships/slideLayout" Target="../slideLayouts/slideLayout2.xml"/><Relationship Id="rId11"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89-1.png"/><Relationship Id="rId3" Type="http://schemas.openxmlformats.org/officeDocument/2006/relationships/slideLayout" Target="../slideLayouts/slideLayout2.xml"/><Relationship Id="rId4"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90-1.png"/><Relationship Id="rId3" Type="http://schemas.openxmlformats.org/officeDocument/2006/relationships/slideLayout" Target="../slideLayouts/slideLayout2.xml"/><Relationship Id="rId4"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91-1.png"/><Relationship Id="rId3" Type="http://schemas.openxmlformats.org/officeDocument/2006/relationships/slideLayout" Target="../slideLayouts/slideLayout2.xml"/><Relationship Id="rId4"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7" Type="http://schemas.openxmlformats.org/officeDocument/2006/relationships/slide" Target="slide3.xml"/><Relationship Id="rId1" Type="http://schemas.openxmlformats.org/officeDocument/2006/relationships/image" Target="../media/image-92-1.png"/><Relationship Id="rId2" Type="http://schemas.openxmlformats.org/officeDocument/2006/relationships/image" Target="../media/image-92-2.png"/><Relationship Id="rId3" Type="http://schemas.openxmlformats.org/officeDocument/2006/relationships/image" Target="../media/image-92-3.png"/><Relationship Id="rId4" Type="http://schemas.openxmlformats.org/officeDocument/2006/relationships/image" Target="../media/image-92-4.png"/><Relationship Id="rId5" Type="http://schemas.openxmlformats.org/officeDocument/2006/relationships/image" Target="../media/image-92-5.jpeg"/><Relationship Id="rId6" Type="http://schemas.openxmlformats.org/officeDocument/2006/relationships/image" Target="../media/image-92-6.png"/><Relationship Id="rId8" Type="http://schemas.openxmlformats.org/officeDocument/2006/relationships/slideLayout" Target="../slideLayouts/slideLayout3.xml"/><Relationship Id="rId9" Type="http://schemas.openxmlformats.org/officeDocument/2006/relationships/notesSlide" Target="../notesSlides/notesSlide9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502920"/>
            <a:ext cx="1463040" cy="960120"/>
          </a:xfrm>
          <a:prstGeom prst="roundRect">
            <a:avLst>
              <a:gd name="adj" fmla="val 9524"/>
            </a:avLst>
          </a:prstGeom>
          <a:solidFill>
            <a:srgbClr val="FFFFFF"/>
          </a:solidFill>
          <a:ln/>
        </p:spPr>
      </p:sp>
      <p:pic>
        <p:nvPicPr>
          <p:cNvPr id="3" name="Image 0" descr="Kabete National Polytechnic logo">    </p:cNvPr>
          <p:cNvPicPr>
            <a:picLocks noChangeAspect="1"/>
          </p:cNvPicPr>
          <p:nvPr/>
        </p:nvPicPr>
        <p:blipFill>
          <a:blip r:embed="rId1"/>
          <a:stretch>
            <a:fillRect/>
          </a:stretch>
        </p:blipFill>
        <p:spPr>
          <a:xfrm>
            <a:off x="658368" y="604282"/>
            <a:ext cx="1243584" cy="757396"/>
          </a:xfrm>
          <a:prstGeom prst="rect">
            <a:avLst/>
          </a:prstGeom>
        </p:spPr>
      </p:pic>
      <p:sp>
        <p:nvSpPr>
          <p:cNvPr id="4" name="Text 1"/>
          <p:cNvSpPr txBox="1"/>
          <p:nvPr/>
        </p:nvSpPr>
        <p:spPr>
          <a:xfrm>
            <a:off x="548640" y="1737360"/>
            <a:ext cx="8229600" cy="274320"/>
          </a:xfrm>
          <a:prstGeom prst="rect">
            <a:avLst/>
          </a:prstGeom>
          <a:noFill/>
          <a:ln/>
        </p:spPr>
        <p:txBody>
          <a:bodyPr wrap="square" lIns="0" tIns="0" rIns="0" bIns="0" rtlCol="0" anchor="ctr"/>
          <a:lstStyle/>
          <a:p>
            <a:pPr indent="0" marL="0">
              <a:buNone/>
            </a:pPr>
            <a:r>
              <a:rPr lang="en-US" sz="1200" b="1" spc="150" kern="0" dirty="0">
                <a:solidFill>
                  <a:srgbClr val="E8B92E"/>
                </a:solidFill>
              </a:rPr>
              <a:t>KABETE NATIONAL POLYTECHNIC  •  COMPUTING AND INFORMATICS</a:t>
            </a:r>
            <a:endParaRPr lang="en-US" sz="1200" dirty="0"/>
          </a:p>
        </p:txBody>
      </p:sp>
      <p:sp>
        <p:nvSpPr>
          <p:cNvPr id="5" name="Text 2"/>
          <p:cNvSpPr txBox="1"/>
          <p:nvPr/>
        </p:nvSpPr>
        <p:spPr>
          <a:xfrm>
            <a:off x="548640" y="2103120"/>
            <a:ext cx="8778240" cy="141732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How to configure switches and routers in Packet Tracer</a:t>
            </a:r>
            <a:endParaRPr lang="en-US" sz="4000" dirty="0"/>
          </a:p>
        </p:txBody>
      </p:sp>
      <p:sp>
        <p:nvSpPr>
          <p:cNvPr id="6" name="Text 3"/>
          <p:cNvSpPr txBox="1"/>
          <p:nvPr/>
        </p:nvSpPr>
        <p:spPr>
          <a:xfrm>
            <a:off x="548640" y="3611880"/>
            <a:ext cx="8778240" cy="365760"/>
          </a:xfrm>
          <a:prstGeom prst="rect">
            <a:avLst/>
          </a:prstGeom>
          <a:noFill/>
          <a:ln/>
        </p:spPr>
        <p:txBody>
          <a:bodyPr wrap="square" lIns="0" tIns="0" rIns="0" bIns="0" rtlCol="0" anchor="ctr"/>
          <a:lstStyle/>
          <a:p>
            <a:pPr indent="0" marL="0">
              <a:buNone/>
            </a:pPr>
            <a:r>
              <a:rPr lang="en-US" sz="1800" dirty="0">
                <a:solidFill>
                  <a:srgbClr val="CFE3D4"/>
                </a:solidFill>
              </a:rPr>
              <a:t>A step-by-step Cisco IOS command-line (CLI) workbook for trainees and trainers</a:t>
            </a:r>
            <a:endParaRPr lang="en-US" sz="1800" dirty="0"/>
          </a:p>
        </p:txBody>
      </p:sp>
      <p:sp>
        <p:nvSpPr>
          <p:cNvPr id="7" name="Text 4"/>
          <p:cNvSpPr txBox="1"/>
          <p:nvPr/>
        </p:nvSpPr>
        <p:spPr>
          <a:xfrm>
            <a:off x="548640" y="4005072"/>
            <a:ext cx="8778240" cy="320040"/>
          </a:xfrm>
          <a:prstGeom prst="rect">
            <a:avLst/>
          </a:prstGeom>
          <a:noFill/>
          <a:ln/>
        </p:spPr>
        <p:txBody>
          <a:bodyPr wrap="square" lIns="0" tIns="0" rIns="0" bIns="0" rtlCol="0" anchor="ctr"/>
          <a:lstStyle/>
          <a:p>
            <a:pPr indent="0" marL="0">
              <a:buNone/>
            </a:pPr>
            <a:r>
              <a:rPr lang="en-US" sz="1400" dirty="0">
                <a:solidFill>
                  <a:srgbClr val="CFE3D4"/>
                </a:solidFill>
              </a:rPr>
              <a:t>Perform Network Design and Management  •  Unit code 0612 451 07A  •  ICT Technician Level 6</a:t>
            </a:r>
            <a:endParaRPr lang="en-US" sz="1400" dirty="0"/>
          </a:p>
        </p:txBody>
      </p:sp>
      <p:pic>
        <p:nvPicPr>
          <p:cNvPr id="8" name="Image 1" descr="Set up">    </p:cNvPr>
          <p:cNvPicPr>
            <a:picLocks noChangeAspect="1"/>
          </p:cNvPicPr>
          <p:nvPr/>
        </p:nvPicPr>
        <p:blipFill>
          <a:blip r:embed="rId2"/>
          <a:stretch>
            <a:fillRect/>
          </a:stretch>
        </p:blipFill>
        <p:spPr>
          <a:xfrm>
            <a:off x="548640" y="4754880"/>
            <a:ext cx="457200" cy="457200"/>
          </a:xfrm>
          <a:prstGeom prst="rect">
            <a:avLst/>
          </a:prstGeom>
        </p:spPr>
      </p:pic>
      <p:sp>
        <p:nvSpPr>
          <p:cNvPr id="9" name="Text 5"/>
          <p:cNvSpPr txBox="1"/>
          <p:nvPr/>
        </p:nvSpPr>
        <p:spPr>
          <a:xfrm>
            <a:off x="1078992" y="4754880"/>
            <a:ext cx="1325880" cy="457200"/>
          </a:xfrm>
          <a:prstGeom prst="rect">
            <a:avLst/>
          </a:prstGeom>
          <a:noFill/>
          <a:ln/>
        </p:spPr>
        <p:txBody>
          <a:bodyPr wrap="square" lIns="0" tIns="0" rIns="0" bIns="0" rtlCol="0" anchor="ctr"/>
          <a:lstStyle/>
          <a:p>
            <a:pPr indent="0" marL="0">
              <a:buNone/>
            </a:pPr>
            <a:r>
              <a:rPr lang="en-US" sz="1400" b="1" dirty="0">
                <a:solidFill>
                  <a:srgbClr val="FFFFFF"/>
                </a:solidFill>
              </a:rPr>
              <a:t>Set up</a:t>
            </a:r>
            <a:endParaRPr lang="en-US" sz="1400" dirty="0"/>
          </a:p>
        </p:txBody>
      </p:sp>
      <p:pic>
        <p:nvPicPr>
          <p:cNvPr id="10" name="Image 2" descr="VLANs">    </p:cNvPr>
          <p:cNvPicPr>
            <a:picLocks noChangeAspect="1"/>
          </p:cNvPicPr>
          <p:nvPr/>
        </p:nvPicPr>
        <p:blipFill>
          <a:blip r:embed="rId3"/>
          <a:stretch>
            <a:fillRect/>
          </a:stretch>
        </p:blipFill>
        <p:spPr>
          <a:xfrm>
            <a:off x="2011680" y="4754880"/>
            <a:ext cx="457200" cy="457200"/>
          </a:xfrm>
          <a:prstGeom prst="rect">
            <a:avLst/>
          </a:prstGeom>
        </p:spPr>
      </p:pic>
      <p:sp>
        <p:nvSpPr>
          <p:cNvPr id="11" name="Text 6"/>
          <p:cNvSpPr txBox="1"/>
          <p:nvPr/>
        </p:nvSpPr>
        <p:spPr>
          <a:xfrm>
            <a:off x="2542032" y="4754880"/>
            <a:ext cx="1325880" cy="457200"/>
          </a:xfrm>
          <a:prstGeom prst="rect">
            <a:avLst/>
          </a:prstGeom>
          <a:noFill/>
          <a:ln/>
        </p:spPr>
        <p:txBody>
          <a:bodyPr wrap="square" lIns="0" tIns="0" rIns="0" bIns="0" rtlCol="0" anchor="ctr"/>
          <a:lstStyle/>
          <a:p>
            <a:pPr indent="0" marL="0">
              <a:buNone/>
            </a:pPr>
            <a:r>
              <a:rPr lang="en-US" sz="1400" b="1" dirty="0">
                <a:solidFill>
                  <a:srgbClr val="FFFFFF"/>
                </a:solidFill>
              </a:rPr>
              <a:t>VLANs</a:t>
            </a:r>
            <a:endParaRPr lang="en-US" sz="1400" dirty="0"/>
          </a:p>
        </p:txBody>
      </p:sp>
      <p:pic>
        <p:nvPicPr>
          <p:cNvPr id="12" name="Image 3" descr="DHCP">    </p:cNvPr>
          <p:cNvPicPr>
            <a:picLocks noChangeAspect="1"/>
          </p:cNvPicPr>
          <p:nvPr/>
        </p:nvPicPr>
        <p:blipFill>
          <a:blip r:embed="rId4"/>
          <a:stretch>
            <a:fillRect/>
          </a:stretch>
        </p:blipFill>
        <p:spPr>
          <a:xfrm>
            <a:off x="3474720" y="4754880"/>
            <a:ext cx="457200" cy="457200"/>
          </a:xfrm>
          <a:prstGeom prst="rect">
            <a:avLst/>
          </a:prstGeom>
        </p:spPr>
      </p:pic>
      <p:sp>
        <p:nvSpPr>
          <p:cNvPr id="13" name="Text 7"/>
          <p:cNvSpPr txBox="1"/>
          <p:nvPr/>
        </p:nvSpPr>
        <p:spPr>
          <a:xfrm>
            <a:off x="4005072" y="4754880"/>
            <a:ext cx="1325880" cy="457200"/>
          </a:xfrm>
          <a:prstGeom prst="rect">
            <a:avLst/>
          </a:prstGeom>
          <a:noFill/>
          <a:ln/>
        </p:spPr>
        <p:txBody>
          <a:bodyPr wrap="square" lIns="0" tIns="0" rIns="0" bIns="0" rtlCol="0" anchor="ctr"/>
          <a:lstStyle/>
          <a:p>
            <a:pPr indent="0" marL="0">
              <a:buNone/>
            </a:pPr>
            <a:r>
              <a:rPr lang="en-US" sz="1400" b="1" dirty="0">
                <a:solidFill>
                  <a:srgbClr val="FFFFFF"/>
                </a:solidFill>
              </a:rPr>
              <a:t>DHCP</a:t>
            </a:r>
            <a:endParaRPr lang="en-US" sz="1400" dirty="0"/>
          </a:p>
        </p:txBody>
      </p:sp>
      <p:pic>
        <p:nvPicPr>
          <p:cNvPr id="14" name="Image 4" descr="Routing">    </p:cNvPr>
          <p:cNvPicPr>
            <a:picLocks noChangeAspect="1"/>
          </p:cNvPicPr>
          <p:nvPr/>
        </p:nvPicPr>
        <p:blipFill>
          <a:blip r:embed="rId5"/>
          <a:stretch>
            <a:fillRect/>
          </a:stretch>
        </p:blipFill>
        <p:spPr>
          <a:xfrm>
            <a:off x="4937760" y="4754880"/>
            <a:ext cx="457200" cy="457200"/>
          </a:xfrm>
          <a:prstGeom prst="rect">
            <a:avLst/>
          </a:prstGeom>
        </p:spPr>
      </p:pic>
      <p:sp>
        <p:nvSpPr>
          <p:cNvPr id="15" name="Text 8"/>
          <p:cNvSpPr txBox="1"/>
          <p:nvPr/>
        </p:nvSpPr>
        <p:spPr>
          <a:xfrm>
            <a:off x="5468112" y="4754880"/>
            <a:ext cx="1325880" cy="457200"/>
          </a:xfrm>
          <a:prstGeom prst="rect">
            <a:avLst/>
          </a:prstGeom>
          <a:noFill/>
          <a:ln/>
        </p:spPr>
        <p:txBody>
          <a:bodyPr wrap="square" lIns="0" tIns="0" rIns="0" bIns="0" rtlCol="0" anchor="ctr"/>
          <a:lstStyle/>
          <a:p>
            <a:pPr indent="0" marL="0">
              <a:buNone/>
            </a:pPr>
            <a:r>
              <a:rPr lang="en-US" sz="1400" b="1" dirty="0">
                <a:solidFill>
                  <a:srgbClr val="FFFFFF"/>
                </a:solidFill>
              </a:rPr>
              <a:t>Routing</a:t>
            </a:r>
            <a:endParaRPr lang="en-US" sz="1400" dirty="0"/>
          </a:p>
        </p:txBody>
      </p:sp>
      <p:pic>
        <p:nvPicPr>
          <p:cNvPr id="16" name="Image 5" descr="Security">    </p:cNvPr>
          <p:cNvPicPr>
            <a:picLocks noChangeAspect="1"/>
          </p:cNvPicPr>
          <p:nvPr/>
        </p:nvPicPr>
        <p:blipFill>
          <a:blip r:embed="rId6"/>
          <a:stretch>
            <a:fillRect/>
          </a:stretch>
        </p:blipFill>
        <p:spPr>
          <a:xfrm>
            <a:off x="6400800" y="4754880"/>
            <a:ext cx="457200" cy="457200"/>
          </a:xfrm>
          <a:prstGeom prst="rect">
            <a:avLst/>
          </a:prstGeom>
        </p:spPr>
      </p:pic>
      <p:sp>
        <p:nvSpPr>
          <p:cNvPr id="17" name="Text 9"/>
          <p:cNvSpPr txBox="1"/>
          <p:nvPr/>
        </p:nvSpPr>
        <p:spPr>
          <a:xfrm>
            <a:off x="6931152" y="4754880"/>
            <a:ext cx="1325880" cy="457200"/>
          </a:xfrm>
          <a:prstGeom prst="rect">
            <a:avLst/>
          </a:prstGeom>
          <a:noFill/>
          <a:ln/>
        </p:spPr>
        <p:txBody>
          <a:bodyPr wrap="square" lIns="0" tIns="0" rIns="0" bIns="0" rtlCol="0" anchor="ctr"/>
          <a:lstStyle/>
          <a:p>
            <a:pPr indent="0" marL="0">
              <a:buNone/>
            </a:pPr>
            <a:r>
              <a:rPr lang="en-US" sz="1400" b="1" dirty="0">
                <a:solidFill>
                  <a:srgbClr val="FFFFFF"/>
                </a:solidFill>
              </a:rPr>
              <a:t>Security</a:t>
            </a:r>
            <a:endParaRPr lang="en-US" sz="1400" dirty="0"/>
          </a:p>
        </p:txBody>
      </p:sp>
      <p:pic>
        <p:nvPicPr>
          <p:cNvPr id="18" name="Image 6" descr="Troubleshooting">    </p:cNvPr>
          <p:cNvPicPr>
            <a:picLocks noChangeAspect="1"/>
          </p:cNvPicPr>
          <p:nvPr/>
        </p:nvPicPr>
        <p:blipFill>
          <a:blip r:embed="rId7"/>
          <a:stretch>
            <a:fillRect/>
          </a:stretch>
        </p:blipFill>
        <p:spPr>
          <a:xfrm>
            <a:off x="7863840" y="4754880"/>
            <a:ext cx="457200" cy="457200"/>
          </a:xfrm>
          <a:prstGeom prst="rect">
            <a:avLst/>
          </a:prstGeom>
        </p:spPr>
      </p:pic>
      <p:sp>
        <p:nvSpPr>
          <p:cNvPr id="19" name="Text 10"/>
          <p:cNvSpPr txBox="1"/>
          <p:nvPr/>
        </p:nvSpPr>
        <p:spPr>
          <a:xfrm>
            <a:off x="8394192" y="4754880"/>
            <a:ext cx="1325880" cy="457200"/>
          </a:xfrm>
          <a:prstGeom prst="rect">
            <a:avLst/>
          </a:prstGeom>
          <a:noFill/>
          <a:ln/>
        </p:spPr>
        <p:txBody>
          <a:bodyPr wrap="square" lIns="0" tIns="0" rIns="0" bIns="0" rtlCol="0" anchor="ctr"/>
          <a:lstStyle/>
          <a:p>
            <a:pPr indent="0" marL="0">
              <a:buNone/>
            </a:pPr>
            <a:r>
              <a:rPr lang="en-US" sz="1400" b="1" dirty="0">
                <a:solidFill>
                  <a:srgbClr val="FFFFFF"/>
                </a:solidFill>
              </a:rPr>
              <a:t>Troubleshooting</a:t>
            </a:r>
            <a:endParaRPr lang="en-US" sz="1400" dirty="0"/>
          </a:p>
        </p:txBody>
      </p:sp>
      <p:sp>
        <p:nvSpPr>
          <p:cNvPr id="20" name="Text 11"/>
          <p:cNvSpPr txBox="1"/>
          <p:nvPr/>
        </p:nvSpPr>
        <p:spPr>
          <a:xfrm>
            <a:off x="548640" y="6172200"/>
            <a:ext cx="7315200" cy="274320"/>
          </a:xfrm>
          <a:prstGeom prst="rect">
            <a:avLst/>
          </a:prstGeom>
          <a:noFill/>
          <a:ln/>
        </p:spPr>
        <p:txBody>
          <a:bodyPr wrap="square" lIns="0" tIns="0" rIns="0" bIns="0" rtlCol="0" anchor="ctr"/>
          <a:lstStyle/>
          <a:p>
            <a:pPr indent="0" marL="0">
              <a:buNone/>
            </a:pPr>
            <a:r>
              <a:rPr lang="en-US" sz="1200" dirty="0">
                <a:solidFill>
                  <a:srgbClr val="CFE3D4"/>
                </a:solidFill>
              </a:rPr>
              <a:t>Trainer: Jacob Kimwele  •  CBET training slides  •  October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body" hasCustomPrompt="1"/>
          </p:nvPr>
        </p:nvSpPr>
        <p:spPr>
          <a:xfrm>
            <a:off x="548640" y="274320"/>
            <a:ext cx="9966960" cy="256032"/>
          </a:xfrm>
          <a:prstGeom prst="rect">
            <a:avLst/>
          </a:prstGeom>
          <a:noFill/>
          <a:ln/>
        </p:spPr>
        <p:txBody>
          <a:bodyPr wrap="square" lIns="0" tIns="0" rIns="0" bIns="0" rtlCol="0" anchor="ctr"/>
          <a:lstStyle/>
          <a:p>
            <a:pPr algn="l" indent="0" marL="0">
              <a:buNone/>
            </a:pPr>
            <a:r>
              <a:rPr lang="en-US" sz="1100" b="1" spc="100" kern="0" dirty="0">
                <a:solidFill>
                  <a:schemeClr val="accent2"/>
                </a:solidFill>
              </a:rPr>
              <a:t>START HERE</a:t>
            </a:r>
            <a:endParaRPr lang="en-US" sz="1100" dirty="0"/>
          </a:p>
        </p:txBody>
      </p:sp>
      <p:sp>
        <p:nvSpPr>
          <p:cNvPr id="3" name="Text 1"/>
          <p:cNvSpPr/>
          <p:nvPr>
            <p:ph idx="103" type="title" hasCustomPrompt="1"/>
          </p:nvPr>
        </p:nvSpPr>
        <p:spPr>
          <a:xfrm>
            <a:off x="548640" y="548640"/>
            <a:ext cx="10149840" cy="548640"/>
          </a:xfrm>
          <a:prstGeom prst="rect">
            <a:avLst/>
          </a:prstGeom>
          <a:noFill/>
          <a:ln/>
        </p:spPr>
        <p:txBody>
          <a:bodyPr wrap="square" lIns="0" tIns="0" rIns="0" bIns="0" rtlCol="0" anchor="ctr"/>
          <a:lstStyle/>
          <a:p>
            <a:pPr algn="l" indent="0" marL="0">
              <a:buNone/>
            </a:pPr>
            <a:r>
              <a:rPr lang="en-US" sz="2600" b="1" dirty="0">
                <a:solidFill>
                  <a:schemeClr val="accent1"/>
                </a:solidFill>
              </a:rPr>
              <a:t>How to use this workbook</a:t>
            </a:r>
            <a:endParaRPr lang="en-US" sz="2600" dirty="0"/>
          </a:p>
        </p:txBody>
      </p:sp>
      <p:pic>
        <p:nvPicPr>
          <p:cNvPr id="4" name="Home button" descr="Home: back to the workbook menu">
            <a:hlinkClick r:id="rId2" tooltip="Back to the workbook menu" action="ppaction://hlinksldjump"/>
          </p:cNvPr>
          <p:cNvPicPr>
            <a:picLocks noChangeAspect="1"/>
          </p:cNvPicPr>
          <p:nvPr/>
        </p:nvPicPr>
        <p:blipFill>
          <a:blip r:embed="rId1"/>
          <a:stretch>
            <a:fillRect/>
          </a:stretch>
        </p:blipFill>
        <p:spPr>
          <a:xfrm>
            <a:off x="11365992" y="6336792"/>
            <a:ext cx="365760" cy="365760"/>
          </a:xfrm>
          <a:prstGeom prst="rect">
            <a:avLst/>
          </a:prstGeom>
        </p:spPr>
      </p:pic>
      <p:sp>
        <p:nvSpPr>
          <p:cNvPr id="5" name="Shape 2"/>
          <p:cNvSpPr/>
          <p:nvPr/>
        </p:nvSpPr>
        <p:spPr>
          <a:xfrm>
            <a:off x="548640" y="1325880"/>
            <a:ext cx="5669280" cy="3063240"/>
          </a:xfrm>
          <a:prstGeom prst="roundRect">
            <a:avLst>
              <a:gd name="adj" fmla="val 2388"/>
            </a:avLst>
          </a:prstGeom>
          <a:solidFill>
            <a:srgbClr val="FFFFFF"/>
          </a:solidFill>
          <a:ln w="15875">
            <a:solidFill>
              <a:srgbClr val="B7C9BA"/>
            </a:solidFill>
            <a:prstDash val="solid"/>
          </a:ln>
          <a:effectLst>
            <a:outerShdw sx="100000" sy="100000" kx="0" ky="0" algn="bl" rotWithShape="0" blurRad="76200" dist="25400" dir="5400000">
              <a:srgbClr val="000000">
                <a:alpha val="12000"/>
              </a:srgbClr>
            </a:outerShdw>
          </a:effectLst>
        </p:spPr>
      </p:sp>
      <p:sp>
        <p:nvSpPr>
          <p:cNvPr id="6" name="Text 3"/>
          <p:cNvSpPr txBox="1"/>
          <p:nvPr/>
        </p:nvSpPr>
        <p:spPr>
          <a:xfrm>
            <a:off x="777240" y="1490472"/>
            <a:ext cx="4206240" cy="292608"/>
          </a:xfrm>
          <a:prstGeom prst="rect">
            <a:avLst/>
          </a:prstGeom>
          <a:noFill/>
          <a:ln/>
        </p:spPr>
        <p:txBody>
          <a:bodyPr wrap="square" lIns="0" tIns="0" rIns="0" bIns="0" rtlCol="0" anchor="ctr"/>
          <a:lstStyle/>
          <a:p>
            <a:pPr indent="0" marL="0">
              <a:buNone/>
            </a:pPr>
            <a:r>
              <a:rPr lang="en-US" sz="1400" b="1" dirty="0">
                <a:solidFill>
                  <a:srgbClr val="1E5631"/>
                </a:solidFill>
                <a:latin typeface="Cambria" pitchFamily="34" charset="0"/>
                <a:ea typeface="Cambria" pitchFamily="34" charset="-122"/>
                <a:cs typeface="Cambria" pitchFamily="34" charset="-120"/>
              </a:rPr>
              <a:t>How to configure a router interface</a:t>
            </a:r>
            <a:endParaRPr lang="en-US" sz="1400" dirty="0"/>
          </a:p>
        </p:txBody>
      </p:sp>
      <p:sp>
        <p:nvSpPr>
          <p:cNvPr id="7" name="Text 4"/>
          <p:cNvSpPr txBox="1"/>
          <p:nvPr/>
        </p:nvSpPr>
        <p:spPr>
          <a:xfrm>
            <a:off x="777240" y="1828800"/>
            <a:ext cx="4754880" cy="237744"/>
          </a:xfrm>
          <a:prstGeom prst="rect">
            <a:avLst/>
          </a:prstGeom>
          <a:noFill/>
          <a:ln/>
        </p:spPr>
        <p:txBody>
          <a:bodyPr wrap="square" lIns="0" tIns="0" rIns="0" bIns="0" rtlCol="0" anchor="ctr"/>
          <a:lstStyle/>
          <a:p>
            <a:pPr indent="0" marL="0">
              <a:buNone/>
            </a:pPr>
            <a:r>
              <a:rPr lang="en-US" sz="1000" b="1" dirty="0">
                <a:solidFill>
                  <a:srgbClr val="2B7043"/>
                </a:solidFill>
              </a:rPr>
              <a:t>Goal: </a:t>
            </a:r>
            <a:r>
              <a:rPr lang="en-US" sz="1000" dirty="0">
                <a:solidFill>
                  <a:srgbClr val="2B2B2B"/>
                </a:solidFill>
              </a:rPr>
              <a:t>give R1’s LAN port its gateway address</a:t>
            </a:r>
            <a:endParaRPr lang="en-US" sz="1000" dirty="0"/>
          </a:p>
        </p:txBody>
      </p:sp>
      <p:sp>
        <p:nvSpPr>
          <p:cNvPr id="8" name="Shape 5"/>
          <p:cNvSpPr/>
          <p:nvPr/>
        </p:nvSpPr>
        <p:spPr>
          <a:xfrm>
            <a:off x="777240" y="2148840"/>
            <a:ext cx="2788920" cy="1463040"/>
          </a:xfrm>
          <a:prstGeom prst="rect">
            <a:avLst/>
          </a:prstGeom>
          <a:solidFill>
            <a:srgbClr val="1B2B22"/>
          </a:solidFill>
          <a:ln/>
        </p:spPr>
      </p:sp>
      <p:sp>
        <p:nvSpPr>
          <p:cNvPr id="9" name="Text 6"/>
          <p:cNvSpPr txBox="1"/>
          <p:nvPr/>
        </p:nvSpPr>
        <p:spPr>
          <a:xfrm>
            <a:off x="868680" y="2221992"/>
            <a:ext cx="2651760" cy="1325880"/>
          </a:xfrm>
          <a:prstGeom prst="rect">
            <a:avLst/>
          </a:prstGeom>
          <a:noFill/>
          <a:ln/>
        </p:spPr>
        <p:txBody>
          <a:bodyPr wrap="square" lIns="0" tIns="0" rIns="0" bIns="0" rtlCol="0" anchor="t"/>
          <a:lstStyle/>
          <a:p>
            <a:pPr indent="0" marL="0">
              <a:spcAft>
                <a:spcPts val="800"/>
              </a:spcAft>
              <a:buNone/>
            </a:pPr>
            <a:r>
              <a:rPr lang="en-US" sz="1000" dirty="0">
                <a:solidFill>
                  <a:srgbClr val="8FC9A0"/>
                </a:solidFill>
                <a:latin typeface="Courier New" pitchFamily="34" charset="0"/>
                <a:ea typeface="Courier New" pitchFamily="34" charset="-122"/>
                <a:cs typeface="Courier New" pitchFamily="34" charset="-120"/>
              </a:rPr>
              <a:t>R1(config)# </a:t>
            </a:r>
            <a:r>
              <a:rPr lang="en-US" sz="1000" b="1" dirty="0">
                <a:solidFill>
                  <a:srgbClr val="FFFFFF"/>
                </a:solidFill>
                <a:latin typeface="Courier New" pitchFamily="34" charset="0"/>
                <a:ea typeface="Courier New" pitchFamily="34" charset="-122"/>
                <a:cs typeface="Courier New" pitchFamily="34" charset="-120"/>
              </a:rPr>
              <a:t>interface g0/0/0</a:t>
            </a:r>
            <a:endParaRPr lang="en-US" sz="1000" dirty="0"/>
          </a:p>
          <a:p>
            <a:pPr indent="0" marL="0">
              <a:spcAft>
                <a:spcPts val="800"/>
              </a:spcAft>
              <a:buNone/>
            </a:pPr>
            <a:r>
              <a:rPr lang="en-US" sz="1000" dirty="0">
                <a:solidFill>
                  <a:srgbClr val="8FC9A0"/>
                </a:solidFill>
                <a:latin typeface="Courier New" pitchFamily="34" charset="0"/>
                <a:ea typeface="Courier New" pitchFamily="34" charset="-122"/>
                <a:cs typeface="Courier New" pitchFamily="34" charset="-120"/>
              </a:rPr>
              <a:t>R1(config-if)# </a:t>
            </a:r>
            <a:r>
              <a:rPr lang="en-US" sz="1000" b="1" dirty="0">
                <a:solidFill>
                  <a:srgbClr val="FFFFFF"/>
                </a:solidFill>
                <a:latin typeface="Courier New" pitchFamily="34" charset="0"/>
                <a:ea typeface="Courier New" pitchFamily="34" charset="-122"/>
                <a:cs typeface="Courier New" pitchFamily="34" charset="-120"/>
              </a:rPr>
              <a:t>ip address …</a:t>
            </a:r>
            <a:endParaRPr lang="en-US" sz="1000" dirty="0"/>
          </a:p>
          <a:p>
            <a:pPr indent="0" marL="0">
              <a:spcAft>
                <a:spcPts val="800"/>
              </a:spcAft>
              <a:buNone/>
            </a:pPr>
            <a:r>
              <a:rPr lang="en-US" sz="1000" dirty="0">
                <a:solidFill>
                  <a:srgbClr val="8FC9A0"/>
                </a:solidFill>
                <a:latin typeface="Courier New" pitchFamily="34" charset="0"/>
                <a:ea typeface="Courier New" pitchFamily="34" charset="-122"/>
                <a:cs typeface="Courier New" pitchFamily="34" charset="-120"/>
              </a:rPr>
              <a:t>R1(config-if)# </a:t>
            </a:r>
            <a:r>
              <a:rPr lang="en-US" sz="1000" b="1" dirty="0">
                <a:solidFill>
                  <a:srgbClr val="FFFFFF"/>
                </a:solidFill>
                <a:latin typeface="Courier New" pitchFamily="34" charset="0"/>
                <a:ea typeface="Courier New" pitchFamily="34" charset="-122"/>
                <a:cs typeface="Courier New" pitchFamily="34" charset="-120"/>
              </a:rPr>
              <a:t>no shutdown</a:t>
            </a:r>
            <a:endParaRPr lang="en-US" sz="1000" dirty="0"/>
          </a:p>
        </p:txBody>
      </p:sp>
      <p:sp>
        <p:nvSpPr>
          <p:cNvPr id="10" name="Shape 7"/>
          <p:cNvSpPr/>
          <p:nvPr/>
        </p:nvSpPr>
        <p:spPr>
          <a:xfrm>
            <a:off x="3566160" y="2148840"/>
            <a:ext cx="2423160" cy="1463040"/>
          </a:xfrm>
          <a:prstGeom prst="rect">
            <a:avLst/>
          </a:prstGeom>
          <a:solidFill>
            <a:srgbClr val="F2F8F3"/>
          </a:solidFill>
          <a:ln/>
        </p:spPr>
      </p:sp>
      <p:sp>
        <p:nvSpPr>
          <p:cNvPr id="11" name="Text 8"/>
          <p:cNvSpPr txBox="1"/>
          <p:nvPr/>
        </p:nvSpPr>
        <p:spPr>
          <a:xfrm>
            <a:off x="3675888" y="2221992"/>
            <a:ext cx="2240280" cy="1325880"/>
          </a:xfrm>
          <a:prstGeom prst="rect">
            <a:avLst/>
          </a:prstGeom>
          <a:noFill/>
          <a:ln/>
        </p:spPr>
        <p:txBody>
          <a:bodyPr wrap="square" lIns="0" tIns="0" rIns="0" bIns="0" rtlCol="0" anchor="t"/>
          <a:lstStyle/>
          <a:p>
            <a:pPr indent="0" marL="0">
              <a:spcAft>
                <a:spcPts val="800"/>
              </a:spcAft>
              <a:buNone/>
            </a:pPr>
            <a:r>
              <a:rPr lang="en-US" sz="1000" dirty="0">
                <a:solidFill>
                  <a:srgbClr val="2B2B2B"/>
                </a:solidFill>
              </a:rPr>
              <a:t>Select the port</a:t>
            </a:r>
            <a:endParaRPr lang="en-US" sz="1000" dirty="0"/>
          </a:p>
          <a:p>
            <a:pPr indent="0" marL="0">
              <a:spcAft>
                <a:spcPts val="800"/>
              </a:spcAft>
              <a:buNone/>
            </a:pPr>
            <a:r>
              <a:rPr lang="en-US" sz="1000" dirty="0">
                <a:solidFill>
                  <a:srgbClr val="2B2B2B"/>
                </a:solidFill>
              </a:rPr>
              <a:t>Give it its address</a:t>
            </a:r>
            <a:endParaRPr lang="en-US" sz="1000" dirty="0"/>
          </a:p>
          <a:p>
            <a:pPr indent="0" marL="0">
              <a:spcAft>
                <a:spcPts val="800"/>
              </a:spcAft>
              <a:buNone/>
            </a:pPr>
            <a:r>
              <a:rPr lang="en-US" sz="1000" dirty="0">
                <a:solidFill>
                  <a:srgbClr val="2B2B2B"/>
                </a:solidFill>
              </a:rPr>
              <a:t>Switch it on</a:t>
            </a:r>
            <a:endParaRPr lang="en-US" sz="1000" dirty="0"/>
          </a:p>
        </p:txBody>
      </p:sp>
      <p:sp>
        <p:nvSpPr>
          <p:cNvPr id="12" name="Shape 9"/>
          <p:cNvSpPr/>
          <p:nvPr/>
        </p:nvSpPr>
        <p:spPr>
          <a:xfrm>
            <a:off x="777240" y="3749040"/>
            <a:ext cx="2514600" cy="438912"/>
          </a:xfrm>
          <a:prstGeom prst="roundRect">
            <a:avLst>
              <a:gd name="adj" fmla="val 10417"/>
            </a:avLst>
          </a:prstGeom>
          <a:solidFill>
            <a:srgbClr val="E8F1EA"/>
          </a:solidFill>
          <a:ln w="9525">
            <a:solidFill>
              <a:srgbClr val="B7C9BA"/>
            </a:solidFill>
            <a:prstDash val="solid"/>
          </a:ln>
        </p:spPr>
      </p:sp>
      <p:sp>
        <p:nvSpPr>
          <p:cNvPr id="13" name="Text 10"/>
          <p:cNvSpPr txBox="1"/>
          <p:nvPr/>
        </p:nvSpPr>
        <p:spPr>
          <a:xfrm>
            <a:off x="868680" y="3749040"/>
            <a:ext cx="2377440" cy="438912"/>
          </a:xfrm>
          <a:prstGeom prst="rect">
            <a:avLst/>
          </a:prstGeom>
          <a:noFill/>
          <a:ln/>
        </p:spPr>
        <p:txBody>
          <a:bodyPr wrap="square" lIns="0" tIns="0" rIns="0" bIns="0" rtlCol="0" anchor="ctr"/>
          <a:lstStyle/>
          <a:p>
            <a:pPr indent="0" marL="0">
              <a:buNone/>
            </a:pPr>
            <a:r>
              <a:rPr lang="en-US" sz="1000" b="1" dirty="0">
                <a:solidFill>
                  <a:srgbClr val="1E5631"/>
                </a:solidFill>
              </a:rPr>
              <a:t>Check it: </a:t>
            </a:r>
            <a:r>
              <a:rPr lang="en-US" sz="1000" dirty="0">
                <a:solidFill>
                  <a:srgbClr val="2B2B2B"/>
                </a:solidFill>
              </a:rPr>
              <a:t>show ip int brief</a:t>
            </a:r>
            <a:endParaRPr lang="en-US" sz="1000" dirty="0"/>
          </a:p>
        </p:txBody>
      </p:sp>
      <p:sp>
        <p:nvSpPr>
          <p:cNvPr id="14" name="Shape 11"/>
          <p:cNvSpPr/>
          <p:nvPr/>
        </p:nvSpPr>
        <p:spPr>
          <a:xfrm>
            <a:off x="3474720" y="3749040"/>
            <a:ext cx="2514600" cy="438912"/>
          </a:xfrm>
          <a:prstGeom prst="roundRect">
            <a:avLst>
              <a:gd name="adj" fmla="val 10417"/>
            </a:avLst>
          </a:prstGeom>
          <a:solidFill>
            <a:srgbClr val="FBEAEA"/>
          </a:solidFill>
          <a:ln w="9525">
            <a:solidFill>
              <a:srgbClr val="E9B8B5"/>
            </a:solidFill>
            <a:prstDash val="solid"/>
          </a:ln>
        </p:spPr>
      </p:sp>
      <p:sp>
        <p:nvSpPr>
          <p:cNvPr id="15" name="Text 12"/>
          <p:cNvSpPr txBox="1"/>
          <p:nvPr/>
        </p:nvSpPr>
        <p:spPr>
          <a:xfrm>
            <a:off x="3566160" y="3749040"/>
            <a:ext cx="2377440" cy="438912"/>
          </a:xfrm>
          <a:prstGeom prst="rect">
            <a:avLst/>
          </a:prstGeom>
          <a:noFill/>
          <a:ln/>
        </p:spPr>
        <p:txBody>
          <a:bodyPr wrap="square" lIns="0" tIns="0" rIns="0" bIns="0" rtlCol="0" anchor="ctr"/>
          <a:lstStyle/>
          <a:p>
            <a:pPr indent="0" marL="0">
              <a:buNone/>
            </a:pPr>
            <a:r>
              <a:rPr lang="en-US" sz="1000" b="1" dirty="0">
                <a:solidFill>
                  <a:srgbClr val="8B1A1A"/>
                </a:solidFill>
              </a:rPr>
              <a:t>Watch out: </a:t>
            </a:r>
            <a:r>
              <a:rPr lang="en-US" sz="1000" dirty="0">
                <a:solidFill>
                  <a:srgbClr val="2B2B2B"/>
                </a:solidFill>
              </a:rPr>
              <a:t>no shutdown!</a:t>
            </a:r>
            <a:endParaRPr lang="en-US" sz="1000" dirty="0"/>
          </a:p>
        </p:txBody>
      </p:sp>
      <p:sp>
        <p:nvSpPr>
          <p:cNvPr id="16" name="Shape 13"/>
          <p:cNvSpPr/>
          <p:nvPr/>
        </p:nvSpPr>
        <p:spPr>
          <a:xfrm>
            <a:off x="5166360" y="1463040"/>
            <a:ext cx="329184" cy="329184"/>
          </a:xfrm>
          <a:prstGeom prst="ellipse">
            <a:avLst/>
          </a:prstGeom>
          <a:solidFill>
            <a:srgbClr val="E8B92E"/>
          </a:solidFill>
          <a:ln/>
        </p:spPr>
      </p:sp>
      <p:sp>
        <p:nvSpPr>
          <p:cNvPr id="17" name="Text 14"/>
          <p:cNvSpPr txBox="1"/>
          <p:nvPr/>
        </p:nvSpPr>
        <p:spPr>
          <a:xfrm>
            <a:off x="5166360" y="1463040"/>
            <a:ext cx="329184" cy="329184"/>
          </a:xfrm>
          <a:prstGeom prst="rect">
            <a:avLst/>
          </a:prstGeom>
          <a:noFill/>
          <a:ln/>
        </p:spPr>
        <p:txBody>
          <a:bodyPr wrap="square" lIns="0" tIns="0" rIns="0" bIns="0" rtlCol="0" anchor="ctr"/>
          <a:lstStyle/>
          <a:p>
            <a:pPr algn="ctr" indent="0" marL="0">
              <a:buNone/>
            </a:pPr>
            <a:r>
              <a:rPr lang="en-US" sz="1300" b="1" dirty="0">
                <a:solidFill>
                  <a:srgbClr val="1B2B22"/>
                </a:solidFill>
              </a:rPr>
              <a:t>1</a:t>
            </a:r>
            <a:endParaRPr lang="en-US" sz="1300" dirty="0"/>
          </a:p>
        </p:txBody>
      </p:sp>
      <p:sp>
        <p:nvSpPr>
          <p:cNvPr id="18" name="Shape 15"/>
          <p:cNvSpPr/>
          <p:nvPr/>
        </p:nvSpPr>
        <p:spPr>
          <a:xfrm>
            <a:off x="5623560" y="1783080"/>
            <a:ext cx="329184" cy="329184"/>
          </a:xfrm>
          <a:prstGeom prst="ellipse">
            <a:avLst/>
          </a:prstGeom>
          <a:solidFill>
            <a:srgbClr val="E8B92E"/>
          </a:solidFill>
          <a:ln/>
        </p:spPr>
      </p:sp>
      <p:sp>
        <p:nvSpPr>
          <p:cNvPr id="19" name="Text 16"/>
          <p:cNvSpPr txBox="1"/>
          <p:nvPr/>
        </p:nvSpPr>
        <p:spPr>
          <a:xfrm>
            <a:off x="5623560" y="1783080"/>
            <a:ext cx="329184" cy="329184"/>
          </a:xfrm>
          <a:prstGeom prst="rect">
            <a:avLst/>
          </a:prstGeom>
          <a:noFill/>
          <a:ln/>
        </p:spPr>
        <p:txBody>
          <a:bodyPr wrap="square" lIns="0" tIns="0" rIns="0" bIns="0" rtlCol="0" anchor="ctr"/>
          <a:lstStyle/>
          <a:p>
            <a:pPr algn="ctr" indent="0" marL="0">
              <a:buNone/>
            </a:pPr>
            <a:r>
              <a:rPr lang="en-US" sz="1300" b="1" dirty="0">
                <a:solidFill>
                  <a:srgbClr val="1B2B22"/>
                </a:solidFill>
              </a:rPr>
              <a:t>2</a:t>
            </a:r>
            <a:endParaRPr lang="en-US" sz="1300" dirty="0"/>
          </a:p>
        </p:txBody>
      </p:sp>
      <p:sp>
        <p:nvSpPr>
          <p:cNvPr id="20" name="Shape 17"/>
          <p:cNvSpPr/>
          <p:nvPr/>
        </p:nvSpPr>
        <p:spPr>
          <a:xfrm>
            <a:off x="566928" y="2743200"/>
            <a:ext cx="329184" cy="329184"/>
          </a:xfrm>
          <a:prstGeom prst="ellipse">
            <a:avLst/>
          </a:prstGeom>
          <a:solidFill>
            <a:srgbClr val="E8B92E"/>
          </a:solidFill>
          <a:ln/>
        </p:spPr>
      </p:sp>
      <p:sp>
        <p:nvSpPr>
          <p:cNvPr id="21" name="Text 18"/>
          <p:cNvSpPr txBox="1"/>
          <p:nvPr/>
        </p:nvSpPr>
        <p:spPr>
          <a:xfrm>
            <a:off x="566928" y="2743200"/>
            <a:ext cx="329184" cy="329184"/>
          </a:xfrm>
          <a:prstGeom prst="rect">
            <a:avLst/>
          </a:prstGeom>
          <a:noFill/>
          <a:ln/>
        </p:spPr>
        <p:txBody>
          <a:bodyPr wrap="square" lIns="0" tIns="0" rIns="0" bIns="0" rtlCol="0" anchor="ctr"/>
          <a:lstStyle/>
          <a:p>
            <a:pPr algn="ctr" indent="0" marL="0">
              <a:buNone/>
            </a:pPr>
            <a:r>
              <a:rPr lang="en-US" sz="1300" b="1" dirty="0">
                <a:solidFill>
                  <a:srgbClr val="1B2B22"/>
                </a:solidFill>
              </a:rPr>
              <a:t>3</a:t>
            </a:r>
            <a:endParaRPr lang="en-US" sz="1300" dirty="0"/>
          </a:p>
        </p:txBody>
      </p:sp>
      <p:sp>
        <p:nvSpPr>
          <p:cNvPr id="22" name="Shape 19"/>
          <p:cNvSpPr/>
          <p:nvPr/>
        </p:nvSpPr>
        <p:spPr>
          <a:xfrm>
            <a:off x="5852160" y="2743200"/>
            <a:ext cx="329184" cy="329184"/>
          </a:xfrm>
          <a:prstGeom prst="ellipse">
            <a:avLst/>
          </a:prstGeom>
          <a:solidFill>
            <a:srgbClr val="E8B92E"/>
          </a:solidFill>
          <a:ln/>
        </p:spPr>
      </p:sp>
      <p:sp>
        <p:nvSpPr>
          <p:cNvPr id="23" name="Text 20"/>
          <p:cNvSpPr txBox="1"/>
          <p:nvPr/>
        </p:nvSpPr>
        <p:spPr>
          <a:xfrm>
            <a:off x="5852160" y="2743200"/>
            <a:ext cx="329184" cy="329184"/>
          </a:xfrm>
          <a:prstGeom prst="rect">
            <a:avLst/>
          </a:prstGeom>
          <a:noFill/>
          <a:ln/>
        </p:spPr>
        <p:txBody>
          <a:bodyPr wrap="square" lIns="0" tIns="0" rIns="0" bIns="0" rtlCol="0" anchor="ctr"/>
          <a:lstStyle/>
          <a:p>
            <a:pPr algn="ctr" indent="0" marL="0">
              <a:buNone/>
            </a:pPr>
            <a:r>
              <a:rPr lang="en-US" sz="1300" b="1" dirty="0">
                <a:solidFill>
                  <a:srgbClr val="1B2B22"/>
                </a:solidFill>
              </a:rPr>
              <a:t>4</a:t>
            </a:r>
            <a:endParaRPr lang="en-US" sz="1300" dirty="0"/>
          </a:p>
        </p:txBody>
      </p:sp>
      <p:sp>
        <p:nvSpPr>
          <p:cNvPr id="24" name="Shape 21"/>
          <p:cNvSpPr/>
          <p:nvPr/>
        </p:nvSpPr>
        <p:spPr>
          <a:xfrm>
            <a:off x="5623560" y="3803904"/>
            <a:ext cx="329184" cy="329184"/>
          </a:xfrm>
          <a:prstGeom prst="ellipse">
            <a:avLst/>
          </a:prstGeom>
          <a:solidFill>
            <a:srgbClr val="E8B92E"/>
          </a:solidFill>
          <a:ln/>
        </p:spPr>
      </p:sp>
      <p:sp>
        <p:nvSpPr>
          <p:cNvPr id="25" name="Text 22"/>
          <p:cNvSpPr txBox="1"/>
          <p:nvPr/>
        </p:nvSpPr>
        <p:spPr>
          <a:xfrm>
            <a:off x="5623560" y="3803904"/>
            <a:ext cx="329184" cy="329184"/>
          </a:xfrm>
          <a:prstGeom prst="rect">
            <a:avLst/>
          </a:prstGeom>
          <a:noFill/>
          <a:ln/>
        </p:spPr>
        <p:txBody>
          <a:bodyPr wrap="square" lIns="0" tIns="0" rIns="0" bIns="0" rtlCol="0" anchor="ctr"/>
          <a:lstStyle/>
          <a:p>
            <a:pPr algn="ctr" indent="0" marL="0">
              <a:buNone/>
            </a:pPr>
            <a:r>
              <a:rPr lang="en-US" sz="1300" b="1" dirty="0">
                <a:solidFill>
                  <a:srgbClr val="1B2B22"/>
                </a:solidFill>
              </a:rPr>
              <a:t>5</a:t>
            </a:r>
            <a:endParaRPr lang="en-US" sz="1300" dirty="0"/>
          </a:p>
        </p:txBody>
      </p:sp>
      <p:sp>
        <p:nvSpPr>
          <p:cNvPr id="26" name="Shape 23"/>
          <p:cNvSpPr/>
          <p:nvPr/>
        </p:nvSpPr>
        <p:spPr>
          <a:xfrm>
            <a:off x="6537960" y="1344168"/>
            <a:ext cx="329184" cy="329184"/>
          </a:xfrm>
          <a:prstGeom prst="ellipse">
            <a:avLst/>
          </a:prstGeom>
          <a:solidFill>
            <a:srgbClr val="E8B92E"/>
          </a:solidFill>
          <a:ln/>
        </p:spPr>
      </p:sp>
      <p:sp>
        <p:nvSpPr>
          <p:cNvPr id="27" name="Text 24"/>
          <p:cNvSpPr txBox="1"/>
          <p:nvPr/>
        </p:nvSpPr>
        <p:spPr>
          <a:xfrm>
            <a:off x="6537960" y="1344168"/>
            <a:ext cx="329184" cy="329184"/>
          </a:xfrm>
          <a:prstGeom prst="rect">
            <a:avLst/>
          </a:prstGeom>
          <a:noFill/>
          <a:ln/>
        </p:spPr>
        <p:txBody>
          <a:bodyPr wrap="square" lIns="0" tIns="0" rIns="0" bIns="0" rtlCol="0" anchor="ctr"/>
          <a:lstStyle/>
          <a:p>
            <a:pPr algn="ctr" indent="0" marL="0">
              <a:buNone/>
            </a:pPr>
            <a:r>
              <a:rPr lang="en-US" sz="1300" b="1" dirty="0">
                <a:solidFill>
                  <a:srgbClr val="1B2B22"/>
                </a:solidFill>
              </a:rPr>
              <a:t>1</a:t>
            </a:r>
            <a:endParaRPr lang="en-US" sz="1300" dirty="0"/>
          </a:p>
        </p:txBody>
      </p:sp>
      <p:sp>
        <p:nvSpPr>
          <p:cNvPr id="28" name="Text 25"/>
          <p:cNvSpPr txBox="1"/>
          <p:nvPr/>
        </p:nvSpPr>
        <p:spPr>
          <a:xfrm>
            <a:off x="7013448" y="1325880"/>
            <a:ext cx="4626864" cy="488696"/>
          </a:xfrm>
          <a:prstGeom prst="rect">
            <a:avLst/>
          </a:prstGeom>
          <a:noFill/>
          <a:ln/>
        </p:spPr>
        <p:txBody>
          <a:bodyPr wrap="square" lIns="0" tIns="0" rIns="0" bIns="0" rtlCol="0" anchor="t"/>
          <a:lstStyle/>
          <a:p>
            <a:pPr indent="0" marL="0">
              <a:buNone/>
            </a:pPr>
            <a:r>
              <a:rPr lang="en-US" sz="1400" b="1" dirty="0">
                <a:solidFill>
                  <a:srgbClr val="1E5631"/>
                </a:solidFill>
              </a:rPr>
              <a:t>Title — the skill</a:t>
            </a:r>
            <a:endParaRPr lang="en-US" sz="1400" dirty="0"/>
          </a:p>
          <a:p>
            <a:pPr indent="0" marL="0">
              <a:buNone/>
            </a:pPr>
            <a:r>
              <a:rPr lang="en-US" sz="1400" dirty="0">
                <a:solidFill>
                  <a:srgbClr val="2B2B2B"/>
                </a:solidFill>
              </a:rPr>
              <a:t>Every slide starts with “How to…”.</a:t>
            </a:r>
            <a:endParaRPr lang="en-US" sz="1400" dirty="0"/>
          </a:p>
        </p:txBody>
      </p:sp>
      <p:sp>
        <p:nvSpPr>
          <p:cNvPr id="29" name="Shape 26"/>
          <p:cNvSpPr/>
          <p:nvPr/>
        </p:nvSpPr>
        <p:spPr>
          <a:xfrm>
            <a:off x="6537960" y="1942592"/>
            <a:ext cx="329184" cy="329184"/>
          </a:xfrm>
          <a:prstGeom prst="ellipse">
            <a:avLst/>
          </a:prstGeom>
          <a:solidFill>
            <a:srgbClr val="E8B92E"/>
          </a:solidFill>
          <a:ln/>
        </p:spPr>
      </p:sp>
      <p:sp>
        <p:nvSpPr>
          <p:cNvPr id="30" name="Text 27"/>
          <p:cNvSpPr txBox="1"/>
          <p:nvPr/>
        </p:nvSpPr>
        <p:spPr>
          <a:xfrm>
            <a:off x="6537960" y="1942592"/>
            <a:ext cx="329184" cy="329184"/>
          </a:xfrm>
          <a:prstGeom prst="rect">
            <a:avLst/>
          </a:prstGeom>
          <a:noFill/>
          <a:ln/>
        </p:spPr>
        <p:txBody>
          <a:bodyPr wrap="square" lIns="0" tIns="0" rIns="0" bIns="0" rtlCol="0" anchor="ctr"/>
          <a:lstStyle/>
          <a:p>
            <a:pPr algn="ctr" indent="0" marL="0">
              <a:buNone/>
            </a:pPr>
            <a:r>
              <a:rPr lang="en-US" sz="1300" b="1" dirty="0">
                <a:solidFill>
                  <a:srgbClr val="1B2B22"/>
                </a:solidFill>
              </a:rPr>
              <a:t>2</a:t>
            </a:r>
            <a:endParaRPr lang="en-US" sz="1300" dirty="0"/>
          </a:p>
        </p:txBody>
      </p:sp>
      <p:sp>
        <p:nvSpPr>
          <p:cNvPr id="31" name="Text 28"/>
          <p:cNvSpPr txBox="1"/>
          <p:nvPr/>
        </p:nvSpPr>
        <p:spPr>
          <a:xfrm>
            <a:off x="7013448" y="1924304"/>
            <a:ext cx="4626864" cy="488696"/>
          </a:xfrm>
          <a:prstGeom prst="rect">
            <a:avLst/>
          </a:prstGeom>
          <a:noFill/>
          <a:ln/>
        </p:spPr>
        <p:txBody>
          <a:bodyPr wrap="square" lIns="0" tIns="0" rIns="0" bIns="0" rtlCol="0" anchor="t"/>
          <a:lstStyle/>
          <a:p>
            <a:pPr indent="0" marL="0">
              <a:buNone/>
            </a:pPr>
            <a:r>
              <a:rPr lang="en-US" sz="1400" b="1" dirty="0">
                <a:solidFill>
                  <a:srgbClr val="1E5631"/>
                </a:solidFill>
              </a:rPr>
              <a:t>Goal — what and why</a:t>
            </a:r>
            <a:endParaRPr lang="en-US" sz="1400" dirty="0"/>
          </a:p>
          <a:p>
            <a:pPr indent="0" marL="0">
              <a:buNone/>
            </a:pPr>
            <a:r>
              <a:rPr lang="en-US" sz="1400" dirty="0">
                <a:solidFill>
                  <a:srgbClr val="2B2B2B"/>
                </a:solidFill>
              </a:rPr>
              <a:t>What you will achieve, in one line.</a:t>
            </a:r>
            <a:endParaRPr lang="en-US" sz="1400" dirty="0"/>
          </a:p>
        </p:txBody>
      </p:sp>
      <p:sp>
        <p:nvSpPr>
          <p:cNvPr id="32" name="Shape 29"/>
          <p:cNvSpPr/>
          <p:nvPr/>
        </p:nvSpPr>
        <p:spPr>
          <a:xfrm>
            <a:off x="6537960" y="2541016"/>
            <a:ext cx="329184" cy="329184"/>
          </a:xfrm>
          <a:prstGeom prst="ellipse">
            <a:avLst/>
          </a:prstGeom>
          <a:solidFill>
            <a:srgbClr val="E8B92E"/>
          </a:solidFill>
          <a:ln/>
        </p:spPr>
      </p:sp>
      <p:sp>
        <p:nvSpPr>
          <p:cNvPr id="33" name="Text 30"/>
          <p:cNvSpPr txBox="1"/>
          <p:nvPr/>
        </p:nvSpPr>
        <p:spPr>
          <a:xfrm>
            <a:off x="6537960" y="2541016"/>
            <a:ext cx="329184" cy="329184"/>
          </a:xfrm>
          <a:prstGeom prst="rect">
            <a:avLst/>
          </a:prstGeom>
          <a:noFill/>
          <a:ln/>
        </p:spPr>
        <p:txBody>
          <a:bodyPr wrap="square" lIns="0" tIns="0" rIns="0" bIns="0" rtlCol="0" anchor="ctr"/>
          <a:lstStyle/>
          <a:p>
            <a:pPr algn="ctr" indent="0" marL="0">
              <a:buNone/>
            </a:pPr>
            <a:r>
              <a:rPr lang="en-US" sz="1300" b="1" dirty="0">
                <a:solidFill>
                  <a:srgbClr val="1B2B22"/>
                </a:solidFill>
              </a:rPr>
              <a:t>3</a:t>
            </a:r>
            <a:endParaRPr lang="en-US" sz="1300" dirty="0"/>
          </a:p>
        </p:txBody>
      </p:sp>
      <p:sp>
        <p:nvSpPr>
          <p:cNvPr id="34" name="Text 31"/>
          <p:cNvSpPr txBox="1"/>
          <p:nvPr/>
        </p:nvSpPr>
        <p:spPr>
          <a:xfrm>
            <a:off x="7013448" y="2522728"/>
            <a:ext cx="4626864" cy="705612"/>
          </a:xfrm>
          <a:prstGeom prst="rect">
            <a:avLst/>
          </a:prstGeom>
          <a:noFill/>
          <a:ln/>
        </p:spPr>
        <p:txBody>
          <a:bodyPr wrap="square" lIns="0" tIns="0" rIns="0" bIns="0" rtlCol="0" anchor="t"/>
          <a:lstStyle/>
          <a:p>
            <a:pPr indent="0" marL="0">
              <a:buNone/>
            </a:pPr>
            <a:r>
              <a:rPr lang="en-US" sz="1400" b="1" dirty="0">
                <a:solidFill>
                  <a:srgbClr val="1E5631"/>
                </a:solidFill>
              </a:rPr>
              <a:t>Dark column — what to type</a:t>
            </a:r>
            <a:endParaRPr lang="en-US" sz="1400" dirty="0"/>
          </a:p>
          <a:p>
            <a:pPr indent="0" marL="0">
              <a:buNone/>
            </a:pPr>
            <a:r>
              <a:rPr lang="en-US" sz="1400" dirty="0">
                <a:solidFill>
                  <a:srgbClr val="2B2B2B"/>
                </a:solidFill>
              </a:rPr>
              <a:t>Type the white text. The green prompt shows the mode you must be in.</a:t>
            </a:r>
            <a:endParaRPr lang="en-US" sz="1400" dirty="0"/>
          </a:p>
        </p:txBody>
      </p:sp>
      <p:sp>
        <p:nvSpPr>
          <p:cNvPr id="35" name="Shape 32"/>
          <p:cNvSpPr/>
          <p:nvPr/>
        </p:nvSpPr>
        <p:spPr>
          <a:xfrm>
            <a:off x="6537960" y="3356356"/>
            <a:ext cx="329184" cy="329184"/>
          </a:xfrm>
          <a:prstGeom prst="ellipse">
            <a:avLst/>
          </a:prstGeom>
          <a:solidFill>
            <a:srgbClr val="E8B92E"/>
          </a:solidFill>
          <a:ln/>
        </p:spPr>
      </p:sp>
      <p:sp>
        <p:nvSpPr>
          <p:cNvPr id="36" name="Text 33"/>
          <p:cNvSpPr txBox="1"/>
          <p:nvPr/>
        </p:nvSpPr>
        <p:spPr>
          <a:xfrm>
            <a:off x="6537960" y="3356356"/>
            <a:ext cx="329184" cy="329184"/>
          </a:xfrm>
          <a:prstGeom prst="rect">
            <a:avLst/>
          </a:prstGeom>
          <a:noFill/>
          <a:ln/>
        </p:spPr>
        <p:txBody>
          <a:bodyPr wrap="square" lIns="0" tIns="0" rIns="0" bIns="0" rtlCol="0" anchor="ctr"/>
          <a:lstStyle/>
          <a:p>
            <a:pPr algn="ctr" indent="0" marL="0">
              <a:buNone/>
            </a:pPr>
            <a:r>
              <a:rPr lang="en-US" sz="1300" b="1" dirty="0">
                <a:solidFill>
                  <a:srgbClr val="1B2B22"/>
                </a:solidFill>
              </a:rPr>
              <a:t>4</a:t>
            </a:r>
            <a:endParaRPr lang="en-US" sz="1300" dirty="0"/>
          </a:p>
        </p:txBody>
      </p:sp>
      <p:sp>
        <p:nvSpPr>
          <p:cNvPr id="37" name="Text 34"/>
          <p:cNvSpPr txBox="1"/>
          <p:nvPr/>
        </p:nvSpPr>
        <p:spPr>
          <a:xfrm>
            <a:off x="7013448" y="3338068"/>
            <a:ext cx="4626864" cy="488696"/>
          </a:xfrm>
          <a:prstGeom prst="rect">
            <a:avLst/>
          </a:prstGeom>
          <a:noFill/>
          <a:ln/>
        </p:spPr>
        <p:txBody>
          <a:bodyPr wrap="square" lIns="0" tIns="0" rIns="0" bIns="0" rtlCol="0" anchor="t"/>
          <a:lstStyle/>
          <a:p>
            <a:pPr indent="0" marL="0">
              <a:buNone/>
            </a:pPr>
            <a:r>
              <a:rPr lang="en-US" sz="1400" b="1" dirty="0">
                <a:solidFill>
                  <a:srgbClr val="1E5631"/>
                </a:solidFill>
              </a:rPr>
              <a:t>Light column — what it means</a:t>
            </a:r>
            <a:endParaRPr lang="en-US" sz="1400" dirty="0"/>
          </a:p>
          <a:p>
            <a:pPr indent="0" marL="0">
              <a:buNone/>
            </a:pPr>
            <a:r>
              <a:rPr lang="en-US" sz="1400" dirty="0">
                <a:solidFill>
                  <a:srgbClr val="2B2B2B"/>
                </a:solidFill>
              </a:rPr>
              <a:t>Each command explained in plain English.</a:t>
            </a:r>
            <a:endParaRPr lang="en-US" sz="1400" dirty="0"/>
          </a:p>
        </p:txBody>
      </p:sp>
      <p:sp>
        <p:nvSpPr>
          <p:cNvPr id="38" name="Shape 35"/>
          <p:cNvSpPr/>
          <p:nvPr/>
        </p:nvSpPr>
        <p:spPr>
          <a:xfrm>
            <a:off x="6537960" y="3954780"/>
            <a:ext cx="329184" cy="329184"/>
          </a:xfrm>
          <a:prstGeom prst="ellipse">
            <a:avLst/>
          </a:prstGeom>
          <a:solidFill>
            <a:srgbClr val="E8B92E"/>
          </a:solidFill>
          <a:ln/>
        </p:spPr>
      </p:sp>
      <p:sp>
        <p:nvSpPr>
          <p:cNvPr id="39" name="Text 36"/>
          <p:cNvSpPr txBox="1"/>
          <p:nvPr/>
        </p:nvSpPr>
        <p:spPr>
          <a:xfrm>
            <a:off x="6537960" y="3954780"/>
            <a:ext cx="329184" cy="329184"/>
          </a:xfrm>
          <a:prstGeom prst="rect">
            <a:avLst/>
          </a:prstGeom>
          <a:noFill/>
          <a:ln/>
        </p:spPr>
        <p:txBody>
          <a:bodyPr wrap="square" lIns="0" tIns="0" rIns="0" bIns="0" rtlCol="0" anchor="ctr"/>
          <a:lstStyle/>
          <a:p>
            <a:pPr algn="ctr" indent="0" marL="0">
              <a:buNone/>
            </a:pPr>
            <a:r>
              <a:rPr lang="en-US" sz="1300" b="1" dirty="0">
                <a:solidFill>
                  <a:srgbClr val="1B2B22"/>
                </a:solidFill>
              </a:rPr>
              <a:t>5</a:t>
            </a:r>
            <a:endParaRPr lang="en-US" sz="1300" dirty="0"/>
          </a:p>
        </p:txBody>
      </p:sp>
      <p:sp>
        <p:nvSpPr>
          <p:cNvPr id="40" name="Text 37"/>
          <p:cNvSpPr txBox="1"/>
          <p:nvPr/>
        </p:nvSpPr>
        <p:spPr>
          <a:xfrm>
            <a:off x="7013448" y="3936492"/>
            <a:ext cx="4626864" cy="488696"/>
          </a:xfrm>
          <a:prstGeom prst="rect">
            <a:avLst/>
          </a:prstGeom>
          <a:noFill/>
          <a:ln/>
        </p:spPr>
        <p:txBody>
          <a:bodyPr wrap="square" lIns="0" tIns="0" rIns="0" bIns="0" rtlCol="0" anchor="t"/>
          <a:lstStyle/>
          <a:p>
            <a:pPr indent="0" marL="0">
              <a:buNone/>
            </a:pPr>
            <a:r>
              <a:rPr lang="en-US" sz="1400" b="1" dirty="0">
                <a:solidFill>
                  <a:srgbClr val="1E5631"/>
                </a:solidFill>
              </a:rPr>
              <a:t>Check it / Watch out</a:t>
            </a:r>
            <a:endParaRPr lang="en-US" sz="1400" dirty="0"/>
          </a:p>
          <a:p>
            <a:pPr indent="0" marL="0">
              <a:buNone/>
            </a:pPr>
            <a:r>
              <a:rPr lang="en-US" sz="1400" dirty="0">
                <a:solidFill>
                  <a:srgbClr val="2B2B2B"/>
                </a:solidFill>
              </a:rPr>
              <a:t>Prove it worked, and avoid the usual mistake.</a:t>
            </a:r>
            <a:endParaRPr lang="en-US" sz="1400" dirty="0"/>
          </a:p>
        </p:txBody>
      </p:sp>
      <p:sp>
        <p:nvSpPr>
          <p:cNvPr id="41" name="Card"/>
          <p:cNvSpPr/>
          <p:nvPr/>
        </p:nvSpPr>
        <p:spPr>
          <a:xfrm>
            <a:off x="548640" y="4572000"/>
            <a:ext cx="5669280" cy="1627632"/>
          </a:xfrm>
          <a:prstGeom prst="roundRect">
            <a:avLst>
              <a:gd name="adj" fmla="val 4494"/>
            </a:avLst>
          </a:prstGeom>
          <a:solidFill>
            <a:srgbClr val="F2F8F3"/>
          </a:solidFill>
          <a:ln w="12700">
            <a:solidFill>
              <a:srgbClr val="B7C9BA"/>
            </a:solidFill>
            <a:prstDash val="solid"/>
          </a:ln>
        </p:spPr>
      </p:sp>
      <p:sp>
        <p:nvSpPr>
          <p:cNvPr id="42" name="Text 39"/>
          <p:cNvSpPr txBox="1"/>
          <p:nvPr/>
        </p:nvSpPr>
        <p:spPr>
          <a:xfrm>
            <a:off x="694944" y="4674413"/>
            <a:ext cx="5376672" cy="1422806"/>
          </a:xfrm>
          <a:prstGeom prst="rect">
            <a:avLst/>
          </a:prstGeom>
          <a:noFill/>
          <a:ln/>
        </p:spPr>
        <p:txBody>
          <a:bodyPr wrap="square" lIns="0" tIns="0" rIns="0" bIns="0" rtlCol="0" anchor="t"/>
          <a:lstStyle/>
          <a:p>
            <a:pPr indent="0" marL="0">
              <a:buNone/>
            </a:pPr>
            <a:r>
              <a:rPr lang="en-US" sz="1400" b="1" dirty="0">
                <a:solidFill>
                  <a:srgbClr val="1E5631"/>
                </a:solidFill>
              </a:rPr>
              <a:t>Typing conventions</a:t>
            </a:r>
            <a:endParaRPr lang="en-US" sz="1400" dirty="0"/>
          </a:p>
          <a:p>
            <a:pPr marL="203200" indent="-203200">
              <a:buSzPct val="100000"/>
              <a:buChar char="•"/>
            </a:pPr>
            <a:r>
              <a:rPr lang="en-US" sz="1300" b="1" dirty="0">
                <a:solidFill>
                  <a:srgbClr val="1E5631"/>
                </a:solidFill>
                <a:latin typeface="Courier New" pitchFamily="34" charset="0"/>
                <a:ea typeface="Courier New" pitchFamily="34" charset="-122"/>
                <a:cs typeface="Courier New" pitchFamily="34" charset="-120"/>
              </a:rPr>
              <a:t>R1(config)#</a:t>
            </a:r>
            <a:r>
              <a:rPr lang="en-US" sz="1400" dirty="0">
                <a:solidFill>
                  <a:srgbClr val="2B2B2B"/>
                </a:solidFill>
              </a:rPr>
              <a:t> is the prompt — never type it</a:t>
            </a:r>
            <a:endParaRPr lang="en-US" sz="1400" dirty="0"/>
          </a:p>
          <a:p>
            <a:pPr marL="203200" indent="-203200">
              <a:buSzPct val="100000"/>
              <a:buChar char="•"/>
            </a:pPr>
            <a:r>
              <a:rPr lang="en-US" sz="1400" dirty="0">
                <a:solidFill>
                  <a:srgbClr val="2B2B2B"/>
                </a:solidFill>
              </a:rPr>
              <a:t>Lines that start with </a:t>
            </a:r>
            <a:r>
              <a:rPr lang="en-US" sz="1300" b="1" dirty="0">
                <a:solidFill>
                  <a:srgbClr val="1E5631"/>
                </a:solidFill>
                <a:latin typeface="Courier New" pitchFamily="34" charset="0"/>
                <a:ea typeface="Courier New" pitchFamily="34" charset="-122"/>
                <a:cs typeface="Courier New" pitchFamily="34" charset="-120"/>
              </a:rPr>
              <a:t>!</a:t>
            </a:r>
            <a:r>
              <a:rPr lang="en-US" sz="1400" dirty="0">
                <a:solidFill>
                  <a:srgbClr val="2B2B2B"/>
                </a:solidFill>
              </a:rPr>
              <a:t> are notes — skip them</a:t>
            </a:r>
            <a:endParaRPr lang="en-US" sz="1400" dirty="0"/>
          </a:p>
          <a:p>
            <a:pPr marL="203200" indent="-203200">
              <a:buSzPct val="100000"/>
              <a:buChar char="•"/>
            </a:pPr>
            <a:r>
              <a:rPr lang="en-US" sz="1400" dirty="0">
                <a:solidFill>
                  <a:srgbClr val="2B2B2B"/>
                </a:solidFill>
              </a:rPr>
              <a:t>Names, passwords and IPs are lab examples</a:t>
            </a:r>
            <a:endParaRPr lang="en-US" sz="1400" dirty="0"/>
          </a:p>
          <a:p>
            <a:pPr marL="203200" indent="-203200">
              <a:buSzPct val="100000"/>
              <a:buChar char="•"/>
            </a:pPr>
            <a:r>
              <a:rPr lang="en-US" sz="1400" dirty="0">
                <a:solidFill>
                  <a:srgbClr val="2B2B2B"/>
                </a:solidFill>
              </a:rPr>
              <a:t>Short forms work: </a:t>
            </a:r>
            <a:r>
              <a:rPr lang="en-US" sz="1300" b="1" dirty="0">
                <a:solidFill>
                  <a:srgbClr val="1E5631"/>
                </a:solidFill>
                <a:latin typeface="Courier New" pitchFamily="34" charset="0"/>
                <a:ea typeface="Courier New" pitchFamily="34" charset="-122"/>
                <a:cs typeface="Courier New" pitchFamily="34" charset="-120"/>
              </a:rPr>
              <a:t>conf t</a:t>
            </a:r>
            <a:r>
              <a:rPr lang="en-US" sz="1400" dirty="0">
                <a:solidFill>
                  <a:srgbClr val="2B2B2B"/>
                </a:solidFill>
              </a:rPr>
              <a:t>, </a:t>
            </a:r>
            <a:r>
              <a:rPr lang="en-US" sz="1300" b="1" dirty="0">
                <a:solidFill>
                  <a:srgbClr val="1E5631"/>
                </a:solidFill>
                <a:latin typeface="Courier New" pitchFamily="34" charset="0"/>
                <a:ea typeface="Courier New" pitchFamily="34" charset="-122"/>
                <a:cs typeface="Courier New" pitchFamily="34" charset="-120"/>
              </a:rPr>
              <a:t>int g0/0/0</a:t>
            </a:r>
            <a:r>
              <a:rPr lang="en-US" sz="1400" dirty="0">
                <a:solidFill>
                  <a:srgbClr val="2B2B2B"/>
                </a:solidFill>
              </a:rPr>
              <a:t>, </a:t>
            </a:r>
            <a:r>
              <a:rPr lang="en-US" sz="1300" b="1" dirty="0">
                <a:solidFill>
                  <a:srgbClr val="1E5631"/>
                </a:solidFill>
                <a:latin typeface="Courier New" pitchFamily="34" charset="0"/>
                <a:ea typeface="Courier New" pitchFamily="34" charset="-122"/>
                <a:cs typeface="Courier New" pitchFamily="34" charset="-120"/>
              </a:rPr>
              <a:t>sh ip int br</a:t>
            </a:r>
            <a:endParaRPr lang="en-US" sz="1400" dirty="0"/>
          </a:p>
        </p:txBody>
      </p:sp>
      <p:sp>
        <p:nvSpPr>
          <p:cNvPr id="43" name="Card"/>
          <p:cNvSpPr/>
          <p:nvPr/>
        </p:nvSpPr>
        <p:spPr>
          <a:xfrm>
            <a:off x="6537960" y="4572000"/>
            <a:ext cx="5102352" cy="1627632"/>
          </a:xfrm>
          <a:prstGeom prst="roundRect">
            <a:avLst>
              <a:gd name="adj" fmla="val 4494"/>
            </a:avLst>
          </a:prstGeom>
          <a:solidFill>
            <a:srgbClr val="E8F1EA"/>
          </a:solidFill>
          <a:ln w="12700">
            <a:solidFill>
              <a:srgbClr val="B7C9BA"/>
            </a:solidFill>
            <a:prstDash val="solid"/>
          </a:ln>
        </p:spPr>
      </p:sp>
      <p:sp>
        <p:nvSpPr>
          <p:cNvPr id="44" name="Text 41"/>
          <p:cNvSpPr txBox="1"/>
          <p:nvPr/>
        </p:nvSpPr>
        <p:spPr>
          <a:xfrm>
            <a:off x="6684264" y="4674413"/>
            <a:ext cx="4809744" cy="1422806"/>
          </a:xfrm>
          <a:prstGeom prst="rect">
            <a:avLst/>
          </a:prstGeom>
          <a:noFill/>
          <a:ln/>
        </p:spPr>
        <p:txBody>
          <a:bodyPr wrap="square" lIns="0" tIns="0" rIns="0" bIns="0" rtlCol="0" anchor="t"/>
          <a:lstStyle/>
          <a:p>
            <a:pPr indent="0" marL="0">
              <a:buNone/>
            </a:pPr>
            <a:r>
              <a:rPr lang="en-US" sz="1400" b="1" dirty="0">
                <a:solidFill>
                  <a:srgbClr val="1E5631"/>
                </a:solidFill>
              </a:rPr>
              <a:t>Study routine for every slide</a:t>
            </a:r>
            <a:endParaRPr lang="en-US" sz="1400" dirty="0"/>
          </a:p>
          <a:p>
            <a:pPr indent="0" marL="0">
              <a:buNone/>
            </a:pPr>
            <a:r>
              <a:rPr lang="en-US" sz="1400" dirty="0">
                <a:solidFill>
                  <a:srgbClr val="2B2B2B"/>
                </a:solidFill>
              </a:rPr>
              <a:t>Read the goal → build it in Packet Tracer → type the commands → run the check → break it on purpose, then fix it.</a:t>
            </a:r>
            <a:endParaRPr lang="en-US" sz="1400" dirty="0"/>
          </a:p>
        </p:txBody>
      </p:sp>
      <p:sp>
        <p:nvSpPr>
          <p:cNvPr id="45" name="Slide Number Placeholder 0"/>
          <p:cNvSpPr>
            <a:spLocks noGrp="1"/>
          </p:cNvSpPr>
          <p:nvPr>
            <p:ph type="sldNum" sz="quarter" idx="4294967295"/>
          </p:nvPr>
        </p:nvSpPr>
        <p:spPr>
          <a:xfrm>
            <a:off x="10698480" y="6464808"/>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body" hasCustomPrompt="1"/>
          </p:nvPr>
        </p:nvSpPr>
        <p:spPr>
          <a:xfrm>
            <a:off x="548640" y="274320"/>
            <a:ext cx="9966960" cy="256032"/>
          </a:xfrm>
          <a:prstGeom prst="rect">
            <a:avLst/>
          </a:prstGeom>
          <a:noFill/>
          <a:ln/>
        </p:spPr>
        <p:txBody>
          <a:bodyPr wrap="square" lIns="0" tIns="0" rIns="0" bIns="0" rtlCol="0" anchor="ctr"/>
          <a:lstStyle/>
          <a:p>
            <a:pPr algn="l" indent="0" marL="0">
              <a:buNone/>
            </a:pPr>
            <a:r>
              <a:rPr lang="en-US" sz="1100" b="1" spc="100" kern="0" dirty="0">
                <a:solidFill>
                  <a:schemeClr val="accent2"/>
                </a:solidFill>
              </a:rPr>
              <a:t>START HERE</a:t>
            </a:r>
            <a:endParaRPr lang="en-US" sz="1100" dirty="0"/>
          </a:p>
        </p:txBody>
      </p:sp>
      <p:sp>
        <p:nvSpPr>
          <p:cNvPr id="3" name="Text 1"/>
          <p:cNvSpPr/>
          <p:nvPr>
            <p:ph idx="103" type="title" hasCustomPrompt="1"/>
          </p:nvPr>
        </p:nvSpPr>
        <p:spPr>
          <a:xfrm>
            <a:off x="548640" y="548640"/>
            <a:ext cx="10149840" cy="548640"/>
          </a:xfrm>
          <a:prstGeom prst="rect">
            <a:avLst/>
          </a:prstGeom>
          <a:noFill/>
          <a:ln/>
        </p:spPr>
        <p:txBody>
          <a:bodyPr wrap="square" lIns="0" tIns="0" rIns="0" bIns="0" rtlCol="0" anchor="ctr"/>
          <a:lstStyle/>
          <a:p>
            <a:pPr algn="l" indent="0" marL="0">
              <a:buNone/>
            </a:pPr>
            <a:r>
              <a:rPr lang="en-US" sz="2600" b="1" dirty="0">
                <a:solidFill>
                  <a:schemeClr val="accent1"/>
                </a:solidFill>
              </a:rPr>
              <a:t>How to find your way: the workbook menu</a:t>
            </a:r>
            <a:endParaRPr lang="en-US" sz="2600" dirty="0"/>
          </a:p>
        </p:txBody>
      </p:sp>
      <p:pic>
        <p:nvPicPr>
          <p:cNvPr id="4" name="Home button" descr="Home: back to the workbook menu">
            <a:hlinkClick r:id="rId2" tooltip="Back to the workbook menu" action="ppaction://hlinksldjump"/>
          </p:cNvPr>
          <p:cNvPicPr>
            <a:picLocks noChangeAspect="1"/>
          </p:cNvPicPr>
          <p:nvPr/>
        </p:nvPicPr>
        <p:blipFill>
          <a:blip r:embed="rId1"/>
          <a:stretch>
            <a:fillRect/>
          </a:stretch>
        </p:blipFill>
        <p:spPr>
          <a:xfrm>
            <a:off x="11365992" y="6336792"/>
            <a:ext cx="365760" cy="365760"/>
          </a:xfrm>
          <a:prstGeom prst="rect">
            <a:avLst/>
          </a:prstGeom>
        </p:spPr>
      </p:pic>
      <p:sp>
        <p:nvSpPr>
          <p:cNvPr id="5" name="Text 2"/>
          <p:cNvSpPr txBox="1"/>
          <p:nvPr/>
        </p:nvSpPr>
        <p:spPr>
          <a:xfrm>
            <a:off x="548640" y="1161288"/>
            <a:ext cx="11094415" cy="384048"/>
          </a:xfrm>
          <a:prstGeom prst="rect">
            <a:avLst/>
          </a:prstGeom>
          <a:noFill/>
          <a:ln/>
        </p:spPr>
        <p:txBody>
          <a:bodyPr wrap="square" lIns="0" tIns="0" rIns="0" bIns="0" rtlCol="0" anchor="ctr"/>
          <a:lstStyle/>
          <a:p>
            <a:pPr indent="0" marL="0">
              <a:buNone/>
            </a:pPr>
            <a:r>
              <a:rPr lang="en-US" sz="1400" dirty="0">
                <a:solidFill>
                  <a:srgbClr val="2B2B2B"/>
                </a:solidFill>
              </a:rPr>
              <a:t>Click a tile to jump to that part. The </a:t>
            </a:r>
            <a:r>
              <a:rPr lang="en-US" sz="1400" b="1" dirty="0">
                <a:solidFill>
                  <a:srgbClr val="2B2B2B"/>
                </a:solidFill>
              </a:rPr>
              <a:t>home button</a:t>
            </a:r>
            <a:r>
              <a:rPr lang="en-US" sz="1400" dirty="0">
                <a:solidFill>
                  <a:srgbClr val="2B2B2B"/>
                </a:solidFill>
              </a:rPr>
              <a:t> at the bottom right of every slide brings you back here.</a:t>
            </a:r>
            <a:endParaRPr lang="en-US" sz="1400" dirty="0"/>
          </a:p>
        </p:txBody>
      </p:sp>
      <p:sp>
        <p:nvSpPr>
          <p:cNvPr id="6" name="Tile 01"/>
          <p:cNvSpPr/>
          <p:nvPr/>
        </p:nvSpPr>
        <p:spPr>
          <a:xfrm>
            <a:off x="548640" y="1691640"/>
            <a:ext cx="2602154" cy="1344168"/>
          </a:xfrm>
          <a:prstGeom prst="roundRect">
            <a:avLst>
              <a:gd name="adj" fmla="val 6803"/>
            </a:avLst>
          </a:prstGeom>
          <a:solidFill>
            <a:srgbClr val="1E5631"/>
          </a:solidFill>
          <a:ln w="12700">
            <a:solidFill>
              <a:srgbClr val="1E5631"/>
            </a:solidFill>
            <a:prstDash val="solid"/>
          </a:ln>
        </p:spPr>
      </p:sp>
      <p:pic>
        <p:nvPicPr>
          <p:cNvPr id="7" name="Image 1" descr="Packet Tracer basics">    </p:cNvPr>
          <p:cNvPicPr>
            <a:picLocks noChangeAspect="1"/>
          </p:cNvPicPr>
          <p:nvPr/>
        </p:nvPicPr>
        <p:blipFill>
          <a:blip r:embed="rId3"/>
          <a:stretch>
            <a:fillRect/>
          </a:stretch>
        </p:blipFill>
        <p:spPr>
          <a:xfrm>
            <a:off x="731520" y="1874520"/>
            <a:ext cx="475488" cy="475488"/>
          </a:xfrm>
          <a:prstGeom prst="rect">
            <a:avLst/>
          </a:prstGeom>
        </p:spPr>
      </p:pic>
      <p:sp>
        <p:nvSpPr>
          <p:cNvPr id="8" name="Text 4"/>
          <p:cNvSpPr txBox="1"/>
          <p:nvPr/>
        </p:nvSpPr>
        <p:spPr>
          <a:xfrm>
            <a:off x="2236394" y="1837944"/>
            <a:ext cx="731520" cy="411480"/>
          </a:xfrm>
          <a:prstGeom prst="rect">
            <a:avLst/>
          </a:prstGeom>
          <a:noFill/>
          <a:ln/>
        </p:spPr>
        <p:txBody>
          <a:bodyPr wrap="square" lIns="0" tIns="0" rIns="0" bIns="0" rtlCol="0" anchor="ctr"/>
          <a:lstStyle/>
          <a:p>
            <a:pPr algn="r" indent="0" marL="0">
              <a:buNone/>
            </a:pPr>
            <a:r>
              <a:rPr lang="en-US" sz="2200" b="1" dirty="0">
                <a:solidFill>
                  <a:srgbClr val="E8B92E"/>
                </a:solidFill>
                <a:latin typeface="Cambria" pitchFamily="34" charset="0"/>
                <a:ea typeface="Cambria" pitchFamily="34" charset="-122"/>
                <a:cs typeface="Cambria" pitchFamily="34" charset="-120"/>
              </a:rPr>
              <a:t>01</a:t>
            </a:r>
            <a:endParaRPr lang="en-US" sz="2200" dirty="0"/>
          </a:p>
        </p:txBody>
      </p:sp>
      <p:sp>
        <p:nvSpPr>
          <p:cNvPr id="9" name="Text 5"/>
          <p:cNvSpPr txBox="1"/>
          <p:nvPr/>
        </p:nvSpPr>
        <p:spPr>
          <a:xfrm>
            <a:off x="731520" y="2441448"/>
            <a:ext cx="2282114" cy="502920"/>
          </a:xfrm>
          <a:prstGeom prst="rect">
            <a:avLst/>
          </a:prstGeom>
          <a:noFill/>
          <a:ln/>
        </p:spPr>
        <p:txBody>
          <a:bodyPr wrap="square" lIns="0" tIns="0" rIns="0" bIns="0" rtlCol="0" anchor="t"/>
          <a:lstStyle/>
          <a:p>
            <a:pPr indent="0" marL="0">
              <a:buNone/>
            </a:pPr>
            <a:r>
              <a:rPr lang="en-US" sz="1500" b="1" dirty="0">
                <a:solidFill>
                  <a:srgbClr val="FFFFFF"/>
                </a:solidFill>
              </a:rPr>
              <a:t>Packet Tracer basics</a:t>
            </a:r>
            <a:endParaRPr lang="en-US" sz="1500" dirty="0"/>
          </a:p>
        </p:txBody>
      </p:sp>
      <p:sp>
        <p:nvSpPr>
          <p:cNvPr id="10" name="Link to part 01">
            <a:hlinkClick r:id="rId4" tooltip="Go to part 01: Packet Tracer basics" action="ppaction://hlinksldjump"/>
          </p:cNvPr>
          <p:cNvSpPr/>
          <p:nvPr/>
        </p:nvSpPr>
        <p:spPr>
          <a:xfrm>
            <a:off x="548640" y="1691640"/>
            <a:ext cx="2602154" cy="1344168"/>
          </a:xfrm>
          <a:prstGeom prst="rect">
            <a:avLst/>
          </a:prstGeom>
          <a:solidFill>
            <a:srgbClr val="FFFFFF">
              <a:alpha val="0"/>
            </a:srgbClr>
          </a:solidFill>
          <a:ln/>
        </p:spPr>
      </p:sp>
      <p:sp>
        <p:nvSpPr>
          <p:cNvPr id="11" name="Tile 02"/>
          <p:cNvSpPr/>
          <p:nvPr/>
        </p:nvSpPr>
        <p:spPr>
          <a:xfrm>
            <a:off x="3379394" y="1691640"/>
            <a:ext cx="2602154" cy="1344168"/>
          </a:xfrm>
          <a:prstGeom prst="roundRect">
            <a:avLst>
              <a:gd name="adj" fmla="val 6803"/>
            </a:avLst>
          </a:prstGeom>
          <a:solidFill>
            <a:srgbClr val="E8F1EA"/>
          </a:solidFill>
          <a:ln w="12700">
            <a:solidFill>
              <a:srgbClr val="B7C9BA"/>
            </a:solidFill>
            <a:prstDash val="solid"/>
          </a:ln>
        </p:spPr>
      </p:sp>
      <p:pic>
        <p:nvPicPr>
          <p:cNvPr id="12" name="Image 2" descr="The IOS command line">    </p:cNvPr>
          <p:cNvPicPr>
            <a:picLocks noChangeAspect="1"/>
          </p:cNvPicPr>
          <p:nvPr/>
        </p:nvPicPr>
        <p:blipFill>
          <a:blip r:embed="rId5"/>
          <a:stretch>
            <a:fillRect/>
          </a:stretch>
        </p:blipFill>
        <p:spPr>
          <a:xfrm>
            <a:off x="3562274" y="1874520"/>
            <a:ext cx="475488" cy="475488"/>
          </a:xfrm>
          <a:prstGeom prst="rect">
            <a:avLst/>
          </a:prstGeom>
        </p:spPr>
      </p:pic>
      <p:sp>
        <p:nvSpPr>
          <p:cNvPr id="13" name="Text 8"/>
          <p:cNvSpPr txBox="1"/>
          <p:nvPr/>
        </p:nvSpPr>
        <p:spPr>
          <a:xfrm>
            <a:off x="5067148" y="1837944"/>
            <a:ext cx="731520" cy="411480"/>
          </a:xfrm>
          <a:prstGeom prst="rect">
            <a:avLst/>
          </a:prstGeom>
          <a:noFill/>
          <a:ln/>
        </p:spPr>
        <p:txBody>
          <a:bodyPr wrap="square" lIns="0" tIns="0" rIns="0" bIns="0" rtlCol="0" anchor="ctr"/>
          <a:lstStyle/>
          <a:p>
            <a:pPr algn="r" indent="0" marL="0">
              <a:buNone/>
            </a:pPr>
            <a:r>
              <a:rPr lang="en-US" sz="2200" b="1" dirty="0">
                <a:solidFill>
                  <a:srgbClr val="2B7043"/>
                </a:solidFill>
                <a:latin typeface="Cambria" pitchFamily="34" charset="0"/>
                <a:ea typeface="Cambria" pitchFamily="34" charset="-122"/>
                <a:cs typeface="Cambria" pitchFamily="34" charset="-120"/>
              </a:rPr>
              <a:t>02</a:t>
            </a:r>
            <a:endParaRPr lang="en-US" sz="2200" dirty="0"/>
          </a:p>
        </p:txBody>
      </p:sp>
      <p:sp>
        <p:nvSpPr>
          <p:cNvPr id="14" name="Text 9"/>
          <p:cNvSpPr txBox="1"/>
          <p:nvPr/>
        </p:nvSpPr>
        <p:spPr>
          <a:xfrm>
            <a:off x="3562274" y="2441448"/>
            <a:ext cx="2282114" cy="502920"/>
          </a:xfrm>
          <a:prstGeom prst="rect">
            <a:avLst/>
          </a:prstGeom>
          <a:noFill/>
          <a:ln/>
        </p:spPr>
        <p:txBody>
          <a:bodyPr wrap="square" lIns="0" tIns="0" rIns="0" bIns="0" rtlCol="0" anchor="t"/>
          <a:lstStyle/>
          <a:p>
            <a:pPr indent="0" marL="0">
              <a:buNone/>
            </a:pPr>
            <a:r>
              <a:rPr lang="en-US" sz="1500" b="1" dirty="0">
                <a:solidFill>
                  <a:srgbClr val="1E5631"/>
                </a:solidFill>
              </a:rPr>
              <a:t>The IOS command line</a:t>
            </a:r>
            <a:endParaRPr lang="en-US" sz="1500" dirty="0"/>
          </a:p>
        </p:txBody>
      </p:sp>
      <p:sp>
        <p:nvSpPr>
          <p:cNvPr id="15" name="Link to part 02">
            <a:hlinkClick r:id="rId6" tooltip="Go to part 02: The IOS command line" action="ppaction://hlinksldjump"/>
          </p:cNvPr>
          <p:cNvSpPr/>
          <p:nvPr/>
        </p:nvSpPr>
        <p:spPr>
          <a:xfrm>
            <a:off x="3379394" y="1691640"/>
            <a:ext cx="2602154" cy="1344168"/>
          </a:xfrm>
          <a:prstGeom prst="rect">
            <a:avLst/>
          </a:prstGeom>
          <a:solidFill>
            <a:srgbClr val="FFFFFF">
              <a:alpha val="0"/>
            </a:srgbClr>
          </a:solidFill>
          <a:ln/>
        </p:spPr>
      </p:sp>
      <p:sp>
        <p:nvSpPr>
          <p:cNvPr id="16" name="Tile 03"/>
          <p:cNvSpPr/>
          <p:nvPr/>
        </p:nvSpPr>
        <p:spPr>
          <a:xfrm>
            <a:off x="6210148" y="1691640"/>
            <a:ext cx="2602154" cy="1344168"/>
          </a:xfrm>
          <a:prstGeom prst="roundRect">
            <a:avLst>
              <a:gd name="adj" fmla="val 6803"/>
            </a:avLst>
          </a:prstGeom>
          <a:solidFill>
            <a:srgbClr val="1E5631"/>
          </a:solidFill>
          <a:ln w="12700">
            <a:solidFill>
              <a:srgbClr val="1E5631"/>
            </a:solidFill>
            <a:prstDash val="solid"/>
          </a:ln>
        </p:spPr>
      </p:sp>
      <p:pic>
        <p:nvPicPr>
          <p:cNvPr id="17" name="Image 3" descr="Basic set-up &amp; SSH">    </p:cNvPr>
          <p:cNvPicPr>
            <a:picLocks noChangeAspect="1"/>
          </p:cNvPicPr>
          <p:nvPr/>
        </p:nvPicPr>
        <p:blipFill>
          <a:blip r:embed="rId7"/>
          <a:stretch>
            <a:fillRect/>
          </a:stretch>
        </p:blipFill>
        <p:spPr>
          <a:xfrm>
            <a:off x="6393028" y="1874520"/>
            <a:ext cx="475488" cy="475488"/>
          </a:xfrm>
          <a:prstGeom prst="rect">
            <a:avLst/>
          </a:prstGeom>
        </p:spPr>
      </p:pic>
      <p:sp>
        <p:nvSpPr>
          <p:cNvPr id="18" name="Text 12"/>
          <p:cNvSpPr txBox="1"/>
          <p:nvPr/>
        </p:nvSpPr>
        <p:spPr>
          <a:xfrm>
            <a:off x="7897901" y="1837944"/>
            <a:ext cx="731520" cy="411480"/>
          </a:xfrm>
          <a:prstGeom prst="rect">
            <a:avLst/>
          </a:prstGeom>
          <a:noFill/>
          <a:ln/>
        </p:spPr>
        <p:txBody>
          <a:bodyPr wrap="square" lIns="0" tIns="0" rIns="0" bIns="0" rtlCol="0" anchor="ctr"/>
          <a:lstStyle/>
          <a:p>
            <a:pPr algn="r" indent="0" marL="0">
              <a:buNone/>
            </a:pPr>
            <a:r>
              <a:rPr lang="en-US" sz="2200" b="1" dirty="0">
                <a:solidFill>
                  <a:srgbClr val="E8B92E"/>
                </a:solidFill>
                <a:latin typeface="Cambria" pitchFamily="34" charset="0"/>
                <a:ea typeface="Cambria" pitchFamily="34" charset="-122"/>
                <a:cs typeface="Cambria" pitchFamily="34" charset="-120"/>
              </a:rPr>
              <a:t>03</a:t>
            </a:r>
            <a:endParaRPr lang="en-US" sz="2200" dirty="0"/>
          </a:p>
        </p:txBody>
      </p:sp>
      <p:sp>
        <p:nvSpPr>
          <p:cNvPr id="19" name="Text 13"/>
          <p:cNvSpPr txBox="1"/>
          <p:nvPr/>
        </p:nvSpPr>
        <p:spPr>
          <a:xfrm>
            <a:off x="6393028" y="2441448"/>
            <a:ext cx="2282114" cy="502920"/>
          </a:xfrm>
          <a:prstGeom prst="rect">
            <a:avLst/>
          </a:prstGeom>
          <a:noFill/>
          <a:ln/>
        </p:spPr>
        <p:txBody>
          <a:bodyPr wrap="square" lIns="0" tIns="0" rIns="0" bIns="0" rtlCol="0" anchor="t"/>
          <a:lstStyle/>
          <a:p>
            <a:pPr indent="0" marL="0">
              <a:buNone/>
            </a:pPr>
            <a:r>
              <a:rPr lang="en-US" sz="1500" b="1" dirty="0">
                <a:solidFill>
                  <a:srgbClr val="FFFFFF"/>
                </a:solidFill>
              </a:rPr>
              <a:t>Basic set-up &amp; SSH</a:t>
            </a:r>
            <a:endParaRPr lang="en-US" sz="1500" dirty="0"/>
          </a:p>
        </p:txBody>
      </p:sp>
      <p:sp>
        <p:nvSpPr>
          <p:cNvPr id="20" name="Link to part 03">
            <a:hlinkClick r:id="rId8" tooltip="Go to part 03: Basic set-up &amp; SSH" action="ppaction://hlinksldjump"/>
          </p:cNvPr>
          <p:cNvSpPr/>
          <p:nvPr/>
        </p:nvSpPr>
        <p:spPr>
          <a:xfrm>
            <a:off x="6210148" y="1691640"/>
            <a:ext cx="2602154" cy="1344168"/>
          </a:xfrm>
          <a:prstGeom prst="rect">
            <a:avLst/>
          </a:prstGeom>
          <a:solidFill>
            <a:srgbClr val="FFFFFF">
              <a:alpha val="0"/>
            </a:srgbClr>
          </a:solidFill>
          <a:ln/>
        </p:spPr>
      </p:sp>
      <p:sp>
        <p:nvSpPr>
          <p:cNvPr id="21" name="Tile 04"/>
          <p:cNvSpPr/>
          <p:nvPr/>
        </p:nvSpPr>
        <p:spPr>
          <a:xfrm>
            <a:off x="9040901" y="1691640"/>
            <a:ext cx="2602154" cy="1344168"/>
          </a:xfrm>
          <a:prstGeom prst="roundRect">
            <a:avLst>
              <a:gd name="adj" fmla="val 6803"/>
            </a:avLst>
          </a:prstGeom>
          <a:solidFill>
            <a:srgbClr val="E8F1EA"/>
          </a:solidFill>
          <a:ln w="12700">
            <a:solidFill>
              <a:srgbClr val="B7C9BA"/>
            </a:solidFill>
            <a:prstDash val="solid"/>
          </a:ln>
        </p:spPr>
      </p:sp>
      <p:pic>
        <p:nvPicPr>
          <p:cNvPr id="22" name="Image 4" descr="VLANs &amp; trunks">    </p:cNvPr>
          <p:cNvPicPr>
            <a:picLocks noChangeAspect="1"/>
          </p:cNvPicPr>
          <p:nvPr/>
        </p:nvPicPr>
        <p:blipFill>
          <a:blip r:embed="rId9"/>
          <a:stretch>
            <a:fillRect/>
          </a:stretch>
        </p:blipFill>
        <p:spPr>
          <a:xfrm>
            <a:off x="9223781" y="1874520"/>
            <a:ext cx="475488" cy="475488"/>
          </a:xfrm>
          <a:prstGeom prst="rect">
            <a:avLst/>
          </a:prstGeom>
        </p:spPr>
      </p:pic>
      <p:sp>
        <p:nvSpPr>
          <p:cNvPr id="23" name="Text 16"/>
          <p:cNvSpPr txBox="1"/>
          <p:nvPr/>
        </p:nvSpPr>
        <p:spPr>
          <a:xfrm>
            <a:off x="10728655" y="1837944"/>
            <a:ext cx="731520" cy="411480"/>
          </a:xfrm>
          <a:prstGeom prst="rect">
            <a:avLst/>
          </a:prstGeom>
          <a:noFill/>
          <a:ln/>
        </p:spPr>
        <p:txBody>
          <a:bodyPr wrap="square" lIns="0" tIns="0" rIns="0" bIns="0" rtlCol="0" anchor="ctr"/>
          <a:lstStyle/>
          <a:p>
            <a:pPr algn="r" indent="0" marL="0">
              <a:buNone/>
            </a:pPr>
            <a:r>
              <a:rPr lang="en-US" sz="2200" b="1" dirty="0">
                <a:solidFill>
                  <a:srgbClr val="2B7043"/>
                </a:solidFill>
                <a:latin typeface="Cambria" pitchFamily="34" charset="0"/>
                <a:ea typeface="Cambria" pitchFamily="34" charset="-122"/>
                <a:cs typeface="Cambria" pitchFamily="34" charset="-120"/>
              </a:rPr>
              <a:t>04</a:t>
            </a:r>
            <a:endParaRPr lang="en-US" sz="2200" dirty="0"/>
          </a:p>
        </p:txBody>
      </p:sp>
      <p:sp>
        <p:nvSpPr>
          <p:cNvPr id="24" name="Text 17"/>
          <p:cNvSpPr txBox="1"/>
          <p:nvPr/>
        </p:nvSpPr>
        <p:spPr>
          <a:xfrm>
            <a:off x="9223781" y="2441448"/>
            <a:ext cx="2282114" cy="502920"/>
          </a:xfrm>
          <a:prstGeom prst="rect">
            <a:avLst/>
          </a:prstGeom>
          <a:noFill/>
          <a:ln/>
        </p:spPr>
        <p:txBody>
          <a:bodyPr wrap="square" lIns="0" tIns="0" rIns="0" bIns="0" rtlCol="0" anchor="t"/>
          <a:lstStyle/>
          <a:p>
            <a:pPr indent="0" marL="0">
              <a:buNone/>
            </a:pPr>
            <a:r>
              <a:rPr lang="en-US" sz="1500" b="1" dirty="0">
                <a:solidFill>
                  <a:srgbClr val="1E5631"/>
                </a:solidFill>
              </a:rPr>
              <a:t>VLANs &amp; trunks</a:t>
            </a:r>
            <a:endParaRPr lang="en-US" sz="1500" dirty="0"/>
          </a:p>
        </p:txBody>
      </p:sp>
      <p:sp>
        <p:nvSpPr>
          <p:cNvPr id="25" name="Link to part 04">
            <a:hlinkClick r:id="rId10" tooltip="Go to part 04: VLANs &amp; trunks" action="ppaction://hlinksldjump"/>
          </p:cNvPr>
          <p:cNvSpPr/>
          <p:nvPr/>
        </p:nvSpPr>
        <p:spPr>
          <a:xfrm>
            <a:off x="9040901" y="1691640"/>
            <a:ext cx="2602154" cy="1344168"/>
          </a:xfrm>
          <a:prstGeom prst="rect">
            <a:avLst/>
          </a:prstGeom>
          <a:solidFill>
            <a:srgbClr val="FFFFFF">
              <a:alpha val="0"/>
            </a:srgbClr>
          </a:solidFill>
          <a:ln/>
        </p:spPr>
      </p:sp>
      <p:sp>
        <p:nvSpPr>
          <p:cNvPr id="26" name="Tile 05"/>
          <p:cNvSpPr/>
          <p:nvPr/>
        </p:nvSpPr>
        <p:spPr>
          <a:xfrm>
            <a:off x="548640" y="3218688"/>
            <a:ext cx="2602154" cy="1344168"/>
          </a:xfrm>
          <a:prstGeom prst="roundRect">
            <a:avLst>
              <a:gd name="adj" fmla="val 6803"/>
            </a:avLst>
          </a:prstGeom>
          <a:solidFill>
            <a:srgbClr val="E8F1EA"/>
          </a:solidFill>
          <a:ln w="12700">
            <a:solidFill>
              <a:srgbClr val="B7C9BA"/>
            </a:solidFill>
            <a:prstDash val="solid"/>
          </a:ln>
        </p:spPr>
      </p:sp>
      <p:pic>
        <p:nvPicPr>
          <p:cNvPr id="27" name="Image 5" descr="Inter-VLAN routing">    </p:cNvPr>
          <p:cNvPicPr>
            <a:picLocks noChangeAspect="1"/>
          </p:cNvPicPr>
          <p:nvPr/>
        </p:nvPicPr>
        <p:blipFill>
          <a:blip r:embed="rId11"/>
          <a:stretch>
            <a:fillRect/>
          </a:stretch>
        </p:blipFill>
        <p:spPr>
          <a:xfrm>
            <a:off x="731520" y="3401568"/>
            <a:ext cx="475488" cy="475488"/>
          </a:xfrm>
          <a:prstGeom prst="rect">
            <a:avLst/>
          </a:prstGeom>
        </p:spPr>
      </p:pic>
      <p:sp>
        <p:nvSpPr>
          <p:cNvPr id="28" name="Text 20"/>
          <p:cNvSpPr txBox="1"/>
          <p:nvPr/>
        </p:nvSpPr>
        <p:spPr>
          <a:xfrm>
            <a:off x="2236394" y="3364992"/>
            <a:ext cx="731520" cy="411480"/>
          </a:xfrm>
          <a:prstGeom prst="rect">
            <a:avLst/>
          </a:prstGeom>
          <a:noFill/>
          <a:ln/>
        </p:spPr>
        <p:txBody>
          <a:bodyPr wrap="square" lIns="0" tIns="0" rIns="0" bIns="0" rtlCol="0" anchor="ctr"/>
          <a:lstStyle/>
          <a:p>
            <a:pPr algn="r" indent="0" marL="0">
              <a:buNone/>
            </a:pPr>
            <a:r>
              <a:rPr lang="en-US" sz="2200" b="1" dirty="0">
                <a:solidFill>
                  <a:srgbClr val="2B7043"/>
                </a:solidFill>
                <a:latin typeface="Cambria" pitchFamily="34" charset="0"/>
                <a:ea typeface="Cambria" pitchFamily="34" charset="-122"/>
                <a:cs typeface="Cambria" pitchFamily="34" charset="-120"/>
              </a:rPr>
              <a:t>05</a:t>
            </a:r>
            <a:endParaRPr lang="en-US" sz="2200" dirty="0"/>
          </a:p>
        </p:txBody>
      </p:sp>
      <p:sp>
        <p:nvSpPr>
          <p:cNvPr id="29" name="Text 21"/>
          <p:cNvSpPr txBox="1"/>
          <p:nvPr/>
        </p:nvSpPr>
        <p:spPr>
          <a:xfrm>
            <a:off x="731520" y="3968496"/>
            <a:ext cx="2282114" cy="502920"/>
          </a:xfrm>
          <a:prstGeom prst="rect">
            <a:avLst/>
          </a:prstGeom>
          <a:noFill/>
          <a:ln/>
        </p:spPr>
        <p:txBody>
          <a:bodyPr wrap="square" lIns="0" tIns="0" rIns="0" bIns="0" rtlCol="0" anchor="t"/>
          <a:lstStyle/>
          <a:p>
            <a:pPr indent="0" marL="0">
              <a:buNone/>
            </a:pPr>
            <a:r>
              <a:rPr lang="en-US" sz="1500" b="1" dirty="0">
                <a:solidFill>
                  <a:srgbClr val="1E5631"/>
                </a:solidFill>
              </a:rPr>
              <a:t>Inter-VLAN routing</a:t>
            </a:r>
            <a:endParaRPr lang="en-US" sz="1500" dirty="0"/>
          </a:p>
        </p:txBody>
      </p:sp>
      <p:sp>
        <p:nvSpPr>
          <p:cNvPr id="30" name="Link to part 05">
            <a:hlinkClick r:id="rId12" tooltip="Go to part 05: Inter-VLAN routing" action="ppaction://hlinksldjump"/>
          </p:cNvPr>
          <p:cNvSpPr/>
          <p:nvPr/>
        </p:nvSpPr>
        <p:spPr>
          <a:xfrm>
            <a:off x="548640" y="3218688"/>
            <a:ext cx="2602154" cy="1344168"/>
          </a:xfrm>
          <a:prstGeom prst="rect">
            <a:avLst/>
          </a:prstGeom>
          <a:solidFill>
            <a:srgbClr val="FFFFFF">
              <a:alpha val="0"/>
            </a:srgbClr>
          </a:solidFill>
          <a:ln/>
        </p:spPr>
      </p:sp>
      <p:sp>
        <p:nvSpPr>
          <p:cNvPr id="31" name="Tile 06"/>
          <p:cNvSpPr/>
          <p:nvPr/>
        </p:nvSpPr>
        <p:spPr>
          <a:xfrm>
            <a:off x="3379394" y="3218688"/>
            <a:ext cx="2602154" cy="1344168"/>
          </a:xfrm>
          <a:prstGeom prst="roundRect">
            <a:avLst>
              <a:gd name="adj" fmla="val 6803"/>
            </a:avLst>
          </a:prstGeom>
          <a:solidFill>
            <a:srgbClr val="1E5631"/>
          </a:solidFill>
          <a:ln w="12700">
            <a:solidFill>
              <a:srgbClr val="1E5631"/>
            </a:solidFill>
            <a:prstDash val="solid"/>
          </a:ln>
        </p:spPr>
      </p:sp>
      <p:pic>
        <p:nvPicPr>
          <p:cNvPr id="32" name="Image 6" descr="DHCP">    </p:cNvPr>
          <p:cNvPicPr>
            <a:picLocks noChangeAspect="1"/>
          </p:cNvPicPr>
          <p:nvPr/>
        </p:nvPicPr>
        <p:blipFill>
          <a:blip r:embed="rId13"/>
          <a:stretch>
            <a:fillRect/>
          </a:stretch>
        </p:blipFill>
        <p:spPr>
          <a:xfrm>
            <a:off x="3562274" y="3401568"/>
            <a:ext cx="475488" cy="475488"/>
          </a:xfrm>
          <a:prstGeom prst="rect">
            <a:avLst/>
          </a:prstGeom>
        </p:spPr>
      </p:pic>
      <p:sp>
        <p:nvSpPr>
          <p:cNvPr id="33" name="Text 24"/>
          <p:cNvSpPr txBox="1"/>
          <p:nvPr/>
        </p:nvSpPr>
        <p:spPr>
          <a:xfrm>
            <a:off x="5067148" y="3364992"/>
            <a:ext cx="731520" cy="411480"/>
          </a:xfrm>
          <a:prstGeom prst="rect">
            <a:avLst/>
          </a:prstGeom>
          <a:noFill/>
          <a:ln/>
        </p:spPr>
        <p:txBody>
          <a:bodyPr wrap="square" lIns="0" tIns="0" rIns="0" bIns="0" rtlCol="0" anchor="ctr"/>
          <a:lstStyle/>
          <a:p>
            <a:pPr algn="r" indent="0" marL="0">
              <a:buNone/>
            </a:pPr>
            <a:r>
              <a:rPr lang="en-US" sz="2200" b="1" dirty="0">
                <a:solidFill>
                  <a:srgbClr val="E8B92E"/>
                </a:solidFill>
                <a:latin typeface="Cambria" pitchFamily="34" charset="0"/>
                <a:ea typeface="Cambria" pitchFamily="34" charset="-122"/>
                <a:cs typeface="Cambria" pitchFamily="34" charset="-120"/>
              </a:rPr>
              <a:t>06</a:t>
            </a:r>
            <a:endParaRPr lang="en-US" sz="2200" dirty="0"/>
          </a:p>
        </p:txBody>
      </p:sp>
      <p:sp>
        <p:nvSpPr>
          <p:cNvPr id="34" name="Text 25"/>
          <p:cNvSpPr txBox="1"/>
          <p:nvPr/>
        </p:nvSpPr>
        <p:spPr>
          <a:xfrm>
            <a:off x="3562274" y="3968496"/>
            <a:ext cx="2282114" cy="502920"/>
          </a:xfrm>
          <a:prstGeom prst="rect">
            <a:avLst/>
          </a:prstGeom>
          <a:noFill/>
          <a:ln/>
        </p:spPr>
        <p:txBody>
          <a:bodyPr wrap="square" lIns="0" tIns="0" rIns="0" bIns="0" rtlCol="0" anchor="t"/>
          <a:lstStyle/>
          <a:p>
            <a:pPr indent="0" marL="0">
              <a:buNone/>
            </a:pPr>
            <a:r>
              <a:rPr lang="en-US" sz="1500" b="1" dirty="0">
                <a:solidFill>
                  <a:srgbClr val="FFFFFF"/>
                </a:solidFill>
              </a:rPr>
              <a:t>DHCP</a:t>
            </a:r>
            <a:endParaRPr lang="en-US" sz="1500" dirty="0"/>
          </a:p>
        </p:txBody>
      </p:sp>
      <p:sp>
        <p:nvSpPr>
          <p:cNvPr id="35" name="Link to part 06">
            <a:hlinkClick r:id="rId14" tooltip="Go to part 06: DHCP" action="ppaction://hlinksldjump"/>
          </p:cNvPr>
          <p:cNvSpPr/>
          <p:nvPr/>
        </p:nvSpPr>
        <p:spPr>
          <a:xfrm>
            <a:off x="3379394" y="3218688"/>
            <a:ext cx="2602154" cy="1344168"/>
          </a:xfrm>
          <a:prstGeom prst="rect">
            <a:avLst/>
          </a:prstGeom>
          <a:solidFill>
            <a:srgbClr val="FFFFFF">
              <a:alpha val="0"/>
            </a:srgbClr>
          </a:solidFill>
          <a:ln/>
        </p:spPr>
      </p:sp>
      <p:sp>
        <p:nvSpPr>
          <p:cNvPr id="36" name="Tile 07"/>
          <p:cNvSpPr/>
          <p:nvPr/>
        </p:nvSpPr>
        <p:spPr>
          <a:xfrm>
            <a:off x="6210148" y="3218688"/>
            <a:ext cx="2602154" cy="1344168"/>
          </a:xfrm>
          <a:prstGeom prst="roundRect">
            <a:avLst>
              <a:gd name="adj" fmla="val 6803"/>
            </a:avLst>
          </a:prstGeom>
          <a:solidFill>
            <a:srgbClr val="E8F1EA"/>
          </a:solidFill>
          <a:ln w="12700">
            <a:solidFill>
              <a:srgbClr val="B7C9BA"/>
            </a:solidFill>
            <a:prstDash val="solid"/>
          </a:ln>
        </p:spPr>
      </p:sp>
      <p:pic>
        <p:nvPicPr>
          <p:cNvPr id="37" name="Image 7" descr="Routing">    </p:cNvPr>
          <p:cNvPicPr>
            <a:picLocks noChangeAspect="1"/>
          </p:cNvPicPr>
          <p:nvPr/>
        </p:nvPicPr>
        <p:blipFill>
          <a:blip r:embed="rId15"/>
          <a:stretch>
            <a:fillRect/>
          </a:stretch>
        </p:blipFill>
        <p:spPr>
          <a:xfrm>
            <a:off x="6393028" y="3401568"/>
            <a:ext cx="475488" cy="475488"/>
          </a:xfrm>
          <a:prstGeom prst="rect">
            <a:avLst/>
          </a:prstGeom>
        </p:spPr>
      </p:pic>
      <p:sp>
        <p:nvSpPr>
          <p:cNvPr id="38" name="Text 28"/>
          <p:cNvSpPr txBox="1"/>
          <p:nvPr/>
        </p:nvSpPr>
        <p:spPr>
          <a:xfrm>
            <a:off x="7897901" y="3364992"/>
            <a:ext cx="731520" cy="411480"/>
          </a:xfrm>
          <a:prstGeom prst="rect">
            <a:avLst/>
          </a:prstGeom>
          <a:noFill/>
          <a:ln/>
        </p:spPr>
        <p:txBody>
          <a:bodyPr wrap="square" lIns="0" tIns="0" rIns="0" bIns="0" rtlCol="0" anchor="ctr"/>
          <a:lstStyle/>
          <a:p>
            <a:pPr algn="r" indent="0" marL="0">
              <a:buNone/>
            </a:pPr>
            <a:r>
              <a:rPr lang="en-US" sz="2200" b="1" dirty="0">
                <a:solidFill>
                  <a:srgbClr val="2B7043"/>
                </a:solidFill>
                <a:latin typeface="Cambria" pitchFamily="34" charset="0"/>
                <a:ea typeface="Cambria" pitchFamily="34" charset="-122"/>
                <a:cs typeface="Cambria" pitchFamily="34" charset="-120"/>
              </a:rPr>
              <a:t>07</a:t>
            </a:r>
            <a:endParaRPr lang="en-US" sz="2200" dirty="0"/>
          </a:p>
        </p:txBody>
      </p:sp>
      <p:sp>
        <p:nvSpPr>
          <p:cNvPr id="39" name="Text 29"/>
          <p:cNvSpPr txBox="1"/>
          <p:nvPr/>
        </p:nvSpPr>
        <p:spPr>
          <a:xfrm>
            <a:off x="6393028" y="3968496"/>
            <a:ext cx="2282114" cy="502920"/>
          </a:xfrm>
          <a:prstGeom prst="rect">
            <a:avLst/>
          </a:prstGeom>
          <a:noFill/>
          <a:ln/>
        </p:spPr>
        <p:txBody>
          <a:bodyPr wrap="square" lIns="0" tIns="0" rIns="0" bIns="0" rtlCol="0" anchor="t"/>
          <a:lstStyle/>
          <a:p>
            <a:pPr indent="0" marL="0">
              <a:buNone/>
            </a:pPr>
            <a:r>
              <a:rPr lang="en-US" sz="1500" b="1" dirty="0">
                <a:solidFill>
                  <a:srgbClr val="1E5631"/>
                </a:solidFill>
              </a:rPr>
              <a:t>Routing</a:t>
            </a:r>
            <a:endParaRPr lang="en-US" sz="1500" dirty="0"/>
          </a:p>
        </p:txBody>
      </p:sp>
      <p:sp>
        <p:nvSpPr>
          <p:cNvPr id="40" name="Link to part 07">
            <a:hlinkClick r:id="rId16" tooltip="Go to part 07: Routing" action="ppaction://hlinksldjump"/>
          </p:cNvPr>
          <p:cNvSpPr/>
          <p:nvPr/>
        </p:nvSpPr>
        <p:spPr>
          <a:xfrm>
            <a:off x="6210148" y="3218688"/>
            <a:ext cx="2602154" cy="1344168"/>
          </a:xfrm>
          <a:prstGeom prst="rect">
            <a:avLst/>
          </a:prstGeom>
          <a:solidFill>
            <a:srgbClr val="FFFFFF">
              <a:alpha val="0"/>
            </a:srgbClr>
          </a:solidFill>
          <a:ln/>
        </p:spPr>
      </p:sp>
      <p:sp>
        <p:nvSpPr>
          <p:cNvPr id="41" name="Tile 08"/>
          <p:cNvSpPr/>
          <p:nvPr/>
        </p:nvSpPr>
        <p:spPr>
          <a:xfrm>
            <a:off x="9040901" y="3218688"/>
            <a:ext cx="2602154" cy="1344168"/>
          </a:xfrm>
          <a:prstGeom prst="roundRect">
            <a:avLst>
              <a:gd name="adj" fmla="val 6803"/>
            </a:avLst>
          </a:prstGeom>
          <a:solidFill>
            <a:srgbClr val="1E5631"/>
          </a:solidFill>
          <a:ln w="12700">
            <a:solidFill>
              <a:srgbClr val="1E5631"/>
            </a:solidFill>
            <a:prstDash val="solid"/>
          </a:ln>
        </p:spPr>
      </p:sp>
      <p:pic>
        <p:nvPicPr>
          <p:cNvPr id="42" name="Image 8" descr="Security &amp; NAT">    </p:cNvPr>
          <p:cNvPicPr>
            <a:picLocks noChangeAspect="1"/>
          </p:cNvPicPr>
          <p:nvPr/>
        </p:nvPicPr>
        <p:blipFill>
          <a:blip r:embed="rId17"/>
          <a:stretch>
            <a:fillRect/>
          </a:stretch>
        </p:blipFill>
        <p:spPr>
          <a:xfrm>
            <a:off x="9223781" y="3401568"/>
            <a:ext cx="475488" cy="475488"/>
          </a:xfrm>
          <a:prstGeom prst="rect">
            <a:avLst/>
          </a:prstGeom>
        </p:spPr>
      </p:pic>
      <p:sp>
        <p:nvSpPr>
          <p:cNvPr id="43" name="Text 32"/>
          <p:cNvSpPr txBox="1"/>
          <p:nvPr/>
        </p:nvSpPr>
        <p:spPr>
          <a:xfrm>
            <a:off x="10728655" y="3364992"/>
            <a:ext cx="731520" cy="411480"/>
          </a:xfrm>
          <a:prstGeom prst="rect">
            <a:avLst/>
          </a:prstGeom>
          <a:noFill/>
          <a:ln/>
        </p:spPr>
        <p:txBody>
          <a:bodyPr wrap="square" lIns="0" tIns="0" rIns="0" bIns="0" rtlCol="0" anchor="ctr"/>
          <a:lstStyle/>
          <a:p>
            <a:pPr algn="r" indent="0" marL="0">
              <a:buNone/>
            </a:pPr>
            <a:r>
              <a:rPr lang="en-US" sz="2200" b="1" dirty="0">
                <a:solidFill>
                  <a:srgbClr val="E8B92E"/>
                </a:solidFill>
                <a:latin typeface="Cambria" pitchFamily="34" charset="0"/>
                <a:ea typeface="Cambria" pitchFamily="34" charset="-122"/>
                <a:cs typeface="Cambria" pitchFamily="34" charset="-120"/>
              </a:rPr>
              <a:t>08</a:t>
            </a:r>
            <a:endParaRPr lang="en-US" sz="2200" dirty="0"/>
          </a:p>
        </p:txBody>
      </p:sp>
      <p:sp>
        <p:nvSpPr>
          <p:cNvPr id="44" name="Text 33"/>
          <p:cNvSpPr txBox="1"/>
          <p:nvPr/>
        </p:nvSpPr>
        <p:spPr>
          <a:xfrm>
            <a:off x="9223781" y="3968496"/>
            <a:ext cx="2282114" cy="502920"/>
          </a:xfrm>
          <a:prstGeom prst="rect">
            <a:avLst/>
          </a:prstGeom>
          <a:noFill/>
          <a:ln/>
        </p:spPr>
        <p:txBody>
          <a:bodyPr wrap="square" lIns="0" tIns="0" rIns="0" bIns="0" rtlCol="0" anchor="t"/>
          <a:lstStyle/>
          <a:p>
            <a:pPr indent="0" marL="0">
              <a:buNone/>
            </a:pPr>
            <a:r>
              <a:rPr lang="en-US" sz="1500" b="1" dirty="0">
                <a:solidFill>
                  <a:srgbClr val="FFFFFF"/>
                </a:solidFill>
              </a:rPr>
              <a:t>Security &amp; NAT</a:t>
            </a:r>
            <a:endParaRPr lang="en-US" sz="1500" dirty="0"/>
          </a:p>
        </p:txBody>
      </p:sp>
      <p:sp>
        <p:nvSpPr>
          <p:cNvPr id="45" name="Link to part 08">
            <a:hlinkClick r:id="rId18" tooltip="Go to part 08: Security &amp; NAT" action="ppaction://hlinksldjump"/>
          </p:cNvPr>
          <p:cNvSpPr/>
          <p:nvPr/>
        </p:nvSpPr>
        <p:spPr>
          <a:xfrm>
            <a:off x="9040901" y="3218688"/>
            <a:ext cx="2602154" cy="1344168"/>
          </a:xfrm>
          <a:prstGeom prst="rect">
            <a:avLst/>
          </a:prstGeom>
          <a:solidFill>
            <a:srgbClr val="FFFFFF">
              <a:alpha val="0"/>
            </a:srgbClr>
          </a:solidFill>
          <a:ln/>
        </p:spPr>
      </p:sp>
      <p:sp>
        <p:nvSpPr>
          <p:cNvPr id="46" name="Tile 09"/>
          <p:cNvSpPr/>
          <p:nvPr/>
        </p:nvSpPr>
        <p:spPr>
          <a:xfrm>
            <a:off x="548640" y="4745736"/>
            <a:ext cx="2602154" cy="1344168"/>
          </a:xfrm>
          <a:prstGeom prst="roundRect">
            <a:avLst>
              <a:gd name="adj" fmla="val 6803"/>
            </a:avLst>
          </a:prstGeom>
          <a:solidFill>
            <a:srgbClr val="1E5631"/>
          </a:solidFill>
          <a:ln w="12700">
            <a:solidFill>
              <a:srgbClr val="1E5631"/>
            </a:solidFill>
            <a:prstDash val="solid"/>
          </a:ln>
        </p:spPr>
      </p:sp>
      <p:pic>
        <p:nvPicPr>
          <p:cNvPr id="47" name="Image 9" descr="STP &amp; EtherChannel">    </p:cNvPr>
          <p:cNvPicPr>
            <a:picLocks noChangeAspect="1"/>
          </p:cNvPicPr>
          <p:nvPr/>
        </p:nvPicPr>
        <p:blipFill>
          <a:blip r:embed="rId19"/>
          <a:stretch>
            <a:fillRect/>
          </a:stretch>
        </p:blipFill>
        <p:spPr>
          <a:xfrm>
            <a:off x="731520" y="4928616"/>
            <a:ext cx="475488" cy="475488"/>
          </a:xfrm>
          <a:prstGeom prst="rect">
            <a:avLst/>
          </a:prstGeom>
        </p:spPr>
      </p:pic>
      <p:sp>
        <p:nvSpPr>
          <p:cNvPr id="48" name="Text 36"/>
          <p:cNvSpPr txBox="1"/>
          <p:nvPr/>
        </p:nvSpPr>
        <p:spPr>
          <a:xfrm>
            <a:off x="2236394" y="4892040"/>
            <a:ext cx="731520" cy="411480"/>
          </a:xfrm>
          <a:prstGeom prst="rect">
            <a:avLst/>
          </a:prstGeom>
          <a:noFill/>
          <a:ln/>
        </p:spPr>
        <p:txBody>
          <a:bodyPr wrap="square" lIns="0" tIns="0" rIns="0" bIns="0" rtlCol="0" anchor="ctr"/>
          <a:lstStyle/>
          <a:p>
            <a:pPr algn="r" indent="0" marL="0">
              <a:buNone/>
            </a:pPr>
            <a:r>
              <a:rPr lang="en-US" sz="2200" b="1" dirty="0">
                <a:solidFill>
                  <a:srgbClr val="E8B92E"/>
                </a:solidFill>
                <a:latin typeface="Cambria" pitchFamily="34" charset="0"/>
                <a:ea typeface="Cambria" pitchFamily="34" charset="-122"/>
                <a:cs typeface="Cambria" pitchFamily="34" charset="-120"/>
              </a:rPr>
              <a:t>09</a:t>
            </a:r>
            <a:endParaRPr lang="en-US" sz="2200" dirty="0"/>
          </a:p>
        </p:txBody>
      </p:sp>
      <p:sp>
        <p:nvSpPr>
          <p:cNvPr id="49" name="Text 37"/>
          <p:cNvSpPr txBox="1"/>
          <p:nvPr/>
        </p:nvSpPr>
        <p:spPr>
          <a:xfrm>
            <a:off x="731520" y="5495544"/>
            <a:ext cx="2282114" cy="502920"/>
          </a:xfrm>
          <a:prstGeom prst="rect">
            <a:avLst/>
          </a:prstGeom>
          <a:noFill/>
          <a:ln/>
        </p:spPr>
        <p:txBody>
          <a:bodyPr wrap="square" lIns="0" tIns="0" rIns="0" bIns="0" rtlCol="0" anchor="t"/>
          <a:lstStyle/>
          <a:p>
            <a:pPr indent="0" marL="0">
              <a:buNone/>
            </a:pPr>
            <a:r>
              <a:rPr lang="en-US" sz="1500" b="1" dirty="0">
                <a:solidFill>
                  <a:srgbClr val="FFFFFF"/>
                </a:solidFill>
              </a:rPr>
              <a:t>STP &amp; EtherChannel</a:t>
            </a:r>
            <a:endParaRPr lang="en-US" sz="1500" dirty="0"/>
          </a:p>
        </p:txBody>
      </p:sp>
      <p:sp>
        <p:nvSpPr>
          <p:cNvPr id="50" name="Link to part 09">
            <a:hlinkClick r:id="rId20" tooltip="Go to part 09: STP &amp; EtherChannel" action="ppaction://hlinksldjump"/>
          </p:cNvPr>
          <p:cNvSpPr/>
          <p:nvPr/>
        </p:nvSpPr>
        <p:spPr>
          <a:xfrm>
            <a:off x="548640" y="4745736"/>
            <a:ext cx="2602154" cy="1344168"/>
          </a:xfrm>
          <a:prstGeom prst="rect">
            <a:avLst/>
          </a:prstGeom>
          <a:solidFill>
            <a:srgbClr val="FFFFFF">
              <a:alpha val="0"/>
            </a:srgbClr>
          </a:solidFill>
          <a:ln/>
        </p:spPr>
      </p:sp>
      <p:sp>
        <p:nvSpPr>
          <p:cNvPr id="51" name="Tile 10"/>
          <p:cNvSpPr/>
          <p:nvPr/>
        </p:nvSpPr>
        <p:spPr>
          <a:xfrm>
            <a:off x="3379394" y="4745736"/>
            <a:ext cx="2602154" cy="1344168"/>
          </a:xfrm>
          <a:prstGeom prst="roundRect">
            <a:avLst>
              <a:gd name="adj" fmla="val 6803"/>
            </a:avLst>
          </a:prstGeom>
          <a:solidFill>
            <a:srgbClr val="E8F1EA"/>
          </a:solidFill>
          <a:ln w="12700">
            <a:solidFill>
              <a:srgbClr val="B7C9BA"/>
            </a:solidFill>
            <a:prstDash val="solid"/>
          </a:ln>
        </p:spPr>
      </p:sp>
      <p:pic>
        <p:nvPicPr>
          <p:cNvPr id="52" name="Image 10" descr="Management &amp; IPv6">    </p:cNvPr>
          <p:cNvPicPr>
            <a:picLocks noChangeAspect="1"/>
          </p:cNvPicPr>
          <p:nvPr/>
        </p:nvPicPr>
        <p:blipFill>
          <a:blip r:embed="rId21"/>
          <a:stretch>
            <a:fillRect/>
          </a:stretch>
        </p:blipFill>
        <p:spPr>
          <a:xfrm>
            <a:off x="3562274" y="4928616"/>
            <a:ext cx="475488" cy="475488"/>
          </a:xfrm>
          <a:prstGeom prst="rect">
            <a:avLst/>
          </a:prstGeom>
        </p:spPr>
      </p:pic>
      <p:sp>
        <p:nvSpPr>
          <p:cNvPr id="53" name="Text 40"/>
          <p:cNvSpPr txBox="1"/>
          <p:nvPr/>
        </p:nvSpPr>
        <p:spPr>
          <a:xfrm>
            <a:off x="5067148" y="4892040"/>
            <a:ext cx="731520" cy="411480"/>
          </a:xfrm>
          <a:prstGeom prst="rect">
            <a:avLst/>
          </a:prstGeom>
          <a:noFill/>
          <a:ln/>
        </p:spPr>
        <p:txBody>
          <a:bodyPr wrap="square" lIns="0" tIns="0" rIns="0" bIns="0" rtlCol="0" anchor="ctr"/>
          <a:lstStyle/>
          <a:p>
            <a:pPr algn="r" indent="0" marL="0">
              <a:buNone/>
            </a:pPr>
            <a:r>
              <a:rPr lang="en-US" sz="2200" b="1" dirty="0">
                <a:solidFill>
                  <a:srgbClr val="2B7043"/>
                </a:solidFill>
                <a:latin typeface="Cambria" pitchFamily="34" charset="0"/>
                <a:ea typeface="Cambria" pitchFamily="34" charset="-122"/>
                <a:cs typeface="Cambria" pitchFamily="34" charset="-120"/>
              </a:rPr>
              <a:t>10</a:t>
            </a:r>
            <a:endParaRPr lang="en-US" sz="2200" dirty="0"/>
          </a:p>
        </p:txBody>
      </p:sp>
      <p:sp>
        <p:nvSpPr>
          <p:cNvPr id="54" name="Text 41"/>
          <p:cNvSpPr txBox="1"/>
          <p:nvPr/>
        </p:nvSpPr>
        <p:spPr>
          <a:xfrm>
            <a:off x="3562274" y="5495544"/>
            <a:ext cx="2282114" cy="502920"/>
          </a:xfrm>
          <a:prstGeom prst="rect">
            <a:avLst/>
          </a:prstGeom>
          <a:noFill/>
          <a:ln/>
        </p:spPr>
        <p:txBody>
          <a:bodyPr wrap="square" lIns="0" tIns="0" rIns="0" bIns="0" rtlCol="0" anchor="t"/>
          <a:lstStyle/>
          <a:p>
            <a:pPr indent="0" marL="0">
              <a:buNone/>
            </a:pPr>
            <a:r>
              <a:rPr lang="en-US" sz="1500" b="1" dirty="0">
                <a:solidFill>
                  <a:srgbClr val="1E5631"/>
                </a:solidFill>
              </a:rPr>
              <a:t>Management &amp; IPv6</a:t>
            </a:r>
            <a:endParaRPr lang="en-US" sz="1500" dirty="0"/>
          </a:p>
        </p:txBody>
      </p:sp>
      <p:sp>
        <p:nvSpPr>
          <p:cNvPr id="55" name="Link to part 10">
            <a:hlinkClick r:id="rId22" tooltip="Go to part 10: Management &amp; IPv6" action="ppaction://hlinksldjump"/>
          </p:cNvPr>
          <p:cNvSpPr/>
          <p:nvPr/>
        </p:nvSpPr>
        <p:spPr>
          <a:xfrm>
            <a:off x="3379394" y="4745736"/>
            <a:ext cx="2602154" cy="1344168"/>
          </a:xfrm>
          <a:prstGeom prst="rect">
            <a:avLst/>
          </a:prstGeom>
          <a:solidFill>
            <a:srgbClr val="FFFFFF">
              <a:alpha val="0"/>
            </a:srgbClr>
          </a:solidFill>
          <a:ln/>
        </p:spPr>
      </p:sp>
      <p:sp>
        <p:nvSpPr>
          <p:cNvPr id="56" name="Tile 11"/>
          <p:cNvSpPr/>
          <p:nvPr/>
        </p:nvSpPr>
        <p:spPr>
          <a:xfrm>
            <a:off x="6210148" y="4745736"/>
            <a:ext cx="2602154" cy="1344168"/>
          </a:xfrm>
          <a:prstGeom prst="roundRect">
            <a:avLst>
              <a:gd name="adj" fmla="val 6803"/>
            </a:avLst>
          </a:prstGeom>
          <a:solidFill>
            <a:srgbClr val="1E5631"/>
          </a:solidFill>
          <a:ln w="12700">
            <a:solidFill>
              <a:srgbClr val="1E5631"/>
            </a:solidFill>
            <a:prstDash val="solid"/>
          </a:ln>
        </p:spPr>
      </p:sp>
      <p:pic>
        <p:nvPicPr>
          <p:cNvPr id="57" name="Image 11" descr="Troubleshooting">    </p:cNvPr>
          <p:cNvPicPr>
            <a:picLocks noChangeAspect="1"/>
          </p:cNvPicPr>
          <p:nvPr/>
        </p:nvPicPr>
        <p:blipFill>
          <a:blip r:embed="rId23"/>
          <a:stretch>
            <a:fillRect/>
          </a:stretch>
        </p:blipFill>
        <p:spPr>
          <a:xfrm>
            <a:off x="6393028" y="4928616"/>
            <a:ext cx="475488" cy="475488"/>
          </a:xfrm>
          <a:prstGeom prst="rect">
            <a:avLst/>
          </a:prstGeom>
        </p:spPr>
      </p:pic>
      <p:sp>
        <p:nvSpPr>
          <p:cNvPr id="58" name="Text 44"/>
          <p:cNvSpPr txBox="1"/>
          <p:nvPr/>
        </p:nvSpPr>
        <p:spPr>
          <a:xfrm>
            <a:off x="7897901" y="4892040"/>
            <a:ext cx="731520" cy="411480"/>
          </a:xfrm>
          <a:prstGeom prst="rect">
            <a:avLst/>
          </a:prstGeom>
          <a:noFill/>
          <a:ln/>
        </p:spPr>
        <p:txBody>
          <a:bodyPr wrap="square" lIns="0" tIns="0" rIns="0" bIns="0" rtlCol="0" anchor="ctr"/>
          <a:lstStyle/>
          <a:p>
            <a:pPr algn="r" indent="0" marL="0">
              <a:buNone/>
            </a:pPr>
            <a:r>
              <a:rPr lang="en-US" sz="2200" b="1" dirty="0">
                <a:solidFill>
                  <a:srgbClr val="E8B92E"/>
                </a:solidFill>
                <a:latin typeface="Cambria" pitchFamily="34" charset="0"/>
                <a:ea typeface="Cambria" pitchFamily="34" charset="-122"/>
                <a:cs typeface="Cambria" pitchFamily="34" charset="-120"/>
              </a:rPr>
              <a:t>11</a:t>
            </a:r>
            <a:endParaRPr lang="en-US" sz="2200" dirty="0"/>
          </a:p>
        </p:txBody>
      </p:sp>
      <p:sp>
        <p:nvSpPr>
          <p:cNvPr id="59" name="Text 45"/>
          <p:cNvSpPr txBox="1"/>
          <p:nvPr/>
        </p:nvSpPr>
        <p:spPr>
          <a:xfrm>
            <a:off x="6393028" y="5495544"/>
            <a:ext cx="2282114" cy="502920"/>
          </a:xfrm>
          <a:prstGeom prst="rect">
            <a:avLst/>
          </a:prstGeom>
          <a:noFill/>
          <a:ln/>
        </p:spPr>
        <p:txBody>
          <a:bodyPr wrap="square" lIns="0" tIns="0" rIns="0" bIns="0" rtlCol="0" anchor="t"/>
          <a:lstStyle/>
          <a:p>
            <a:pPr indent="0" marL="0">
              <a:buNone/>
            </a:pPr>
            <a:r>
              <a:rPr lang="en-US" sz="1500" b="1" dirty="0">
                <a:solidFill>
                  <a:srgbClr val="FFFFFF"/>
                </a:solidFill>
              </a:rPr>
              <a:t>Troubleshooting</a:t>
            </a:r>
            <a:endParaRPr lang="en-US" sz="1500" dirty="0"/>
          </a:p>
        </p:txBody>
      </p:sp>
      <p:sp>
        <p:nvSpPr>
          <p:cNvPr id="60" name="Link to part 11">
            <a:hlinkClick r:id="rId24" tooltip="Go to part 11: Troubleshooting" action="ppaction://hlinksldjump"/>
          </p:cNvPr>
          <p:cNvSpPr/>
          <p:nvPr/>
        </p:nvSpPr>
        <p:spPr>
          <a:xfrm>
            <a:off x="6210148" y="4745736"/>
            <a:ext cx="2602154" cy="1344168"/>
          </a:xfrm>
          <a:prstGeom prst="rect">
            <a:avLst/>
          </a:prstGeom>
          <a:solidFill>
            <a:srgbClr val="FFFFFF">
              <a:alpha val="0"/>
            </a:srgbClr>
          </a:solidFill>
          <a:ln/>
        </p:spPr>
      </p:sp>
      <p:sp>
        <p:nvSpPr>
          <p:cNvPr id="61" name="Tile 12"/>
          <p:cNvSpPr/>
          <p:nvPr/>
        </p:nvSpPr>
        <p:spPr>
          <a:xfrm>
            <a:off x="9040901" y="4745736"/>
            <a:ext cx="2602154" cy="1344168"/>
          </a:xfrm>
          <a:prstGeom prst="roundRect">
            <a:avLst>
              <a:gd name="adj" fmla="val 6803"/>
            </a:avLst>
          </a:prstGeom>
          <a:solidFill>
            <a:srgbClr val="E8F1EA"/>
          </a:solidFill>
          <a:ln w="12700">
            <a:solidFill>
              <a:srgbClr val="B7C9BA"/>
            </a:solidFill>
            <a:prstDash val="solid"/>
          </a:ln>
        </p:spPr>
      </p:sp>
      <p:pic>
        <p:nvPicPr>
          <p:cNvPr id="62" name="Image 12" descr="Practice &amp; quick reference">    </p:cNvPr>
          <p:cNvPicPr>
            <a:picLocks noChangeAspect="1"/>
          </p:cNvPicPr>
          <p:nvPr/>
        </p:nvPicPr>
        <p:blipFill>
          <a:blip r:embed="rId25"/>
          <a:stretch>
            <a:fillRect/>
          </a:stretch>
        </p:blipFill>
        <p:spPr>
          <a:xfrm>
            <a:off x="9223781" y="4928616"/>
            <a:ext cx="475488" cy="475488"/>
          </a:xfrm>
          <a:prstGeom prst="rect">
            <a:avLst/>
          </a:prstGeom>
        </p:spPr>
      </p:pic>
      <p:sp>
        <p:nvSpPr>
          <p:cNvPr id="63" name="Text 48"/>
          <p:cNvSpPr txBox="1"/>
          <p:nvPr/>
        </p:nvSpPr>
        <p:spPr>
          <a:xfrm>
            <a:off x="10728655" y="4892040"/>
            <a:ext cx="731520" cy="411480"/>
          </a:xfrm>
          <a:prstGeom prst="rect">
            <a:avLst/>
          </a:prstGeom>
          <a:noFill/>
          <a:ln/>
        </p:spPr>
        <p:txBody>
          <a:bodyPr wrap="square" lIns="0" tIns="0" rIns="0" bIns="0" rtlCol="0" anchor="ctr"/>
          <a:lstStyle/>
          <a:p>
            <a:pPr algn="r" indent="0" marL="0">
              <a:buNone/>
            </a:pPr>
            <a:r>
              <a:rPr lang="en-US" sz="2200" b="1" dirty="0">
                <a:solidFill>
                  <a:srgbClr val="2B7043"/>
                </a:solidFill>
                <a:latin typeface="Cambria" pitchFamily="34" charset="0"/>
                <a:ea typeface="Cambria" pitchFamily="34" charset="-122"/>
                <a:cs typeface="Cambria" pitchFamily="34" charset="-120"/>
              </a:rPr>
              <a:t>12</a:t>
            </a:r>
            <a:endParaRPr lang="en-US" sz="2200" dirty="0"/>
          </a:p>
        </p:txBody>
      </p:sp>
      <p:sp>
        <p:nvSpPr>
          <p:cNvPr id="64" name="Text 49"/>
          <p:cNvSpPr txBox="1"/>
          <p:nvPr/>
        </p:nvSpPr>
        <p:spPr>
          <a:xfrm>
            <a:off x="9223781" y="5495544"/>
            <a:ext cx="2282114" cy="502920"/>
          </a:xfrm>
          <a:prstGeom prst="rect">
            <a:avLst/>
          </a:prstGeom>
          <a:noFill/>
          <a:ln/>
        </p:spPr>
        <p:txBody>
          <a:bodyPr wrap="square" lIns="0" tIns="0" rIns="0" bIns="0" rtlCol="0" anchor="t"/>
          <a:lstStyle/>
          <a:p>
            <a:pPr indent="0" marL="0">
              <a:buNone/>
            </a:pPr>
            <a:r>
              <a:rPr lang="en-US" sz="1500" b="1" dirty="0">
                <a:solidFill>
                  <a:srgbClr val="1E5631"/>
                </a:solidFill>
              </a:rPr>
              <a:t>Practice &amp; quick reference</a:t>
            </a:r>
            <a:endParaRPr lang="en-US" sz="1500" dirty="0"/>
          </a:p>
        </p:txBody>
      </p:sp>
      <p:sp>
        <p:nvSpPr>
          <p:cNvPr id="65" name="Link to part 12">
            <a:hlinkClick r:id="rId26" tooltip="Go to part 12: Practice &amp; quick reference" action="ppaction://hlinksldjump"/>
          </p:cNvPr>
          <p:cNvSpPr/>
          <p:nvPr/>
        </p:nvSpPr>
        <p:spPr>
          <a:xfrm>
            <a:off x="9040901" y="4745736"/>
            <a:ext cx="2602154" cy="1344168"/>
          </a:xfrm>
          <a:prstGeom prst="rect">
            <a:avLst/>
          </a:prstGeom>
          <a:solidFill>
            <a:srgbClr val="FFFFFF">
              <a:alpha val="0"/>
            </a:srgbClr>
          </a:solidFill>
          <a:ln/>
        </p:spPr>
      </p:sp>
      <p:sp>
        <p:nvSpPr>
          <p:cNvPr id="66" name="Slide Number Placeholder 0"/>
          <p:cNvSpPr>
            <a:spLocks noGrp="1"/>
          </p:cNvSpPr>
          <p:nvPr>
            <p:ph type="sldNum" sz="quarter" idx="4294967295"/>
          </p:nvPr>
        </p:nvSpPr>
        <p:spPr>
          <a:xfrm>
            <a:off x="10698480" y="6464808"/>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body" hasCustomPrompt="1"/>
          </p:nvPr>
        </p:nvSpPr>
        <p:spPr>
          <a:xfrm>
            <a:off x="548640" y="685800"/>
            <a:ext cx="3200400" cy="1143000"/>
          </a:xfrm>
          <a:prstGeom prst="rect">
            <a:avLst/>
          </a:prstGeom>
          <a:noFill/>
          <a:ln/>
        </p:spPr>
        <p:txBody>
          <a:bodyPr wrap="square" lIns="0" tIns="0" rIns="0" bIns="0" rtlCol="0" anchor="b"/>
          <a:lstStyle/>
          <a:p>
            <a:pPr algn="l" indent="0" marL="0">
              <a:buNone/>
            </a:pPr>
            <a:r>
              <a:rPr lang="en-US" sz="7200" b="1" dirty="0">
                <a:solidFill>
                  <a:schemeClr val="accent3"/>
                </a:solidFill>
                <a:latin typeface="Cambria" pitchFamily="34" charset="0"/>
                <a:ea typeface="Cambria" pitchFamily="34" charset="-122"/>
                <a:cs typeface="Cambria" pitchFamily="34" charset="-120"/>
              </a:rPr>
              <a:t>01</a:t>
            </a:r>
            <a:endParaRPr lang="en-US" sz="7200" dirty="0"/>
          </a:p>
        </p:txBody>
      </p:sp>
      <p:sp>
        <p:nvSpPr>
          <p:cNvPr id="3" name="Text 1"/>
          <p:cNvSpPr/>
          <p:nvPr>
            <p:ph idx="102" type="title" hasCustomPrompt="1"/>
          </p:nvPr>
        </p:nvSpPr>
        <p:spPr>
          <a:xfrm>
            <a:off x="548640" y="2011680"/>
            <a:ext cx="6492240" cy="1600200"/>
          </a:xfrm>
          <a:prstGeom prst="rect">
            <a:avLst/>
          </a:prstGeom>
          <a:noFill/>
          <a:ln/>
        </p:spPr>
        <p:txBody>
          <a:bodyPr wrap="square" lIns="0" tIns="0" rIns="0" bIns="0" rtlCol="0" anchor="t"/>
          <a:lstStyle/>
          <a:p>
            <a:pPr algn="l" indent="0" marL="0">
              <a:buNone/>
            </a:pPr>
            <a:r>
              <a:rPr lang="en-US" sz="3400" b="1" dirty="0">
                <a:solidFill>
                  <a:srgbClr val="FFFFFF"/>
                </a:solidFill>
              </a:rPr>
              <a:t>How to get started in Packet Tracer</a:t>
            </a:r>
            <a:endParaRPr lang="en-US" sz="3400" dirty="0"/>
          </a:p>
        </p:txBody>
      </p:sp>
      <p:sp>
        <p:nvSpPr>
          <p:cNvPr id="4" name="Text 1"/>
          <p:cNvSpPr/>
          <p:nvPr>
            <p:ph idx="103" type="body" hasCustomPrompt="1"/>
          </p:nvPr>
        </p:nvSpPr>
        <p:spPr>
          <a:xfrm>
            <a:off x="548640" y="3703320"/>
            <a:ext cx="6309360" cy="1188720"/>
          </a:xfrm>
          <a:prstGeom prst="rect">
            <a:avLst/>
          </a:prstGeom>
          <a:noFill/>
          <a:ln/>
        </p:spPr>
        <p:txBody>
          <a:bodyPr wrap="square" lIns="0" tIns="0" rIns="0" bIns="0" rtlCol="0" anchor="t"/>
          <a:lstStyle/>
          <a:p>
            <a:pPr algn="l" indent="0" marL="0">
              <a:buNone/>
            </a:pPr>
            <a:r>
              <a:rPr lang="en-US" sz="1600" dirty="0">
                <a:solidFill>
                  <a:srgbClr val="CFE3D4"/>
                </a:solidFill>
              </a:rPr>
              <a:t>Build a network on screen: add devices, choose the right cables, open the command line and test with ping.</a:t>
            </a:r>
            <a:endParaRPr lang="en-US" sz="1600" dirty="0"/>
          </a:p>
        </p:txBody>
      </p:sp>
      <p:sp>
        <p:nvSpPr>
          <p:cNvPr id="5" name="Shape 3"/>
          <p:cNvSpPr/>
          <p:nvPr/>
        </p:nvSpPr>
        <p:spPr>
          <a:xfrm>
            <a:off x="7452360" y="1934845"/>
            <a:ext cx="4187952" cy="2988310"/>
          </a:xfrm>
          <a:prstGeom prst="roundRect">
            <a:avLst>
              <a:gd name="adj" fmla="val 3060"/>
            </a:avLst>
          </a:prstGeom>
          <a:solidFill>
            <a:srgbClr val="1B2B22">
              <a:alpha val="75000"/>
            </a:srgbClr>
          </a:solidFill>
          <a:ln w="12700">
            <a:solidFill>
              <a:srgbClr val="24663A"/>
            </a:solidFill>
            <a:prstDash val="solid"/>
          </a:ln>
        </p:spPr>
      </p:sp>
      <p:sp>
        <p:nvSpPr>
          <p:cNvPr id="6" name="Text 4"/>
          <p:cNvSpPr txBox="1"/>
          <p:nvPr/>
        </p:nvSpPr>
        <p:spPr>
          <a:xfrm>
            <a:off x="7726680" y="2190877"/>
            <a:ext cx="3639312" cy="320040"/>
          </a:xfrm>
          <a:prstGeom prst="rect">
            <a:avLst/>
          </a:prstGeom>
          <a:noFill/>
          <a:ln/>
        </p:spPr>
        <p:txBody>
          <a:bodyPr wrap="square" lIns="0" tIns="0" rIns="0" bIns="0" rtlCol="0" anchor="ctr"/>
          <a:lstStyle/>
          <a:p>
            <a:pPr indent="0" marL="0">
              <a:buNone/>
            </a:pPr>
            <a:r>
              <a:rPr lang="en-US" sz="1500" b="1" dirty="0">
                <a:solidFill>
                  <a:srgbClr val="E8B92E"/>
                </a:solidFill>
              </a:rPr>
              <a:t>In this part, learn how to:</a:t>
            </a:r>
            <a:endParaRPr lang="en-US" sz="1500" dirty="0"/>
          </a:p>
        </p:txBody>
      </p:sp>
      <p:sp>
        <p:nvSpPr>
          <p:cNvPr id="7" name="Text 5"/>
          <p:cNvSpPr txBox="1"/>
          <p:nvPr/>
        </p:nvSpPr>
        <p:spPr>
          <a:xfrm>
            <a:off x="7726680" y="2666365"/>
            <a:ext cx="3730752" cy="207391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FFFFFF"/>
                </a:solidFill>
              </a:rPr>
              <a:t>find your way around the workspace</a:t>
            </a:r>
            <a:endParaRPr lang="en-US" sz="1500" dirty="0"/>
          </a:p>
          <a:p>
            <a:pPr marL="203200" indent="-203200">
              <a:spcAft>
                <a:spcPts val="800"/>
              </a:spcAft>
              <a:buSzPct val="100000"/>
              <a:buChar char="•"/>
            </a:pPr>
            <a:r>
              <a:rPr lang="en-US" sz="1500" dirty="0">
                <a:solidFill>
                  <a:srgbClr val="FFFFFF"/>
                </a:solidFill>
              </a:rPr>
              <a:t>add devices and connect the right cable</a:t>
            </a:r>
            <a:endParaRPr lang="en-US" sz="1500" dirty="0"/>
          </a:p>
          <a:p>
            <a:pPr marL="203200" indent="-203200">
              <a:spcAft>
                <a:spcPts val="800"/>
              </a:spcAft>
              <a:buSzPct val="100000"/>
              <a:buChar char="•"/>
            </a:pPr>
            <a:r>
              <a:rPr lang="en-US" sz="1500" dirty="0">
                <a:solidFill>
                  <a:srgbClr val="FFFFFF"/>
                </a:solidFill>
              </a:rPr>
              <a:t>open the CLI of a router or switch</a:t>
            </a:r>
            <a:endParaRPr lang="en-US" sz="1500" dirty="0"/>
          </a:p>
          <a:p>
            <a:pPr marL="203200" indent="-203200">
              <a:spcAft>
                <a:spcPts val="800"/>
              </a:spcAft>
              <a:buSzPct val="100000"/>
              <a:buChar char="•"/>
            </a:pPr>
            <a:r>
              <a:rPr lang="en-US" sz="1500" dirty="0">
                <a:solidFill>
                  <a:srgbClr val="FFFFFF"/>
                </a:solidFill>
              </a:rPr>
              <a:t>give a PC an address and ping</a:t>
            </a:r>
            <a:endParaRPr lang="en-US" sz="1500" dirty="0"/>
          </a:p>
          <a:p>
            <a:pPr marL="203200" indent="-203200">
              <a:spcAft>
                <a:spcPts val="800"/>
              </a:spcAft>
              <a:buSzPct val="100000"/>
              <a:buChar char="•"/>
            </a:pPr>
            <a:r>
              <a:rPr lang="en-US" sz="1500" dirty="0">
                <a:solidFill>
                  <a:srgbClr val="FFFFFF"/>
                </a:solidFill>
              </a:rPr>
              <a:t>watch packets in Simulation mode</a:t>
            </a:r>
            <a:endParaRPr lang="en-US" sz="1500" dirty="0"/>
          </a:p>
        </p:txBody>
      </p:sp>
      <p:sp>
        <p:nvSpPr>
          <p:cNvPr id="8" name="Shape 6"/>
          <p:cNvSpPr/>
          <p:nvPr/>
        </p:nvSpPr>
        <p:spPr>
          <a:xfrm>
            <a:off x="548640" y="5989320"/>
            <a:ext cx="914400" cy="566928"/>
          </a:xfrm>
          <a:prstGeom prst="roundRect">
            <a:avLst>
              <a:gd name="adj" fmla="val 9677"/>
            </a:avLst>
          </a:prstGeom>
          <a:solidFill>
            <a:srgbClr val="FFFFFF"/>
          </a:solidFill>
          <a:ln/>
        </p:spPr>
      </p:sp>
      <p:pic>
        <p:nvPicPr>
          <p:cNvPr id="9" name="Image 0" descr="Kabete National Polytechnic logo">    </p:cNvPr>
          <p:cNvPicPr>
            <a:picLocks noChangeAspect="1"/>
          </p:cNvPicPr>
          <p:nvPr/>
        </p:nvPicPr>
        <p:blipFill>
          <a:blip r:embed="rId1"/>
          <a:stretch>
            <a:fillRect/>
          </a:stretch>
        </p:blipFill>
        <p:spPr>
          <a:xfrm>
            <a:off x="594360" y="6022175"/>
            <a:ext cx="822960" cy="501218"/>
          </a:xfrm>
          <a:prstGeom prst="rect">
            <a:avLst/>
          </a:prstGeom>
        </p:spPr>
      </p:pic>
      <p:pic>
        <p:nvPicPr>
          <p:cNvPr id="10" name="Home button" descr="Home: back to the workbook menu">
            <a:hlinkClick r:id="rId3" tooltip="Back to the workbook menu" action="ppaction://hlinksldjump"/>
          </p:cNvPr>
          <p:cNvPicPr>
            <a:picLocks noChangeAspect="1"/>
          </p:cNvPicPr>
          <p:nvPr/>
        </p:nvPicPr>
        <p:blipFill>
          <a:blip r:embed="rId2"/>
          <a:stretch>
            <a:fillRect/>
          </a:stretch>
        </p:blipFill>
        <p:spPr>
          <a:xfrm>
            <a:off x="11365992" y="6336792"/>
            <a:ext cx="365760" cy="365760"/>
          </a:xfrm>
          <a:prstGeom prst="rect">
            <a:avLst/>
          </a:prstGeom>
        </p:spPr>
      </p:pic>
      <p:sp>
        <p:nvSpPr>
          <p:cNvPr id="25" name="Slide Number Placeholder 0"/>
          <p:cNvSpPr>
            <a:spLocks noGrp="1"/>
          </p:cNvSpPr>
          <p:nvPr>
            <p:ph type="sldNum" sz="quarter" idx="4294967295"/>
          </p:nvPr>
        </p:nvSpPr>
        <p:spPr>
          <a:xfrm>
            <a:off x="10698480" y="6464808"/>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CFE3D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body" hasCustomPrompt="1"/>
          </p:nvPr>
        </p:nvSpPr>
        <p:spPr>
          <a:xfrm>
            <a:off x="548640" y="274320"/>
            <a:ext cx="9966960" cy="256032"/>
          </a:xfrm>
          <a:prstGeom prst="rect">
            <a:avLst/>
          </a:prstGeom>
          <a:noFill/>
          <a:ln/>
        </p:spPr>
        <p:txBody>
          <a:bodyPr wrap="square" lIns="0" tIns="0" rIns="0" bIns="0" rtlCol="0" anchor="ctr"/>
          <a:lstStyle/>
          <a:p>
            <a:pPr algn="l" indent="0" marL="0">
              <a:buNone/>
            </a:pPr>
            <a:r>
              <a:rPr lang="en-US" sz="1100" b="1" spc="100" kern="0" dirty="0">
                <a:solidFill>
                  <a:schemeClr val="accent2"/>
                </a:solidFill>
              </a:rPr>
              <a:t>01  •  PACKET TRACER BASICS</a:t>
            </a:r>
            <a:endParaRPr lang="en-US" sz="1100" dirty="0"/>
          </a:p>
        </p:txBody>
      </p:sp>
      <p:sp>
        <p:nvSpPr>
          <p:cNvPr id="3" name="Text 1"/>
          <p:cNvSpPr/>
          <p:nvPr>
            <p:ph idx="103" type="title" hasCustomPrompt="1"/>
          </p:nvPr>
        </p:nvSpPr>
        <p:spPr>
          <a:xfrm>
            <a:off x="548640" y="548640"/>
            <a:ext cx="10149840" cy="548640"/>
          </a:xfrm>
          <a:prstGeom prst="rect">
            <a:avLst/>
          </a:prstGeom>
          <a:noFill/>
          <a:ln/>
        </p:spPr>
        <p:txBody>
          <a:bodyPr wrap="square" lIns="0" tIns="0" rIns="0" bIns="0" rtlCol="0" anchor="ctr"/>
          <a:lstStyle/>
          <a:p>
            <a:pPr algn="l" indent="0" marL="0">
              <a:buNone/>
            </a:pPr>
            <a:r>
              <a:rPr lang="en-US" sz="2600" b="1" dirty="0">
                <a:solidFill>
                  <a:schemeClr val="accent1"/>
                </a:solidFill>
              </a:rPr>
              <a:t>How to find your way around the Packet Tracer workspace</a:t>
            </a:r>
            <a:endParaRPr lang="en-US" sz="2600" dirty="0"/>
          </a:p>
        </p:txBody>
      </p:sp>
      <p:pic>
        <p:nvPicPr>
          <p:cNvPr id="4" name="Home button" descr="Home: back to the workbook menu">
            <a:hlinkClick r:id="rId2" tooltip="Back to the workbook menu" action="ppaction://hlinksldjump"/>
          </p:cNvPr>
          <p:cNvPicPr>
            <a:picLocks noChangeAspect="1"/>
          </p:cNvPicPr>
          <p:nvPr/>
        </p:nvPicPr>
        <p:blipFill>
          <a:blip r:embed="rId1"/>
          <a:stretch>
            <a:fillRect/>
          </a:stretch>
        </p:blipFill>
        <p:spPr>
          <a:xfrm>
            <a:off x="11365992" y="6336792"/>
            <a:ext cx="365760" cy="365760"/>
          </a:xfrm>
          <a:prstGeom prst="rect">
            <a:avLst/>
          </a:prstGeom>
        </p:spPr>
      </p:pic>
      <p:sp>
        <p:nvSpPr>
          <p:cNvPr id="5" name="Goal"/>
          <p:cNvSpPr txBox="1"/>
          <p:nvPr/>
        </p:nvSpPr>
        <p:spPr>
          <a:xfrm>
            <a:off x="548640" y="1161288"/>
            <a:ext cx="11094415" cy="384048"/>
          </a:xfrm>
          <a:prstGeom prst="rect">
            <a:avLst/>
          </a:prstGeom>
          <a:noFill/>
          <a:ln/>
        </p:spPr>
        <p:txBody>
          <a:bodyPr wrap="square" lIns="0" tIns="0" rIns="0" bIns="0" rtlCol="0" anchor="ctr"/>
          <a:lstStyle/>
          <a:p>
            <a:pPr indent="0" marL="0">
              <a:buNone/>
            </a:pPr>
            <a:r>
              <a:rPr lang="en-US" sz="1400" b="1" dirty="0">
                <a:solidFill>
                  <a:srgbClr val="2B7043"/>
                </a:solidFill>
              </a:rPr>
              <a:t>Goal:  </a:t>
            </a:r>
            <a:r>
              <a:rPr lang="en-US" sz="1400" dirty="0">
                <a:solidFill>
                  <a:srgbClr val="2B2B2B"/>
                </a:solidFill>
              </a:rPr>
              <a:t>Know where everything is before you build: six areas you will use in every lab.</a:t>
            </a:r>
            <a:endParaRPr lang="en-US" sz="1400" dirty="0"/>
          </a:p>
        </p:txBody>
      </p:sp>
      <p:sp>
        <p:nvSpPr>
          <p:cNvPr id="6" name="Shape 3"/>
          <p:cNvSpPr/>
          <p:nvPr/>
        </p:nvSpPr>
        <p:spPr>
          <a:xfrm>
            <a:off x="548640" y="1691640"/>
            <a:ext cx="6903720" cy="4315968"/>
          </a:xfrm>
          <a:prstGeom prst="roundRect">
            <a:avLst>
              <a:gd name="adj" fmla="val 1059"/>
            </a:avLst>
          </a:prstGeom>
          <a:solidFill>
            <a:srgbClr val="F7F9F8"/>
          </a:solidFill>
          <a:ln w="12700">
            <a:solidFill>
              <a:srgbClr val="9AA5A0"/>
            </a:solidFill>
            <a:prstDash val="solid"/>
          </a:ln>
        </p:spPr>
      </p:sp>
      <p:sp>
        <p:nvSpPr>
          <p:cNvPr id="7" name="Shape 4"/>
          <p:cNvSpPr/>
          <p:nvPr/>
        </p:nvSpPr>
        <p:spPr>
          <a:xfrm>
            <a:off x="548640" y="1691640"/>
            <a:ext cx="6903720" cy="292608"/>
          </a:xfrm>
          <a:prstGeom prst="rect">
            <a:avLst/>
          </a:prstGeom>
          <a:solidFill>
            <a:srgbClr val="3E4A43"/>
          </a:solidFill>
          <a:ln/>
        </p:spPr>
      </p:sp>
      <p:sp>
        <p:nvSpPr>
          <p:cNvPr id="8" name="Text 5"/>
          <p:cNvSpPr txBox="1"/>
          <p:nvPr/>
        </p:nvSpPr>
        <p:spPr>
          <a:xfrm>
            <a:off x="685800" y="1691640"/>
            <a:ext cx="5486400" cy="292608"/>
          </a:xfrm>
          <a:prstGeom prst="rect">
            <a:avLst/>
          </a:prstGeom>
          <a:noFill/>
          <a:ln/>
        </p:spPr>
        <p:txBody>
          <a:bodyPr wrap="square" lIns="0" tIns="0" rIns="0" bIns="0" rtlCol="0" anchor="ctr"/>
          <a:lstStyle/>
          <a:p>
            <a:pPr indent="0" marL="0">
              <a:buNone/>
            </a:pPr>
            <a:r>
              <a:rPr lang="en-US" sz="1000" dirty="0">
                <a:solidFill>
                  <a:srgbClr val="FFFFFF"/>
                </a:solidFill>
              </a:rPr>
              <a:t>Cisco Packet Tracer — Lab2_VLANs_YourName.pkt</a:t>
            </a:r>
            <a:endParaRPr lang="en-US" sz="1000" dirty="0"/>
          </a:p>
        </p:txBody>
      </p:sp>
      <p:sp>
        <p:nvSpPr>
          <p:cNvPr id="9" name="Shape 6"/>
          <p:cNvSpPr/>
          <p:nvPr/>
        </p:nvSpPr>
        <p:spPr>
          <a:xfrm>
            <a:off x="548640" y="1984248"/>
            <a:ext cx="6903720" cy="256032"/>
          </a:xfrm>
          <a:prstGeom prst="rect">
            <a:avLst/>
          </a:prstGeom>
          <a:solidFill>
            <a:srgbClr val="E4EAE6"/>
          </a:solidFill>
          <a:ln/>
        </p:spPr>
      </p:sp>
      <p:sp>
        <p:nvSpPr>
          <p:cNvPr id="10" name="Text 7"/>
          <p:cNvSpPr txBox="1"/>
          <p:nvPr/>
        </p:nvSpPr>
        <p:spPr>
          <a:xfrm>
            <a:off x="685800" y="1984248"/>
            <a:ext cx="6035040" cy="256032"/>
          </a:xfrm>
          <a:prstGeom prst="rect">
            <a:avLst/>
          </a:prstGeom>
          <a:noFill/>
          <a:ln/>
        </p:spPr>
        <p:txBody>
          <a:bodyPr wrap="square" lIns="0" tIns="0" rIns="0" bIns="0" rtlCol="0" anchor="ctr"/>
          <a:lstStyle/>
          <a:p>
            <a:pPr indent="0" marL="0">
              <a:buNone/>
            </a:pPr>
            <a:r>
              <a:rPr lang="en-US" sz="1000" dirty="0">
                <a:solidFill>
                  <a:srgbClr val="2B2B2B"/>
                </a:solidFill>
              </a:rPr>
              <a:t>File    Edit    Options    View    Tools    Extensions    Window    Help</a:t>
            </a:r>
            <a:endParaRPr lang="en-US" sz="1000" dirty="0"/>
          </a:p>
        </p:txBody>
      </p:sp>
      <p:sp>
        <p:nvSpPr>
          <p:cNvPr id="11" name="Shape 8"/>
          <p:cNvSpPr/>
          <p:nvPr/>
        </p:nvSpPr>
        <p:spPr>
          <a:xfrm>
            <a:off x="548640" y="2240280"/>
            <a:ext cx="6903720" cy="310896"/>
          </a:xfrm>
          <a:prstGeom prst="rect">
            <a:avLst/>
          </a:prstGeom>
          <a:solidFill>
            <a:srgbClr val="EEF2EF"/>
          </a:solidFill>
          <a:ln/>
        </p:spPr>
      </p:sp>
      <p:sp>
        <p:nvSpPr>
          <p:cNvPr id="12" name="Shape 9"/>
          <p:cNvSpPr/>
          <p:nvPr/>
        </p:nvSpPr>
        <p:spPr>
          <a:xfrm>
            <a:off x="685800" y="2295144"/>
            <a:ext cx="201168" cy="201168"/>
          </a:xfrm>
          <a:prstGeom prst="roundRect">
            <a:avLst>
              <a:gd name="adj" fmla="val 13636"/>
            </a:avLst>
          </a:prstGeom>
          <a:solidFill>
            <a:srgbClr val="C6D1CA"/>
          </a:solidFill>
          <a:ln/>
        </p:spPr>
      </p:sp>
      <p:sp>
        <p:nvSpPr>
          <p:cNvPr id="13" name="Shape 10"/>
          <p:cNvSpPr/>
          <p:nvPr/>
        </p:nvSpPr>
        <p:spPr>
          <a:xfrm>
            <a:off x="960120" y="2295144"/>
            <a:ext cx="201168" cy="201168"/>
          </a:xfrm>
          <a:prstGeom prst="roundRect">
            <a:avLst>
              <a:gd name="adj" fmla="val 13636"/>
            </a:avLst>
          </a:prstGeom>
          <a:solidFill>
            <a:srgbClr val="C6D1CA"/>
          </a:solidFill>
          <a:ln/>
        </p:spPr>
      </p:sp>
      <p:sp>
        <p:nvSpPr>
          <p:cNvPr id="14" name="Shape 11"/>
          <p:cNvSpPr/>
          <p:nvPr/>
        </p:nvSpPr>
        <p:spPr>
          <a:xfrm>
            <a:off x="1234440" y="2295144"/>
            <a:ext cx="201168" cy="201168"/>
          </a:xfrm>
          <a:prstGeom prst="roundRect">
            <a:avLst>
              <a:gd name="adj" fmla="val 13636"/>
            </a:avLst>
          </a:prstGeom>
          <a:solidFill>
            <a:srgbClr val="C6D1CA"/>
          </a:solidFill>
          <a:ln/>
        </p:spPr>
      </p:sp>
      <p:sp>
        <p:nvSpPr>
          <p:cNvPr id="15" name="Shape 12"/>
          <p:cNvSpPr/>
          <p:nvPr/>
        </p:nvSpPr>
        <p:spPr>
          <a:xfrm>
            <a:off x="1508760" y="2295144"/>
            <a:ext cx="201168" cy="201168"/>
          </a:xfrm>
          <a:prstGeom prst="roundRect">
            <a:avLst>
              <a:gd name="adj" fmla="val 13636"/>
            </a:avLst>
          </a:prstGeom>
          <a:solidFill>
            <a:srgbClr val="C6D1CA"/>
          </a:solidFill>
          <a:ln/>
        </p:spPr>
      </p:sp>
      <p:sp>
        <p:nvSpPr>
          <p:cNvPr id="16" name="Shape 13"/>
          <p:cNvSpPr/>
          <p:nvPr/>
        </p:nvSpPr>
        <p:spPr>
          <a:xfrm>
            <a:off x="1783080" y="2295144"/>
            <a:ext cx="201168" cy="201168"/>
          </a:xfrm>
          <a:prstGeom prst="roundRect">
            <a:avLst>
              <a:gd name="adj" fmla="val 13636"/>
            </a:avLst>
          </a:prstGeom>
          <a:solidFill>
            <a:srgbClr val="C6D1CA"/>
          </a:solidFill>
          <a:ln/>
        </p:spPr>
      </p:sp>
      <p:sp>
        <p:nvSpPr>
          <p:cNvPr id="17" name="Shape 14"/>
          <p:cNvSpPr/>
          <p:nvPr/>
        </p:nvSpPr>
        <p:spPr>
          <a:xfrm>
            <a:off x="2057400" y="2295144"/>
            <a:ext cx="201168" cy="201168"/>
          </a:xfrm>
          <a:prstGeom prst="roundRect">
            <a:avLst>
              <a:gd name="adj" fmla="val 13636"/>
            </a:avLst>
          </a:prstGeom>
          <a:solidFill>
            <a:srgbClr val="C6D1CA"/>
          </a:solidFill>
          <a:ln/>
        </p:spPr>
      </p:sp>
      <p:sp>
        <p:nvSpPr>
          <p:cNvPr id="18" name="Shape 15"/>
          <p:cNvSpPr/>
          <p:nvPr/>
        </p:nvSpPr>
        <p:spPr>
          <a:xfrm>
            <a:off x="2331720" y="2295144"/>
            <a:ext cx="201168" cy="201168"/>
          </a:xfrm>
          <a:prstGeom prst="roundRect">
            <a:avLst>
              <a:gd name="adj" fmla="val 13636"/>
            </a:avLst>
          </a:prstGeom>
          <a:solidFill>
            <a:srgbClr val="C6D1CA"/>
          </a:solidFill>
          <a:ln/>
        </p:spPr>
      </p:sp>
      <p:sp>
        <p:nvSpPr>
          <p:cNvPr id="19" name="Shape 16"/>
          <p:cNvSpPr/>
          <p:nvPr/>
        </p:nvSpPr>
        <p:spPr>
          <a:xfrm>
            <a:off x="2606040" y="2295144"/>
            <a:ext cx="201168" cy="201168"/>
          </a:xfrm>
          <a:prstGeom prst="roundRect">
            <a:avLst>
              <a:gd name="adj" fmla="val 13636"/>
            </a:avLst>
          </a:prstGeom>
          <a:solidFill>
            <a:srgbClr val="C6D1CA"/>
          </a:solidFill>
          <a:ln/>
        </p:spPr>
      </p:sp>
      <p:sp>
        <p:nvSpPr>
          <p:cNvPr id="20" name="Shape 17"/>
          <p:cNvSpPr/>
          <p:nvPr/>
        </p:nvSpPr>
        <p:spPr>
          <a:xfrm>
            <a:off x="2880360" y="2295144"/>
            <a:ext cx="201168" cy="201168"/>
          </a:xfrm>
          <a:prstGeom prst="roundRect">
            <a:avLst>
              <a:gd name="adj" fmla="val 13636"/>
            </a:avLst>
          </a:prstGeom>
          <a:solidFill>
            <a:srgbClr val="C6D1CA"/>
          </a:solidFill>
          <a:ln/>
        </p:spPr>
      </p:sp>
      <p:sp>
        <p:nvSpPr>
          <p:cNvPr id="21" name="Shape 18"/>
          <p:cNvSpPr/>
          <p:nvPr/>
        </p:nvSpPr>
        <p:spPr>
          <a:xfrm>
            <a:off x="3154680" y="2295144"/>
            <a:ext cx="201168" cy="201168"/>
          </a:xfrm>
          <a:prstGeom prst="roundRect">
            <a:avLst>
              <a:gd name="adj" fmla="val 13636"/>
            </a:avLst>
          </a:prstGeom>
          <a:solidFill>
            <a:srgbClr val="C6D1CA"/>
          </a:solidFill>
          <a:ln/>
        </p:spPr>
      </p:sp>
      <p:sp>
        <p:nvSpPr>
          <p:cNvPr id="22" name="Shape 19"/>
          <p:cNvSpPr/>
          <p:nvPr/>
        </p:nvSpPr>
        <p:spPr>
          <a:xfrm>
            <a:off x="658368" y="2606040"/>
            <a:ext cx="777240" cy="274320"/>
          </a:xfrm>
          <a:prstGeom prst="rect">
            <a:avLst/>
          </a:prstGeom>
          <a:solidFill>
            <a:srgbClr val="FFFFFF"/>
          </a:solidFill>
          <a:ln w="9525">
            <a:solidFill>
              <a:srgbClr val="9AA5A0"/>
            </a:solidFill>
            <a:prstDash val="solid"/>
          </a:ln>
        </p:spPr>
      </p:sp>
      <p:sp>
        <p:nvSpPr>
          <p:cNvPr id="23" name="Text 20"/>
          <p:cNvSpPr txBox="1"/>
          <p:nvPr/>
        </p:nvSpPr>
        <p:spPr>
          <a:xfrm>
            <a:off x="658368" y="2606040"/>
            <a:ext cx="777240" cy="274320"/>
          </a:xfrm>
          <a:prstGeom prst="rect">
            <a:avLst/>
          </a:prstGeom>
          <a:noFill/>
          <a:ln/>
        </p:spPr>
        <p:txBody>
          <a:bodyPr wrap="square" lIns="0" tIns="0" rIns="0" bIns="0" rtlCol="0" anchor="ctr"/>
          <a:lstStyle/>
          <a:p>
            <a:pPr algn="ctr" indent="0" marL="0">
              <a:buNone/>
            </a:pPr>
            <a:r>
              <a:rPr lang="en-US" sz="1000" b="1" dirty="0">
                <a:solidFill>
                  <a:srgbClr val="1E5631"/>
                </a:solidFill>
              </a:rPr>
              <a:t>Logical</a:t>
            </a:r>
            <a:endParaRPr lang="en-US" sz="1000" dirty="0"/>
          </a:p>
        </p:txBody>
      </p:sp>
      <p:sp>
        <p:nvSpPr>
          <p:cNvPr id="24" name="Shape 21"/>
          <p:cNvSpPr/>
          <p:nvPr/>
        </p:nvSpPr>
        <p:spPr>
          <a:xfrm>
            <a:off x="1435608" y="2606040"/>
            <a:ext cx="777240" cy="274320"/>
          </a:xfrm>
          <a:prstGeom prst="rect">
            <a:avLst/>
          </a:prstGeom>
          <a:solidFill>
            <a:srgbClr val="E4EAE6"/>
          </a:solidFill>
          <a:ln w="9525">
            <a:solidFill>
              <a:srgbClr val="9AA5A0"/>
            </a:solidFill>
            <a:prstDash val="solid"/>
          </a:ln>
        </p:spPr>
      </p:sp>
      <p:sp>
        <p:nvSpPr>
          <p:cNvPr id="25" name="Text 22"/>
          <p:cNvSpPr txBox="1"/>
          <p:nvPr/>
        </p:nvSpPr>
        <p:spPr>
          <a:xfrm>
            <a:off x="1435608" y="2606040"/>
            <a:ext cx="777240" cy="274320"/>
          </a:xfrm>
          <a:prstGeom prst="rect">
            <a:avLst/>
          </a:prstGeom>
          <a:noFill/>
          <a:ln/>
        </p:spPr>
        <p:txBody>
          <a:bodyPr wrap="square" lIns="0" tIns="0" rIns="0" bIns="0" rtlCol="0" anchor="ctr"/>
          <a:lstStyle/>
          <a:p>
            <a:pPr algn="ctr" indent="0" marL="0">
              <a:buNone/>
            </a:pPr>
            <a:r>
              <a:rPr lang="en-US" sz="1000" dirty="0">
                <a:solidFill>
                  <a:srgbClr val="6B6B6B"/>
                </a:solidFill>
              </a:rPr>
              <a:t>Physical</a:t>
            </a:r>
            <a:endParaRPr lang="en-US" sz="1000" dirty="0"/>
          </a:p>
        </p:txBody>
      </p:sp>
      <p:sp>
        <p:nvSpPr>
          <p:cNvPr id="26" name="Shape 23"/>
          <p:cNvSpPr/>
          <p:nvPr/>
        </p:nvSpPr>
        <p:spPr>
          <a:xfrm>
            <a:off x="4709160" y="2606040"/>
            <a:ext cx="274320" cy="274320"/>
          </a:xfrm>
          <a:prstGeom prst="roundRect">
            <a:avLst>
              <a:gd name="adj" fmla="val 13333"/>
            </a:avLst>
          </a:prstGeom>
          <a:solidFill>
            <a:srgbClr val="FFFFFF"/>
          </a:solidFill>
          <a:ln w="9525">
            <a:solidFill>
              <a:srgbClr val="C6D1CA"/>
            </a:solidFill>
            <a:prstDash val="solid"/>
          </a:ln>
        </p:spPr>
      </p:sp>
      <p:pic>
        <p:nvPicPr>
          <p:cNvPr id="27" name="Image 1" descr="MousePointer">    </p:cNvPr>
          <p:cNvPicPr>
            <a:picLocks noChangeAspect="1"/>
          </p:cNvPicPr>
          <p:nvPr/>
        </p:nvPicPr>
        <p:blipFill>
          <a:blip r:embed="rId3"/>
          <a:stretch>
            <a:fillRect/>
          </a:stretch>
        </p:blipFill>
        <p:spPr>
          <a:xfrm>
            <a:off x="4754880" y="2651760"/>
            <a:ext cx="182880" cy="182880"/>
          </a:xfrm>
          <a:prstGeom prst="rect">
            <a:avLst/>
          </a:prstGeom>
        </p:spPr>
      </p:pic>
      <p:sp>
        <p:nvSpPr>
          <p:cNvPr id="28" name="Shape 24"/>
          <p:cNvSpPr/>
          <p:nvPr/>
        </p:nvSpPr>
        <p:spPr>
          <a:xfrm>
            <a:off x="5074920" y="2606040"/>
            <a:ext cx="274320" cy="274320"/>
          </a:xfrm>
          <a:prstGeom prst="roundRect">
            <a:avLst>
              <a:gd name="adj" fmla="val 13333"/>
            </a:avLst>
          </a:prstGeom>
          <a:solidFill>
            <a:srgbClr val="FFFFFF"/>
          </a:solidFill>
          <a:ln w="9525">
            <a:solidFill>
              <a:srgbClr val="C6D1CA"/>
            </a:solidFill>
            <a:prstDash val="solid"/>
          </a:ln>
        </p:spPr>
      </p:sp>
      <p:pic>
        <p:nvPicPr>
          <p:cNvPr id="29" name="Image 2" descr="Search">    </p:cNvPr>
          <p:cNvPicPr>
            <a:picLocks noChangeAspect="1"/>
          </p:cNvPicPr>
          <p:nvPr/>
        </p:nvPicPr>
        <p:blipFill>
          <a:blip r:embed="rId4"/>
          <a:stretch>
            <a:fillRect/>
          </a:stretch>
        </p:blipFill>
        <p:spPr>
          <a:xfrm>
            <a:off x="5120640" y="2651760"/>
            <a:ext cx="182880" cy="182880"/>
          </a:xfrm>
          <a:prstGeom prst="rect">
            <a:avLst/>
          </a:prstGeom>
        </p:spPr>
      </p:pic>
      <p:sp>
        <p:nvSpPr>
          <p:cNvPr id="30" name="Shape 25"/>
          <p:cNvSpPr/>
          <p:nvPr/>
        </p:nvSpPr>
        <p:spPr>
          <a:xfrm>
            <a:off x="5440680" y="2606040"/>
            <a:ext cx="274320" cy="274320"/>
          </a:xfrm>
          <a:prstGeom prst="roundRect">
            <a:avLst>
              <a:gd name="adj" fmla="val 13333"/>
            </a:avLst>
          </a:prstGeom>
          <a:solidFill>
            <a:srgbClr val="FFFFFF"/>
          </a:solidFill>
          <a:ln w="9525">
            <a:solidFill>
              <a:srgbClr val="C6D1CA"/>
            </a:solidFill>
            <a:prstDash val="solid"/>
          </a:ln>
        </p:spPr>
      </p:sp>
      <p:pic>
        <p:nvPicPr>
          <p:cNvPr id="31" name="Image 3" descr="Times">    </p:cNvPr>
          <p:cNvPicPr>
            <a:picLocks noChangeAspect="1"/>
          </p:cNvPicPr>
          <p:nvPr/>
        </p:nvPicPr>
        <p:blipFill>
          <a:blip r:embed="rId5"/>
          <a:stretch>
            <a:fillRect/>
          </a:stretch>
        </p:blipFill>
        <p:spPr>
          <a:xfrm>
            <a:off x="5486400" y="2651760"/>
            <a:ext cx="182880" cy="182880"/>
          </a:xfrm>
          <a:prstGeom prst="rect">
            <a:avLst/>
          </a:prstGeom>
        </p:spPr>
      </p:pic>
      <p:sp>
        <p:nvSpPr>
          <p:cNvPr id="32" name="Shape 26"/>
          <p:cNvSpPr/>
          <p:nvPr/>
        </p:nvSpPr>
        <p:spPr>
          <a:xfrm>
            <a:off x="5806440" y="2606040"/>
            <a:ext cx="274320" cy="274320"/>
          </a:xfrm>
          <a:prstGeom prst="roundRect">
            <a:avLst>
              <a:gd name="adj" fmla="val 13333"/>
            </a:avLst>
          </a:prstGeom>
          <a:solidFill>
            <a:srgbClr val="FFFFFF"/>
          </a:solidFill>
          <a:ln w="9525">
            <a:solidFill>
              <a:srgbClr val="C6D1CA"/>
            </a:solidFill>
            <a:prstDash val="solid"/>
          </a:ln>
        </p:spPr>
      </p:sp>
      <p:pic>
        <p:nvPicPr>
          <p:cNvPr id="33" name="Image 4" descr="StickyNote">    </p:cNvPr>
          <p:cNvPicPr>
            <a:picLocks noChangeAspect="1"/>
          </p:cNvPicPr>
          <p:nvPr/>
        </p:nvPicPr>
        <p:blipFill>
          <a:blip r:embed="rId6"/>
          <a:stretch>
            <a:fillRect/>
          </a:stretch>
        </p:blipFill>
        <p:spPr>
          <a:xfrm>
            <a:off x="5852160" y="2651760"/>
            <a:ext cx="182880" cy="182880"/>
          </a:xfrm>
          <a:prstGeom prst="rect">
            <a:avLst/>
          </a:prstGeom>
        </p:spPr>
      </p:pic>
      <p:sp>
        <p:nvSpPr>
          <p:cNvPr id="34" name="Shape 27"/>
          <p:cNvSpPr/>
          <p:nvPr/>
        </p:nvSpPr>
        <p:spPr>
          <a:xfrm>
            <a:off x="6172200" y="2606040"/>
            <a:ext cx="274320" cy="274320"/>
          </a:xfrm>
          <a:prstGeom prst="roundRect">
            <a:avLst>
              <a:gd name="adj" fmla="val 13333"/>
            </a:avLst>
          </a:prstGeom>
          <a:solidFill>
            <a:srgbClr val="FFFFFF"/>
          </a:solidFill>
          <a:ln w="9525">
            <a:solidFill>
              <a:srgbClr val="C6D1CA"/>
            </a:solidFill>
            <a:prstDash val="solid"/>
          </a:ln>
        </p:spPr>
      </p:sp>
      <p:pic>
        <p:nvPicPr>
          <p:cNvPr id="35" name="Image 5" descr="Pen">    </p:cNvPr>
          <p:cNvPicPr>
            <a:picLocks noChangeAspect="1"/>
          </p:cNvPicPr>
          <p:nvPr/>
        </p:nvPicPr>
        <p:blipFill>
          <a:blip r:embed="rId7"/>
          <a:stretch>
            <a:fillRect/>
          </a:stretch>
        </p:blipFill>
        <p:spPr>
          <a:xfrm>
            <a:off x="6217920" y="2651760"/>
            <a:ext cx="182880" cy="182880"/>
          </a:xfrm>
          <a:prstGeom prst="rect">
            <a:avLst/>
          </a:prstGeom>
        </p:spPr>
      </p:pic>
      <p:sp>
        <p:nvSpPr>
          <p:cNvPr id="36" name="Shape 28"/>
          <p:cNvSpPr/>
          <p:nvPr/>
        </p:nvSpPr>
        <p:spPr>
          <a:xfrm>
            <a:off x="6537960" y="2606040"/>
            <a:ext cx="274320" cy="274320"/>
          </a:xfrm>
          <a:prstGeom prst="roundRect">
            <a:avLst>
              <a:gd name="adj" fmla="val 13333"/>
            </a:avLst>
          </a:prstGeom>
          <a:solidFill>
            <a:srgbClr val="FFFFFF"/>
          </a:solidFill>
          <a:ln w="9525">
            <a:solidFill>
              <a:srgbClr val="C6D1CA"/>
            </a:solidFill>
            <a:prstDash val="solid"/>
          </a:ln>
        </p:spPr>
      </p:sp>
      <p:pic>
        <p:nvPicPr>
          <p:cNvPr id="37" name="Image 6" descr="Envelope">    </p:cNvPr>
          <p:cNvPicPr>
            <a:picLocks noChangeAspect="1"/>
          </p:cNvPicPr>
          <p:nvPr/>
        </p:nvPicPr>
        <p:blipFill>
          <a:blip r:embed="rId8"/>
          <a:stretch>
            <a:fillRect/>
          </a:stretch>
        </p:blipFill>
        <p:spPr>
          <a:xfrm>
            <a:off x="6583680" y="2651760"/>
            <a:ext cx="182880" cy="182880"/>
          </a:xfrm>
          <a:prstGeom prst="rect">
            <a:avLst/>
          </a:prstGeom>
        </p:spPr>
      </p:pic>
      <p:sp>
        <p:nvSpPr>
          <p:cNvPr id="38" name="Shape 29"/>
          <p:cNvSpPr/>
          <p:nvPr/>
        </p:nvSpPr>
        <p:spPr>
          <a:xfrm>
            <a:off x="658368" y="2953512"/>
            <a:ext cx="6684264" cy="1828800"/>
          </a:xfrm>
          <a:prstGeom prst="rect">
            <a:avLst/>
          </a:prstGeom>
          <a:solidFill>
            <a:srgbClr val="FFFFFF"/>
          </a:solidFill>
          <a:ln w="9525">
            <a:solidFill>
              <a:srgbClr val="D5DDD8"/>
            </a:solidFill>
            <a:prstDash val="solid"/>
          </a:ln>
        </p:spPr>
      </p:sp>
      <p:sp>
        <p:nvSpPr>
          <p:cNvPr id="39" name="Shape 30"/>
          <p:cNvSpPr/>
          <p:nvPr/>
        </p:nvSpPr>
        <p:spPr>
          <a:xfrm>
            <a:off x="4023360" y="3364992"/>
            <a:ext cx="914" cy="548640"/>
          </a:xfrm>
          <a:prstGeom prst="line">
            <a:avLst/>
          </a:prstGeom>
          <a:noFill/>
          <a:ln w="19050">
            <a:solidFill>
              <a:srgbClr val="3A3A3A"/>
            </a:solidFill>
            <a:prstDash val="solid"/>
          </a:ln>
        </p:spPr>
      </p:sp>
      <p:sp>
        <p:nvSpPr>
          <p:cNvPr id="40" name="Shape 31"/>
          <p:cNvSpPr/>
          <p:nvPr/>
        </p:nvSpPr>
        <p:spPr>
          <a:xfrm flipH="1">
            <a:off x="2834640" y="3913632"/>
            <a:ext cx="1188720" cy="502920"/>
          </a:xfrm>
          <a:prstGeom prst="line">
            <a:avLst/>
          </a:prstGeom>
          <a:noFill/>
          <a:ln w="19050">
            <a:solidFill>
              <a:srgbClr val="3A3A3A"/>
            </a:solidFill>
            <a:prstDash val="solid"/>
          </a:ln>
        </p:spPr>
      </p:sp>
      <p:sp>
        <p:nvSpPr>
          <p:cNvPr id="41" name="Shape 32"/>
          <p:cNvSpPr/>
          <p:nvPr/>
        </p:nvSpPr>
        <p:spPr>
          <a:xfrm>
            <a:off x="4023360" y="3913632"/>
            <a:ext cx="1188720" cy="502920"/>
          </a:xfrm>
          <a:prstGeom prst="line">
            <a:avLst/>
          </a:prstGeom>
          <a:noFill/>
          <a:ln w="19050">
            <a:solidFill>
              <a:srgbClr val="3A3A3A"/>
            </a:solidFill>
            <a:prstDash val="solid"/>
          </a:ln>
        </p:spPr>
      </p:sp>
      <p:pic>
        <p:nvPicPr>
          <p:cNvPr id="42" name="Image 7" descr="R1">    </p:cNvPr>
          <p:cNvPicPr>
            <a:picLocks noChangeAspect="1"/>
          </p:cNvPicPr>
          <p:nvPr/>
        </p:nvPicPr>
        <p:blipFill>
          <a:blip r:embed="rId9"/>
          <a:stretch>
            <a:fillRect/>
          </a:stretch>
        </p:blipFill>
        <p:spPr>
          <a:xfrm>
            <a:off x="3831336" y="3145536"/>
            <a:ext cx="384048" cy="384048"/>
          </a:xfrm>
          <a:prstGeom prst="rect">
            <a:avLst/>
          </a:prstGeom>
        </p:spPr>
      </p:pic>
      <p:sp>
        <p:nvSpPr>
          <p:cNvPr id="43" name="Text 33"/>
          <p:cNvSpPr txBox="1"/>
          <p:nvPr/>
        </p:nvSpPr>
        <p:spPr>
          <a:xfrm>
            <a:off x="4261104" y="3200400"/>
            <a:ext cx="548640" cy="274320"/>
          </a:xfrm>
          <a:prstGeom prst="rect">
            <a:avLst/>
          </a:prstGeom>
          <a:noFill/>
          <a:ln/>
        </p:spPr>
        <p:txBody>
          <a:bodyPr wrap="square" lIns="0" tIns="0" rIns="0" bIns="0" rtlCol="0" anchor="t"/>
          <a:lstStyle/>
          <a:p>
            <a:pPr algn="l" indent="0" marL="0">
              <a:buNone/>
            </a:pPr>
            <a:r>
              <a:rPr lang="en-US" sz="1000" b="1" dirty="0">
                <a:solidFill>
                  <a:srgbClr val="2B2B2B"/>
                </a:solidFill>
              </a:rPr>
              <a:t>R1</a:t>
            </a:r>
            <a:endParaRPr lang="en-US" sz="1000" dirty="0"/>
          </a:p>
        </p:txBody>
      </p:sp>
      <p:pic>
        <p:nvPicPr>
          <p:cNvPr id="44" name="Image 8" descr="S1">    </p:cNvPr>
          <p:cNvPicPr>
            <a:picLocks noChangeAspect="1"/>
          </p:cNvPicPr>
          <p:nvPr/>
        </p:nvPicPr>
        <p:blipFill>
          <a:blip r:embed="rId10"/>
          <a:stretch>
            <a:fillRect/>
          </a:stretch>
        </p:blipFill>
        <p:spPr>
          <a:xfrm>
            <a:off x="3813048" y="3703320"/>
            <a:ext cx="420624" cy="420624"/>
          </a:xfrm>
          <a:prstGeom prst="rect">
            <a:avLst/>
          </a:prstGeom>
        </p:spPr>
      </p:pic>
      <p:sp>
        <p:nvSpPr>
          <p:cNvPr id="45" name="Text 34"/>
          <p:cNvSpPr txBox="1"/>
          <p:nvPr/>
        </p:nvSpPr>
        <p:spPr>
          <a:xfrm>
            <a:off x="4279392" y="3776472"/>
            <a:ext cx="548640" cy="274320"/>
          </a:xfrm>
          <a:prstGeom prst="rect">
            <a:avLst/>
          </a:prstGeom>
          <a:noFill/>
          <a:ln/>
        </p:spPr>
        <p:txBody>
          <a:bodyPr wrap="square" lIns="0" tIns="0" rIns="0" bIns="0" rtlCol="0" anchor="t"/>
          <a:lstStyle/>
          <a:p>
            <a:pPr algn="l" indent="0" marL="0">
              <a:buNone/>
            </a:pPr>
            <a:r>
              <a:rPr lang="en-US" sz="1000" b="1" dirty="0">
                <a:solidFill>
                  <a:srgbClr val="2B2B2B"/>
                </a:solidFill>
              </a:rPr>
              <a:t>S1</a:t>
            </a:r>
            <a:endParaRPr lang="en-US" sz="1000" dirty="0"/>
          </a:p>
        </p:txBody>
      </p:sp>
      <p:pic>
        <p:nvPicPr>
          <p:cNvPr id="46" name="Image 9" descr="PC-A">    </p:cNvPr>
          <p:cNvPicPr>
            <a:picLocks noChangeAspect="1"/>
          </p:cNvPicPr>
          <p:nvPr/>
        </p:nvPicPr>
        <p:blipFill>
          <a:blip r:embed="rId11"/>
          <a:stretch>
            <a:fillRect/>
          </a:stretch>
        </p:blipFill>
        <p:spPr>
          <a:xfrm>
            <a:off x="2660904" y="4242816"/>
            <a:ext cx="347472" cy="347472"/>
          </a:xfrm>
          <a:prstGeom prst="rect">
            <a:avLst/>
          </a:prstGeom>
        </p:spPr>
      </p:pic>
      <p:sp>
        <p:nvSpPr>
          <p:cNvPr id="47" name="Text 35"/>
          <p:cNvSpPr txBox="1"/>
          <p:nvPr/>
        </p:nvSpPr>
        <p:spPr>
          <a:xfrm>
            <a:off x="1975104" y="4279392"/>
            <a:ext cx="640080" cy="274320"/>
          </a:xfrm>
          <a:prstGeom prst="rect">
            <a:avLst/>
          </a:prstGeom>
          <a:noFill/>
          <a:ln/>
        </p:spPr>
        <p:txBody>
          <a:bodyPr wrap="square" lIns="0" tIns="0" rIns="0" bIns="0" rtlCol="0" anchor="t"/>
          <a:lstStyle/>
          <a:p>
            <a:pPr algn="r" indent="0" marL="0">
              <a:buNone/>
            </a:pPr>
            <a:r>
              <a:rPr lang="en-US" sz="1000" b="1" dirty="0">
                <a:solidFill>
                  <a:srgbClr val="2B2B2B"/>
                </a:solidFill>
              </a:rPr>
              <a:t>PC-A</a:t>
            </a:r>
            <a:endParaRPr lang="en-US" sz="1000" dirty="0"/>
          </a:p>
        </p:txBody>
      </p:sp>
      <p:pic>
        <p:nvPicPr>
          <p:cNvPr id="48" name="Image 10" descr="PC-B">    </p:cNvPr>
          <p:cNvPicPr>
            <a:picLocks noChangeAspect="1"/>
          </p:cNvPicPr>
          <p:nvPr/>
        </p:nvPicPr>
        <p:blipFill>
          <a:blip r:embed="rId12"/>
          <a:stretch>
            <a:fillRect/>
          </a:stretch>
        </p:blipFill>
        <p:spPr>
          <a:xfrm>
            <a:off x="5038344" y="4242816"/>
            <a:ext cx="347472" cy="347472"/>
          </a:xfrm>
          <a:prstGeom prst="rect">
            <a:avLst/>
          </a:prstGeom>
        </p:spPr>
      </p:pic>
      <p:sp>
        <p:nvSpPr>
          <p:cNvPr id="49" name="Text 36"/>
          <p:cNvSpPr txBox="1"/>
          <p:nvPr/>
        </p:nvSpPr>
        <p:spPr>
          <a:xfrm>
            <a:off x="5431536" y="4279392"/>
            <a:ext cx="640080" cy="274320"/>
          </a:xfrm>
          <a:prstGeom prst="rect">
            <a:avLst/>
          </a:prstGeom>
          <a:noFill/>
          <a:ln/>
        </p:spPr>
        <p:txBody>
          <a:bodyPr wrap="square" lIns="0" tIns="0" rIns="0" bIns="0" rtlCol="0" anchor="t"/>
          <a:lstStyle/>
          <a:p>
            <a:pPr algn="l" indent="0" marL="0">
              <a:buNone/>
            </a:pPr>
            <a:r>
              <a:rPr lang="en-US" sz="1000" b="1" dirty="0">
                <a:solidFill>
                  <a:srgbClr val="2B2B2B"/>
                </a:solidFill>
              </a:rPr>
              <a:t>PC-B</a:t>
            </a:r>
            <a:endParaRPr lang="en-US" sz="1000" dirty="0"/>
          </a:p>
        </p:txBody>
      </p:sp>
      <p:sp>
        <p:nvSpPr>
          <p:cNvPr id="50" name="Shape 37"/>
          <p:cNvSpPr/>
          <p:nvPr/>
        </p:nvSpPr>
        <p:spPr>
          <a:xfrm>
            <a:off x="658368" y="4873752"/>
            <a:ext cx="2514600" cy="987552"/>
          </a:xfrm>
          <a:prstGeom prst="rect">
            <a:avLst/>
          </a:prstGeom>
          <a:solidFill>
            <a:srgbClr val="EEF2EF"/>
          </a:solidFill>
          <a:ln w="9525">
            <a:solidFill>
              <a:srgbClr val="C6D1CA"/>
            </a:solidFill>
            <a:prstDash val="solid"/>
          </a:ln>
        </p:spPr>
      </p:sp>
      <p:pic>
        <p:nvPicPr>
          <p:cNvPr id="51" name="Image 11" descr="router">    </p:cNvPr>
          <p:cNvPicPr>
            <a:picLocks noChangeAspect="1"/>
          </p:cNvPicPr>
          <p:nvPr/>
        </p:nvPicPr>
        <p:blipFill>
          <a:blip r:embed="rId13"/>
          <a:stretch>
            <a:fillRect/>
          </a:stretch>
        </p:blipFill>
        <p:spPr>
          <a:xfrm>
            <a:off x="777240" y="4983480"/>
            <a:ext cx="310896" cy="310896"/>
          </a:xfrm>
          <a:prstGeom prst="rect">
            <a:avLst/>
          </a:prstGeom>
        </p:spPr>
      </p:pic>
      <p:pic>
        <p:nvPicPr>
          <p:cNvPr id="52" name="Image 12" descr="switch">    </p:cNvPr>
          <p:cNvPicPr>
            <a:picLocks noChangeAspect="1"/>
          </p:cNvPicPr>
          <p:nvPr/>
        </p:nvPicPr>
        <p:blipFill>
          <a:blip r:embed="rId14"/>
          <a:stretch>
            <a:fillRect/>
          </a:stretch>
        </p:blipFill>
        <p:spPr>
          <a:xfrm>
            <a:off x="1234440" y="4983480"/>
            <a:ext cx="310896" cy="310896"/>
          </a:xfrm>
          <a:prstGeom prst="rect">
            <a:avLst/>
          </a:prstGeom>
        </p:spPr>
      </p:pic>
      <p:pic>
        <p:nvPicPr>
          <p:cNvPr id="53" name="Image 13" descr="pc">    </p:cNvPr>
          <p:cNvPicPr>
            <a:picLocks noChangeAspect="1"/>
          </p:cNvPicPr>
          <p:nvPr/>
        </p:nvPicPr>
        <p:blipFill>
          <a:blip r:embed="rId15"/>
          <a:stretch>
            <a:fillRect/>
          </a:stretch>
        </p:blipFill>
        <p:spPr>
          <a:xfrm>
            <a:off x="1691640" y="4983480"/>
            <a:ext cx="310896" cy="310896"/>
          </a:xfrm>
          <a:prstGeom prst="rect">
            <a:avLst/>
          </a:prstGeom>
        </p:spPr>
      </p:pic>
      <p:pic>
        <p:nvPicPr>
          <p:cNvPr id="54" name="Image 14" descr="server">    </p:cNvPr>
          <p:cNvPicPr>
            <a:picLocks noChangeAspect="1"/>
          </p:cNvPicPr>
          <p:nvPr/>
        </p:nvPicPr>
        <p:blipFill>
          <a:blip r:embed="rId16"/>
          <a:stretch>
            <a:fillRect/>
          </a:stretch>
        </p:blipFill>
        <p:spPr>
          <a:xfrm>
            <a:off x="2148840" y="4983480"/>
            <a:ext cx="310896" cy="310896"/>
          </a:xfrm>
          <a:prstGeom prst="rect">
            <a:avLst/>
          </a:prstGeom>
        </p:spPr>
      </p:pic>
      <p:pic>
        <p:nvPicPr>
          <p:cNvPr id="55" name="Image 15" descr="cloud">    </p:cNvPr>
          <p:cNvPicPr>
            <a:picLocks noChangeAspect="1"/>
          </p:cNvPicPr>
          <p:nvPr/>
        </p:nvPicPr>
        <p:blipFill>
          <a:blip r:embed="rId17"/>
          <a:stretch>
            <a:fillRect/>
          </a:stretch>
        </p:blipFill>
        <p:spPr>
          <a:xfrm>
            <a:off x="2606040" y="4983480"/>
            <a:ext cx="310896" cy="310896"/>
          </a:xfrm>
          <a:prstGeom prst="rect">
            <a:avLst/>
          </a:prstGeom>
        </p:spPr>
      </p:pic>
      <p:sp>
        <p:nvSpPr>
          <p:cNvPr id="56" name="Text 38"/>
          <p:cNvSpPr txBox="1"/>
          <p:nvPr/>
        </p:nvSpPr>
        <p:spPr>
          <a:xfrm>
            <a:off x="749808" y="5422392"/>
            <a:ext cx="2377440" cy="274320"/>
          </a:xfrm>
          <a:prstGeom prst="rect">
            <a:avLst/>
          </a:prstGeom>
          <a:noFill/>
          <a:ln/>
        </p:spPr>
        <p:txBody>
          <a:bodyPr wrap="square" lIns="0" tIns="0" rIns="0" bIns="0" rtlCol="0" anchor="ctr"/>
          <a:lstStyle/>
          <a:p>
            <a:pPr indent="0" marL="0">
              <a:buNone/>
            </a:pPr>
            <a:r>
              <a:rPr lang="en-US" sz="1000" dirty="0">
                <a:solidFill>
                  <a:srgbClr val="2B2B2B"/>
                </a:solidFill>
              </a:rPr>
              <a:t>Network Devices › Routers</a:t>
            </a:r>
            <a:endParaRPr lang="en-US" sz="1000" dirty="0"/>
          </a:p>
        </p:txBody>
      </p:sp>
      <p:sp>
        <p:nvSpPr>
          <p:cNvPr id="57" name="Shape 39"/>
          <p:cNvSpPr/>
          <p:nvPr/>
        </p:nvSpPr>
        <p:spPr>
          <a:xfrm>
            <a:off x="3264408" y="4873752"/>
            <a:ext cx="2194560" cy="987552"/>
          </a:xfrm>
          <a:prstGeom prst="rect">
            <a:avLst/>
          </a:prstGeom>
          <a:solidFill>
            <a:srgbClr val="EEF2EF"/>
          </a:solidFill>
          <a:ln w="9525">
            <a:solidFill>
              <a:srgbClr val="C6D1CA"/>
            </a:solidFill>
            <a:prstDash val="solid"/>
          </a:ln>
        </p:spPr>
      </p:sp>
      <p:pic>
        <p:nvPicPr>
          <p:cNvPr id="58" name="Image 16" descr="router 4331">    </p:cNvPr>
          <p:cNvPicPr>
            <a:picLocks noChangeAspect="1"/>
          </p:cNvPicPr>
          <p:nvPr/>
        </p:nvPicPr>
        <p:blipFill>
          <a:blip r:embed="rId18"/>
          <a:stretch>
            <a:fillRect/>
          </a:stretch>
        </p:blipFill>
        <p:spPr>
          <a:xfrm>
            <a:off x="3383280" y="4983480"/>
            <a:ext cx="292608" cy="292608"/>
          </a:xfrm>
          <a:prstGeom prst="rect">
            <a:avLst/>
          </a:prstGeom>
        </p:spPr>
      </p:pic>
      <p:sp>
        <p:nvSpPr>
          <p:cNvPr id="59" name="Text 40"/>
          <p:cNvSpPr txBox="1"/>
          <p:nvPr/>
        </p:nvSpPr>
        <p:spPr>
          <a:xfrm>
            <a:off x="3291840" y="5312664"/>
            <a:ext cx="475488" cy="228600"/>
          </a:xfrm>
          <a:prstGeom prst="rect">
            <a:avLst/>
          </a:prstGeom>
          <a:noFill/>
          <a:ln/>
        </p:spPr>
        <p:txBody>
          <a:bodyPr wrap="square" lIns="0" tIns="0" rIns="0" bIns="0" rtlCol="0" anchor="ctr"/>
          <a:lstStyle/>
          <a:p>
            <a:pPr algn="ctr" indent="0" marL="0">
              <a:buNone/>
            </a:pPr>
            <a:r>
              <a:rPr lang="en-US" sz="900" dirty="0">
                <a:solidFill>
                  <a:srgbClr val="2B2B2B"/>
                </a:solidFill>
              </a:rPr>
              <a:t>4331</a:t>
            </a:r>
            <a:endParaRPr lang="en-US" sz="900" dirty="0"/>
          </a:p>
        </p:txBody>
      </p:sp>
      <p:pic>
        <p:nvPicPr>
          <p:cNvPr id="60" name="Image 17" descr="router 4321">    </p:cNvPr>
          <p:cNvPicPr>
            <a:picLocks noChangeAspect="1"/>
          </p:cNvPicPr>
          <p:nvPr/>
        </p:nvPicPr>
        <p:blipFill>
          <a:blip r:embed="rId19"/>
          <a:stretch>
            <a:fillRect/>
          </a:stretch>
        </p:blipFill>
        <p:spPr>
          <a:xfrm>
            <a:off x="3895344" y="4983480"/>
            <a:ext cx="292608" cy="292608"/>
          </a:xfrm>
          <a:prstGeom prst="rect">
            <a:avLst/>
          </a:prstGeom>
        </p:spPr>
      </p:pic>
      <p:sp>
        <p:nvSpPr>
          <p:cNvPr id="61" name="Text 41"/>
          <p:cNvSpPr txBox="1"/>
          <p:nvPr/>
        </p:nvSpPr>
        <p:spPr>
          <a:xfrm>
            <a:off x="3803904" y="5312664"/>
            <a:ext cx="475488" cy="228600"/>
          </a:xfrm>
          <a:prstGeom prst="rect">
            <a:avLst/>
          </a:prstGeom>
          <a:noFill/>
          <a:ln/>
        </p:spPr>
        <p:txBody>
          <a:bodyPr wrap="square" lIns="0" tIns="0" rIns="0" bIns="0" rtlCol="0" anchor="ctr"/>
          <a:lstStyle/>
          <a:p>
            <a:pPr algn="ctr" indent="0" marL="0">
              <a:buNone/>
            </a:pPr>
            <a:r>
              <a:rPr lang="en-US" sz="900" dirty="0">
                <a:solidFill>
                  <a:srgbClr val="2B2B2B"/>
                </a:solidFill>
              </a:rPr>
              <a:t>4321</a:t>
            </a:r>
            <a:endParaRPr lang="en-US" sz="900" dirty="0"/>
          </a:p>
        </p:txBody>
      </p:sp>
      <p:pic>
        <p:nvPicPr>
          <p:cNvPr id="62" name="Image 18" descr="router 2911">    </p:cNvPr>
          <p:cNvPicPr>
            <a:picLocks noChangeAspect="1"/>
          </p:cNvPicPr>
          <p:nvPr/>
        </p:nvPicPr>
        <p:blipFill>
          <a:blip r:embed="rId20"/>
          <a:stretch>
            <a:fillRect/>
          </a:stretch>
        </p:blipFill>
        <p:spPr>
          <a:xfrm>
            <a:off x="4407408" y="4983480"/>
            <a:ext cx="292608" cy="292608"/>
          </a:xfrm>
          <a:prstGeom prst="rect">
            <a:avLst/>
          </a:prstGeom>
        </p:spPr>
      </p:pic>
      <p:sp>
        <p:nvSpPr>
          <p:cNvPr id="63" name="Text 42"/>
          <p:cNvSpPr txBox="1"/>
          <p:nvPr/>
        </p:nvSpPr>
        <p:spPr>
          <a:xfrm>
            <a:off x="4315968" y="5312664"/>
            <a:ext cx="475488" cy="228600"/>
          </a:xfrm>
          <a:prstGeom prst="rect">
            <a:avLst/>
          </a:prstGeom>
          <a:noFill/>
          <a:ln/>
        </p:spPr>
        <p:txBody>
          <a:bodyPr wrap="square" lIns="0" tIns="0" rIns="0" bIns="0" rtlCol="0" anchor="ctr"/>
          <a:lstStyle/>
          <a:p>
            <a:pPr algn="ctr" indent="0" marL="0">
              <a:buNone/>
            </a:pPr>
            <a:r>
              <a:rPr lang="en-US" sz="900" dirty="0">
                <a:solidFill>
                  <a:srgbClr val="2B2B2B"/>
                </a:solidFill>
              </a:rPr>
              <a:t>2911</a:t>
            </a:r>
            <a:endParaRPr lang="en-US" sz="900" dirty="0"/>
          </a:p>
        </p:txBody>
      </p:sp>
      <p:pic>
        <p:nvPicPr>
          <p:cNvPr id="64" name="Image 19" descr="router 1941">    </p:cNvPr>
          <p:cNvPicPr>
            <a:picLocks noChangeAspect="1"/>
          </p:cNvPicPr>
          <p:nvPr/>
        </p:nvPicPr>
        <p:blipFill>
          <a:blip r:embed="rId21"/>
          <a:stretch>
            <a:fillRect/>
          </a:stretch>
        </p:blipFill>
        <p:spPr>
          <a:xfrm>
            <a:off x="4919472" y="4983480"/>
            <a:ext cx="292608" cy="292608"/>
          </a:xfrm>
          <a:prstGeom prst="rect">
            <a:avLst/>
          </a:prstGeom>
        </p:spPr>
      </p:pic>
      <p:sp>
        <p:nvSpPr>
          <p:cNvPr id="65" name="Text 43"/>
          <p:cNvSpPr txBox="1"/>
          <p:nvPr/>
        </p:nvSpPr>
        <p:spPr>
          <a:xfrm>
            <a:off x="4828032" y="5312664"/>
            <a:ext cx="475488" cy="228600"/>
          </a:xfrm>
          <a:prstGeom prst="rect">
            <a:avLst/>
          </a:prstGeom>
          <a:noFill/>
          <a:ln/>
        </p:spPr>
        <p:txBody>
          <a:bodyPr wrap="square" lIns="0" tIns="0" rIns="0" bIns="0" rtlCol="0" anchor="ctr"/>
          <a:lstStyle/>
          <a:p>
            <a:pPr algn="ctr" indent="0" marL="0">
              <a:buNone/>
            </a:pPr>
            <a:r>
              <a:rPr lang="en-US" sz="900" dirty="0">
                <a:solidFill>
                  <a:srgbClr val="2B2B2B"/>
                </a:solidFill>
              </a:rPr>
              <a:t>1941</a:t>
            </a:r>
            <a:endParaRPr lang="en-US" sz="900" dirty="0"/>
          </a:p>
        </p:txBody>
      </p:sp>
      <p:sp>
        <p:nvSpPr>
          <p:cNvPr id="66" name="Shape 44"/>
          <p:cNvSpPr/>
          <p:nvPr/>
        </p:nvSpPr>
        <p:spPr>
          <a:xfrm>
            <a:off x="5550408" y="4873752"/>
            <a:ext cx="1792224" cy="987552"/>
          </a:xfrm>
          <a:prstGeom prst="rect">
            <a:avLst/>
          </a:prstGeom>
          <a:solidFill>
            <a:srgbClr val="EEF2EF"/>
          </a:solidFill>
          <a:ln w="9525">
            <a:solidFill>
              <a:srgbClr val="C6D1CA"/>
            </a:solidFill>
            <a:prstDash val="solid"/>
          </a:ln>
        </p:spPr>
      </p:sp>
      <p:sp>
        <p:nvSpPr>
          <p:cNvPr id="67" name="Shape 45"/>
          <p:cNvSpPr/>
          <p:nvPr/>
        </p:nvSpPr>
        <p:spPr>
          <a:xfrm>
            <a:off x="5641848" y="4983480"/>
            <a:ext cx="786384" cy="274320"/>
          </a:xfrm>
          <a:prstGeom prst="rect">
            <a:avLst/>
          </a:prstGeom>
          <a:solidFill>
            <a:srgbClr val="FFFFFF"/>
          </a:solidFill>
          <a:ln w="9525">
            <a:solidFill>
              <a:srgbClr val="9AA5A0"/>
            </a:solidFill>
            <a:prstDash val="solid"/>
          </a:ln>
        </p:spPr>
      </p:sp>
      <p:sp>
        <p:nvSpPr>
          <p:cNvPr id="68" name="Text 46"/>
          <p:cNvSpPr txBox="1"/>
          <p:nvPr/>
        </p:nvSpPr>
        <p:spPr>
          <a:xfrm>
            <a:off x="5641848" y="4983480"/>
            <a:ext cx="786384" cy="274320"/>
          </a:xfrm>
          <a:prstGeom prst="rect">
            <a:avLst/>
          </a:prstGeom>
          <a:noFill/>
          <a:ln/>
        </p:spPr>
        <p:txBody>
          <a:bodyPr wrap="square" lIns="0" tIns="0" rIns="0" bIns="0" rtlCol="0" anchor="ctr"/>
          <a:lstStyle/>
          <a:p>
            <a:pPr algn="ctr" indent="0" marL="0">
              <a:buNone/>
            </a:pPr>
            <a:r>
              <a:rPr lang="en-US" sz="900" b="1" dirty="0">
                <a:solidFill>
                  <a:srgbClr val="1E5631"/>
                </a:solidFill>
              </a:rPr>
              <a:t>Realtime</a:t>
            </a:r>
            <a:endParaRPr lang="en-US" sz="900" dirty="0"/>
          </a:p>
        </p:txBody>
      </p:sp>
      <p:sp>
        <p:nvSpPr>
          <p:cNvPr id="69" name="Shape 47"/>
          <p:cNvSpPr/>
          <p:nvPr/>
        </p:nvSpPr>
        <p:spPr>
          <a:xfrm>
            <a:off x="6446520" y="4983480"/>
            <a:ext cx="804672" cy="274320"/>
          </a:xfrm>
          <a:prstGeom prst="rect">
            <a:avLst/>
          </a:prstGeom>
          <a:solidFill>
            <a:srgbClr val="E4EAE6"/>
          </a:solidFill>
          <a:ln w="9525">
            <a:solidFill>
              <a:srgbClr val="9AA5A0"/>
            </a:solidFill>
            <a:prstDash val="solid"/>
          </a:ln>
        </p:spPr>
      </p:sp>
      <p:sp>
        <p:nvSpPr>
          <p:cNvPr id="70" name="Text 48"/>
          <p:cNvSpPr txBox="1"/>
          <p:nvPr/>
        </p:nvSpPr>
        <p:spPr>
          <a:xfrm>
            <a:off x="6446520" y="4983480"/>
            <a:ext cx="804672" cy="274320"/>
          </a:xfrm>
          <a:prstGeom prst="rect">
            <a:avLst/>
          </a:prstGeom>
          <a:noFill/>
          <a:ln/>
        </p:spPr>
        <p:txBody>
          <a:bodyPr wrap="square" lIns="0" tIns="0" rIns="0" bIns="0" rtlCol="0" anchor="ctr"/>
          <a:lstStyle/>
          <a:p>
            <a:pPr algn="ctr" indent="0" marL="0">
              <a:buNone/>
            </a:pPr>
            <a:r>
              <a:rPr lang="en-US" sz="900" dirty="0">
                <a:solidFill>
                  <a:srgbClr val="6B6B6B"/>
                </a:solidFill>
              </a:rPr>
              <a:t>Simulation</a:t>
            </a:r>
            <a:endParaRPr lang="en-US" sz="900" dirty="0"/>
          </a:p>
        </p:txBody>
      </p:sp>
      <p:sp>
        <p:nvSpPr>
          <p:cNvPr id="71" name="Text 49"/>
          <p:cNvSpPr txBox="1"/>
          <p:nvPr/>
        </p:nvSpPr>
        <p:spPr>
          <a:xfrm>
            <a:off x="5641848" y="5376672"/>
            <a:ext cx="1645920" cy="274320"/>
          </a:xfrm>
          <a:prstGeom prst="rect">
            <a:avLst/>
          </a:prstGeom>
          <a:noFill/>
          <a:ln/>
        </p:spPr>
        <p:txBody>
          <a:bodyPr wrap="square" lIns="0" tIns="0" rIns="0" bIns="0" rtlCol="0" anchor="ctr"/>
          <a:lstStyle/>
          <a:p>
            <a:pPr indent="0" marL="0">
              <a:buNone/>
            </a:pPr>
            <a:r>
              <a:rPr lang="en-US" sz="900" dirty="0">
                <a:solidFill>
                  <a:srgbClr val="2B2B2B"/>
                </a:solidFill>
              </a:rPr>
              <a:t>▶▶ Fast Forward Time</a:t>
            </a:r>
            <a:endParaRPr lang="en-US" sz="900" dirty="0"/>
          </a:p>
        </p:txBody>
      </p:sp>
      <p:sp>
        <p:nvSpPr>
          <p:cNvPr id="72" name="Shape 50"/>
          <p:cNvSpPr/>
          <p:nvPr/>
        </p:nvSpPr>
        <p:spPr>
          <a:xfrm>
            <a:off x="3474720" y="2258568"/>
            <a:ext cx="310896" cy="310896"/>
          </a:xfrm>
          <a:prstGeom prst="ellipse">
            <a:avLst/>
          </a:prstGeom>
          <a:solidFill>
            <a:srgbClr val="E8B92E"/>
          </a:solidFill>
          <a:ln/>
        </p:spPr>
      </p:sp>
      <p:sp>
        <p:nvSpPr>
          <p:cNvPr id="73" name="Text 51"/>
          <p:cNvSpPr txBox="1"/>
          <p:nvPr/>
        </p:nvSpPr>
        <p:spPr>
          <a:xfrm>
            <a:off x="3474720" y="2258568"/>
            <a:ext cx="310896" cy="310896"/>
          </a:xfrm>
          <a:prstGeom prst="rect">
            <a:avLst/>
          </a:prstGeom>
          <a:noFill/>
          <a:ln/>
        </p:spPr>
        <p:txBody>
          <a:bodyPr wrap="square" lIns="0" tIns="0" rIns="0" bIns="0" rtlCol="0" anchor="ctr"/>
          <a:lstStyle/>
          <a:p>
            <a:pPr algn="ctr" indent="0" marL="0">
              <a:buNone/>
            </a:pPr>
            <a:r>
              <a:rPr lang="en-US" sz="1300" b="1" dirty="0">
                <a:solidFill>
                  <a:srgbClr val="1B2B22"/>
                </a:solidFill>
              </a:rPr>
              <a:t>1</a:t>
            </a:r>
            <a:endParaRPr lang="en-US" sz="1300" dirty="0"/>
          </a:p>
        </p:txBody>
      </p:sp>
      <p:sp>
        <p:nvSpPr>
          <p:cNvPr id="74" name="Shape 52"/>
          <p:cNvSpPr/>
          <p:nvPr/>
        </p:nvSpPr>
        <p:spPr>
          <a:xfrm>
            <a:off x="2331720" y="2578608"/>
            <a:ext cx="310896" cy="310896"/>
          </a:xfrm>
          <a:prstGeom prst="ellipse">
            <a:avLst/>
          </a:prstGeom>
          <a:solidFill>
            <a:srgbClr val="E8B92E"/>
          </a:solidFill>
          <a:ln/>
        </p:spPr>
      </p:sp>
      <p:sp>
        <p:nvSpPr>
          <p:cNvPr id="75" name="Text 53"/>
          <p:cNvSpPr txBox="1"/>
          <p:nvPr/>
        </p:nvSpPr>
        <p:spPr>
          <a:xfrm>
            <a:off x="2331720" y="2578608"/>
            <a:ext cx="310896" cy="310896"/>
          </a:xfrm>
          <a:prstGeom prst="rect">
            <a:avLst/>
          </a:prstGeom>
          <a:noFill/>
          <a:ln/>
        </p:spPr>
        <p:txBody>
          <a:bodyPr wrap="square" lIns="0" tIns="0" rIns="0" bIns="0" rtlCol="0" anchor="ctr"/>
          <a:lstStyle/>
          <a:p>
            <a:pPr algn="ctr" indent="0" marL="0">
              <a:buNone/>
            </a:pPr>
            <a:r>
              <a:rPr lang="en-US" sz="1300" b="1" dirty="0">
                <a:solidFill>
                  <a:srgbClr val="1B2B22"/>
                </a:solidFill>
              </a:rPr>
              <a:t>2</a:t>
            </a:r>
            <a:endParaRPr lang="en-US" sz="1300" dirty="0"/>
          </a:p>
        </p:txBody>
      </p:sp>
      <p:sp>
        <p:nvSpPr>
          <p:cNvPr id="76" name="Shape 54"/>
          <p:cNvSpPr/>
          <p:nvPr/>
        </p:nvSpPr>
        <p:spPr>
          <a:xfrm>
            <a:off x="777240" y="3044952"/>
            <a:ext cx="310896" cy="310896"/>
          </a:xfrm>
          <a:prstGeom prst="ellipse">
            <a:avLst/>
          </a:prstGeom>
          <a:solidFill>
            <a:srgbClr val="E8B92E"/>
          </a:solidFill>
          <a:ln/>
        </p:spPr>
      </p:sp>
      <p:sp>
        <p:nvSpPr>
          <p:cNvPr id="77" name="Text 55"/>
          <p:cNvSpPr txBox="1"/>
          <p:nvPr/>
        </p:nvSpPr>
        <p:spPr>
          <a:xfrm>
            <a:off x="777240" y="3044952"/>
            <a:ext cx="310896" cy="310896"/>
          </a:xfrm>
          <a:prstGeom prst="rect">
            <a:avLst/>
          </a:prstGeom>
          <a:noFill/>
          <a:ln/>
        </p:spPr>
        <p:txBody>
          <a:bodyPr wrap="square" lIns="0" tIns="0" rIns="0" bIns="0" rtlCol="0" anchor="ctr"/>
          <a:lstStyle/>
          <a:p>
            <a:pPr algn="ctr" indent="0" marL="0">
              <a:buNone/>
            </a:pPr>
            <a:r>
              <a:rPr lang="en-US" sz="1300" b="1" dirty="0">
                <a:solidFill>
                  <a:srgbClr val="1B2B22"/>
                </a:solidFill>
              </a:rPr>
              <a:t>3</a:t>
            </a:r>
            <a:endParaRPr lang="en-US" sz="1300" dirty="0"/>
          </a:p>
        </p:txBody>
      </p:sp>
      <p:sp>
        <p:nvSpPr>
          <p:cNvPr id="78" name="Shape 56"/>
          <p:cNvSpPr/>
          <p:nvPr/>
        </p:nvSpPr>
        <p:spPr>
          <a:xfrm>
            <a:off x="4297680" y="2578608"/>
            <a:ext cx="310896" cy="310896"/>
          </a:xfrm>
          <a:prstGeom prst="ellipse">
            <a:avLst/>
          </a:prstGeom>
          <a:solidFill>
            <a:srgbClr val="E8B92E"/>
          </a:solidFill>
          <a:ln/>
        </p:spPr>
      </p:sp>
      <p:sp>
        <p:nvSpPr>
          <p:cNvPr id="79" name="Text 57"/>
          <p:cNvSpPr txBox="1"/>
          <p:nvPr/>
        </p:nvSpPr>
        <p:spPr>
          <a:xfrm>
            <a:off x="4297680" y="2578608"/>
            <a:ext cx="310896" cy="310896"/>
          </a:xfrm>
          <a:prstGeom prst="rect">
            <a:avLst/>
          </a:prstGeom>
          <a:noFill/>
          <a:ln/>
        </p:spPr>
        <p:txBody>
          <a:bodyPr wrap="square" lIns="0" tIns="0" rIns="0" bIns="0" rtlCol="0" anchor="ctr"/>
          <a:lstStyle/>
          <a:p>
            <a:pPr algn="ctr" indent="0" marL="0">
              <a:buNone/>
            </a:pPr>
            <a:r>
              <a:rPr lang="en-US" sz="1300" b="1" dirty="0">
                <a:solidFill>
                  <a:srgbClr val="1B2B22"/>
                </a:solidFill>
              </a:rPr>
              <a:t>4</a:t>
            </a:r>
            <a:endParaRPr lang="en-US" sz="1300" dirty="0"/>
          </a:p>
        </p:txBody>
      </p:sp>
      <p:sp>
        <p:nvSpPr>
          <p:cNvPr id="80" name="Shape 58"/>
          <p:cNvSpPr/>
          <p:nvPr/>
        </p:nvSpPr>
        <p:spPr>
          <a:xfrm>
            <a:off x="2834640" y="4709160"/>
            <a:ext cx="310896" cy="310896"/>
          </a:xfrm>
          <a:prstGeom prst="ellipse">
            <a:avLst/>
          </a:prstGeom>
          <a:solidFill>
            <a:srgbClr val="E8B92E"/>
          </a:solidFill>
          <a:ln/>
        </p:spPr>
      </p:sp>
      <p:sp>
        <p:nvSpPr>
          <p:cNvPr id="81" name="Text 59"/>
          <p:cNvSpPr txBox="1"/>
          <p:nvPr/>
        </p:nvSpPr>
        <p:spPr>
          <a:xfrm>
            <a:off x="2834640" y="4709160"/>
            <a:ext cx="310896" cy="310896"/>
          </a:xfrm>
          <a:prstGeom prst="rect">
            <a:avLst/>
          </a:prstGeom>
          <a:noFill/>
          <a:ln/>
        </p:spPr>
        <p:txBody>
          <a:bodyPr wrap="square" lIns="0" tIns="0" rIns="0" bIns="0" rtlCol="0" anchor="ctr"/>
          <a:lstStyle/>
          <a:p>
            <a:pPr algn="ctr" indent="0" marL="0">
              <a:buNone/>
            </a:pPr>
            <a:r>
              <a:rPr lang="en-US" sz="1300" b="1" dirty="0">
                <a:solidFill>
                  <a:srgbClr val="1B2B22"/>
                </a:solidFill>
              </a:rPr>
              <a:t>5</a:t>
            </a:r>
            <a:endParaRPr lang="en-US" sz="1300" dirty="0"/>
          </a:p>
        </p:txBody>
      </p:sp>
      <p:sp>
        <p:nvSpPr>
          <p:cNvPr id="82" name="Shape 60"/>
          <p:cNvSpPr/>
          <p:nvPr/>
        </p:nvSpPr>
        <p:spPr>
          <a:xfrm>
            <a:off x="7040880" y="4709160"/>
            <a:ext cx="310896" cy="310896"/>
          </a:xfrm>
          <a:prstGeom prst="ellipse">
            <a:avLst/>
          </a:prstGeom>
          <a:solidFill>
            <a:srgbClr val="E8B92E"/>
          </a:solidFill>
          <a:ln/>
        </p:spPr>
      </p:sp>
      <p:sp>
        <p:nvSpPr>
          <p:cNvPr id="83" name="Text 61"/>
          <p:cNvSpPr txBox="1"/>
          <p:nvPr/>
        </p:nvSpPr>
        <p:spPr>
          <a:xfrm>
            <a:off x="7040880" y="4709160"/>
            <a:ext cx="310896" cy="310896"/>
          </a:xfrm>
          <a:prstGeom prst="rect">
            <a:avLst/>
          </a:prstGeom>
          <a:noFill/>
          <a:ln/>
        </p:spPr>
        <p:txBody>
          <a:bodyPr wrap="square" lIns="0" tIns="0" rIns="0" bIns="0" rtlCol="0" anchor="ctr"/>
          <a:lstStyle/>
          <a:p>
            <a:pPr algn="ctr" indent="0" marL="0">
              <a:buNone/>
            </a:pPr>
            <a:r>
              <a:rPr lang="en-US" sz="1300" b="1" dirty="0">
                <a:solidFill>
                  <a:srgbClr val="1B2B22"/>
                </a:solidFill>
              </a:rPr>
              <a:t>6</a:t>
            </a:r>
            <a:endParaRPr lang="en-US" sz="1300" dirty="0"/>
          </a:p>
        </p:txBody>
      </p:sp>
      <p:sp>
        <p:nvSpPr>
          <p:cNvPr id="84" name="Shape 62"/>
          <p:cNvSpPr/>
          <p:nvPr/>
        </p:nvSpPr>
        <p:spPr>
          <a:xfrm>
            <a:off x="7726680" y="1709928"/>
            <a:ext cx="329184" cy="329184"/>
          </a:xfrm>
          <a:prstGeom prst="ellipse">
            <a:avLst/>
          </a:prstGeom>
          <a:solidFill>
            <a:srgbClr val="E8B92E"/>
          </a:solidFill>
          <a:ln/>
        </p:spPr>
      </p:sp>
      <p:sp>
        <p:nvSpPr>
          <p:cNvPr id="85" name="Text 63"/>
          <p:cNvSpPr txBox="1"/>
          <p:nvPr/>
        </p:nvSpPr>
        <p:spPr>
          <a:xfrm>
            <a:off x="7726680" y="1709928"/>
            <a:ext cx="329184" cy="329184"/>
          </a:xfrm>
          <a:prstGeom prst="rect">
            <a:avLst/>
          </a:prstGeom>
          <a:noFill/>
          <a:ln/>
        </p:spPr>
        <p:txBody>
          <a:bodyPr wrap="square" lIns="0" tIns="0" rIns="0" bIns="0" rtlCol="0" anchor="ctr"/>
          <a:lstStyle/>
          <a:p>
            <a:pPr algn="ctr" indent="0" marL="0">
              <a:buNone/>
            </a:pPr>
            <a:r>
              <a:rPr lang="en-US" sz="1300" b="1" dirty="0">
                <a:solidFill>
                  <a:srgbClr val="1B2B22"/>
                </a:solidFill>
              </a:rPr>
              <a:t>1</a:t>
            </a:r>
            <a:endParaRPr lang="en-US" sz="1300" dirty="0"/>
          </a:p>
        </p:txBody>
      </p:sp>
      <p:sp>
        <p:nvSpPr>
          <p:cNvPr id="86" name="Text 64"/>
          <p:cNvSpPr txBox="1"/>
          <p:nvPr/>
        </p:nvSpPr>
        <p:spPr>
          <a:xfrm>
            <a:off x="8202168" y="1691640"/>
            <a:ext cx="3438144" cy="488696"/>
          </a:xfrm>
          <a:prstGeom prst="rect">
            <a:avLst/>
          </a:prstGeom>
          <a:noFill/>
          <a:ln/>
        </p:spPr>
        <p:txBody>
          <a:bodyPr wrap="square" lIns="0" tIns="0" rIns="0" bIns="0" rtlCol="0" anchor="t"/>
          <a:lstStyle/>
          <a:p>
            <a:pPr indent="0" marL="0">
              <a:buNone/>
            </a:pPr>
            <a:r>
              <a:rPr lang="en-US" sz="1400" b="1" dirty="0">
                <a:solidFill>
                  <a:srgbClr val="1E5631"/>
                </a:solidFill>
              </a:rPr>
              <a:t>Menu and toolbar</a:t>
            </a:r>
            <a:endParaRPr lang="en-US" sz="1400" dirty="0"/>
          </a:p>
          <a:p>
            <a:pPr indent="0" marL="0">
              <a:buNone/>
            </a:pPr>
            <a:r>
              <a:rPr lang="en-US" sz="1400" dirty="0">
                <a:solidFill>
                  <a:srgbClr val="2B2B2B"/>
                </a:solidFill>
              </a:rPr>
              <a:t>File › Save As, Undo, Zoom.</a:t>
            </a:r>
            <a:endParaRPr lang="en-US" sz="1400" dirty="0"/>
          </a:p>
        </p:txBody>
      </p:sp>
      <p:sp>
        <p:nvSpPr>
          <p:cNvPr id="87" name="Shape 65"/>
          <p:cNvSpPr/>
          <p:nvPr/>
        </p:nvSpPr>
        <p:spPr>
          <a:xfrm>
            <a:off x="7726680" y="2290064"/>
            <a:ext cx="329184" cy="329184"/>
          </a:xfrm>
          <a:prstGeom prst="ellipse">
            <a:avLst/>
          </a:prstGeom>
          <a:solidFill>
            <a:srgbClr val="E8B92E"/>
          </a:solidFill>
          <a:ln/>
        </p:spPr>
      </p:sp>
      <p:sp>
        <p:nvSpPr>
          <p:cNvPr id="88" name="Text 66"/>
          <p:cNvSpPr txBox="1"/>
          <p:nvPr/>
        </p:nvSpPr>
        <p:spPr>
          <a:xfrm>
            <a:off x="7726680" y="2290064"/>
            <a:ext cx="329184" cy="329184"/>
          </a:xfrm>
          <a:prstGeom prst="rect">
            <a:avLst/>
          </a:prstGeom>
          <a:noFill/>
          <a:ln/>
        </p:spPr>
        <p:txBody>
          <a:bodyPr wrap="square" lIns="0" tIns="0" rIns="0" bIns="0" rtlCol="0" anchor="ctr"/>
          <a:lstStyle/>
          <a:p>
            <a:pPr algn="ctr" indent="0" marL="0">
              <a:buNone/>
            </a:pPr>
            <a:r>
              <a:rPr lang="en-US" sz="1300" b="1" dirty="0">
                <a:solidFill>
                  <a:srgbClr val="1B2B22"/>
                </a:solidFill>
              </a:rPr>
              <a:t>2</a:t>
            </a:r>
            <a:endParaRPr lang="en-US" sz="1300" dirty="0"/>
          </a:p>
        </p:txBody>
      </p:sp>
      <p:sp>
        <p:nvSpPr>
          <p:cNvPr id="89" name="Text 67"/>
          <p:cNvSpPr txBox="1"/>
          <p:nvPr/>
        </p:nvSpPr>
        <p:spPr>
          <a:xfrm>
            <a:off x="8202168" y="2271776"/>
            <a:ext cx="3438144" cy="488696"/>
          </a:xfrm>
          <a:prstGeom prst="rect">
            <a:avLst/>
          </a:prstGeom>
          <a:noFill/>
          <a:ln/>
        </p:spPr>
        <p:txBody>
          <a:bodyPr wrap="square" lIns="0" tIns="0" rIns="0" bIns="0" rtlCol="0" anchor="t"/>
          <a:lstStyle/>
          <a:p>
            <a:pPr indent="0" marL="0">
              <a:buNone/>
            </a:pPr>
            <a:r>
              <a:rPr lang="en-US" sz="1400" b="1" dirty="0">
                <a:solidFill>
                  <a:srgbClr val="1E5631"/>
                </a:solidFill>
              </a:rPr>
              <a:t>Logical / Physical tabs</a:t>
            </a:r>
            <a:endParaRPr lang="en-US" sz="1400" dirty="0"/>
          </a:p>
          <a:p>
            <a:pPr indent="0" marL="0">
              <a:buNone/>
            </a:pPr>
            <a:r>
              <a:rPr lang="en-US" sz="1400" dirty="0">
                <a:solidFill>
                  <a:srgbClr val="2B2B2B"/>
                </a:solidFill>
              </a:rPr>
              <a:t>Stay in Logical: the network diagram.</a:t>
            </a:r>
            <a:endParaRPr lang="en-US" sz="1400" dirty="0"/>
          </a:p>
        </p:txBody>
      </p:sp>
      <p:sp>
        <p:nvSpPr>
          <p:cNvPr id="90" name="Shape 68"/>
          <p:cNvSpPr/>
          <p:nvPr/>
        </p:nvSpPr>
        <p:spPr>
          <a:xfrm>
            <a:off x="7726680" y="2870200"/>
            <a:ext cx="329184" cy="329184"/>
          </a:xfrm>
          <a:prstGeom prst="ellipse">
            <a:avLst/>
          </a:prstGeom>
          <a:solidFill>
            <a:srgbClr val="E8B92E"/>
          </a:solidFill>
          <a:ln/>
        </p:spPr>
      </p:sp>
      <p:sp>
        <p:nvSpPr>
          <p:cNvPr id="91" name="Text 69"/>
          <p:cNvSpPr txBox="1"/>
          <p:nvPr/>
        </p:nvSpPr>
        <p:spPr>
          <a:xfrm>
            <a:off x="7726680" y="2870200"/>
            <a:ext cx="329184" cy="329184"/>
          </a:xfrm>
          <a:prstGeom prst="rect">
            <a:avLst/>
          </a:prstGeom>
          <a:noFill/>
          <a:ln/>
        </p:spPr>
        <p:txBody>
          <a:bodyPr wrap="square" lIns="0" tIns="0" rIns="0" bIns="0" rtlCol="0" anchor="ctr"/>
          <a:lstStyle/>
          <a:p>
            <a:pPr algn="ctr" indent="0" marL="0">
              <a:buNone/>
            </a:pPr>
            <a:r>
              <a:rPr lang="en-US" sz="1300" b="1" dirty="0">
                <a:solidFill>
                  <a:srgbClr val="1B2B22"/>
                </a:solidFill>
              </a:rPr>
              <a:t>3</a:t>
            </a:r>
            <a:endParaRPr lang="en-US" sz="1300" dirty="0"/>
          </a:p>
        </p:txBody>
      </p:sp>
      <p:sp>
        <p:nvSpPr>
          <p:cNvPr id="92" name="Text 70"/>
          <p:cNvSpPr txBox="1"/>
          <p:nvPr/>
        </p:nvSpPr>
        <p:spPr>
          <a:xfrm>
            <a:off x="8202168" y="2851912"/>
            <a:ext cx="3438144" cy="488696"/>
          </a:xfrm>
          <a:prstGeom prst="rect">
            <a:avLst/>
          </a:prstGeom>
          <a:noFill/>
          <a:ln/>
        </p:spPr>
        <p:txBody>
          <a:bodyPr wrap="square" lIns="0" tIns="0" rIns="0" bIns="0" rtlCol="0" anchor="t"/>
          <a:lstStyle/>
          <a:p>
            <a:pPr indent="0" marL="0">
              <a:buNone/>
            </a:pPr>
            <a:r>
              <a:rPr lang="en-US" sz="1400" b="1" dirty="0">
                <a:solidFill>
                  <a:srgbClr val="1E5631"/>
                </a:solidFill>
              </a:rPr>
              <a:t>Workspace</a:t>
            </a:r>
            <a:endParaRPr lang="en-US" sz="1400" dirty="0"/>
          </a:p>
          <a:p>
            <a:pPr indent="0" marL="0">
              <a:buNone/>
            </a:pPr>
            <a:r>
              <a:rPr lang="en-US" sz="1400" dirty="0">
                <a:solidFill>
                  <a:srgbClr val="2B2B2B"/>
                </a:solidFill>
              </a:rPr>
              <a:t>Drag devices here and cable them.</a:t>
            </a:r>
            <a:endParaRPr lang="en-US" sz="1400" dirty="0"/>
          </a:p>
        </p:txBody>
      </p:sp>
      <p:sp>
        <p:nvSpPr>
          <p:cNvPr id="93" name="Shape 71"/>
          <p:cNvSpPr/>
          <p:nvPr/>
        </p:nvSpPr>
        <p:spPr>
          <a:xfrm>
            <a:off x="7726680" y="3450336"/>
            <a:ext cx="329184" cy="329184"/>
          </a:xfrm>
          <a:prstGeom prst="ellipse">
            <a:avLst/>
          </a:prstGeom>
          <a:solidFill>
            <a:srgbClr val="E8B92E"/>
          </a:solidFill>
          <a:ln/>
        </p:spPr>
      </p:sp>
      <p:sp>
        <p:nvSpPr>
          <p:cNvPr id="94" name="Text 72"/>
          <p:cNvSpPr txBox="1"/>
          <p:nvPr/>
        </p:nvSpPr>
        <p:spPr>
          <a:xfrm>
            <a:off x="7726680" y="3450336"/>
            <a:ext cx="329184" cy="329184"/>
          </a:xfrm>
          <a:prstGeom prst="rect">
            <a:avLst/>
          </a:prstGeom>
          <a:noFill/>
          <a:ln/>
        </p:spPr>
        <p:txBody>
          <a:bodyPr wrap="square" lIns="0" tIns="0" rIns="0" bIns="0" rtlCol="0" anchor="ctr"/>
          <a:lstStyle/>
          <a:p>
            <a:pPr algn="ctr" indent="0" marL="0">
              <a:buNone/>
            </a:pPr>
            <a:r>
              <a:rPr lang="en-US" sz="1300" b="1" dirty="0">
                <a:solidFill>
                  <a:srgbClr val="1B2B22"/>
                </a:solidFill>
              </a:rPr>
              <a:t>4</a:t>
            </a:r>
            <a:endParaRPr lang="en-US" sz="1300" dirty="0"/>
          </a:p>
        </p:txBody>
      </p:sp>
      <p:sp>
        <p:nvSpPr>
          <p:cNvPr id="95" name="Text 73"/>
          <p:cNvSpPr txBox="1"/>
          <p:nvPr/>
        </p:nvSpPr>
        <p:spPr>
          <a:xfrm>
            <a:off x="8202168" y="3432048"/>
            <a:ext cx="3438144" cy="705612"/>
          </a:xfrm>
          <a:prstGeom prst="rect">
            <a:avLst/>
          </a:prstGeom>
          <a:noFill/>
          <a:ln/>
        </p:spPr>
        <p:txBody>
          <a:bodyPr wrap="square" lIns="0" tIns="0" rIns="0" bIns="0" rtlCol="0" anchor="t"/>
          <a:lstStyle/>
          <a:p>
            <a:pPr indent="0" marL="0">
              <a:buNone/>
            </a:pPr>
            <a:r>
              <a:rPr lang="en-US" sz="1400" b="1" dirty="0">
                <a:solidFill>
                  <a:srgbClr val="1E5631"/>
                </a:solidFill>
              </a:rPr>
              <a:t>Common tools</a:t>
            </a:r>
            <a:endParaRPr lang="en-US" sz="1400" dirty="0"/>
          </a:p>
          <a:p>
            <a:pPr indent="0" marL="0">
              <a:buNone/>
            </a:pPr>
            <a:r>
              <a:rPr lang="en-US" sz="1400" dirty="0">
                <a:solidFill>
                  <a:srgbClr val="2B2B2B"/>
                </a:solidFill>
              </a:rPr>
              <a:t>Select, Inspect, Delete, Note, Draw, Add Simple PDU.</a:t>
            </a:r>
            <a:endParaRPr lang="en-US" sz="1400" dirty="0"/>
          </a:p>
        </p:txBody>
      </p:sp>
      <p:sp>
        <p:nvSpPr>
          <p:cNvPr id="96" name="Shape 74"/>
          <p:cNvSpPr/>
          <p:nvPr/>
        </p:nvSpPr>
        <p:spPr>
          <a:xfrm>
            <a:off x="7726680" y="4247388"/>
            <a:ext cx="329184" cy="329184"/>
          </a:xfrm>
          <a:prstGeom prst="ellipse">
            <a:avLst/>
          </a:prstGeom>
          <a:solidFill>
            <a:srgbClr val="E8B92E"/>
          </a:solidFill>
          <a:ln/>
        </p:spPr>
      </p:sp>
      <p:sp>
        <p:nvSpPr>
          <p:cNvPr id="97" name="Text 75"/>
          <p:cNvSpPr txBox="1"/>
          <p:nvPr/>
        </p:nvSpPr>
        <p:spPr>
          <a:xfrm>
            <a:off x="7726680" y="4247388"/>
            <a:ext cx="329184" cy="329184"/>
          </a:xfrm>
          <a:prstGeom prst="rect">
            <a:avLst/>
          </a:prstGeom>
          <a:noFill/>
          <a:ln/>
        </p:spPr>
        <p:txBody>
          <a:bodyPr wrap="square" lIns="0" tIns="0" rIns="0" bIns="0" rtlCol="0" anchor="ctr"/>
          <a:lstStyle/>
          <a:p>
            <a:pPr algn="ctr" indent="0" marL="0">
              <a:buNone/>
            </a:pPr>
            <a:r>
              <a:rPr lang="en-US" sz="1300" b="1" dirty="0">
                <a:solidFill>
                  <a:srgbClr val="1B2B22"/>
                </a:solidFill>
              </a:rPr>
              <a:t>5</a:t>
            </a:r>
            <a:endParaRPr lang="en-US" sz="1300" dirty="0"/>
          </a:p>
        </p:txBody>
      </p:sp>
      <p:sp>
        <p:nvSpPr>
          <p:cNvPr id="98" name="Text 76"/>
          <p:cNvSpPr txBox="1"/>
          <p:nvPr/>
        </p:nvSpPr>
        <p:spPr>
          <a:xfrm>
            <a:off x="8202168" y="4229100"/>
            <a:ext cx="3438144" cy="488696"/>
          </a:xfrm>
          <a:prstGeom prst="rect">
            <a:avLst/>
          </a:prstGeom>
          <a:noFill/>
          <a:ln/>
        </p:spPr>
        <p:txBody>
          <a:bodyPr wrap="square" lIns="0" tIns="0" rIns="0" bIns="0" rtlCol="0" anchor="t"/>
          <a:lstStyle/>
          <a:p>
            <a:pPr indent="0" marL="0">
              <a:buNone/>
            </a:pPr>
            <a:r>
              <a:rPr lang="en-US" sz="1400" b="1" dirty="0">
                <a:solidFill>
                  <a:srgbClr val="1E5631"/>
                </a:solidFill>
              </a:rPr>
              <a:t>Device-Type Selection box</a:t>
            </a:r>
            <a:endParaRPr lang="en-US" sz="1400" dirty="0"/>
          </a:p>
          <a:p>
            <a:pPr indent="0" marL="0">
              <a:buNone/>
            </a:pPr>
            <a:r>
              <a:rPr lang="en-US" sz="1400" dirty="0">
                <a:solidFill>
                  <a:srgbClr val="2B2B2B"/>
                </a:solidFill>
              </a:rPr>
              <a:t>Pick a category, then a model.</a:t>
            </a:r>
            <a:endParaRPr lang="en-US" sz="1400" dirty="0"/>
          </a:p>
        </p:txBody>
      </p:sp>
      <p:sp>
        <p:nvSpPr>
          <p:cNvPr id="99" name="Shape 77"/>
          <p:cNvSpPr/>
          <p:nvPr/>
        </p:nvSpPr>
        <p:spPr>
          <a:xfrm>
            <a:off x="7726680" y="4827524"/>
            <a:ext cx="329184" cy="329184"/>
          </a:xfrm>
          <a:prstGeom prst="ellipse">
            <a:avLst/>
          </a:prstGeom>
          <a:solidFill>
            <a:srgbClr val="E8B92E"/>
          </a:solidFill>
          <a:ln/>
        </p:spPr>
      </p:sp>
      <p:sp>
        <p:nvSpPr>
          <p:cNvPr id="100" name="Text 78"/>
          <p:cNvSpPr txBox="1"/>
          <p:nvPr/>
        </p:nvSpPr>
        <p:spPr>
          <a:xfrm>
            <a:off x="7726680" y="4827524"/>
            <a:ext cx="329184" cy="329184"/>
          </a:xfrm>
          <a:prstGeom prst="rect">
            <a:avLst/>
          </a:prstGeom>
          <a:noFill/>
          <a:ln/>
        </p:spPr>
        <p:txBody>
          <a:bodyPr wrap="square" lIns="0" tIns="0" rIns="0" bIns="0" rtlCol="0" anchor="ctr"/>
          <a:lstStyle/>
          <a:p>
            <a:pPr algn="ctr" indent="0" marL="0">
              <a:buNone/>
            </a:pPr>
            <a:r>
              <a:rPr lang="en-US" sz="1300" b="1" dirty="0">
                <a:solidFill>
                  <a:srgbClr val="1B2B22"/>
                </a:solidFill>
              </a:rPr>
              <a:t>6</a:t>
            </a:r>
            <a:endParaRPr lang="en-US" sz="1300" dirty="0"/>
          </a:p>
        </p:txBody>
      </p:sp>
      <p:sp>
        <p:nvSpPr>
          <p:cNvPr id="101" name="Text 79"/>
          <p:cNvSpPr txBox="1"/>
          <p:nvPr/>
        </p:nvSpPr>
        <p:spPr>
          <a:xfrm>
            <a:off x="8202168" y="4809236"/>
            <a:ext cx="3438144" cy="705612"/>
          </a:xfrm>
          <a:prstGeom prst="rect">
            <a:avLst/>
          </a:prstGeom>
          <a:noFill/>
          <a:ln/>
        </p:spPr>
        <p:txBody>
          <a:bodyPr wrap="square" lIns="0" tIns="0" rIns="0" bIns="0" rtlCol="0" anchor="t"/>
          <a:lstStyle/>
          <a:p>
            <a:pPr indent="0" marL="0">
              <a:buNone/>
            </a:pPr>
            <a:r>
              <a:rPr lang="en-US" sz="1400" b="1" dirty="0">
                <a:solidFill>
                  <a:srgbClr val="1E5631"/>
                </a:solidFill>
              </a:rPr>
              <a:t>Realtime / Simulation</a:t>
            </a:r>
            <a:endParaRPr lang="en-US" sz="1400" dirty="0"/>
          </a:p>
          <a:p>
            <a:pPr indent="0" marL="0">
              <a:buNone/>
            </a:pPr>
            <a:r>
              <a:rPr lang="en-US" sz="1400" dirty="0">
                <a:solidFill>
                  <a:srgbClr val="2B2B2B"/>
                </a:solidFill>
              </a:rPr>
              <a:t>Run normally, or step through packets.</a:t>
            </a:r>
            <a:endParaRPr lang="en-US" sz="1400" dirty="0"/>
          </a:p>
        </p:txBody>
      </p:sp>
      <p:sp>
        <p:nvSpPr>
          <p:cNvPr id="102" name="tip box"/>
          <p:cNvSpPr/>
          <p:nvPr/>
        </p:nvSpPr>
        <p:spPr>
          <a:xfrm>
            <a:off x="7726680" y="5440680"/>
            <a:ext cx="3913632" cy="566928"/>
          </a:xfrm>
          <a:prstGeom prst="roundRect">
            <a:avLst>
              <a:gd name="adj" fmla="val 12903"/>
            </a:avLst>
          </a:prstGeom>
          <a:solidFill>
            <a:srgbClr val="E6EEF8"/>
          </a:solidFill>
          <a:ln w="12700">
            <a:solidFill>
              <a:srgbClr val="B8C9E0"/>
            </a:solidFill>
            <a:prstDash val="solid"/>
          </a:ln>
        </p:spPr>
      </p:sp>
      <p:pic>
        <p:nvPicPr>
          <p:cNvPr id="103" name="tip icon" descr="Tip:">    </p:cNvPr>
          <p:cNvPicPr>
            <a:picLocks noChangeAspect="1"/>
          </p:cNvPicPr>
          <p:nvPr/>
        </p:nvPicPr>
        <p:blipFill>
          <a:blip r:embed="rId22"/>
          <a:stretch>
            <a:fillRect/>
          </a:stretch>
        </p:blipFill>
        <p:spPr>
          <a:xfrm>
            <a:off x="7872984" y="5577840"/>
            <a:ext cx="292608" cy="292608"/>
          </a:xfrm>
          <a:prstGeom prst="rect">
            <a:avLst/>
          </a:prstGeom>
        </p:spPr>
      </p:pic>
      <p:sp>
        <p:nvSpPr>
          <p:cNvPr id="104" name="tip text"/>
          <p:cNvSpPr txBox="1"/>
          <p:nvPr/>
        </p:nvSpPr>
        <p:spPr>
          <a:xfrm>
            <a:off x="8275320" y="5477256"/>
            <a:ext cx="3255264" cy="493776"/>
          </a:xfrm>
          <a:prstGeom prst="rect">
            <a:avLst/>
          </a:prstGeom>
          <a:noFill/>
          <a:ln/>
        </p:spPr>
        <p:txBody>
          <a:bodyPr wrap="square" lIns="0" tIns="0" rIns="0" bIns="0" rtlCol="0" anchor="ctr"/>
          <a:lstStyle/>
          <a:p>
            <a:pPr indent="0" marL="0">
              <a:buNone/>
            </a:pPr>
            <a:r>
              <a:rPr lang="en-US" sz="1300" b="1" dirty="0">
                <a:solidFill>
                  <a:srgbClr val="1F4E8C"/>
                </a:solidFill>
              </a:rPr>
              <a:t>Tip:  </a:t>
            </a:r>
            <a:r>
              <a:rPr lang="en-US" sz="1300" dirty="0">
                <a:solidFill>
                  <a:srgbClr val="2B2B2B"/>
                </a:solidFill>
              </a:rPr>
              <a:t>Save often (Ctrl+S): name files like Lab2_VLANs_YourName.pkt</a:t>
            </a:r>
            <a:endParaRPr lang="en-US" sz="1300" dirty="0"/>
          </a:p>
        </p:txBody>
      </p:sp>
      <p:sp>
        <p:nvSpPr>
          <p:cNvPr id="105" name="Slide Number Placeholder 0"/>
          <p:cNvSpPr>
            <a:spLocks noGrp="1"/>
          </p:cNvSpPr>
          <p:nvPr>
            <p:ph type="sldNum" sz="quarter" idx="4294967295"/>
          </p:nvPr>
        </p:nvSpPr>
        <p:spPr>
          <a:xfrm>
            <a:off x="10698480" y="6464808"/>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body" hasCustomPrompt="1"/>
          </p:nvPr>
        </p:nvSpPr>
        <p:spPr>
          <a:xfrm>
            <a:off x="548640" y="274320"/>
            <a:ext cx="9966960" cy="256032"/>
          </a:xfrm>
          <a:prstGeom prst="rect">
            <a:avLst/>
          </a:prstGeom>
          <a:noFill/>
          <a:ln/>
        </p:spPr>
        <p:txBody>
          <a:bodyPr wrap="square" lIns="0" tIns="0" rIns="0" bIns="0" rtlCol="0" anchor="ctr"/>
          <a:lstStyle/>
          <a:p>
            <a:pPr algn="l" indent="0" marL="0">
              <a:buNone/>
            </a:pPr>
            <a:r>
              <a:rPr lang="en-US" sz="1100" b="1" spc="100" kern="0" dirty="0">
                <a:solidFill>
                  <a:schemeClr val="accent2"/>
                </a:solidFill>
              </a:rPr>
              <a:t>01  •  PACKET TRACER BASICS</a:t>
            </a:r>
            <a:endParaRPr lang="en-US" sz="1100" dirty="0"/>
          </a:p>
        </p:txBody>
      </p:sp>
      <p:sp>
        <p:nvSpPr>
          <p:cNvPr id="3" name="Text 1"/>
          <p:cNvSpPr/>
          <p:nvPr>
            <p:ph idx="103" type="title" hasCustomPrompt="1"/>
          </p:nvPr>
        </p:nvSpPr>
        <p:spPr>
          <a:xfrm>
            <a:off x="548640" y="548640"/>
            <a:ext cx="10149840" cy="548640"/>
          </a:xfrm>
          <a:prstGeom prst="rect">
            <a:avLst/>
          </a:prstGeom>
          <a:noFill/>
          <a:ln/>
        </p:spPr>
        <p:txBody>
          <a:bodyPr wrap="square" lIns="0" tIns="0" rIns="0" bIns="0" rtlCol="0" anchor="ctr"/>
          <a:lstStyle/>
          <a:p>
            <a:pPr algn="l" indent="0" marL="0">
              <a:buNone/>
            </a:pPr>
            <a:r>
              <a:rPr lang="en-US" sz="2600" b="1" dirty="0">
                <a:solidFill>
                  <a:schemeClr val="accent1"/>
                </a:solidFill>
              </a:rPr>
              <a:t>How to add devices and connect them with the right cable</a:t>
            </a:r>
            <a:endParaRPr lang="en-US" sz="2600" dirty="0"/>
          </a:p>
        </p:txBody>
      </p:sp>
      <p:pic>
        <p:nvPicPr>
          <p:cNvPr id="4" name="Home button" descr="Home: back to the workbook menu">
            <a:hlinkClick r:id="rId2" tooltip="Back to the workbook menu" action="ppaction://hlinksldjump"/>
          </p:cNvPr>
          <p:cNvPicPr>
            <a:picLocks noChangeAspect="1"/>
          </p:cNvPicPr>
          <p:nvPr/>
        </p:nvPicPr>
        <p:blipFill>
          <a:blip r:embed="rId1"/>
          <a:stretch>
            <a:fillRect/>
          </a:stretch>
        </p:blipFill>
        <p:spPr>
          <a:xfrm>
            <a:off x="11365992" y="6336792"/>
            <a:ext cx="365760" cy="365760"/>
          </a:xfrm>
          <a:prstGeom prst="rect">
            <a:avLst/>
          </a:prstGeom>
        </p:spPr>
      </p:pic>
      <p:sp>
        <p:nvSpPr>
          <p:cNvPr id="5" name="Goal"/>
          <p:cNvSpPr txBox="1"/>
          <p:nvPr/>
        </p:nvSpPr>
        <p:spPr>
          <a:xfrm>
            <a:off x="548640" y="1161288"/>
            <a:ext cx="11094415" cy="384048"/>
          </a:xfrm>
          <a:prstGeom prst="rect">
            <a:avLst/>
          </a:prstGeom>
          <a:noFill/>
          <a:ln/>
        </p:spPr>
        <p:txBody>
          <a:bodyPr wrap="square" lIns="0" tIns="0" rIns="0" bIns="0" rtlCol="0" anchor="ctr"/>
          <a:lstStyle/>
          <a:p>
            <a:pPr indent="0" marL="0">
              <a:buNone/>
            </a:pPr>
            <a:r>
              <a:rPr lang="en-US" sz="1400" b="1" dirty="0">
                <a:solidFill>
                  <a:srgbClr val="2B7043"/>
                </a:solidFill>
              </a:rPr>
              <a:t>Goal:  </a:t>
            </a:r>
            <a:r>
              <a:rPr lang="en-US" sz="1400" dirty="0">
                <a:solidFill>
                  <a:srgbClr val="2B2B2B"/>
                </a:solidFill>
              </a:rPr>
              <a:t>Build the topology on screen. The right cable makes the link light green; the wrong one leaves it red.</a:t>
            </a:r>
            <a:endParaRPr lang="en-US" sz="1400" dirty="0"/>
          </a:p>
        </p:txBody>
      </p:sp>
      <p:sp>
        <p:nvSpPr>
          <p:cNvPr id="6" name="Shape 3"/>
          <p:cNvSpPr/>
          <p:nvPr/>
        </p:nvSpPr>
        <p:spPr>
          <a:xfrm>
            <a:off x="548640" y="1709928"/>
            <a:ext cx="329184" cy="329184"/>
          </a:xfrm>
          <a:prstGeom prst="ellipse">
            <a:avLst/>
          </a:prstGeom>
          <a:solidFill>
            <a:srgbClr val="1E5631"/>
          </a:solidFill>
          <a:ln/>
        </p:spPr>
      </p:sp>
      <p:sp>
        <p:nvSpPr>
          <p:cNvPr id="7" name="Text 4"/>
          <p:cNvSpPr txBox="1"/>
          <p:nvPr/>
        </p:nvSpPr>
        <p:spPr>
          <a:xfrm>
            <a:off x="548640" y="170992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8" name="Text 5"/>
          <p:cNvSpPr txBox="1"/>
          <p:nvPr/>
        </p:nvSpPr>
        <p:spPr>
          <a:xfrm>
            <a:off x="1024128" y="1691640"/>
            <a:ext cx="4782312" cy="922528"/>
          </a:xfrm>
          <a:prstGeom prst="rect">
            <a:avLst/>
          </a:prstGeom>
          <a:noFill/>
          <a:ln/>
        </p:spPr>
        <p:txBody>
          <a:bodyPr wrap="square" lIns="0" tIns="0" rIns="0" bIns="0" rtlCol="0" anchor="t"/>
          <a:lstStyle/>
          <a:p>
            <a:pPr indent="0" marL="0">
              <a:buNone/>
            </a:pPr>
            <a:r>
              <a:rPr lang="en-US" sz="1400" b="1" dirty="0">
                <a:solidFill>
                  <a:srgbClr val="1E5631"/>
                </a:solidFill>
              </a:rPr>
              <a:t>Add a device</a:t>
            </a:r>
            <a:endParaRPr lang="en-US" sz="1400" dirty="0"/>
          </a:p>
          <a:p>
            <a:pPr indent="0" marL="0">
              <a:buNone/>
            </a:pPr>
            <a:r>
              <a:rPr lang="en-US" sz="1400" dirty="0">
                <a:solidFill>
                  <a:srgbClr val="2B2B2B"/>
                </a:solidFill>
              </a:rPr>
              <a:t>Bottom-left: Network Devices › Routers, then drag a </a:t>
            </a:r>
            <a:r>
              <a:rPr lang="en-US" sz="1400" b="1" dirty="0">
                <a:solidFill>
                  <a:srgbClr val="2B2B2B"/>
                </a:solidFill>
              </a:rPr>
              <a:t>4331</a:t>
            </a:r>
            <a:r>
              <a:rPr lang="en-US" sz="1400" dirty="0">
                <a:solidFill>
                  <a:srgbClr val="2B2B2B"/>
                </a:solidFill>
              </a:rPr>
              <a:t> onto the workspace. Switches › </a:t>
            </a:r>
            <a:r>
              <a:rPr lang="en-US" sz="1400" b="1" dirty="0">
                <a:solidFill>
                  <a:srgbClr val="2B2B2B"/>
                </a:solidFill>
              </a:rPr>
              <a:t>2960</a:t>
            </a:r>
            <a:r>
              <a:rPr lang="en-US" sz="1400" dirty="0">
                <a:solidFill>
                  <a:srgbClr val="2B2B2B"/>
                </a:solidFill>
              </a:rPr>
              <a:t> and End Devices › </a:t>
            </a:r>
            <a:r>
              <a:rPr lang="en-US" sz="1400" b="1" dirty="0">
                <a:solidFill>
                  <a:srgbClr val="2B2B2B"/>
                </a:solidFill>
              </a:rPr>
              <a:t>PC</a:t>
            </a:r>
            <a:r>
              <a:rPr lang="en-US" sz="1400" dirty="0">
                <a:solidFill>
                  <a:srgbClr val="2B2B2B"/>
                </a:solidFill>
              </a:rPr>
              <a:t> work the same way.</a:t>
            </a:r>
            <a:endParaRPr lang="en-US" sz="1400" dirty="0"/>
          </a:p>
        </p:txBody>
      </p:sp>
      <p:sp>
        <p:nvSpPr>
          <p:cNvPr id="9" name="Shape 6"/>
          <p:cNvSpPr/>
          <p:nvPr/>
        </p:nvSpPr>
        <p:spPr>
          <a:xfrm>
            <a:off x="548640" y="2778760"/>
            <a:ext cx="329184" cy="329184"/>
          </a:xfrm>
          <a:prstGeom prst="ellipse">
            <a:avLst/>
          </a:prstGeom>
          <a:solidFill>
            <a:srgbClr val="1E5631"/>
          </a:solidFill>
          <a:ln/>
        </p:spPr>
      </p:sp>
      <p:sp>
        <p:nvSpPr>
          <p:cNvPr id="10" name="Text 7"/>
          <p:cNvSpPr txBox="1"/>
          <p:nvPr/>
        </p:nvSpPr>
        <p:spPr>
          <a:xfrm>
            <a:off x="548640" y="277876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1" name="Text 8"/>
          <p:cNvSpPr txBox="1"/>
          <p:nvPr/>
        </p:nvSpPr>
        <p:spPr>
          <a:xfrm>
            <a:off x="1024128" y="2760472"/>
            <a:ext cx="4782312" cy="705612"/>
          </a:xfrm>
          <a:prstGeom prst="rect">
            <a:avLst/>
          </a:prstGeom>
          <a:noFill/>
          <a:ln/>
        </p:spPr>
        <p:txBody>
          <a:bodyPr wrap="square" lIns="0" tIns="0" rIns="0" bIns="0" rtlCol="0" anchor="t"/>
          <a:lstStyle/>
          <a:p>
            <a:pPr indent="0" marL="0">
              <a:buNone/>
            </a:pPr>
            <a:r>
              <a:rPr lang="en-US" sz="1400" b="1" dirty="0">
                <a:solidFill>
                  <a:srgbClr val="1E5631"/>
                </a:solidFill>
              </a:rPr>
              <a:t>Pick a cable</a:t>
            </a:r>
            <a:endParaRPr lang="en-US" sz="1400" dirty="0"/>
          </a:p>
          <a:p>
            <a:pPr indent="0" marL="0">
              <a:buNone/>
            </a:pPr>
            <a:r>
              <a:rPr lang="en-US" sz="1400" dirty="0">
                <a:solidFill>
                  <a:srgbClr val="2B2B2B"/>
                </a:solidFill>
              </a:rPr>
              <a:t>Click </a:t>
            </a:r>
            <a:r>
              <a:rPr lang="en-US" sz="1400" b="1" dirty="0">
                <a:solidFill>
                  <a:srgbClr val="2B2B2B"/>
                </a:solidFill>
              </a:rPr>
              <a:t>Connections</a:t>
            </a:r>
            <a:r>
              <a:rPr lang="en-US" sz="1400" dirty="0">
                <a:solidFill>
                  <a:srgbClr val="2B2B2B"/>
                </a:solidFill>
              </a:rPr>
              <a:t> (the lightning-bolt icon), then the cable type you need.</a:t>
            </a:r>
            <a:endParaRPr lang="en-US" sz="1400" dirty="0"/>
          </a:p>
        </p:txBody>
      </p:sp>
      <p:sp>
        <p:nvSpPr>
          <p:cNvPr id="12" name="Shape 9"/>
          <p:cNvSpPr/>
          <p:nvPr/>
        </p:nvSpPr>
        <p:spPr>
          <a:xfrm>
            <a:off x="548640" y="3630676"/>
            <a:ext cx="329184" cy="329184"/>
          </a:xfrm>
          <a:prstGeom prst="ellipse">
            <a:avLst/>
          </a:prstGeom>
          <a:solidFill>
            <a:srgbClr val="1E5631"/>
          </a:solidFill>
          <a:ln/>
        </p:spPr>
      </p:sp>
      <p:sp>
        <p:nvSpPr>
          <p:cNvPr id="13" name="Text 10"/>
          <p:cNvSpPr txBox="1"/>
          <p:nvPr/>
        </p:nvSpPr>
        <p:spPr>
          <a:xfrm>
            <a:off x="548640" y="363067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4" name="Text 11"/>
          <p:cNvSpPr txBox="1"/>
          <p:nvPr/>
        </p:nvSpPr>
        <p:spPr>
          <a:xfrm>
            <a:off x="1024128" y="3612388"/>
            <a:ext cx="4782312" cy="705612"/>
          </a:xfrm>
          <a:prstGeom prst="rect">
            <a:avLst/>
          </a:prstGeom>
          <a:noFill/>
          <a:ln/>
        </p:spPr>
        <p:txBody>
          <a:bodyPr wrap="square" lIns="0" tIns="0" rIns="0" bIns="0" rtlCol="0" anchor="t"/>
          <a:lstStyle/>
          <a:p>
            <a:pPr indent="0" marL="0">
              <a:buNone/>
            </a:pPr>
            <a:r>
              <a:rPr lang="en-US" sz="1400" b="1" dirty="0">
                <a:solidFill>
                  <a:srgbClr val="1E5631"/>
                </a:solidFill>
              </a:rPr>
              <a:t>Connect</a:t>
            </a:r>
            <a:endParaRPr lang="en-US" sz="1400" dirty="0"/>
          </a:p>
          <a:p>
            <a:pPr indent="0" marL="0">
              <a:buNone/>
            </a:pPr>
            <a:r>
              <a:rPr lang="en-US" sz="1400" dirty="0">
                <a:solidFill>
                  <a:srgbClr val="2B2B2B"/>
                </a:solidFill>
              </a:rPr>
              <a:t>Click the first device and choose its port, then click the second device and choose its port.</a:t>
            </a:r>
            <a:endParaRPr lang="en-US" sz="1400" dirty="0"/>
          </a:p>
        </p:txBody>
      </p:sp>
      <p:sp>
        <p:nvSpPr>
          <p:cNvPr id="15" name="Shape 12"/>
          <p:cNvSpPr/>
          <p:nvPr/>
        </p:nvSpPr>
        <p:spPr>
          <a:xfrm>
            <a:off x="548640" y="4482592"/>
            <a:ext cx="329184" cy="329184"/>
          </a:xfrm>
          <a:prstGeom prst="ellipse">
            <a:avLst/>
          </a:prstGeom>
          <a:solidFill>
            <a:srgbClr val="1E5631"/>
          </a:solidFill>
          <a:ln/>
        </p:spPr>
      </p:sp>
      <p:sp>
        <p:nvSpPr>
          <p:cNvPr id="16" name="Text 13"/>
          <p:cNvSpPr txBox="1"/>
          <p:nvPr/>
        </p:nvSpPr>
        <p:spPr>
          <a:xfrm>
            <a:off x="548640" y="448259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7" name="Text 14"/>
          <p:cNvSpPr txBox="1"/>
          <p:nvPr/>
        </p:nvSpPr>
        <p:spPr>
          <a:xfrm>
            <a:off x="1024128" y="4464304"/>
            <a:ext cx="4782312" cy="705612"/>
          </a:xfrm>
          <a:prstGeom prst="rect">
            <a:avLst/>
          </a:prstGeom>
          <a:noFill/>
          <a:ln/>
        </p:spPr>
        <p:txBody>
          <a:bodyPr wrap="square" lIns="0" tIns="0" rIns="0" bIns="0" rtlCol="0" anchor="t"/>
          <a:lstStyle/>
          <a:p>
            <a:pPr indent="0" marL="0">
              <a:buNone/>
            </a:pPr>
            <a:r>
              <a:rPr lang="en-US" sz="1400" b="1" dirty="0">
                <a:solidFill>
                  <a:srgbClr val="1E5631"/>
                </a:solidFill>
              </a:rPr>
              <a:t>Read the link lights</a:t>
            </a:r>
            <a:endParaRPr lang="en-US" sz="1400" dirty="0"/>
          </a:p>
          <a:p>
            <a:pPr indent="0" marL="0">
              <a:buNone/>
            </a:pPr>
            <a:r>
              <a:rPr lang="en-US" sz="1400" dirty="0">
                <a:solidFill>
                  <a:srgbClr val="2B2B2B"/>
                </a:solidFill>
              </a:rPr>
              <a:t>Green = up. Amber = switch port still starting (wait about 30 s or click Fast Forward Time). Red = down.</a:t>
            </a:r>
            <a:endParaRPr lang="en-US" sz="1400" dirty="0"/>
          </a:p>
        </p:txBody>
      </p:sp>
      <p:sp>
        <p:nvSpPr>
          <p:cNvPr id="18" name="Text 15"/>
          <p:cNvSpPr txBox="1"/>
          <p:nvPr/>
        </p:nvSpPr>
        <p:spPr>
          <a:xfrm>
            <a:off x="6126480" y="1691640"/>
            <a:ext cx="5513832" cy="292608"/>
          </a:xfrm>
          <a:prstGeom prst="rect">
            <a:avLst/>
          </a:prstGeom>
          <a:noFill/>
          <a:ln/>
        </p:spPr>
        <p:txBody>
          <a:bodyPr wrap="square" lIns="0" tIns="0" rIns="0" bIns="0" rtlCol="0" anchor="ctr"/>
          <a:lstStyle/>
          <a:p>
            <a:pPr indent="0" marL="0">
              <a:buNone/>
            </a:pPr>
            <a:r>
              <a:rPr lang="en-US" sz="1500" b="1" dirty="0">
                <a:solidFill>
                  <a:srgbClr val="1E5631"/>
                </a:solidFill>
              </a:rPr>
              <a:t>Which cable?</a:t>
            </a:r>
            <a:endParaRPr lang="en-US" sz="1500" dirty="0"/>
          </a:p>
        </p:txBody>
      </p:sp>
      <p:sp>
        <p:nvSpPr>
          <p:cNvPr id="19" name="Shape 16"/>
          <p:cNvSpPr/>
          <p:nvPr/>
        </p:nvSpPr>
        <p:spPr>
          <a:xfrm>
            <a:off x="6126480" y="2075688"/>
            <a:ext cx="5513832" cy="530352"/>
          </a:xfrm>
          <a:prstGeom prst="roundRect">
            <a:avLst>
              <a:gd name="adj" fmla="val 8621"/>
            </a:avLst>
          </a:prstGeom>
          <a:solidFill>
            <a:srgbClr val="F2F8F3"/>
          </a:solidFill>
          <a:ln w="9525">
            <a:solidFill>
              <a:srgbClr val="B7C9BA"/>
            </a:solidFill>
            <a:prstDash val="solid"/>
          </a:ln>
        </p:spPr>
      </p:sp>
      <p:sp>
        <p:nvSpPr>
          <p:cNvPr id="20" name="Shape 17"/>
          <p:cNvSpPr/>
          <p:nvPr/>
        </p:nvSpPr>
        <p:spPr>
          <a:xfrm>
            <a:off x="6263640" y="2340864"/>
            <a:ext cx="822960" cy="914"/>
          </a:xfrm>
          <a:prstGeom prst="line">
            <a:avLst/>
          </a:prstGeom>
          <a:noFill/>
          <a:ln w="28575">
            <a:solidFill>
              <a:srgbClr val="333333"/>
            </a:solidFill>
            <a:prstDash val="solid"/>
          </a:ln>
        </p:spPr>
      </p:sp>
      <p:sp>
        <p:nvSpPr>
          <p:cNvPr id="21" name="Text 18"/>
          <p:cNvSpPr txBox="1"/>
          <p:nvPr/>
        </p:nvSpPr>
        <p:spPr>
          <a:xfrm>
            <a:off x="7223760" y="2093976"/>
            <a:ext cx="4325112" cy="493776"/>
          </a:xfrm>
          <a:prstGeom prst="rect">
            <a:avLst/>
          </a:prstGeom>
          <a:noFill/>
          <a:ln/>
        </p:spPr>
        <p:txBody>
          <a:bodyPr wrap="square" lIns="0" tIns="0" rIns="0" bIns="0" rtlCol="0" anchor="ctr"/>
          <a:lstStyle/>
          <a:p>
            <a:pPr indent="0" marL="0">
              <a:buNone/>
            </a:pPr>
            <a:r>
              <a:rPr lang="en-US" sz="1300" b="1" dirty="0">
                <a:solidFill>
                  <a:srgbClr val="2B2B2B"/>
                </a:solidFill>
              </a:rPr>
              <a:t>Copper Straight-Through</a:t>
            </a:r>
            <a:r>
              <a:rPr lang="en-US" sz="1300" dirty="0">
                <a:solidFill>
                  <a:srgbClr val="2B2B2B"/>
                </a:solidFill>
              </a:rPr>
              <a:t> — different device types: PC–switch, switch–router</a:t>
            </a:r>
            <a:endParaRPr lang="en-US" sz="1300" dirty="0"/>
          </a:p>
        </p:txBody>
      </p:sp>
      <p:sp>
        <p:nvSpPr>
          <p:cNvPr id="22" name="Shape 19"/>
          <p:cNvSpPr/>
          <p:nvPr/>
        </p:nvSpPr>
        <p:spPr>
          <a:xfrm>
            <a:off x="6126480" y="2642616"/>
            <a:ext cx="5513832" cy="530352"/>
          </a:xfrm>
          <a:prstGeom prst="roundRect">
            <a:avLst>
              <a:gd name="adj" fmla="val 8621"/>
            </a:avLst>
          </a:prstGeom>
          <a:solidFill>
            <a:srgbClr val="F2F8F3"/>
          </a:solidFill>
          <a:ln w="9525">
            <a:solidFill>
              <a:srgbClr val="B7C9BA"/>
            </a:solidFill>
            <a:prstDash val="solid"/>
          </a:ln>
        </p:spPr>
      </p:sp>
      <p:sp>
        <p:nvSpPr>
          <p:cNvPr id="23" name="Shape 20"/>
          <p:cNvSpPr/>
          <p:nvPr/>
        </p:nvSpPr>
        <p:spPr>
          <a:xfrm>
            <a:off x="6263640" y="2907792"/>
            <a:ext cx="822960" cy="914"/>
          </a:xfrm>
          <a:prstGeom prst="line">
            <a:avLst/>
          </a:prstGeom>
          <a:noFill/>
          <a:ln w="28575">
            <a:solidFill>
              <a:srgbClr val="333333"/>
            </a:solidFill>
            <a:prstDash val="dash"/>
          </a:ln>
        </p:spPr>
      </p:sp>
      <p:sp>
        <p:nvSpPr>
          <p:cNvPr id="24" name="Text 21"/>
          <p:cNvSpPr txBox="1"/>
          <p:nvPr/>
        </p:nvSpPr>
        <p:spPr>
          <a:xfrm>
            <a:off x="7223760" y="2660904"/>
            <a:ext cx="4325112" cy="493776"/>
          </a:xfrm>
          <a:prstGeom prst="rect">
            <a:avLst/>
          </a:prstGeom>
          <a:noFill/>
          <a:ln/>
        </p:spPr>
        <p:txBody>
          <a:bodyPr wrap="square" lIns="0" tIns="0" rIns="0" bIns="0" rtlCol="0" anchor="ctr"/>
          <a:lstStyle/>
          <a:p>
            <a:pPr indent="0" marL="0">
              <a:buNone/>
            </a:pPr>
            <a:r>
              <a:rPr lang="en-US" sz="1300" b="1" dirty="0">
                <a:solidFill>
                  <a:srgbClr val="2B2B2B"/>
                </a:solidFill>
              </a:rPr>
              <a:t>Copper Cross-Over</a:t>
            </a:r>
            <a:r>
              <a:rPr lang="en-US" sz="1300" dirty="0">
                <a:solidFill>
                  <a:srgbClr val="2B2B2B"/>
                </a:solidFill>
              </a:rPr>
              <a:t> — same device types: switch–switch, router–router, PC–PC (and PC–router)</a:t>
            </a:r>
            <a:endParaRPr lang="en-US" sz="1300" dirty="0"/>
          </a:p>
        </p:txBody>
      </p:sp>
      <p:sp>
        <p:nvSpPr>
          <p:cNvPr id="25" name="Shape 22"/>
          <p:cNvSpPr/>
          <p:nvPr/>
        </p:nvSpPr>
        <p:spPr>
          <a:xfrm>
            <a:off x="6126480" y="3209544"/>
            <a:ext cx="5513832" cy="530352"/>
          </a:xfrm>
          <a:prstGeom prst="roundRect">
            <a:avLst>
              <a:gd name="adj" fmla="val 8621"/>
            </a:avLst>
          </a:prstGeom>
          <a:solidFill>
            <a:srgbClr val="F2F8F3"/>
          </a:solidFill>
          <a:ln w="9525">
            <a:solidFill>
              <a:srgbClr val="B7C9BA"/>
            </a:solidFill>
            <a:prstDash val="solid"/>
          </a:ln>
        </p:spPr>
      </p:sp>
      <p:sp>
        <p:nvSpPr>
          <p:cNvPr id="26" name="Shape 23"/>
          <p:cNvSpPr/>
          <p:nvPr/>
        </p:nvSpPr>
        <p:spPr>
          <a:xfrm>
            <a:off x="6263640" y="3474720"/>
            <a:ext cx="822960" cy="914"/>
          </a:xfrm>
          <a:prstGeom prst="line">
            <a:avLst/>
          </a:prstGeom>
          <a:noFill/>
          <a:ln w="31750">
            <a:solidFill>
              <a:srgbClr val="29A8D8"/>
            </a:solidFill>
            <a:prstDash val="solid"/>
          </a:ln>
        </p:spPr>
      </p:sp>
      <p:sp>
        <p:nvSpPr>
          <p:cNvPr id="27" name="Text 24"/>
          <p:cNvSpPr txBox="1"/>
          <p:nvPr/>
        </p:nvSpPr>
        <p:spPr>
          <a:xfrm>
            <a:off x="7223760" y="3227832"/>
            <a:ext cx="4325112" cy="493776"/>
          </a:xfrm>
          <a:prstGeom prst="rect">
            <a:avLst/>
          </a:prstGeom>
          <a:noFill/>
          <a:ln/>
        </p:spPr>
        <p:txBody>
          <a:bodyPr wrap="square" lIns="0" tIns="0" rIns="0" bIns="0" rtlCol="0" anchor="ctr"/>
          <a:lstStyle/>
          <a:p>
            <a:pPr indent="0" marL="0">
              <a:buNone/>
            </a:pPr>
            <a:r>
              <a:rPr lang="en-US" sz="1300" b="1" dirty="0">
                <a:solidFill>
                  <a:srgbClr val="2B2B2B"/>
                </a:solidFill>
              </a:rPr>
              <a:t>Console</a:t>
            </a:r>
            <a:r>
              <a:rPr lang="en-US" sz="1300" dirty="0">
                <a:solidFill>
                  <a:srgbClr val="2B2B2B"/>
                </a:solidFill>
              </a:rPr>
              <a:t> — PC RS 232 port → router or switch Console port, to reach the CLI</a:t>
            </a:r>
            <a:endParaRPr lang="en-US" sz="1300" dirty="0"/>
          </a:p>
        </p:txBody>
      </p:sp>
      <p:sp>
        <p:nvSpPr>
          <p:cNvPr id="28" name="Shape 25"/>
          <p:cNvSpPr/>
          <p:nvPr/>
        </p:nvSpPr>
        <p:spPr>
          <a:xfrm>
            <a:off x="6126480" y="3776472"/>
            <a:ext cx="5513832" cy="530352"/>
          </a:xfrm>
          <a:prstGeom prst="roundRect">
            <a:avLst>
              <a:gd name="adj" fmla="val 8621"/>
            </a:avLst>
          </a:prstGeom>
          <a:solidFill>
            <a:srgbClr val="F2F8F3"/>
          </a:solidFill>
          <a:ln w="9525">
            <a:solidFill>
              <a:srgbClr val="B7C9BA"/>
            </a:solidFill>
            <a:prstDash val="solid"/>
          </a:ln>
        </p:spPr>
      </p:sp>
      <p:sp>
        <p:nvSpPr>
          <p:cNvPr id="29" name="Shape 26"/>
          <p:cNvSpPr/>
          <p:nvPr/>
        </p:nvSpPr>
        <p:spPr>
          <a:xfrm>
            <a:off x="6263640" y="4041648"/>
            <a:ext cx="822960" cy="914"/>
          </a:xfrm>
          <a:prstGeom prst="line">
            <a:avLst/>
          </a:prstGeom>
          <a:noFill/>
          <a:ln w="28575">
            <a:solidFill>
              <a:srgbClr val="C53030"/>
            </a:solidFill>
            <a:prstDash val="solid"/>
          </a:ln>
        </p:spPr>
      </p:sp>
      <p:pic>
        <p:nvPicPr>
          <p:cNvPr id="30" name="Image 1" descr="lightning">    </p:cNvPr>
          <p:cNvPicPr>
            <a:picLocks noChangeAspect="1"/>
          </p:cNvPicPr>
          <p:nvPr/>
        </p:nvPicPr>
        <p:blipFill>
          <a:blip r:embed="rId3"/>
          <a:stretch>
            <a:fillRect/>
          </a:stretch>
        </p:blipFill>
        <p:spPr>
          <a:xfrm>
            <a:off x="6556248" y="3913632"/>
            <a:ext cx="246888" cy="246888"/>
          </a:xfrm>
          <a:prstGeom prst="rect">
            <a:avLst/>
          </a:prstGeom>
        </p:spPr>
      </p:pic>
      <p:sp>
        <p:nvSpPr>
          <p:cNvPr id="31" name="Text 27"/>
          <p:cNvSpPr txBox="1"/>
          <p:nvPr/>
        </p:nvSpPr>
        <p:spPr>
          <a:xfrm>
            <a:off x="7223760" y="3794760"/>
            <a:ext cx="4325112" cy="493776"/>
          </a:xfrm>
          <a:prstGeom prst="rect">
            <a:avLst/>
          </a:prstGeom>
          <a:noFill/>
          <a:ln/>
        </p:spPr>
        <p:txBody>
          <a:bodyPr wrap="square" lIns="0" tIns="0" rIns="0" bIns="0" rtlCol="0" anchor="ctr"/>
          <a:lstStyle/>
          <a:p>
            <a:pPr indent="0" marL="0">
              <a:buNone/>
            </a:pPr>
            <a:r>
              <a:rPr lang="en-US" sz="1300" b="1" dirty="0">
                <a:solidFill>
                  <a:srgbClr val="2B2B2B"/>
                </a:solidFill>
              </a:rPr>
              <a:t>Serial DCE / DTE</a:t>
            </a:r>
            <a:r>
              <a:rPr lang="en-US" sz="1300" dirty="0">
                <a:solidFill>
                  <a:srgbClr val="2B2B2B"/>
                </a:solidFill>
              </a:rPr>
              <a:t> — router–router WAN link (the router needs a serial module)</a:t>
            </a:r>
            <a:endParaRPr lang="en-US" sz="1300" dirty="0"/>
          </a:p>
        </p:txBody>
      </p:sp>
      <p:sp>
        <p:nvSpPr>
          <p:cNvPr id="32" name="Shape 28"/>
          <p:cNvSpPr/>
          <p:nvPr/>
        </p:nvSpPr>
        <p:spPr>
          <a:xfrm>
            <a:off x="6126480" y="4343400"/>
            <a:ext cx="5513832" cy="530352"/>
          </a:xfrm>
          <a:prstGeom prst="roundRect">
            <a:avLst>
              <a:gd name="adj" fmla="val 8621"/>
            </a:avLst>
          </a:prstGeom>
          <a:solidFill>
            <a:srgbClr val="F2F8F3"/>
          </a:solidFill>
          <a:ln w="9525">
            <a:solidFill>
              <a:srgbClr val="B7C9BA"/>
            </a:solidFill>
            <a:prstDash val="solid"/>
          </a:ln>
        </p:spPr>
      </p:sp>
      <p:sp>
        <p:nvSpPr>
          <p:cNvPr id="33" name="Shape 29"/>
          <p:cNvSpPr/>
          <p:nvPr/>
        </p:nvSpPr>
        <p:spPr>
          <a:xfrm>
            <a:off x="6263640" y="4608576"/>
            <a:ext cx="822960" cy="914"/>
          </a:xfrm>
          <a:prstGeom prst="line">
            <a:avLst/>
          </a:prstGeom>
          <a:noFill/>
          <a:ln w="28575">
            <a:solidFill>
              <a:srgbClr val="E07B00"/>
            </a:solidFill>
            <a:prstDash val="solid"/>
          </a:ln>
        </p:spPr>
      </p:sp>
      <p:sp>
        <p:nvSpPr>
          <p:cNvPr id="34" name="Text 30"/>
          <p:cNvSpPr txBox="1"/>
          <p:nvPr/>
        </p:nvSpPr>
        <p:spPr>
          <a:xfrm>
            <a:off x="7223760" y="4361688"/>
            <a:ext cx="4325112" cy="493776"/>
          </a:xfrm>
          <a:prstGeom prst="rect">
            <a:avLst/>
          </a:prstGeom>
          <a:noFill/>
          <a:ln/>
        </p:spPr>
        <p:txBody>
          <a:bodyPr wrap="square" lIns="0" tIns="0" rIns="0" bIns="0" rtlCol="0" anchor="ctr"/>
          <a:lstStyle/>
          <a:p>
            <a:pPr indent="0" marL="0">
              <a:buNone/>
            </a:pPr>
            <a:r>
              <a:rPr lang="en-US" sz="1300" b="1" dirty="0">
                <a:solidFill>
                  <a:srgbClr val="2B2B2B"/>
                </a:solidFill>
              </a:rPr>
              <a:t>Fiber</a:t>
            </a:r>
            <a:r>
              <a:rPr lang="en-US" sz="1300" dirty="0">
                <a:solidFill>
                  <a:srgbClr val="2B2B2B"/>
                </a:solidFill>
              </a:rPr>
              <a:t> — fibre ports: long or fast links between switches</a:t>
            </a:r>
            <a:endParaRPr lang="en-US" sz="1300" dirty="0"/>
          </a:p>
        </p:txBody>
      </p:sp>
      <p:sp>
        <p:nvSpPr>
          <p:cNvPr id="35" name="Shape 31"/>
          <p:cNvSpPr/>
          <p:nvPr/>
        </p:nvSpPr>
        <p:spPr>
          <a:xfrm>
            <a:off x="6126480" y="4910328"/>
            <a:ext cx="5513832" cy="530352"/>
          </a:xfrm>
          <a:prstGeom prst="roundRect">
            <a:avLst>
              <a:gd name="adj" fmla="val 8621"/>
            </a:avLst>
          </a:prstGeom>
          <a:solidFill>
            <a:srgbClr val="F2F8F3"/>
          </a:solidFill>
          <a:ln w="9525">
            <a:solidFill>
              <a:srgbClr val="B7C9BA"/>
            </a:solidFill>
            <a:prstDash val="solid"/>
          </a:ln>
        </p:spPr>
      </p:sp>
      <p:pic>
        <p:nvPicPr>
          <p:cNvPr id="36" name="Image 2" descr="lightning">    </p:cNvPr>
          <p:cNvPicPr>
            <a:picLocks noChangeAspect="1"/>
          </p:cNvPicPr>
          <p:nvPr/>
        </p:nvPicPr>
        <p:blipFill>
          <a:blip r:embed="rId4"/>
          <a:stretch>
            <a:fillRect/>
          </a:stretch>
        </p:blipFill>
        <p:spPr>
          <a:xfrm>
            <a:off x="6556248" y="5047488"/>
            <a:ext cx="246888" cy="246888"/>
          </a:xfrm>
          <a:prstGeom prst="rect">
            <a:avLst/>
          </a:prstGeom>
        </p:spPr>
      </p:pic>
      <p:sp>
        <p:nvSpPr>
          <p:cNvPr id="37" name="Text 32"/>
          <p:cNvSpPr txBox="1"/>
          <p:nvPr/>
        </p:nvSpPr>
        <p:spPr>
          <a:xfrm>
            <a:off x="7223760" y="4928616"/>
            <a:ext cx="4325112" cy="493776"/>
          </a:xfrm>
          <a:prstGeom prst="rect">
            <a:avLst/>
          </a:prstGeom>
          <a:noFill/>
          <a:ln/>
        </p:spPr>
        <p:txBody>
          <a:bodyPr wrap="square" lIns="0" tIns="0" rIns="0" bIns="0" rtlCol="0" anchor="ctr"/>
          <a:lstStyle/>
          <a:p>
            <a:pPr indent="0" marL="0">
              <a:buNone/>
            </a:pPr>
            <a:r>
              <a:rPr lang="en-US" sz="1300" b="1" dirty="0">
                <a:solidFill>
                  <a:srgbClr val="2B2B2B"/>
                </a:solidFill>
              </a:rPr>
              <a:t>Automatic</a:t>
            </a:r>
            <a:r>
              <a:rPr lang="en-US" sz="1300" dirty="0">
                <a:solidFill>
                  <a:srgbClr val="2B2B2B"/>
                </a:solidFill>
              </a:rPr>
              <a:t> — Packet Tracer chooses for you — avoid it in assessments</a:t>
            </a:r>
            <a:endParaRPr lang="en-US" sz="1300" dirty="0"/>
          </a:p>
        </p:txBody>
      </p:sp>
      <p:sp>
        <p:nvSpPr>
          <p:cNvPr id="38" name="watch box"/>
          <p:cNvSpPr/>
          <p:nvPr/>
        </p:nvSpPr>
        <p:spPr>
          <a:xfrm>
            <a:off x="548640" y="5504688"/>
            <a:ext cx="11094415" cy="749808"/>
          </a:xfrm>
          <a:prstGeom prst="roundRect">
            <a:avLst>
              <a:gd name="adj" fmla="val 9756"/>
            </a:avLst>
          </a:prstGeom>
          <a:solidFill>
            <a:srgbClr val="FBEAEA"/>
          </a:solidFill>
          <a:ln w="12700">
            <a:solidFill>
              <a:srgbClr val="E9B8B5"/>
            </a:solidFill>
            <a:prstDash val="solid"/>
          </a:ln>
        </p:spPr>
      </p:sp>
      <p:pic>
        <p:nvPicPr>
          <p:cNvPr id="39" name="watch icon" descr="Watch out:">    </p:cNvPr>
          <p:cNvPicPr>
            <a:picLocks noChangeAspect="1"/>
          </p:cNvPicPr>
          <p:nvPr/>
        </p:nvPicPr>
        <p:blipFill>
          <a:blip r:embed="rId5"/>
          <a:stretch>
            <a:fillRect/>
          </a:stretch>
        </p:blipFill>
        <p:spPr>
          <a:xfrm>
            <a:off x="694944" y="5733288"/>
            <a:ext cx="292608" cy="292608"/>
          </a:xfrm>
          <a:prstGeom prst="rect">
            <a:avLst/>
          </a:prstGeom>
        </p:spPr>
      </p:pic>
      <p:sp>
        <p:nvSpPr>
          <p:cNvPr id="40" name="watch text"/>
          <p:cNvSpPr txBox="1"/>
          <p:nvPr/>
        </p:nvSpPr>
        <p:spPr>
          <a:xfrm>
            <a:off x="1097280" y="5541264"/>
            <a:ext cx="10436047" cy="676656"/>
          </a:xfrm>
          <a:prstGeom prst="rect">
            <a:avLst/>
          </a:prstGeom>
          <a:noFill/>
          <a:ln/>
        </p:spPr>
        <p:txBody>
          <a:bodyPr wrap="square" lIns="0" tIns="0" rIns="0" bIns="0" rtlCol="0" anchor="ctr"/>
          <a:lstStyle/>
          <a:p>
            <a:pPr indent="0" marL="0">
              <a:buNone/>
            </a:pPr>
            <a:r>
              <a:rPr lang="en-US" sz="1400" b="1" dirty="0">
                <a:solidFill>
                  <a:srgbClr val="8B1A1A"/>
                </a:solidFill>
              </a:rPr>
              <a:t>Watch out:  </a:t>
            </a:r>
            <a:r>
              <a:rPr lang="en-US" sz="1400" dirty="0">
                <a:solidFill>
                  <a:srgbClr val="2B2B2B"/>
                </a:solidFill>
              </a:rPr>
              <a:t>Red light on a router link even with the right cable? Router ports stay off until you type </a:t>
            </a:r>
            <a:r>
              <a:rPr lang="en-US" sz="1300" b="1" dirty="0">
                <a:solidFill>
                  <a:srgbClr val="1E5631"/>
                </a:solidFill>
                <a:latin typeface="Courier New" pitchFamily="34" charset="0"/>
                <a:ea typeface="Courier New" pitchFamily="34" charset="-122"/>
                <a:cs typeface="Courier New" pitchFamily="34" charset="-120"/>
              </a:rPr>
              <a:t>no shutdown</a:t>
            </a:r>
            <a:r>
              <a:rPr lang="en-US" sz="1400" dirty="0">
                <a:solidFill>
                  <a:srgbClr val="2B2B2B"/>
                </a:solidFill>
              </a:rPr>
              <a:t> (part 03).</a:t>
            </a:r>
            <a:endParaRPr lang="en-US" sz="1400" dirty="0"/>
          </a:p>
        </p:txBody>
      </p:sp>
      <p:sp>
        <p:nvSpPr>
          <p:cNvPr id="41" name="Slide Number Placeholder 0"/>
          <p:cNvSpPr>
            <a:spLocks noGrp="1"/>
          </p:cNvSpPr>
          <p:nvPr>
            <p:ph type="sldNum" sz="quarter" idx="4294967295"/>
          </p:nvPr>
        </p:nvSpPr>
        <p:spPr>
          <a:xfrm>
            <a:off x="10698480" y="6464808"/>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body" hasCustomPrompt="1"/>
          </p:nvPr>
        </p:nvSpPr>
        <p:spPr>
          <a:xfrm>
            <a:off x="548640" y="274320"/>
            <a:ext cx="9966960" cy="256032"/>
          </a:xfrm>
          <a:prstGeom prst="rect">
            <a:avLst/>
          </a:prstGeom>
          <a:noFill/>
          <a:ln/>
        </p:spPr>
        <p:txBody>
          <a:bodyPr wrap="square" lIns="0" tIns="0" rIns="0" bIns="0" rtlCol="0" anchor="ctr"/>
          <a:lstStyle/>
          <a:p>
            <a:pPr algn="l" indent="0" marL="0">
              <a:buNone/>
            </a:pPr>
            <a:r>
              <a:rPr lang="en-US" sz="1100" b="1" spc="100" kern="0" dirty="0">
                <a:solidFill>
                  <a:schemeClr val="accent2"/>
                </a:solidFill>
              </a:rPr>
              <a:t>01  •  PACKET TRACER BASICS</a:t>
            </a:r>
            <a:endParaRPr lang="en-US" sz="1100" dirty="0"/>
          </a:p>
        </p:txBody>
      </p:sp>
      <p:sp>
        <p:nvSpPr>
          <p:cNvPr id="3" name="Text 1"/>
          <p:cNvSpPr/>
          <p:nvPr>
            <p:ph idx="103" type="title" hasCustomPrompt="1"/>
          </p:nvPr>
        </p:nvSpPr>
        <p:spPr>
          <a:xfrm>
            <a:off x="548640" y="548640"/>
            <a:ext cx="10149840" cy="548640"/>
          </a:xfrm>
          <a:prstGeom prst="rect">
            <a:avLst/>
          </a:prstGeom>
          <a:noFill/>
          <a:ln/>
        </p:spPr>
        <p:txBody>
          <a:bodyPr wrap="square" lIns="0" tIns="0" rIns="0" bIns="0" rtlCol="0" anchor="ctr"/>
          <a:lstStyle/>
          <a:p>
            <a:pPr algn="l" indent="0" marL="0">
              <a:buNone/>
            </a:pPr>
            <a:r>
              <a:rPr lang="en-US" sz="2600" b="1" dirty="0">
                <a:solidFill>
                  <a:schemeClr val="accent1"/>
                </a:solidFill>
              </a:rPr>
              <a:t>How to open the command line (CLI) of a router or switch</a:t>
            </a:r>
            <a:endParaRPr lang="en-US" sz="2600" dirty="0"/>
          </a:p>
        </p:txBody>
      </p:sp>
      <p:pic>
        <p:nvPicPr>
          <p:cNvPr id="4" name="Home button" descr="Home: back to the workbook menu">
            <a:hlinkClick r:id="rId2" tooltip="Back to the workbook menu" action="ppaction://hlinksldjump"/>
          </p:cNvPr>
          <p:cNvPicPr>
            <a:picLocks noChangeAspect="1"/>
          </p:cNvPicPr>
          <p:nvPr/>
        </p:nvPicPr>
        <p:blipFill>
          <a:blip r:embed="rId1"/>
          <a:stretch>
            <a:fillRect/>
          </a:stretch>
        </p:blipFill>
        <p:spPr>
          <a:xfrm>
            <a:off x="11365992" y="6336792"/>
            <a:ext cx="365760" cy="365760"/>
          </a:xfrm>
          <a:prstGeom prst="rect">
            <a:avLst/>
          </a:prstGeom>
        </p:spPr>
      </p:pic>
      <p:sp>
        <p:nvSpPr>
          <p:cNvPr id="5" name="Goal"/>
          <p:cNvSpPr txBox="1"/>
          <p:nvPr/>
        </p:nvSpPr>
        <p:spPr>
          <a:xfrm>
            <a:off x="548640" y="1161288"/>
            <a:ext cx="11094415" cy="384048"/>
          </a:xfrm>
          <a:prstGeom prst="rect">
            <a:avLst/>
          </a:prstGeom>
          <a:noFill/>
          <a:ln/>
        </p:spPr>
        <p:txBody>
          <a:bodyPr wrap="square" lIns="0" tIns="0" rIns="0" bIns="0" rtlCol="0" anchor="ctr"/>
          <a:lstStyle/>
          <a:p>
            <a:pPr indent="0" marL="0">
              <a:buNone/>
            </a:pPr>
            <a:r>
              <a:rPr lang="en-US" sz="1400" b="1" dirty="0">
                <a:solidFill>
                  <a:srgbClr val="2B7043"/>
                </a:solidFill>
              </a:rPr>
              <a:t>Goal:  </a:t>
            </a:r>
            <a:r>
              <a:rPr lang="en-US" sz="1400" dirty="0">
                <a:solidFill>
                  <a:srgbClr val="2B2B2B"/>
                </a:solidFill>
              </a:rPr>
              <a:t>Reach the Cisco IOS command line — the way you will configure everything in this workbook.</a:t>
            </a:r>
            <a:endParaRPr lang="en-US" sz="1400" dirty="0"/>
          </a:p>
        </p:txBody>
      </p:sp>
      <p:sp>
        <p:nvSpPr>
          <p:cNvPr id="6" name="Card"/>
          <p:cNvSpPr/>
          <p:nvPr/>
        </p:nvSpPr>
        <p:spPr>
          <a:xfrm>
            <a:off x="548640" y="1691640"/>
            <a:ext cx="5486400" cy="1024128"/>
          </a:xfrm>
          <a:prstGeom prst="roundRect">
            <a:avLst>
              <a:gd name="adj" fmla="val 7143"/>
            </a:avLst>
          </a:prstGeom>
          <a:solidFill>
            <a:srgbClr val="F2F8F3"/>
          </a:solidFill>
          <a:ln w="12700">
            <a:solidFill>
              <a:srgbClr val="B7C9BA"/>
            </a:solidFill>
            <a:prstDash val="solid"/>
          </a:ln>
        </p:spPr>
      </p:sp>
      <p:sp>
        <p:nvSpPr>
          <p:cNvPr id="7" name="Text 4"/>
          <p:cNvSpPr txBox="1"/>
          <p:nvPr/>
        </p:nvSpPr>
        <p:spPr>
          <a:xfrm>
            <a:off x="694944" y="1794053"/>
            <a:ext cx="5193792" cy="819302"/>
          </a:xfrm>
          <a:prstGeom prst="rect">
            <a:avLst/>
          </a:prstGeom>
          <a:noFill/>
          <a:ln/>
        </p:spPr>
        <p:txBody>
          <a:bodyPr wrap="square" lIns="0" tIns="0" rIns="0" bIns="0" rtlCol="0" anchor="t"/>
          <a:lstStyle/>
          <a:p>
            <a:pPr indent="0" marL="0">
              <a:buNone/>
            </a:pPr>
            <a:r>
              <a:rPr lang="en-US" sz="1400" b="1" dirty="0">
                <a:solidFill>
                  <a:srgbClr val="1E5631"/>
                </a:solidFill>
              </a:rPr>
              <a:t>Quick way — the CLI tab</a:t>
            </a:r>
            <a:endParaRPr lang="en-US" sz="1400" dirty="0"/>
          </a:p>
          <a:p>
            <a:pPr indent="0" marL="0">
              <a:buNone/>
            </a:pPr>
            <a:r>
              <a:rPr lang="en-US" sz="1400" dirty="0">
                <a:solidFill>
                  <a:srgbClr val="2B2B2B"/>
                </a:solidFill>
              </a:rPr>
              <a:t>Click the router or switch → </a:t>
            </a:r>
            <a:r>
              <a:rPr lang="en-US" sz="1400" b="1" dirty="0">
                <a:solidFill>
                  <a:srgbClr val="2B2B2B"/>
                </a:solidFill>
              </a:rPr>
              <a:t>CLI</a:t>
            </a:r>
            <a:r>
              <a:rPr lang="en-US" sz="1400" dirty="0">
                <a:solidFill>
                  <a:srgbClr val="2B2B2B"/>
                </a:solidFill>
              </a:rPr>
              <a:t> tab → click inside the black window and press </a:t>
            </a:r>
            <a:r>
              <a:rPr lang="en-US" sz="1400" b="1" dirty="0">
                <a:solidFill>
                  <a:srgbClr val="2B2B2B"/>
                </a:solidFill>
              </a:rPr>
              <a:t>Enter</a:t>
            </a:r>
            <a:r>
              <a:rPr lang="en-US" sz="1400" dirty="0">
                <a:solidFill>
                  <a:srgbClr val="2B2B2B"/>
                </a:solidFill>
              </a:rPr>
              <a:t>.</a:t>
            </a:r>
            <a:endParaRPr lang="en-US" sz="1400" dirty="0"/>
          </a:p>
        </p:txBody>
      </p:sp>
      <p:sp>
        <p:nvSpPr>
          <p:cNvPr id="8" name="Card"/>
          <p:cNvSpPr/>
          <p:nvPr/>
        </p:nvSpPr>
        <p:spPr>
          <a:xfrm>
            <a:off x="548640" y="2852928"/>
            <a:ext cx="5486400" cy="1261872"/>
          </a:xfrm>
          <a:prstGeom prst="roundRect">
            <a:avLst>
              <a:gd name="adj" fmla="val 5797"/>
            </a:avLst>
          </a:prstGeom>
          <a:solidFill>
            <a:srgbClr val="F2F8F3"/>
          </a:solidFill>
          <a:ln w="12700">
            <a:solidFill>
              <a:srgbClr val="B7C9BA"/>
            </a:solidFill>
            <a:prstDash val="solid"/>
          </a:ln>
        </p:spPr>
      </p:sp>
      <p:sp>
        <p:nvSpPr>
          <p:cNvPr id="9" name="Text 6"/>
          <p:cNvSpPr txBox="1"/>
          <p:nvPr/>
        </p:nvSpPr>
        <p:spPr>
          <a:xfrm>
            <a:off x="694944" y="2955341"/>
            <a:ext cx="5193792" cy="1057046"/>
          </a:xfrm>
          <a:prstGeom prst="rect">
            <a:avLst/>
          </a:prstGeom>
          <a:noFill/>
          <a:ln/>
        </p:spPr>
        <p:txBody>
          <a:bodyPr wrap="square" lIns="0" tIns="0" rIns="0" bIns="0" rtlCol="0" anchor="t"/>
          <a:lstStyle/>
          <a:p>
            <a:pPr indent="0" marL="0">
              <a:buNone/>
            </a:pPr>
            <a:r>
              <a:rPr lang="en-US" sz="1400" b="1" dirty="0">
                <a:solidFill>
                  <a:srgbClr val="1E5631"/>
                </a:solidFill>
              </a:rPr>
              <a:t>Real-life way — a console cable</a:t>
            </a:r>
            <a:endParaRPr lang="en-US" sz="1400" dirty="0"/>
          </a:p>
          <a:p>
            <a:pPr indent="0" marL="0">
              <a:buNone/>
            </a:pPr>
            <a:r>
              <a:rPr lang="en-US" sz="1400" dirty="0">
                <a:solidFill>
                  <a:srgbClr val="2B2B2B"/>
                </a:solidFill>
              </a:rPr>
              <a:t>Console cable: PC </a:t>
            </a:r>
            <a:r>
              <a:rPr lang="en-US" sz="1400" b="1" dirty="0">
                <a:solidFill>
                  <a:srgbClr val="2B2B2B"/>
                </a:solidFill>
              </a:rPr>
              <a:t>RS 232</a:t>
            </a:r>
            <a:r>
              <a:rPr lang="en-US" sz="1400" dirty="0">
                <a:solidFill>
                  <a:srgbClr val="2B2B2B"/>
                </a:solidFill>
              </a:rPr>
              <a:t> → device </a:t>
            </a:r>
            <a:r>
              <a:rPr lang="en-US" sz="1400" b="1" dirty="0">
                <a:solidFill>
                  <a:srgbClr val="2B2B2B"/>
                </a:solidFill>
              </a:rPr>
              <a:t>Console</a:t>
            </a:r>
            <a:r>
              <a:rPr lang="en-US" sz="1400" dirty="0">
                <a:solidFill>
                  <a:srgbClr val="2B2B2B"/>
                </a:solidFill>
              </a:rPr>
              <a:t>. Then PC › Desktop › </a:t>
            </a:r>
            <a:r>
              <a:rPr lang="en-US" sz="1400" b="1" dirty="0">
                <a:solidFill>
                  <a:srgbClr val="2B2B2B"/>
                </a:solidFill>
              </a:rPr>
              <a:t>Terminal</a:t>
            </a:r>
            <a:r>
              <a:rPr lang="en-US" sz="1400" dirty="0">
                <a:solidFill>
                  <a:srgbClr val="2B2B2B"/>
                </a:solidFill>
              </a:rPr>
              <a:t> → OK (keep 9600 bits/s) → press </a:t>
            </a:r>
            <a:r>
              <a:rPr lang="en-US" sz="1400" b="1" dirty="0">
                <a:solidFill>
                  <a:srgbClr val="2B2B2B"/>
                </a:solidFill>
              </a:rPr>
              <a:t>Enter</a:t>
            </a:r>
            <a:r>
              <a:rPr lang="en-US" sz="1400" dirty="0">
                <a:solidFill>
                  <a:srgbClr val="2B2B2B"/>
                </a:solidFill>
              </a:rPr>
              <a:t>.</a:t>
            </a:r>
            <a:endParaRPr lang="en-US" sz="1400" dirty="0"/>
          </a:p>
        </p:txBody>
      </p:sp>
      <p:sp>
        <p:nvSpPr>
          <p:cNvPr id="10" name="Card"/>
          <p:cNvSpPr/>
          <p:nvPr/>
        </p:nvSpPr>
        <p:spPr>
          <a:xfrm>
            <a:off x="548640" y="4251960"/>
            <a:ext cx="5486400" cy="1143000"/>
          </a:xfrm>
          <a:prstGeom prst="roundRect">
            <a:avLst>
              <a:gd name="adj" fmla="val 6400"/>
            </a:avLst>
          </a:prstGeom>
          <a:solidFill>
            <a:srgbClr val="F2F8F3"/>
          </a:solidFill>
          <a:ln w="12700">
            <a:solidFill>
              <a:srgbClr val="B7C9BA"/>
            </a:solidFill>
            <a:prstDash val="solid"/>
          </a:ln>
        </p:spPr>
      </p:sp>
      <p:sp>
        <p:nvSpPr>
          <p:cNvPr id="11" name="Text 8"/>
          <p:cNvSpPr txBox="1"/>
          <p:nvPr/>
        </p:nvSpPr>
        <p:spPr>
          <a:xfrm>
            <a:off x="694944" y="4354373"/>
            <a:ext cx="5193792" cy="938174"/>
          </a:xfrm>
          <a:prstGeom prst="rect">
            <a:avLst/>
          </a:prstGeom>
          <a:noFill/>
          <a:ln/>
        </p:spPr>
        <p:txBody>
          <a:bodyPr wrap="square" lIns="0" tIns="0" rIns="0" bIns="0" rtlCol="0" anchor="t"/>
          <a:lstStyle/>
          <a:p>
            <a:pPr indent="0" marL="0">
              <a:buNone/>
            </a:pPr>
            <a:r>
              <a:rPr lang="en-US" sz="1400" b="1" dirty="0">
                <a:solidFill>
                  <a:srgbClr val="1E5631"/>
                </a:solidFill>
              </a:rPr>
              <a:t>The Config tab (a shortcut)</a:t>
            </a:r>
            <a:endParaRPr lang="en-US" sz="1400" dirty="0"/>
          </a:p>
          <a:p>
            <a:pPr indent="0" marL="0">
              <a:buNone/>
            </a:pPr>
            <a:r>
              <a:rPr lang="en-US" sz="1400" dirty="0">
                <a:solidFill>
                  <a:srgbClr val="2B2B2B"/>
                </a:solidFill>
              </a:rPr>
              <a:t>Forms that type commands for you, shown at the bottom as </a:t>
            </a:r>
            <a:r>
              <a:rPr lang="en-US" sz="1400" b="1" dirty="0">
                <a:solidFill>
                  <a:srgbClr val="2B2B2B"/>
                </a:solidFill>
              </a:rPr>
              <a:t>Equivalent IOS Commands</a:t>
            </a:r>
            <a:r>
              <a:rPr lang="en-US" sz="1400" dirty="0">
                <a:solidFill>
                  <a:srgbClr val="2B2B2B"/>
                </a:solidFill>
              </a:rPr>
              <a:t>. Learn from it, but practise in the CLI.</a:t>
            </a:r>
            <a:endParaRPr lang="en-US" sz="1400" dirty="0"/>
          </a:p>
        </p:txBody>
      </p:sp>
      <p:sp>
        <p:nvSpPr>
          <p:cNvPr id="12" name="Terminal window"/>
          <p:cNvSpPr/>
          <p:nvPr/>
        </p:nvSpPr>
        <p:spPr>
          <a:xfrm>
            <a:off x="6309360" y="1691640"/>
            <a:ext cx="5330952" cy="2514600"/>
          </a:xfrm>
          <a:prstGeom prst="roundRect">
            <a:avLst>
              <a:gd name="adj" fmla="val 2909"/>
            </a:avLst>
          </a:prstGeom>
          <a:solidFill>
            <a:srgbClr val="1B2B22"/>
          </a:solidFill>
          <a:ln w="6350">
            <a:solidFill>
              <a:srgbClr val="1B2B22"/>
            </a:solidFill>
            <a:prstDash val="solid"/>
          </a:ln>
        </p:spPr>
      </p:sp>
      <p:sp>
        <p:nvSpPr>
          <p:cNvPr id="13" name="Shape 10"/>
          <p:cNvSpPr/>
          <p:nvPr/>
        </p:nvSpPr>
        <p:spPr>
          <a:xfrm>
            <a:off x="6473952" y="1810512"/>
            <a:ext cx="109728" cy="109728"/>
          </a:xfrm>
          <a:prstGeom prst="ellipse">
            <a:avLst/>
          </a:prstGeom>
          <a:solidFill>
            <a:srgbClr val="E0605A"/>
          </a:solidFill>
          <a:ln/>
        </p:spPr>
      </p:sp>
      <p:sp>
        <p:nvSpPr>
          <p:cNvPr id="14" name="Shape 11"/>
          <p:cNvSpPr/>
          <p:nvPr/>
        </p:nvSpPr>
        <p:spPr>
          <a:xfrm>
            <a:off x="6656832" y="1810512"/>
            <a:ext cx="109728" cy="109728"/>
          </a:xfrm>
          <a:prstGeom prst="ellipse">
            <a:avLst/>
          </a:prstGeom>
          <a:solidFill>
            <a:srgbClr val="E8B92E"/>
          </a:solidFill>
          <a:ln/>
        </p:spPr>
      </p:sp>
      <p:sp>
        <p:nvSpPr>
          <p:cNvPr id="15" name="Shape 12"/>
          <p:cNvSpPr/>
          <p:nvPr/>
        </p:nvSpPr>
        <p:spPr>
          <a:xfrm>
            <a:off x="6839712" y="1810512"/>
            <a:ext cx="109728" cy="109728"/>
          </a:xfrm>
          <a:prstGeom prst="ellipse">
            <a:avLst/>
          </a:prstGeom>
          <a:solidFill>
            <a:srgbClr val="4CAF50"/>
          </a:solidFill>
          <a:ln/>
        </p:spPr>
      </p:sp>
      <p:sp>
        <p:nvSpPr>
          <p:cNvPr id="16" name="Text 13"/>
          <p:cNvSpPr txBox="1"/>
          <p:nvPr/>
        </p:nvSpPr>
        <p:spPr>
          <a:xfrm>
            <a:off x="7086600" y="1737360"/>
            <a:ext cx="4416552" cy="256032"/>
          </a:xfrm>
          <a:prstGeom prst="rect">
            <a:avLst/>
          </a:prstGeom>
          <a:noFill/>
          <a:ln/>
        </p:spPr>
        <p:txBody>
          <a:bodyPr wrap="square" lIns="0" tIns="0" rIns="0" bIns="0" rtlCol="0" anchor="ctr"/>
          <a:lstStyle/>
          <a:p>
            <a:pPr indent="0" marL="0">
              <a:buNone/>
            </a:pPr>
            <a:r>
              <a:rPr lang="en-US" sz="1100" b="1" dirty="0">
                <a:solidFill>
                  <a:srgbClr val="C9D6CC"/>
                </a:solidFill>
              </a:rPr>
              <a:t>R1  ›  CLI  (end of the start-up messages)</a:t>
            </a:r>
            <a:endParaRPr lang="en-US" sz="1100" dirty="0"/>
          </a:p>
        </p:txBody>
      </p:sp>
      <p:sp>
        <p:nvSpPr>
          <p:cNvPr id="17" name="Terminal text"/>
          <p:cNvSpPr txBox="1"/>
          <p:nvPr/>
        </p:nvSpPr>
        <p:spPr>
          <a:xfrm>
            <a:off x="6492240" y="2075688"/>
            <a:ext cx="5010912" cy="2039112"/>
          </a:xfrm>
          <a:prstGeom prst="rect">
            <a:avLst/>
          </a:prstGeom>
          <a:noFill/>
          <a:ln/>
        </p:spPr>
        <p:txBody>
          <a:bodyPr wrap="square" lIns="0" tIns="0" rIns="0" bIns="0" rtlCol="0" anchor="t"/>
          <a:lstStyle/>
          <a:p>
            <a:pPr indent="0" marL="0">
              <a:lnSpc>
                <a:spcPct val="100000"/>
              </a:lnSpc>
              <a:buNone/>
            </a:pPr>
            <a:r>
              <a:rPr lang="en-US" sz="1200" dirty="0">
                <a:solidFill>
                  <a:srgbClr val="D5E2D8"/>
                </a:solidFill>
                <a:latin typeface="Courier New" pitchFamily="34" charset="0"/>
                <a:ea typeface="Courier New" pitchFamily="34" charset="-122"/>
                <a:cs typeface="Courier New" pitchFamily="34" charset="-120"/>
              </a:rPr>
              <a:t>   --- System Configuration Dialog ---</a:t>
            </a:r>
            <a:endParaRPr lang="en-US" sz="1200" dirty="0"/>
          </a:p>
          <a:p>
            <a:pPr indent="0" marL="0">
              <a:lnSpc>
                <a:spcPct val="100000"/>
              </a:lnSpc>
              <a:buNone/>
            </a:pPr>
            <a:r>
              <a:rPr lang="en-US" sz="1200" dirty="0">
                <a:solidFill>
                  <a:srgbClr val="D5E2D8"/>
                </a:solidFill>
                <a:latin typeface="Courier New" pitchFamily="34" charset="0"/>
                <a:ea typeface="Courier New" pitchFamily="34" charset="-122"/>
                <a:cs typeface="Courier New" pitchFamily="34" charset="-120"/>
              </a:rPr>
              <a:t> </a:t>
            </a:r>
            <a:endParaRPr lang="en-US" sz="1200" dirty="0"/>
          </a:p>
          <a:p>
            <a:pPr indent="0" marL="0">
              <a:lnSpc>
                <a:spcPct val="100000"/>
              </a:lnSpc>
              <a:buNone/>
            </a:pPr>
            <a:r>
              <a:rPr lang="en-US" sz="1200" dirty="0">
                <a:solidFill>
                  <a:srgbClr val="D5E2D8"/>
                </a:solidFill>
                <a:latin typeface="Courier New" pitchFamily="34" charset="0"/>
                <a:ea typeface="Courier New" pitchFamily="34" charset="-122"/>
                <a:cs typeface="Courier New" pitchFamily="34" charset="-120"/>
              </a:rPr>
              <a:t>Would you like to enter the initial</a:t>
            </a:r>
            <a:endParaRPr lang="en-US" sz="1200" dirty="0"/>
          </a:p>
          <a:p>
            <a:pPr indent="0" marL="0">
              <a:lnSpc>
                <a:spcPct val="100000"/>
              </a:lnSpc>
              <a:buNone/>
            </a:pPr>
            <a:r>
              <a:rPr lang="en-US" sz="1200" dirty="0">
                <a:solidFill>
                  <a:srgbClr val="D5E2D8"/>
                </a:solidFill>
                <a:latin typeface="Courier New" pitchFamily="34" charset="0"/>
                <a:ea typeface="Courier New" pitchFamily="34" charset="-122"/>
                <a:cs typeface="Courier New" pitchFamily="34" charset="-120"/>
              </a:rPr>
              <a:t>configuration dialog? [yes/no]: </a:t>
            </a:r>
            <a:r>
              <a:rPr lang="en-US" sz="1200" b="1" dirty="0">
                <a:solidFill>
                  <a:srgbClr val="E8B92E"/>
                </a:solidFill>
                <a:latin typeface="Courier New" pitchFamily="34" charset="0"/>
                <a:ea typeface="Courier New" pitchFamily="34" charset="-122"/>
                <a:cs typeface="Courier New" pitchFamily="34" charset="-120"/>
              </a:rPr>
              <a:t>no</a:t>
            </a:r>
            <a:endParaRPr lang="en-US" sz="1200" dirty="0"/>
          </a:p>
          <a:p>
            <a:pPr indent="0" marL="0">
              <a:lnSpc>
                <a:spcPct val="100000"/>
              </a:lnSpc>
              <a:buNone/>
            </a:pPr>
            <a:r>
              <a:rPr lang="en-US" sz="1200" dirty="0">
                <a:solidFill>
                  <a:srgbClr val="D5E2D8"/>
                </a:solidFill>
                <a:latin typeface="Courier New" pitchFamily="34" charset="0"/>
                <a:ea typeface="Courier New" pitchFamily="34" charset="-122"/>
                <a:cs typeface="Courier New" pitchFamily="34" charset="-120"/>
              </a:rPr>
              <a:t> </a:t>
            </a:r>
            <a:endParaRPr lang="en-US" sz="1200" dirty="0"/>
          </a:p>
          <a:p>
            <a:pPr indent="0" marL="0">
              <a:lnSpc>
                <a:spcPct val="100000"/>
              </a:lnSpc>
              <a:buNone/>
            </a:pPr>
            <a:r>
              <a:rPr lang="en-US" sz="1200" dirty="0">
                <a:solidFill>
                  <a:srgbClr val="D5E2D8"/>
                </a:solidFill>
                <a:latin typeface="Courier New" pitchFamily="34" charset="0"/>
                <a:ea typeface="Courier New" pitchFamily="34" charset="-122"/>
                <a:cs typeface="Courier New" pitchFamily="34" charset="-120"/>
              </a:rPr>
              <a:t>Press RETURN to get started!</a:t>
            </a:r>
            <a:endParaRPr lang="en-US" sz="1200" dirty="0"/>
          </a:p>
          <a:p>
            <a:pPr indent="0" marL="0">
              <a:lnSpc>
                <a:spcPct val="100000"/>
              </a:lnSpc>
              <a:buNone/>
            </a:pPr>
            <a:r>
              <a:rPr lang="en-US" sz="1200" dirty="0">
                <a:solidFill>
                  <a:srgbClr val="D5E2D8"/>
                </a:solidFill>
                <a:latin typeface="Courier New" pitchFamily="34" charset="0"/>
                <a:ea typeface="Courier New" pitchFamily="34" charset="-122"/>
                <a:cs typeface="Courier New" pitchFamily="34" charset="-120"/>
              </a:rPr>
              <a:t> </a:t>
            </a:r>
            <a:endParaRPr lang="en-US" sz="1200" dirty="0"/>
          </a:p>
          <a:p>
            <a:pPr indent="0" marL="0">
              <a:lnSpc>
                <a:spcPct val="100000"/>
              </a:lnSpc>
              <a:buNone/>
            </a:pPr>
            <a:r>
              <a:rPr lang="en-US" sz="1200" dirty="0">
                <a:solidFill>
                  <a:srgbClr val="8FC9A0"/>
                </a:solidFill>
                <a:latin typeface="Courier New" pitchFamily="34" charset="0"/>
                <a:ea typeface="Courier New" pitchFamily="34" charset="-122"/>
                <a:cs typeface="Courier New" pitchFamily="34" charset="-120"/>
              </a:rPr>
              <a:t>Router&gt;</a:t>
            </a:r>
            <a:r>
              <a:rPr lang="en-US" sz="1200" b="1" dirty="0">
                <a:solidFill>
                  <a:srgbClr val="E8B92E"/>
                </a:solidFill>
                <a:latin typeface="Courier New" pitchFamily="34" charset="0"/>
                <a:ea typeface="Courier New" pitchFamily="34" charset="-122"/>
                <a:cs typeface="Courier New" pitchFamily="34" charset="-120"/>
              </a:rPr>
              <a:t>enable</a:t>
            </a:r>
            <a:endParaRPr lang="en-US" sz="1200" dirty="0"/>
          </a:p>
          <a:p>
            <a:pPr indent="0" marL="0">
              <a:lnSpc>
                <a:spcPct val="100000"/>
              </a:lnSpc>
              <a:buNone/>
            </a:pPr>
            <a:r>
              <a:rPr lang="en-US" sz="1200" dirty="0">
                <a:solidFill>
                  <a:srgbClr val="8FC9A0"/>
                </a:solidFill>
                <a:latin typeface="Courier New" pitchFamily="34" charset="0"/>
                <a:ea typeface="Courier New" pitchFamily="34" charset="-122"/>
                <a:cs typeface="Courier New" pitchFamily="34" charset="-120"/>
              </a:rPr>
              <a:t>Router#</a:t>
            </a:r>
            <a:endParaRPr lang="en-US" sz="1200" dirty="0"/>
          </a:p>
        </p:txBody>
      </p:sp>
      <p:sp>
        <p:nvSpPr>
          <p:cNvPr id="18" name="Card"/>
          <p:cNvSpPr/>
          <p:nvPr/>
        </p:nvSpPr>
        <p:spPr>
          <a:xfrm>
            <a:off x="6309360" y="4343400"/>
            <a:ext cx="5330952" cy="1051560"/>
          </a:xfrm>
          <a:prstGeom prst="roundRect">
            <a:avLst>
              <a:gd name="adj" fmla="val 6957"/>
            </a:avLst>
          </a:prstGeom>
          <a:solidFill>
            <a:srgbClr val="E8F1EA"/>
          </a:solidFill>
          <a:ln w="12700">
            <a:solidFill>
              <a:srgbClr val="B7C9BA"/>
            </a:solidFill>
            <a:prstDash val="solid"/>
          </a:ln>
        </p:spPr>
      </p:sp>
      <p:sp>
        <p:nvSpPr>
          <p:cNvPr id="19" name="Text 16"/>
          <p:cNvSpPr txBox="1"/>
          <p:nvPr/>
        </p:nvSpPr>
        <p:spPr>
          <a:xfrm>
            <a:off x="6455664" y="4445813"/>
            <a:ext cx="5038344" cy="846734"/>
          </a:xfrm>
          <a:prstGeom prst="rect">
            <a:avLst/>
          </a:prstGeom>
          <a:noFill/>
          <a:ln/>
        </p:spPr>
        <p:txBody>
          <a:bodyPr wrap="square" lIns="0" tIns="0" rIns="0" bIns="0" rtlCol="0" anchor="t"/>
          <a:lstStyle/>
          <a:p>
            <a:pPr indent="0" marL="0">
              <a:buNone/>
            </a:pPr>
            <a:r>
              <a:rPr lang="en-US" sz="1400" dirty="0">
                <a:solidFill>
                  <a:srgbClr val="2B2B2B"/>
                </a:solidFill>
              </a:rPr>
              <a:t>Answer </a:t>
            </a:r>
            <a:r>
              <a:rPr lang="en-US" sz="1400" b="1" dirty="0">
                <a:solidFill>
                  <a:srgbClr val="2B2B2B"/>
                </a:solidFill>
              </a:rPr>
              <a:t>no</a:t>
            </a:r>
            <a:r>
              <a:rPr lang="en-US" sz="1400" dirty="0">
                <a:solidFill>
                  <a:srgbClr val="2B2B2B"/>
                </a:solidFill>
              </a:rPr>
              <a:t> — you will configure by hand. </a:t>
            </a:r>
            <a:r>
              <a:rPr lang="en-US" sz="1300" b="1" dirty="0">
                <a:solidFill>
                  <a:srgbClr val="1E5631"/>
                </a:solidFill>
                <a:latin typeface="Courier New" pitchFamily="34" charset="0"/>
                <a:ea typeface="Courier New" pitchFamily="34" charset="-122"/>
                <a:cs typeface="Courier New" pitchFamily="34" charset="-120"/>
              </a:rPr>
              <a:t>Router&gt;</a:t>
            </a:r>
            <a:r>
              <a:rPr lang="en-US" sz="1400" dirty="0">
                <a:solidFill>
                  <a:srgbClr val="2B2B2B"/>
                </a:solidFill>
              </a:rPr>
              <a:t> = user mode (look only); </a:t>
            </a:r>
            <a:r>
              <a:rPr lang="en-US" sz="1300" b="1" dirty="0">
                <a:solidFill>
                  <a:srgbClr val="1E5631"/>
                </a:solidFill>
                <a:latin typeface="Courier New" pitchFamily="34" charset="0"/>
                <a:ea typeface="Courier New" pitchFamily="34" charset="-122"/>
                <a:cs typeface="Courier New" pitchFamily="34" charset="-120"/>
              </a:rPr>
              <a:t>enable</a:t>
            </a:r>
            <a:r>
              <a:rPr lang="en-US" sz="1400" dirty="0">
                <a:solidFill>
                  <a:srgbClr val="2B2B2B"/>
                </a:solidFill>
              </a:rPr>
              <a:t> takes you to </a:t>
            </a:r>
            <a:r>
              <a:rPr lang="en-US" sz="1300" b="1" dirty="0">
                <a:solidFill>
                  <a:srgbClr val="1E5631"/>
                </a:solidFill>
                <a:latin typeface="Courier New" pitchFamily="34" charset="0"/>
                <a:ea typeface="Courier New" pitchFamily="34" charset="-122"/>
                <a:cs typeface="Courier New" pitchFamily="34" charset="-120"/>
              </a:rPr>
              <a:t>Router#</a:t>
            </a:r>
            <a:r>
              <a:rPr lang="en-US" sz="1400" dirty="0">
                <a:solidFill>
                  <a:srgbClr val="2B2B2B"/>
                </a:solidFill>
              </a:rPr>
              <a:t>.</a:t>
            </a:r>
            <a:endParaRPr lang="en-US" sz="1400" dirty="0"/>
          </a:p>
        </p:txBody>
      </p:sp>
      <p:sp>
        <p:nvSpPr>
          <p:cNvPr id="20" name="watch box"/>
          <p:cNvSpPr/>
          <p:nvPr/>
        </p:nvSpPr>
        <p:spPr>
          <a:xfrm>
            <a:off x="548640" y="5504688"/>
            <a:ext cx="11094415" cy="749808"/>
          </a:xfrm>
          <a:prstGeom prst="roundRect">
            <a:avLst>
              <a:gd name="adj" fmla="val 9756"/>
            </a:avLst>
          </a:prstGeom>
          <a:solidFill>
            <a:srgbClr val="FBEAEA"/>
          </a:solidFill>
          <a:ln w="12700">
            <a:solidFill>
              <a:srgbClr val="E9B8B5"/>
            </a:solidFill>
            <a:prstDash val="solid"/>
          </a:ln>
        </p:spPr>
      </p:sp>
      <p:pic>
        <p:nvPicPr>
          <p:cNvPr id="21" name="watch icon" descr="Watch out:">    </p:cNvPr>
          <p:cNvPicPr>
            <a:picLocks noChangeAspect="1"/>
          </p:cNvPicPr>
          <p:nvPr/>
        </p:nvPicPr>
        <p:blipFill>
          <a:blip r:embed="rId3"/>
          <a:stretch>
            <a:fillRect/>
          </a:stretch>
        </p:blipFill>
        <p:spPr>
          <a:xfrm>
            <a:off x="694944" y="5733288"/>
            <a:ext cx="292608" cy="292608"/>
          </a:xfrm>
          <a:prstGeom prst="rect">
            <a:avLst/>
          </a:prstGeom>
        </p:spPr>
      </p:pic>
      <p:sp>
        <p:nvSpPr>
          <p:cNvPr id="22" name="watch text"/>
          <p:cNvSpPr txBox="1"/>
          <p:nvPr/>
        </p:nvSpPr>
        <p:spPr>
          <a:xfrm>
            <a:off x="1097280" y="5541264"/>
            <a:ext cx="10436047" cy="676656"/>
          </a:xfrm>
          <a:prstGeom prst="rect">
            <a:avLst/>
          </a:prstGeom>
          <a:noFill/>
          <a:ln/>
        </p:spPr>
        <p:txBody>
          <a:bodyPr wrap="square" lIns="0" tIns="0" rIns="0" bIns="0" rtlCol="0" anchor="ctr"/>
          <a:lstStyle/>
          <a:p>
            <a:pPr indent="0" marL="0">
              <a:buNone/>
            </a:pPr>
            <a:r>
              <a:rPr lang="en-US" sz="1400" b="1" dirty="0">
                <a:solidFill>
                  <a:srgbClr val="8B1A1A"/>
                </a:solidFill>
              </a:rPr>
              <a:t>Watch out:  </a:t>
            </a:r>
            <a:r>
              <a:rPr lang="en-US" sz="1400" dirty="0">
                <a:solidFill>
                  <a:srgbClr val="2B2B2B"/>
                </a:solidFill>
              </a:rPr>
              <a:t>Nothing on screen? Click inside the CLI window and press Enter — the device may still be starting up.</a:t>
            </a:r>
            <a:endParaRPr lang="en-US" sz="1400" dirty="0"/>
          </a:p>
        </p:txBody>
      </p:sp>
      <p:sp>
        <p:nvSpPr>
          <p:cNvPr id="25" name="Slide Number Placeholder 0"/>
          <p:cNvSpPr>
            <a:spLocks noGrp="1"/>
          </p:cNvSpPr>
          <p:nvPr>
            <p:ph type="sldNum" sz="quarter" idx="4294967295"/>
          </p:nvPr>
        </p:nvSpPr>
        <p:spPr>
          <a:xfrm>
            <a:off x="10698480" y="6464808"/>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body" hasCustomPrompt="1"/>
          </p:nvPr>
        </p:nvSpPr>
        <p:spPr>
          <a:xfrm>
            <a:off x="548640" y="274320"/>
            <a:ext cx="9966960" cy="256032"/>
          </a:xfrm>
          <a:prstGeom prst="rect">
            <a:avLst/>
          </a:prstGeom>
          <a:noFill/>
          <a:ln/>
        </p:spPr>
        <p:txBody>
          <a:bodyPr wrap="square" lIns="0" tIns="0" rIns="0" bIns="0" rtlCol="0" anchor="ctr"/>
          <a:lstStyle/>
          <a:p>
            <a:pPr algn="l" indent="0" marL="0">
              <a:buNone/>
            </a:pPr>
            <a:r>
              <a:rPr lang="en-US" sz="1100" b="1" spc="100" kern="0" dirty="0">
                <a:solidFill>
                  <a:schemeClr val="accent2"/>
                </a:solidFill>
              </a:rPr>
              <a:t>01  •  PACKET TRACER BASICS</a:t>
            </a:r>
            <a:endParaRPr lang="en-US" sz="1100" dirty="0"/>
          </a:p>
        </p:txBody>
      </p:sp>
      <p:sp>
        <p:nvSpPr>
          <p:cNvPr id="3" name="Text 1"/>
          <p:cNvSpPr/>
          <p:nvPr>
            <p:ph idx="103" type="title" hasCustomPrompt="1"/>
          </p:nvPr>
        </p:nvSpPr>
        <p:spPr>
          <a:xfrm>
            <a:off x="548640" y="548640"/>
            <a:ext cx="10149840" cy="548640"/>
          </a:xfrm>
          <a:prstGeom prst="rect">
            <a:avLst/>
          </a:prstGeom>
          <a:noFill/>
          <a:ln/>
        </p:spPr>
        <p:txBody>
          <a:bodyPr wrap="square" lIns="0" tIns="0" rIns="0" bIns="0" rtlCol="0" anchor="ctr"/>
          <a:lstStyle/>
          <a:p>
            <a:pPr algn="l" indent="0" marL="0">
              <a:buNone/>
            </a:pPr>
            <a:r>
              <a:rPr lang="en-US" sz="2600" b="1" dirty="0">
                <a:solidFill>
                  <a:schemeClr val="accent1"/>
                </a:solidFill>
              </a:rPr>
              <a:t>How to give a PC an IP address and test it with ping</a:t>
            </a:r>
            <a:endParaRPr lang="en-US" sz="2600" dirty="0"/>
          </a:p>
        </p:txBody>
      </p:sp>
      <p:pic>
        <p:nvPicPr>
          <p:cNvPr id="4" name="Home button" descr="Home: back to the workbook menu">
            <a:hlinkClick r:id="rId2" tooltip="Back to the workbook menu" action="ppaction://hlinksldjump"/>
          </p:cNvPr>
          <p:cNvPicPr>
            <a:picLocks noChangeAspect="1"/>
          </p:cNvPicPr>
          <p:nvPr/>
        </p:nvPicPr>
        <p:blipFill>
          <a:blip r:embed="rId1"/>
          <a:stretch>
            <a:fillRect/>
          </a:stretch>
        </p:blipFill>
        <p:spPr>
          <a:xfrm>
            <a:off x="11365992" y="6336792"/>
            <a:ext cx="365760" cy="365760"/>
          </a:xfrm>
          <a:prstGeom prst="rect">
            <a:avLst/>
          </a:prstGeom>
        </p:spPr>
      </p:pic>
      <p:sp>
        <p:nvSpPr>
          <p:cNvPr id="5" name="Goal"/>
          <p:cNvSpPr txBox="1"/>
          <p:nvPr/>
        </p:nvSpPr>
        <p:spPr>
          <a:xfrm>
            <a:off x="548640" y="1161288"/>
            <a:ext cx="11094415" cy="384048"/>
          </a:xfrm>
          <a:prstGeom prst="rect">
            <a:avLst/>
          </a:prstGeom>
          <a:noFill/>
          <a:ln/>
        </p:spPr>
        <p:txBody>
          <a:bodyPr wrap="square" lIns="0" tIns="0" rIns="0" bIns="0" rtlCol="0" anchor="ctr"/>
          <a:lstStyle/>
          <a:p>
            <a:pPr indent="0" marL="0">
              <a:buNone/>
            </a:pPr>
            <a:r>
              <a:rPr lang="en-US" sz="1400" b="1" dirty="0">
                <a:solidFill>
                  <a:srgbClr val="2B7043"/>
                </a:solidFill>
              </a:rPr>
              <a:t>Goal:  </a:t>
            </a:r>
            <a:r>
              <a:rPr lang="en-US" sz="1400" dirty="0">
                <a:solidFill>
                  <a:srgbClr val="2B2B2B"/>
                </a:solidFill>
              </a:rPr>
              <a:t>Every PC needs an address, mask and default gateway before it can talk. Then prove it with ping.</a:t>
            </a:r>
            <a:endParaRPr lang="en-US" sz="1400" dirty="0"/>
          </a:p>
        </p:txBody>
      </p:sp>
      <p:sp>
        <p:nvSpPr>
          <p:cNvPr id="6" name="Shape 3"/>
          <p:cNvSpPr/>
          <p:nvPr/>
        </p:nvSpPr>
        <p:spPr>
          <a:xfrm>
            <a:off x="548640" y="1691640"/>
            <a:ext cx="5394960" cy="2240280"/>
          </a:xfrm>
          <a:prstGeom prst="roundRect">
            <a:avLst>
              <a:gd name="adj" fmla="val 2041"/>
            </a:avLst>
          </a:prstGeom>
          <a:solidFill>
            <a:srgbClr val="FFFFFF"/>
          </a:solidFill>
          <a:ln w="12700">
            <a:solidFill>
              <a:srgbClr val="9AA5A0"/>
            </a:solidFill>
            <a:prstDash val="solid"/>
          </a:ln>
        </p:spPr>
      </p:sp>
      <p:sp>
        <p:nvSpPr>
          <p:cNvPr id="7" name="Shape 4"/>
          <p:cNvSpPr/>
          <p:nvPr/>
        </p:nvSpPr>
        <p:spPr>
          <a:xfrm>
            <a:off x="548640" y="1691640"/>
            <a:ext cx="5394960" cy="310896"/>
          </a:xfrm>
          <a:prstGeom prst="rect">
            <a:avLst/>
          </a:prstGeom>
          <a:solidFill>
            <a:srgbClr val="3E4A43"/>
          </a:solidFill>
          <a:ln/>
        </p:spPr>
      </p:sp>
      <p:sp>
        <p:nvSpPr>
          <p:cNvPr id="8" name="Text 5"/>
          <p:cNvSpPr txBox="1"/>
          <p:nvPr/>
        </p:nvSpPr>
        <p:spPr>
          <a:xfrm>
            <a:off x="685800" y="1691640"/>
            <a:ext cx="4572000" cy="310896"/>
          </a:xfrm>
          <a:prstGeom prst="rect">
            <a:avLst/>
          </a:prstGeom>
          <a:noFill/>
          <a:ln/>
        </p:spPr>
        <p:txBody>
          <a:bodyPr wrap="square" lIns="0" tIns="0" rIns="0" bIns="0" rtlCol="0" anchor="ctr"/>
          <a:lstStyle/>
          <a:p>
            <a:pPr indent="0" marL="0">
              <a:buNone/>
            </a:pPr>
            <a:r>
              <a:rPr lang="en-US" sz="1100" b="1" dirty="0">
                <a:solidFill>
                  <a:srgbClr val="FFFFFF"/>
                </a:solidFill>
              </a:rPr>
              <a:t>PC-A  ›  Desktop  ›  IP Configuration</a:t>
            </a:r>
            <a:endParaRPr lang="en-US" sz="1100" dirty="0"/>
          </a:p>
        </p:txBody>
      </p:sp>
      <p:sp>
        <p:nvSpPr>
          <p:cNvPr id="9" name="Text 6"/>
          <p:cNvSpPr txBox="1"/>
          <p:nvPr/>
        </p:nvSpPr>
        <p:spPr>
          <a:xfrm>
            <a:off x="731520" y="2075688"/>
            <a:ext cx="3657600" cy="274320"/>
          </a:xfrm>
          <a:prstGeom prst="rect">
            <a:avLst/>
          </a:prstGeom>
          <a:noFill/>
          <a:ln/>
        </p:spPr>
        <p:txBody>
          <a:bodyPr wrap="square" lIns="0" tIns="0" rIns="0" bIns="0" rtlCol="0" anchor="ctr"/>
          <a:lstStyle/>
          <a:p>
            <a:pPr indent="0" marL="0">
              <a:buNone/>
            </a:pPr>
            <a:r>
              <a:rPr lang="en-US" sz="1200" dirty="0">
                <a:solidFill>
                  <a:srgbClr val="6B6B6B"/>
                </a:solidFill>
              </a:rPr>
              <a:t>○ DHCP      </a:t>
            </a:r>
            <a:r>
              <a:rPr lang="en-US" sz="1200" b="1" dirty="0">
                <a:solidFill>
                  <a:srgbClr val="1E5631"/>
                </a:solidFill>
              </a:rPr>
              <a:t>● Static</a:t>
            </a:r>
            <a:endParaRPr lang="en-US" sz="1200" dirty="0"/>
          </a:p>
        </p:txBody>
      </p:sp>
      <p:sp>
        <p:nvSpPr>
          <p:cNvPr id="10" name="Text 7"/>
          <p:cNvSpPr txBox="1"/>
          <p:nvPr/>
        </p:nvSpPr>
        <p:spPr>
          <a:xfrm>
            <a:off x="731520" y="2423160"/>
            <a:ext cx="1645920" cy="292608"/>
          </a:xfrm>
          <a:prstGeom prst="rect">
            <a:avLst/>
          </a:prstGeom>
          <a:noFill/>
          <a:ln/>
        </p:spPr>
        <p:txBody>
          <a:bodyPr wrap="square" lIns="0" tIns="0" rIns="0" bIns="0" rtlCol="0" anchor="ctr"/>
          <a:lstStyle/>
          <a:p>
            <a:pPr indent="0" marL="0">
              <a:buNone/>
            </a:pPr>
            <a:r>
              <a:rPr lang="en-US" sz="1200" dirty="0">
                <a:solidFill>
                  <a:srgbClr val="2B2B2B"/>
                </a:solidFill>
              </a:rPr>
              <a:t>IPv4 Address</a:t>
            </a:r>
            <a:endParaRPr lang="en-US" sz="1200" dirty="0"/>
          </a:p>
        </p:txBody>
      </p:sp>
      <p:sp>
        <p:nvSpPr>
          <p:cNvPr id="11" name="Shape 8"/>
          <p:cNvSpPr/>
          <p:nvPr/>
        </p:nvSpPr>
        <p:spPr>
          <a:xfrm>
            <a:off x="2423160" y="2423160"/>
            <a:ext cx="3246120" cy="292608"/>
          </a:xfrm>
          <a:prstGeom prst="rect">
            <a:avLst/>
          </a:prstGeom>
          <a:solidFill>
            <a:srgbClr val="FFFFFF"/>
          </a:solidFill>
          <a:ln w="9525">
            <a:solidFill>
              <a:srgbClr val="B5BFB9"/>
            </a:solidFill>
            <a:prstDash val="solid"/>
          </a:ln>
        </p:spPr>
      </p:sp>
      <p:sp>
        <p:nvSpPr>
          <p:cNvPr id="12" name="Text 9"/>
          <p:cNvSpPr txBox="1"/>
          <p:nvPr/>
        </p:nvSpPr>
        <p:spPr>
          <a:xfrm>
            <a:off x="2514600" y="2423160"/>
            <a:ext cx="3108960" cy="292608"/>
          </a:xfrm>
          <a:prstGeom prst="rect">
            <a:avLst/>
          </a:prstGeom>
          <a:noFill/>
          <a:ln/>
        </p:spPr>
        <p:txBody>
          <a:bodyPr wrap="square" lIns="0" tIns="0" rIns="0" bIns="0" rtlCol="0" anchor="ctr"/>
          <a:lstStyle/>
          <a:p>
            <a:pPr indent="0" marL="0">
              <a:buNone/>
            </a:pPr>
            <a:r>
              <a:rPr lang="en-US" sz="1200" b="1" dirty="0">
                <a:solidFill>
                  <a:srgbClr val="1E5631"/>
                </a:solidFill>
                <a:latin typeface="Courier New" pitchFamily="34" charset="0"/>
                <a:ea typeface="Courier New" pitchFamily="34" charset="-122"/>
                <a:cs typeface="Courier New" pitchFamily="34" charset="-120"/>
              </a:rPr>
              <a:t>192.168.1.10</a:t>
            </a:r>
            <a:endParaRPr lang="en-US" sz="1200" dirty="0"/>
          </a:p>
        </p:txBody>
      </p:sp>
      <p:sp>
        <p:nvSpPr>
          <p:cNvPr id="13" name="Text 10"/>
          <p:cNvSpPr txBox="1"/>
          <p:nvPr/>
        </p:nvSpPr>
        <p:spPr>
          <a:xfrm>
            <a:off x="731520" y="2788920"/>
            <a:ext cx="1645920" cy="292608"/>
          </a:xfrm>
          <a:prstGeom prst="rect">
            <a:avLst/>
          </a:prstGeom>
          <a:noFill/>
          <a:ln/>
        </p:spPr>
        <p:txBody>
          <a:bodyPr wrap="square" lIns="0" tIns="0" rIns="0" bIns="0" rtlCol="0" anchor="ctr"/>
          <a:lstStyle/>
          <a:p>
            <a:pPr indent="0" marL="0">
              <a:buNone/>
            </a:pPr>
            <a:r>
              <a:rPr lang="en-US" sz="1200" dirty="0">
                <a:solidFill>
                  <a:srgbClr val="2B2B2B"/>
                </a:solidFill>
              </a:rPr>
              <a:t>Subnet Mask</a:t>
            </a:r>
            <a:endParaRPr lang="en-US" sz="1200" dirty="0"/>
          </a:p>
        </p:txBody>
      </p:sp>
      <p:sp>
        <p:nvSpPr>
          <p:cNvPr id="14" name="Shape 11"/>
          <p:cNvSpPr/>
          <p:nvPr/>
        </p:nvSpPr>
        <p:spPr>
          <a:xfrm>
            <a:off x="2423160" y="2788920"/>
            <a:ext cx="3246120" cy="292608"/>
          </a:xfrm>
          <a:prstGeom prst="rect">
            <a:avLst/>
          </a:prstGeom>
          <a:solidFill>
            <a:srgbClr val="FFFFFF"/>
          </a:solidFill>
          <a:ln w="9525">
            <a:solidFill>
              <a:srgbClr val="B5BFB9"/>
            </a:solidFill>
            <a:prstDash val="solid"/>
          </a:ln>
        </p:spPr>
      </p:sp>
      <p:sp>
        <p:nvSpPr>
          <p:cNvPr id="15" name="Text 12"/>
          <p:cNvSpPr txBox="1"/>
          <p:nvPr/>
        </p:nvSpPr>
        <p:spPr>
          <a:xfrm>
            <a:off x="2514600" y="2788920"/>
            <a:ext cx="3108960" cy="292608"/>
          </a:xfrm>
          <a:prstGeom prst="rect">
            <a:avLst/>
          </a:prstGeom>
          <a:noFill/>
          <a:ln/>
        </p:spPr>
        <p:txBody>
          <a:bodyPr wrap="square" lIns="0" tIns="0" rIns="0" bIns="0" rtlCol="0" anchor="ctr"/>
          <a:lstStyle/>
          <a:p>
            <a:pPr indent="0" marL="0">
              <a:buNone/>
            </a:pPr>
            <a:r>
              <a:rPr lang="en-US" sz="1200" b="1" dirty="0">
                <a:solidFill>
                  <a:srgbClr val="1E5631"/>
                </a:solidFill>
                <a:latin typeface="Courier New" pitchFamily="34" charset="0"/>
                <a:ea typeface="Courier New" pitchFamily="34" charset="-122"/>
                <a:cs typeface="Courier New" pitchFamily="34" charset="-120"/>
              </a:rPr>
              <a:t>255.255.255.0</a:t>
            </a:r>
            <a:endParaRPr lang="en-US" sz="1200" dirty="0"/>
          </a:p>
        </p:txBody>
      </p:sp>
      <p:sp>
        <p:nvSpPr>
          <p:cNvPr id="16" name="Text 13"/>
          <p:cNvSpPr txBox="1"/>
          <p:nvPr/>
        </p:nvSpPr>
        <p:spPr>
          <a:xfrm>
            <a:off x="731520" y="3154680"/>
            <a:ext cx="1645920" cy="292608"/>
          </a:xfrm>
          <a:prstGeom prst="rect">
            <a:avLst/>
          </a:prstGeom>
          <a:noFill/>
          <a:ln/>
        </p:spPr>
        <p:txBody>
          <a:bodyPr wrap="square" lIns="0" tIns="0" rIns="0" bIns="0" rtlCol="0" anchor="ctr"/>
          <a:lstStyle/>
          <a:p>
            <a:pPr indent="0" marL="0">
              <a:buNone/>
            </a:pPr>
            <a:r>
              <a:rPr lang="en-US" sz="1200" dirty="0">
                <a:solidFill>
                  <a:srgbClr val="2B2B2B"/>
                </a:solidFill>
              </a:rPr>
              <a:t>Default Gateway</a:t>
            </a:r>
            <a:endParaRPr lang="en-US" sz="1200" dirty="0"/>
          </a:p>
        </p:txBody>
      </p:sp>
      <p:sp>
        <p:nvSpPr>
          <p:cNvPr id="17" name="Shape 14"/>
          <p:cNvSpPr/>
          <p:nvPr/>
        </p:nvSpPr>
        <p:spPr>
          <a:xfrm>
            <a:off x="2423160" y="3154680"/>
            <a:ext cx="3246120" cy="292608"/>
          </a:xfrm>
          <a:prstGeom prst="rect">
            <a:avLst/>
          </a:prstGeom>
          <a:solidFill>
            <a:srgbClr val="FFFFFF"/>
          </a:solidFill>
          <a:ln w="9525">
            <a:solidFill>
              <a:srgbClr val="B5BFB9"/>
            </a:solidFill>
            <a:prstDash val="solid"/>
          </a:ln>
        </p:spPr>
      </p:sp>
      <p:sp>
        <p:nvSpPr>
          <p:cNvPr id="18" name="Text 15"/>
          <p:cNvSpPr txBox="1"/>
          <p:nvPr/>
        </p:nvSpPr>
        <p:spPr>
          <a:xfrm>
            <a:off x="2514600" y="3154680"/>
            <a:ext cx="3108960" cy="292608"/>
          </a:xfrm>
          <a:prstGeom prst="rect">
            <a:avLst/>
          </a:prstGeom>
          <a:noFill/>
          <a:ln/>
        </p:spPr>
        <p:txBody>
          <a:bodyPr wrap="square" lIns="0" tIns="0" rIns="0" bIns="0" rtlCol="0" anchor="ctr"/>
          <a:lstStyle/>
          <a:p>
            <a:pPr indent="0" marL="0">
              <a:buNone/>
            </a:pPr>
            <a:r>
              <a:rPr lang="en-US" sz="1200" b="1" dirty="0">
                <a:solidFill>
                  <a:srgbClr val="1E5631"/>
                </a:solidFill>
                <a:latin typeface="Courier New" pitchFamily="34" charset="0"/>
                <a:ea typeface="Courier New" pitchFamily="34" charset="-122"/>
                <a:cs typeface="Courier New" pitchFamily="34" charset="-120"/>
              </a:rPr>
              <a:t>192.168.1.1</a:t>
            </a:r>
            <a:endParaRPr lang="en-US" sz="1200" dirty="0"/>
          </a:p>
        </p:txBody>
      </p:sp>
      <p:sp>
        <p:nvSpPr>
          <p:cNvPr id="19" name="Text 16"/>
          <p:cNvSpPr txBox="1"/>
          <p:nvPr/>
        </p:nvSpPr>
        <p:spPr>
          <a:xfrm>
            <a:off x="731520" y="3520440"/>
            <a:ext cx="1645920" cy="292608"/>
          </a:xfrm>
          <a:prstGeom prst="rect">
            <a:avLst/>
          </a:prstGeom>
          <a:noFill/>
          <a:ln/>
        </p:spPr>
        <p:txBody>
          <a:bodyPr wrap="square" lIns="0" tIns="0" rIns="0" bIns="0" rtlCol="0" anchor="ctr"/>
          <a:lstStyle/>
          <a:p>
            <a:pPr indent="0" marL="0">
              <a:buNone/>
            </a:pPr>
            <a:r>
              <a:rPr lang="en-US" sz="1200" dirty="0">
                <a:solidFill>
                  <a:srgbClr val="2B2B2B"/>
                </a:solidFill>
              </a:rPr>
              <a:t>DNS Server</a:t>
            </a:r>
            <a:endParaRPr lang="en-US" sz="1200" dirty="0"/>
          </a:p>
        </p:txBody>
      </p:sp>
      <p:sp>
        <p:nvSpPr>
          <p:cNvPr id="20" name="Shape 17"/>
          <p:cNvSpPr/>
          <p:nvPr/>
        </p:nvSpPr>
        <p:spPr>
          <a:xfrm>
            <a:off x="2423160" y="3520440"/>
            <a:ext cx="3246120" cy="292608"/>
          </a:xfrm>
          <a:prstGeom prst="rect">
            <a:avLst/>
          </a:prstGeom>
          <a:solidFill>
            <a:srgbClr val="FFFFFF"/>
          </a:solidFill>
          <a:ln w="9525">
            <a:solidFill>
              <a:srgbClr val="B5BFB9"/>
            </a:solidFill>
            <a:prstDash val="solid"/>
          </a:ln>
        </p:spPr>
      </p:sp>
      <p:sp>
        <p:nvSpPr>
          <p:cNvPr id="21" name="Text 18"/>
          <p:cNvSpPr txBox="1"/>
          <p:nvPr/>
        </p:nvSpPr>
        <p:spPr>
          <a:xfrm>
            <a:off x="2514600" y="3520440"/>
            <a:ext cx="3108960" cy="292608"/>
          </a:xfrm>
          <a:prstGeom prst="rect">
            <a:avLst/>
          </a:prstGeom>
          <a:noFill/>
          <a:ln/>
        </p:spPr>
        <p:txBody>
          <a:bodyPr wrap="square" lIns="0" tIns="0" rIns="0" bIns="0" rtlCol="0" anchor="ctr"/>
          <a:lstStyle/>
          <a:p>
            <a:pPr indent="0" marL="0">
              <a:buNone/>
            </a:pPr>
            <a:r>
              <a:rPr lang="en-US" sz="1200" b="1" dirty="0">
                <a:solidFill>
                  <a:srgbClr val="1E5631"/>
                </a:solidFill>
                <a:latin typeface="Courier New" pitchFamily="34" charset="0"/>
                <a:ea typeface="Courier New" pitchFamily="34" charset="-122"/>
                <a:cs typeface="Courier New" pitchFamily="34" charset="-120"/>
              </a:rPr>
              <a:t>192.168.50.10</a:t>
            </a:r>
            <a:endParaRPr lang="en-US" sz="1200" dirty="0"/>
          </a:p>
        </p:txBody>
      </p:sp>
      <p:sp>
        <p:nvSpPr>
          <p:cNvPr id="22" name="Shape 19"/>
          <p:cNvSpPr/>
          <p:nvPr/>
        </p:nvSpPr>
        <p:spPr>
          <a:xfrm>
            <a:off x="548640" y="4087368"/>
            <a:ext cx="329184" cy="329184"/>
          </a:xfrm>
          <a:prstGeom prst="ellipse">
            <a:avLst/>
          </a:prstGeom>
          <a:solidFill>
            <a:srgbClr val="1E5631"/>
          </a:solidFill>
          <a:ln/>
        </p:spPr>
      </p:sp>
      <p:sp>
        <p:nvSpPr>
          <p:cNvPr id="23" name="Text 20"/>
          <p:cNvSpPr txBox="1"/>
          <p:nvPr/>
        </p:nvSpPr>
        <p:spPr>
          <a:xfrm>
            <a:off x="548640" y="408736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24" name="Text 21"/>
          <p:cNvSpPr txBox="1"/>
          <p:nvPr/>
        </p:nvSpPr>
        <p:spPr>
          <a:xfrm>
            <a:off x="1024128" y="4069080"/>
            <a:ext cx="4919472" cy="384048"/>
          </a:xfrm>
          <a:prstGeom prst="rect">
            <a:avLst/>
          </a:prstGeom>
          <a:noFill/>
          <a:ln/>
        </p:spPr>
        <p:txBody>
          <a:bodyPr wrap="square" lIns="0" tIns="0" rIns="0" bIns="0" rtlCol="0" anchor="t"/>
          <a:lstStyle/>
          <a:p>
            <a:pPr indent="0" marL="0">
              <a:buNone/>
            </a:pPr>
            <a:r>
              <a:rPr lang="en-US" sz="1400" dirty="0">
                <a:solidFill>
                  <a:srgbClr val="2B2B2B"/>
                </a:solidFill>
              </a:rPr>
              <a:t>Click the PC → </a:t>
            </a:r>
            <a:r>
              <a:rPr lang="en-US" sz="1400" b="1" dirty="0">
                <a:solidFill>
                  <a:srgbClr val="2B2B2B"/>
                </a:solidFill>
              </a:rPr>
              <a:t>Desktop</a:t>
            </a:r>
            <a:r>
              <a:rPr lang="en-US" sz="1400" dirty="0">
                <a:solidFill>
                  <a:srgbClr val="2B2B2B"/>
                </a:solidFill>
              </a:rPr>
              <a:t> → </a:t>
            </a:r>
            <a:r>
              <a:rPr lang="en-US" sz="1400" b="1" dirty="0">
                <a:solidFill>
                  <a:srgbClr val="2B2B2B"/>
                </a:solidFill>
              </a:rPr>
              <a:t>IP Configuration</a:t>
            </a:r>
            <a:r>
              <a:rPr lang="en-US" sz="1400" dirty="0">
                <a:solidFill>
                  <a:srgbClr val="2B2B2B"/>
                </a:solidFill>
              </a:rPr>
              <a:t>.</a:t>
            </a:r>
            <a:endParaRPr lang="en-US" sz="1400" dirty="0"/>
          </a:p>
        </p:txBody>
      </p:sp>
      <p:sp>
        <p:nvSpPr>
          <p:cNvPr id="25" name="Shape 22"/>
          <p:cNvSpPr/>
          <p:nvPr/>
        </p:nvSpPr>
        <p:spPr>
          <a:xfrm>
            <a:off x="548640" y="4544568"/>
            <a:ext cx="329184" cy="329184"/>
          </a:xfrm>
          <a:prstGeom prst="ellipse">
            <a:avLst/>
          </a:prstGeom>
          <a:solidFill>
            <a:srgbClr val="1E5631"/>
          </a:solidFill>
          <a:ln/>
        </p:spPr>
      </p:sp>
      <p:sp>
        <p:nvSpPr>
          <p:cNvPr id="26" name="Text 23"/>
          <p:cNvSpPr txBox="1"/>
          <p:nvPr/>
        </p:nvSpPr>
        <p:spPr>
          <a:xfrm>
            <a:off x="548640" y="454456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27" name="Text 24"/>
          <p:cNvSpPr txBox="1"/>
          <p:nvPr/>
        </p:nvSpPr>
        <p:spPr>
          <a:xfrm>
            <a:off x="1024128" y="4526280"/>
            <a:ext cx="4919472" cy="488696"/>
          </a:xfrm>
          <a:prstGeom prst="rect">
            <a:avLst/>
          </a:prstGeom>
          <a:noFill/>
          <a:ln/>
        </p:spPr>
        <p:txBody>
          <a:bodyPr wrap="square" lIns="0" tIns="0" rIns="0" bIns="0" rtlCol="0" anchor="t"/>
          <a:lstStyle/>
          <a:p>
            <a:pPr indent="0" marL="0">
              <a:buNone/>
            </a:pPr>
            <a:r>
              <a:rPr lang="en-US" sz="1400" dirty="0">
                <a:solidFill>
                  <a:srgbClr val="2B2B2B"/>
                </a:solidFill>
              </a:rPr>
              <a:t>Choose </a:t>
            </a:r>
            <a:r>
              <a:rPr lang="en-US" sz="1400" b="1" dirty="0">
                <a:solidFill>
                  <a:srgbClr val="2B2B2B"/>
                </a:solidFill>
              </a:rPr>
              <a:t>Static</a:t>
            </a:r>
            <a:r>
              <a:rPr lang="en-US" sz="1400" dirty="0">
                <a:solidFill>
                  <a:srgbClr val="2B2B2B"/>
                </a:solidFill>
              </a:rPr>
              <a:t>, type address, mask and gateway (or </a:t>
            </a:r>
            <a:r>
              <a:rPr lang="en-US" sz="1400" b="1" dirty="0">
                <a:solidFill>
                  <a:srgbClr val="2B2B2B"/>
                </a:solidFill>
              </a:rPr>
              <a:t>DHCP</a:t>
            </a:r>
            <a:r>
              <a:rPr lang="en-US" sz="1400" dirty="0">
                <a:solidFill>
                  <a:srgbClr val="2B2B2B"/>
                </a:solidFill>
              </a:rPr>
              <a:t> — part 06).</a:t>
            </a:r>
            <a:endParaRPr lang="en-US" sz="1400" dirty="0"/>
          </a:p>
        </p:txBody>
      </p:sp>
      <p:sp>
        <p:nvSpPr>
          <p:cNvPr id="28" name="Shape 25"/>
          <p:cNvSpPr/>
          <p:nvPr/>
        </p:nvSpPr>
        <p:spPr>
          <a:xfrm>
            <a:off x="548640" y="5106416"/>
            <a:ext cx="329184" cy="329184"/>
          </a:xfrm>
          <a:prstGeom prst="ellipse">
            <a:avLst/>
          </a:prstGeom>
          <a:solidFill>
            <a:srgbClr val="1E5631"/>
          </a:solidFill>
          <a:ln/>
        </p:spPr>
      </p:sp>
      <p:sp>
        <p:nvSpPr>
          <p:cNvPr id="29" name="Text 26"/>
          <p:cNvSpPr txBox="1"/>
          <p:nvPr/>
        </p:nvSpPr>
        <p:spPr>
          <a:xfrm>
            <a:off x="548640" y="510641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30" name="Text 27"/>
          <p:cNvSpPr txBox="1"/>
          <p:nvPr/>
        </p:nvSpPr>
        <p:spPr>
          <a:xfrm>
            <a:off x="1024128" y="5088128"/>
            <a:ext cx="4919472" cy="384048"/>
          </a:xfrm>
          <a:prstGeom prst="rect">
            <a:avLst/>
          </a:prstGeom>
          <a:noFill/>
          <a:ln/>
        </p:spPr>
        <p:txBody>
          <a:bodyPr wrap="square" lIns="0" tIns="0" rIns="0" bIns="0" rtlCol="0" anchor="t"/>
          <a:lstStyle/>
          <a:p>
            <a:pPr indent="0" marL="0">
              <a:buNone/>
            </a:pPr>
            <a:r>
              <a:rPr lang="en-US" sz="1400" dirty="0">
                <a:solidFill>
                  <a:srgbClr val="2B2B2B"/>
                </a:solidFill>
              </a:rPr>
              <a:t>Close it, open </a:t>
            </a:r>
            <a:r>
              <a:rPr lang="en-US" sz="1400" b="1" dirty="0">
                <a:solidFill>
                  <a:srgbClr val="2B2B2B"/>
                </a:solidFill>
              </a:rPr>
              <a:t>Command Prompt</a:t>
            </a:r>
            <a:r>
              <a:rPr lang="en-US" sz="1400" dirty="0">
                <a:solidFill>
                  <a:srgbClr val="2B2B2B"/>
                </a:solidFill>
              </a:rPr>
              <a:t> and test.</a:t>
            </a:r>
            <a:endParaRPr lang="en-US" sz="1400" dirty="0"/>
          </a:p>
        </p:txBody>
      </p:sp>
      <p:sp>
        <p:nvSpPr>
          <p:cNvPr id="31" name="Terminal window"/>
          <p:cNvSpPr/>
          <p:nvPr/>
        </p:nvSpPr>
        <p:spPr>
          <a:xfrm>
            <a:off x="6217920" y="1691640"/>
            <a:ext cx="5422392" cy="3703320"/>
          </a:xfrm>
          <a:prstGeom prst="roundRect">
            <a:avLst>
              <a:gd name="adj" fmla="val 1975"/>
            </a:avLst>
          </a:prstGeom>
          <a:solidFill>
            <a:srgbClr val="1B2B22"/>
          </a:solidFill>
          <a:ln w="6350">
            <a:solidFill>
              <a:srgbClr val="1B2B22"/>
            </a:solidFill>
            <a:prstDash val="solid"/>
          </a:ln>
        </p:spPr>
      </p:sp>
      <p:sp>
        <p:nvSpPr>
          <p:cNvPr id="32" name="Shape 29"/>
          <p:cNvSpPr/>
          <p:nvPr/>
        </p:nvSpPr>
        <p:spPr>
          <a:xfrm>
            <a:off x="6382512" y="1810512"/>
            <a:ext cx="109728" cy="109728"/>
          </a:xfrm>
          <a:prstGeom prst="ellipse">
            <a:avLst/>
          </a:prstGeom>
          <a:solidFill>
            <a:srgbClr val="E0605A"/>
          </a:solidFill>
          <a:ln/>
        </p:spPr>
      </p:sp>
      <p:sp>
        <p:nvSpPr>
          <p:cNvPr id="33" name="Shape 30"/>
          <p:cNvSpPr/>
          <p:nvPr/>
        </p:nvSpPr>
        <p:spPr>
          <a:xfrm>
            <a:off x="6565392" y="1810512"/>
            <a:ext cx="109728" cy="109728"/>
          </a:xfrm>
          <a:prstGeom prst="ellipse">
            <a:avLst/>
          </a:prstGeom>
          <a:solidFill>
            <a:srgbClr val="E8B92E"/>
          </a:solidFill>
          <a:ln/>
        </p:spPr>
      </p:sp>
      <p:sp>
        <p:nvSpPr>
          <p:cNvPr id="34" name="Shape 31"/>
          <p:cNvSpPr/>
          <p:nvPr/>
        </p:nvSpPr>
        <p:spPr>
          <a:xfrm>
            <a:off x="6748272" y="1810512"/>
            <a:ext cx="109728" cy="109728"/>
          </a:xfrm>
          <a:prstGeom prst="ellipse">
            <a:avLst/>
          </a:prstGeom>
          <a:solidFill>
            <a:srgbClr val="4CAF50"/>
          </a:solidFill>
          <a:ln/>
        </p:spPr>
      </p:sp>
      <p:sp>
        <p:nvSpPr>
          <p:cNvPr id="35" name="Text 32"/>
          <p:cNvSpPr txBox="1"/>
          <p:nvPr/>
        </p:nvSpPr>
        <p:spPr>
          <a:xfrm>
            <a:off x="6995160" y="1737360"/>
            <a:ext cx="4507992" cy="256032"/>
          </a:xfrm>
          <a:prstGeom prst="rect">
            <a:avLst/>
          </a:prstGeom>
          <a:noFill/>
          <a:ln/>
        </p:spPr>
        <p:txBody>
          <a:bodyPr wrap="square" lIns="0" tIns="0" rIns="0" bIns="0" rtlCol="0" anchor="ctr"/>
          <a:lstStyle/>
          <a:p>
            <a:pPr indent="0" marL="0">
              <a:buNone/>
            </a:pPr>
            <a:r>
              <a:rPr lang="en-US" sz="1100" b="1" dirty="0">
                <a:solidFill>
                  <a:srgbClr val="C9D6CC"/>
                </a:solidFill>
              </a:rPr>
              <a:t>PC-A  ›  Command Prompt  (output shortened)</a:t>
            </a:r>
            <a:endParaRPr lang="en-US" sz="1100" dirty="0"/>
          </a:p>
        </p:txBody>
      </p:sp>
      <p:sp>
        <p:nvSpPr>
          <p:cNvPr id="36" name="Terminal text"/>
          <p:cNvSpPr txBox="1"/>
          <p:nvPr/>
        </p:nvSpPr>
        <p:spPr>
          <a:xfrm>
            <a:off x="6400800" y="2075688"/>
            <a:ext cx="5102352" cy="3227832"/>
          </a:xfrm>
          <a:prstGeom prst="rect">
            <a:avLst/>
          </a:prstGeom>
          <a:noFill/>
          <a:ln/>
        </p:spPr>
        <p:txBody>
          <a:bodyPr wrap="square" lIns="0" tIns="0" rIns="0" bIns="0" rtlCol="0" anchor="t"/>
          <a:lstStyle/>
          <a:p>
            <a:pPr indent="0" marL="0">
              <a:lnSpc>
                <a:spcPct val="100000"/>
              </a:lnSpc>
              <a:buNone/>
            </a:pPr>
            <a:r>
              <a:rPr lang="en-US" sz="1100" dirty="0">
                <a:solidFill>
                  <a:srgbClr val="8FC9A0"/>
                </a:solidFill>
                <a:latin typeface="Courier New" pitchFamily="34" charset="0"/>
                <a:ea typeface="Courier New" pitchFamily="34" charset="-122"/>
                <a:cs typeface="Courier New" pitchFamily="34" charset="-120"/>
              </a:rPr>
              <a:t>C:\&gt;</a:t>
            </a:r>
            <a:r>
              <a:rPr lang="en-US" sz="1100" b="1" dirty="0">
                <a:solidFill>
                  <a:srgbClr val="FFFFFF"/>
                </a:solidFill>
                <a:latin typeface="Courier New" pitchFamily="34" charset="0"/>
                <a:ea typeface="Courier New" pitchFamily="34" charset="-122"/>
                <a:cs typeface="Courier New" pitchFamily="34" charset="-120"/>
              </a:rPr>
              <a:t>ipconfig</a:t>
            </a:r>
            <a:endParaRPr lang="en-US" sz="1100" dirty="0"/>
          </a:p>
          <a:p>
            <a:pPr indent="0" marL="0">
              <a:lnSpc>
                <a:spcPct val="100000"/>
              </a:lnSpc>
              <a:buNone/>
            </a:pPr>
            <a:r>
              <a:rPr lang="en-US" sz="1100" dirty="0">
                <a:solidFill>
                  <a:srgbClr val="D5E2D8"/>
                </a:solidFill>
                <a:latin typeface="Courier New" pitchFamily="34" charset="0"/>
                <a:ea typeface="Courier New" pitchFamily="34" charset="-122"/>
                <a:cs typeface="Courier New" pitchFamily="34" charset="-120"/>
              </a:rPr>
              <a:t>   IPv4 Address......: 192.168.1.10</a:t>
            </a:r>
            <a:endParaRPr lang="en-US" sz="1100" dirty="0"/>
          </a:p>
          <a:p>
            <a:pPr indent="0" marL="0">
              <a:lnSpc>
                <a:spcPct val="100000"/>
              </a:lnSpc>
              <a:buNone/>
            </a:pPr>
            <a:r>
              <a:rPr lang="en-US" sz="1100" dirty="0">
                <a:solidFill>
                  <a:srgbClr val="D5E2D8"/>
                </a:solidFill>
                <a:latin typeface="Courier New" pitchFamily="34" charset="0"/>
                <a:ea typeface="Courier New" pitchFamily="34" charset="-122"/>
                <a:cs typeface="Courier New" pitchFamily="34" charset="-120"/>
              </a:rPr>
              <a:t>   Subnet Mask.......: 255.255.255.0</a:t>
            </a:r>
            <a:endParaRPr lang="en-US" sz="1100" dirty="0"/>
          </a:p>
          <a:p>
            <a:pPr indent="0" marL="0">
              <a:lnSpc>
                <a:spcPct val="100000"/>
              </a:lnSpc>
              <a:buNone/>
            </a:pPr>
            <a:r>
              <a:rPr lang="en-US" sz="1100" dirty="0">
                <a:solidFill>
                  <a:srgbClr val="D5E2D8"/>
                </a:solidFill>
                <a:latin typeface="Courier New" pitchFamily="34" charset="0"/>
                <a:ea typeface="Courier New" pitchFamily="34" charset="-122"/>
                <a:cs typeface="Courier New" pitchFamily="34" charset="-120"/>
              </a:rPr>
              <a:t>   Default Gateway...: 192.168.1.1</a:t>
            </a:r>
            <a:endParaRPr lang="en-US" sz="1100" dirty="0"/>
          </a:p>
          <a:p>
            <a:pPr indent="0" marL="0">
              <a:lnSpc>
                <a:spcPct val="100000"/>
              </a:lnSpc>
              <a:buNone/>
            </a:pPr>
            <a:r>
              <a:rPr lang="en-US" sz="1100" dirty="0">
                <a:solidFill>
                  <a:srgbClr val="D5E2D8"/>
                </a:solidFill>
                <a:latin typeface="Courier New" pitchFamily="34" charset="0"/>
                <a:ea typeface="Courier New" pitchFamily="34" charset="-122"/>
                <a:cs typeface="Courier New" pitchFamily="34" charset="-120"/>
              </a:rPr>
              <a:t> </a:t>
            </a:r>
            <a:endParaRPr lang="en-US" sz="1100" dirty="0"/>
          </a:p>
          <a:p>
            <a:pPr indent="0" marL="0">
              <a:lnSpc>
                <a:spcPct val="100000"/>
              </a:lnSpc>
              <a:buNone/>
            </a:pPr>
            <a:r>
              <a:rPr lang="en-US" sz="1100" dirty="0">
                <a:solidFill>
                  <a:srgbClr val="8FC9A0"/>
                </a:solidFill>
                <a:latin typeface="Courier New" pitchFamily="34" charset="0"/>
                <a:ea typeface="Courier New" pitchFamily="34" charset="-122"/>
                <a:cs typeface="Courier New" pitchFamily="34" charset="-120"/>
              </a:rPr>
              <a:t>C:\&gt;</a:t>
            </a:r>
            <a:r>
              <a:rPr lang="en-US" sz="1100" b="1" dirty="0">
                <a:solidFill>
                  <a:srgbClr val="FFFFFF"/>
                </a:solidFill>
                <a:latin typeface="Courier New" pitchFamily="34" charset="0"/>
                <a:ea typeface="Courier New" pitchFamily="34" charset="-122"/>
                <a:cs typeface="Courier New" pitchFamily="34" charset="-120"/>
              </a:rPr>
              <a:t>ping 192.168.1.1</a:t>
            </a:r>
            <a:endParaRPr lang="en-US" sz="1100" dirty="0"/>
          </a:p>
          <a:p>
            <a:pPr indent="0" marL="0">
              <a:lnSpc>
                <a:spcPct val="100000"/>
              </a:lnSpc>
              <a:buNone/>
            </a:pPr>
            <a:r>
              <a:rPr lang="en-US" sz="1100" dirty="0">
                <a:solidFill>
                  <a:srgbClr val="D5E2D8"/>
                </a:solidFill>
                <a:latin typeface="Courier New" pitchFamily="34" charset="0"/>
                <a:ea typeface="Courier New" pitchFamily="34" charset="-122"/>
                <a:cs typeface="Courier New" pitchFamily="34" charset="-120"/>
              </a:rPr>
              <a:t>Reply from 192.168.1.1: bytes=32 time&lt;1ms TTL=255</a:t>
            </a:r>
            <a:endParaRPr lang="en-US" sz="1100" dirty="0"/>
          </a:p>
          <a:p>
            <a:pPr indent="0" marL="0">
              <a:lnSpc>
                <a:spcPct val="100000"/>
              </a:lnSpc>
              <a:buNone/>
            </a:pPr>
            <a:r>
              <a:rPr lang="en-US" sz="1100" dirty="0">
                <a:solidFill>
                  <a:srgbClr val="D5E2D8"/>
                </a:solidFill>
                <a:latin typeface="Courier New" pitchFamily="34" charset="0"/>
                <a:ea typeface="Courier New" pitchFamily="34" charset="-122"/>
                <a:cs typeface="Courier New" pitchFamily="34" charset="-120"/>
              </a:rPr>
              <a:t>Reply from 192.168.1.1: bytes=32 time&lt;1ms TTL=255</a:t>
            </a:r>
            <a:endParaRPr lang="en-US" sz="1100" dirty="0"/>
          </a:p>
          <a:p>
            <a:pPr indent="0" marL="0">
              <a:lnSpc>
                <a:spcPct val="100000"/>
              </a:lnSpc>
              <a:buNone/>
            </a:pPr>
            <a:r>
              <a:rPr lang="en-US" sz="1100" dirty="0">
                <a:solidFill>
                  <a:srgbClr val="D5E2D8"/>
                </a:solidFill>
                <a:latin typeface="Courier New" pitchFamily="34" charset="0"/>
                <a:ea typeface="Courier New" pitchFamily="34" charset="-122"/>
                <a:cs typeface="Courier New" pitchFamily="34" charset="-120"/>
              </a:rPr>
              <a:t>   ...</a:t>
            </a:r>
            <a:endParaRPr lang="en-US" sz="1100" dirty="0"/>
          </a:p>
          <a:p>
            <a:pPr indent="0" marL="0">
              <a:lnSpc>
                <a:spcPct val="100000"/>
              </a:lnSpc>
              <a:buNone/>
            </a:pPr>
            <a:r>
              <a:rPr lang="en-US" sz="1100" dirty="0">
                <a:solidFill>
                  <a:srgbClr val="D5E2D8"/>
                </a:solidFill>
                <a:latin typeface="Courier New" pitchFamily="34" charset="0"/>
                <a:ea typeface="Courier New" pitchFamily="34" charset="-122"/>
                <a:cs typeface="Courier New" pitchFamily="34" charset="-120"/>
              </a:rPr>
              <a:t>   Packets: Sent = 4, Received = </a:t>
            </a:r>
            <a:r>
              <a:rPr lang="en-US" sz="1100" b="1" dirty="0">
                <a:solidFill>
                  <a:srgbClr val="E8B92E"/>
                </a:solidFill>
                <a:latin typeface="Courier New" pitchFamily="34" charset="0"/>
                <a:ea typeface="Courier New" pitchFamily="34" charset="-122"/>
                <a:cs typeface="Courier New" pitchFamily="34" charset="-120"/>
              </a:rPr>
              <a:t>4</a:t>
            </a:r>
            <a:r>
              <a:rPr lang="en-US" sz="1100" dirty="0">
                <a:solidFill>
                  <a:srgbClr val="D5E2D8"/>
                </a:solidFill>
                <a:latin typeface="Courier New" pitchFamily="34" charset="0"/>
                <a:ea typeface="Courier New" pitchFamily="34" charset="-122"/>
                <a:cs typeface="Courier New" pitchFamily="34" charset="-120"/>
              </a:rPr>
              <a:t>, Lost = </a:t>
            </a:r>
            <a:r>
              <a:rPr lang="en-US" sz="1100" b="1" dirty="0">
                <a:solidFill>
                  <a:srgbClr val="E8B92E"/>
                </a:solidFill>
                <a:latin typeface="Courier New" pitchFamily="34" charset="0"/>
                <a:ea typeface="Courier New" pitchFamily="34" charset="-122"/>
                <a:cs typeface="Courier New" pitchFamily="34" charset="-120"/>
              </a:rPr>
              <a:t>0</a:t>
            </a:r>
            <a:endParaRPr lang="en-US" sz="1100" dirty="0"/>
          </a:p>
          <a:p>
            <a:pPr indent="0" marL="0">
              <a:lnSpc>
                <a:spcPct val="100000"/>
              </a:lnSpc>
              <a:buNone/>
            </a:pPr>
            <a:r>
              <a:rPr lang="en-US" sz="1100" dirty="0">
                <a:solidFill>
                  <a:srgbClr val="D5E2D8"/>
                </a:solidFill>
                <a:latin typeface="Courier New" pitchFamily="34" charset="0"/>
                <a:ea typeface="Courier New" pitchFamily="34" charset="-122"/>
                <a:cs typeface="Courier New" pitchFamily="34" charset="-120"/>
              </a:rPr>
              <a:t> </a:t>
            </a:r>
            <a:endParaRPr lang="en-US" sz="1100" dirty="0"/>
          </a:p>
          <a:p>
            <a:pPr indent="0" marL="0">
              <a:lnSpc>
                <a:spcPct val="100000"/>
              </a:lnSpc>
              <a:buNone/>
            </a:pPr>
            <a:r>
              <a:rPr lang="en-US" sz="1100" dirty="0">
                <a:solidFill>
                  <a:srgbClr val="8FC9A0"/>
                </a:solidFill>
                <a:latin typeface="Courier New" pitchFamily="34" charset="0"/>
                <a:ea typeface="Courier New" pitchFamily="34" charset="-122"/>
                <a:cs typeface="Courier New" pitchFamily="34" charset="-120"/>
              </a:rPr>
              <a:t>C:\&gt;</a:t>
            </a:r>
            <a:r>
              <a:rPr lang="en-US" sz="1100" b="1" dirty="0">
                <a:solidFill>
                  <a:srgbClr val="FFFFFF"/>
                </a:solidFill>
                <a:latin typeface="Courier New" pitchFamily="34" charset="0"/>
                <a:ea typeface="Courier New" pitchFamily="34" charset="-122"/>
                <a:cs typeface="Courier New" pitchFamily="34" charset="-120"/>
              </a:rPr>
              <a:t>tracert 192.168.20.10</a:t>
            </a:r>
            <a:endParaRPr lang="en-US" sz="1100" dirty="0"/>
          </a:p>
          <a:p>
            <a:pPr indent="0" marL="0">
              <a:lnSpc>
                <a:spcPct val="100000"/>
              </a:lnSpc>
              <a:buNone/>
            </a:pPr>
            <a:r>
              <a:rPr lang="en-US" sz="1100" i="1" dirty="0">
                <a:solidFill>
                  <a:srgbClr val="9FB3A6"/>
                </a:solidFill>
                <a:latin typeface="Courier New" pitchFamily="34" charset="0"/>
                <a:ea typeface="Courier New" pitchFamily="34" charset="-122"/>
                <a:cs typeface="Courier New" pitchFamily="34" charset="-120"/>
              </a:rPr>
              <a:t>! lists every router on the way</a:t>
            </a:r>
            <a:endParaRPr lang="en-US" sz="1100" dirty="0"/>
          </a:p>
        </p:txBody>
      </p:sp>
      <p:sp>
        <p:nvSpPr>
          <p:cNvPr id="37" name="watch box"/>
          <p:cNvSpPr/>
          <p:nvPr/>
        </p:nvSpPr>
        <p:spPr>
          <a:xfrm>
            <a:off x="548640" y="5504688"/>
            <a:ext cx="5410048" cy="749808"/>
          </a:xfrm>
          <a:prstGeom prst="roundRect">
            <a:avLst>
              <a:gd name="adj" fmla="val 9756"/>
            </a:avLst>
          </a:prstGeom>
          <a:solidFill>
            <a:srgbClr val="FBEAEA"/>
          </a:solidFill>
          <a:ln w="12700">
            <a:solidFill>
              <a:srgbClr val="E9B8B5"/>
            </a:solidFill>
            <a:prstDash val="solid"/>
          </a:ln>
        </p:spPr>
      </p:sp>
      <p:pic>
        <p:nvPicPr>
          <p:cNvPr id="38" name="watch icon" descr="Watch out:">    </p:cNvPr>
          <p:cNvPicPr>
            <a:picLocks noChangeAspect="1"/>
          </p:cNvPicPr>
          <p:nvPr/>
        </p:nvPicPr>
        <p:blipFill>
          <a:blip r:embed="rId3"/>
          <a:stretch>
            <a:fillRect/>
          </a:stretch>
        </p:blipFill>
        <p:spPr>
          <a:xfrm>
            <a:off x="694944" y="5733288"/>
            <a:ext cx="292608" cy="292608"/>
          </a:xfrm>
          <a:prstGeom prst="rect">
            <a:avLst/>
          </a:prstGeom>
        </p:spPr>
      </p:pic>
      <p:sp>
        <p:nvSpPr>
          <p:cNvPr id="39" name="watch text"/>
          <p:cNvSpPr txBox="1"/>
          <p:nvPr/>
        </p:nvSpPr>
        <p:spPr>
          <a:xfrm>
            <a:off x="1097280" y="5541264"/>
            <a:ext cx="4751680" cy="676656"/>
          </a:xfrm>
          <a:prstGeom prst="rect">
            <a:avLst/>
          </a:prstGeom>
          <a:noFill/>
          <a:ln/>
        </p:spPr>
        <p:txBody>
          <a:bodyPr wrap="square" lIns="0" tIns="0" rIns="0" bIns="0" rtlCol="0" anchor="ctr"/>
          <a:lstStyle/>
          <a:p>
            <a:pPr indent="0" marL="0">
              <a:buNone/>
            </a:pPr>
            <a:r>
              <a:rPr lang="en-US" sz="1400" b="1" dirty="0">
                <a:solidFill>
                  <a:srgbClr val="8B1A1A"/>
                </a:solidFill>
              </a:rPr>
              <a:t>Watch out:  </a:t>
            </a:r>
            <a:r>
              <a:rPr lang="en-US" sz="1400" dirty="0">
                <a:solidFill>
                  <a:srgbClr val="2B2B2B"/>
                </a:solidFill>
              </a:rPr>
              <a:t>The first ping may lose one reply while ARP finds the MAC address. That is normal — ping again.</a:t>
            </a:r>
            <a:endParaRPr lang="en-US" sz="1400" dirty="0"/>
          </a:p>
        </p:txBody>
      </p:sp>
      <p:sp>
        <p:nvSpPr>
          <p:cNvPr id="40" name="tip box"/>
          <p:cNvSpPr/>
          <p:nvPr/>
        </p:nvSpPr>
        <p:spPr>
          <a:xfrm>
            <a:off x="6233008" y="5504688"/>
            <a:ext cx="5410048" cy="749808"/>
          </a:xfrm>
          <a:prstGeom prst="roundRect">
            <a:avLst>
              <a:gd name="adj" fmla="val 9756"/>
            </a:avLst>
          </a:prstGeom>
          <a:solidFill>
            <a:srgbClr val="E6EEF8"/>
          </a:solidFill>
          <a:ln w="12700">
            <a:solidFill>
              <a:srgbClr val="B8C9E0"/>
            </a:solidFill>
            <a:prstDash val="solid"/>
          </a:ln>
        </p:spPr>
      </p:sp>
      <p:pic>
        <p:nvPicPr>
          <p:cNvPr id="41" name="tip icon" descr="Tip:">    </p:cNvPr>
          <p:cNvPicPr>
            <a:picLocks noChangeAspect="1"/>
          </p:cNvPicPr>
          <p:nvPr/>
        </p:nvPicPr>
        <p:blipFill>
          <a:blip r:embed="rId4"/>
          <a:stretch>
            <a:fillRect/>
          </a:stretch>
        </p:blipFill>
        <p:spPr>
          <a:xfrm>
            <a:off x="6379312" y="5733288"/>
            <a:ext cx="292608" cy="292608"/>
          </a:xfrm>
          <a:prstGeom prst="rect">
            <a:avLst/>
          </a:prstGeom>
        </p:spPr>
      </p:pic>
      <p:sp>
        <p:nvSpPr>
          <p:cNvPr id="42" name="tip text"/>
          <p:cNvSpPr txBox="1"/>
          <p:nvPr/>
        </p:nvSpPr>
        <p:spPr>
          <a:xfrm>
            <a:off x="6781648" y="5541264"/>
            <a:ext cx="4751680" cy="676656"/>
          </a:xfrm>
          <a:prstGeom prst="rect">
            <a:avLst/>
          </a:prstGeom>
          <a:noFill/>
          <a:ln/>
        </p:spPr>
        <p:txBody>
          <a:bodyPr wrap="square" lIns="0" tIns="0" rIns="0" bIns="0" rtlCol="0" anchor="ctr"/>
          <a:lstStyle/>
          <a:p>
            <a:pPr indent="0" marL="0">
              <a:buNone/>
            </a:pPr>
            <a:r>
              <a:rPr lang="en-US" sz="1400" b="1" dirty="0">
                <a:solidFill>
                  <a:srgbClr val="1F4E8C"/>
                </a:solidFill>
              </a:rPr>
              <a:t>Tip:  </a:t>
            </a:r>
            <a:r>
              <a:rPr lang="en-US" sz="1400" dirty="0">
                <a:solidFill>
                  <a:srgbClr val="2B2B2B"/>
                </a:solidFill>
              </a:rPr>
              <a:t>No typing: </a:t>
            </a:r>
            <a:r>
              <a:rPr lang="en-US" sz="1400" b="1" dirty="0">
                <a:solidFill>
                  <a:srgbClr val="2B2B2B"/>
                </a:solidFill>
              </a:rPr>
              <a:t>Add Simple PDU</a:t>
            </a:r>
            <a:r>
              <a:rPr lang="en-US" sz="1400" dirty="0">
                <a:solidFill>
                  <a:srgbClr val="2B2B2B"/>
                </a:solidFill>
              </a:rPr>
              <a:t> (closed envelope) → click source → click destination → read the PDU list.</a:t>
            </a:r>
            <a:endParaRPr lang="en-US" sz="1400" dirty="0"/>
          </a:p>
        </p:txBody>
      </p:sp>
      <p:sp>
        <p:nvSpPr>
          <p:cNvPr id="43" name="Slide Number Placeholder 0"/>
          <p:cNvSpPr>
            <a:spLocks noGrp="1"/>
          </p:cNvSpPr>
          <p:nvPr>
            <p:ph type="sldNum" sz="quarter" idx="4294967295"/>
          </p:nvPr>
        </p:nvSpPr>
        <p:spPr>
          <a:xfrm>
            <a:off x="10698480" y="6464808"/>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body" hasCustomPrompt="1"/>
          </p:nvPr>
        </p:nvSpPr>
        <p:spPr>
          <a:xfrm>
            <a:off x="548640" y="274320"/>
            <a:ext cx="9966960" cy="256032"/>
          </a:xfrm>
          <a:prstGeom prst="rect">
            <a:avLst/>
          </a:prstGeom>
          <a:noFill/>
          <a:ln/>
        </p:spPr>
        <p:txBody>
          <a:bodyPr wrap="square" lIns="0" tIns="0" rIns="0" bIns="0" rtlCol="0" anchor="ctr"/>
          <a:lstStyle/>
          <a:p>
            <a:pPr algn="l" indent="0" marL="0">
              <a:buNone/>
            </a:pPr>
            <a:r>
              <a:rPr lang="en-US" sz="1100" b="1" spc="100" kern="0" dirty="0">
                <a:solidFill>
                  <a:schemeClr val="accent2"/>
                </a:solidFill>
              </a:rPr>
              <a:t>01  •  PACKET TRACER BASICS</a:t>
            </a:r>
            <a:endParaRPr lang="en-US" sz="1100" dirty="0"/>
          </a:p>
        </p:txBody>
      </p:sp>
      <p:sp>
        <p:nvSpPr>
          <p:cNvPr id="3" name="Text 1"/>
          <p:cNvSpPr/>
          <p:nvPr>
            <p:ph idx="103" type="title" hasCustomPrompt="1"/>
          </p:nvPr>
        </p:nvSpPr>
        <p:spPr>
          <a:xfrm>
            <a:off x="548640" y="548640"/>
            <a:ext cx="10149840" cy="548640"/>
          </a:xfrm>
          <a:prstGeom prst="rect">
            <a:avLst/>
          </a:prstGeom>
          <a:noFill/>
          <a:ln/>
        </p:spPr>
        <p:txBody>
          <a:bodyPr wrap="square" lIns="0" tIns="0" rIns="0" bIns="0" rtlCol="0" anchor="ctr"/>
          <a:lstStyle/>
          <a:p>
            <a:pPr algn="l" indent="0" marL="0">
              <a:buNone/>
            </a:pPr>
            <a:r>
              <a:rPr lang="en-US" sz="2600" b="1" dirty="0">
                <a:solidFill>
                  <a:schemeClr val="accent1"/>
                </a:solidFill>
              </a:rPr>
              <a:t>How to watch packets travel in Simulation mode</a:t>
            </a:r>
            <a:endParaRPr lang="en-US" sz="2600" dirty="0"/>
          </a:p>
        </p:txBody>
      </p:sp>
      <p:pic>
        <p:nvPicPr>
          <p:cNvPr id="4" name="Home button" descr="Home: back to the workbook menu">
            <a:hlinkClick r:id="rId2" tooltip="Back to the workbook menu" action="ppaction://hlinksldjump"/>
          </p:cNvPr>
          <p:cNvPicPr>
            <a:picLocks noChangeAspect="1"/>
          </p:cNvPicPr>
          <p:nvPr/>
        </p:nvPicPr>
        <p:blipFill>
          <a:blip r:embed="rId1"/>
          <a:stretch>
            <a:fillRect/>
          </a:stretch>
        </p:blipFill>
        <p:spPr>
          <a:xfrm>
            <a:off x="11365992" y="6336792"/>
            <a:ext cx="365760" cy="365760"/>
          </a:xfrm>
          <a:prstGeom prst="rect">
            <a:avLst/>
          </a:prstGeom>
        </p:spPr>
      </p:pic>
      <p:sp>
        <p:nvSpPr>
          <p:cNvPr id="5" name="Goal"/>
          <p:cNvSpPr txBox="1"/>
          <p:nvPr/>
        </p:nvSpPr>
        <p:spPr>
          <a:xfrm>
            <a:off x="548640" y="1161288"/>
            <a:ext cx="11094415" cy="384048"/>
          </a:xfrm>
          <a:prstGeom prst="rect">
            <a:avLst/>
          </a:prstGeom>
          <a:noFill/>
          <a:ln/>
        </p:spPr>
        <p:txBody>
          <a:bodyPr wrap="square" lIns="0" tIns="0" rIns="0" bIns="0" rtlCol="0" anchor="ctr"/>
          <a:lstStyle/>
          <a:p>
            <a:pPr indent="0" marL="0">
              <a:buNone/>
            </a:pPr>
            <a:r>
              <a:rPr lang="en-US" sz="1400" b="1" dirty="0">
                <a:solidFill>
                  <a:srgbClr val="2B7043"/>
                </a:solidFill>
              </a:rPr>
              <a:t>Goal:  </a:t>
            </a:r>
            <a:r>
              <a:rPr lang="en-US" sz="1400" dirty="0">
                <a:solidFill>
                  <a:srgbClr val="2B2B2B"/>
                </a:solidFill>
              </a:rPr>
              <a:t>Slow the network down and see each packet hop by hop — the best way to understand ARP, DHCP and routing.</a:t>
            </a:r>
            <a:endParaRPr lang="en-US" sz="1400" dirty="0"/>
          </a:p>
        </p:txBody>
      </p:sp>
      <p:sp>
        <p:nvSpPr>
          <p:cNvPr id="6" name="Shape 3"/>
          <p:cNvSpPr/>
          <p:nvPr/>
        </p:nvSpPr>
        <p:spPr>
          <a:xfrm>
            <a:off x="548640" y="1709928"/>
            <a:ext cx="329184" cy="329184"/>
          </a:xfrm>
          <a:prstGeom prst="ellipse">
            <a:avLst/>
          </a:prstGeom>
          <a:solidFill>
            <a:srgbClr val="1E5631"/>
          </a:solidFill>
          <a:ln/>
        </p:spPr>
      </p:sp>
      <p:sp>
        <p:nvSpPr>
          <p:cNvPr id="7" name="Text 4"/>
          <p:cNvSpPr txBox="1"/>
          <p:nvPr/>
        </p:nvSpPr>
        <p:spPr>
          <a:xfrm>
            <a:off x="548640" y="170992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8" name="Text 5"/>
          <p:cNvSpPr txBox="1"/>
          <p:nvPr/>
        </p:nvSpPr>
        <p:spPr>
          <a:xfrm>
            <a:off x="1024128" y="1691640"/>
            <a:ext cx="5102352" cy="384048"/>
          </a:xfrm>
          <a:prstGeom prst="rect">
            <a:avLst/>
          </a:prstGeom>
          <a:noFill/>
          <a:ln/>
        </p:spPr>
        <p:txBody>
          <a:bodyPr wrap="square" lIns="0" tIns="0" rIns="0" bIns="0" rtlCol="0" anchor="t"/>
          <a:lstStyle/>
          <a:p>
            <a:pPr indent="0" marL="0">
              <a:buNone/>
            </a:pPr>
            <a:r>
              <a:rPr lang="en-US" sz="1400" dirty="0">
                <a:solidFill>
                  <a:srgbClr val="2B2B2B"/>
                </a:solidFill>
              </a:rPr>
              <a:t>Click </a:t>
            </a:r>
            <a:r>
              <a:rPr lang="en-US" sz="1400" b="1" dirty="0">
                <a:solidFill>
                  <a:srgbClr val="2B2B2B"/>
                </a:solidFill>
              </a:rPr>
              <a:t>Simulation</a:t>
            </a:r>
            <a:r>
              <a:rPr lang="en-US" sz="1400" dirty="0">
                <a:solidFill>
                  <a:srgbClr val="2B2B2B"/>
                </a:solidFill>
              </a:rPr>
              <a:t> (bottom-right, next to Realtime).</a:t>
            </a:r>
            <a:endParaRPr lang="en-US" sz="1400" dirty="0"/>
          </a:p>
        </p:txBody>
      </p:sp>
      <p:sp>
        <p:nvSpPr>
          <p:cNvPr id="9" name="Shape 6"/>
          <p:cNvSpPr/>
          <p:nvPr/>
        </p:nvSpPr>
        <p:spPr>
          <a:xfrm>
            <a:off x="548640" y="2185416"/>
            <a:ext cx="329184" cy="329184"/>
          </a:xfrm>
          <a:prstGeom prst="ellipse">
            <a:avLst/>
          </a:prstGeom>
          <a:solidFill>
            <a:srgbClr val="1E5631"/>
          </a:solidFill>
          <a:ln/>
        </p:spPr>
      </p:sp>
      <p:sp>
        <p:nvSpPr>
          <p:cNvPr id="10" name="Text 7"/>
          <p:cNvSpPr txBox="1"/>
          <p:nvPr/>
        </p:nvSpPr>
        <p:spPr>
          <a:xfrm>
            <a:off x="548640" y="218541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1" name="Text 8"/>
          <p:cNvSpPr txBox="1"/>
          <p:nvPr/>
        </p:nvSpPr>
        <p:spPr>
          <a:xfrm>
            <a:off x="1024128" y="2167128"/>
            <a:ext cx="5102352" cy="488696"/>
          </a:xfrm>
          <a:prstGeom prst="rect">
            <a:avLst/>
          </a:prstGeom>
          <a:noFill/>
          <a:ln/>
        </p:spPr>
        <p:txBody>
          <a:bodyPr wrap="square" lIns="0" tIns="0" rIns="0" bIns="0" rtlCol="0" anchor="t"/>
          <a:lstStyle/>
          <a:p>
            <a:pPr indent="0" marL="0">
              <a:buNone/>
            </a:pPr>
            <a:r>
              <a:rPr lang="en-US" sz="1400" b="1" dirty="0">
                <a:solidFill>
                  <a:srgbClr val="2B2B2B"/>
                </a:solidFill>
              </a:rPr>
              <a:t>Edit Filters</a:t>
            </a:r>
            <a:r>
              <a:rPr lang="en-US" sz="1400" dirty="0">
                <a:solidFill>
                  <a:srgbClr val="2B2B2B"/>
                </a:solidFill>
              </a:rPr>
              <a:t> → tick only what you want to see, e.g. </a:t>
            </a:r>
            <a:r>
              <a:rPr lang="en-US" sz="1400" b="1" dirty="0">
                <a:solidFill>
                  <a:srgbClr val="2B2B2B"/>
                </a:solidFill>
              </a:rPr>
              <a:t>ICMP</a:t>
            </a:r>
            <a:r>
              <a:rPr lang="en-US" sz="1400" dirty="0">
                <a:solidFill>
                  <a:srgbClr val="2B2B2B"/>
                </a:solidFill>
              </a:rPr>
              <a:t> and </a:t>
            </a:r>
            <a:r>
              <a:rPr lang="en-US" sz="1400" b="1" dirty="0">
                <a:solidFill>
                  <a:srgbClr val="2B2B2B"/>
                </a:solidFill>
              </a:rPr>
              <a:t>ARP</a:t>
            </a:r>
            <a:r>
              <a:rPr lang="en-US" sz="1400" dirty="0">
                <a:solidFill>
                  <a:srgbClr val="2B2B2B"/>
                </a:solidFill>
              </a:rPr>
              <a:t>.</a:t>
            </a:r>
            <a:endParaRPr lang="en-US" sz="1400" dirty="0"/>
          </a:p>
        </p:txBody>
      </p:sp>
      <p:sp>
        <p:nvSpPr>
          <p:cNvPr id="12" name="Shape 9"/>
          <p:cNvSpPr/>
          <p:nvPr/>
        </p:nvSpPr>
        <p:spPr>
          <a:xfrm>
            <a:off x="548640" y="2765552"/>
            <a:ext cx="329184" cy="329184"/>
          </a:xfrm>
          <a:prstGeom prst="ellipse">
            <a:avLst/>
          </a:prstGeom>
          <a:solidFill>
            <a:srgbClr val="1E5631"/>
          </a:solidFill>
          <a:ln/>
        </p:spPr>
      </p:sp>
      <p:sp>
        <p:nvSpPr>
          <p:cNvPr id="13" name="Text 10"/>
          <p:cNvSpPr txBox="1"/>
          <p:nvPr/>
        </p:nvSpPr>
        <p:spPr>
          <a:xfrm>
            <a:off x="548640" y="276555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4" name="Text 11"/>
          <p:cNvSpPr txBox="1"/>
          <p:nvPr/>
        </p:nvSpPr>
        <p:spPr>
          <a:xfrm>
            <a:off x="1024128" y="2747264"/>
            <a:ext cx="5102352" cy="488696"/>
          </a:xfrm>
          <a:prstGeom prst="rect">
            <a:avLst/>
          </a:prstGeom>
          <a:noFill/>
          <a:ln/>
        </p:spPr>
        <p:txBody>
          <a:bodyPr wrap="square" lIns="0" tIns="0" rIns="0" bIns="0" rtlCol="0" anchor="t"/>
          <a:lstStyle/>
          <a:p>
            <a:pPr indent="0" marL="0">
              <a:buNone/>
            </a:pPr>
            <a:r>
              <a:rPr lang="en-US" sz="1400" dirty="0">
                <a:solidFill>
                  <a:srgbClr val="2B2B2B"/>
                </a:solidFill>
              </a:rPr>
              <a:t>Make traffic: </a:t>
            </a:r>
            <a:r>
              <a:rPr lang="en-US" sz="1400" b="1" dirty="0">
                <a:solidFill>
                  <a:srgbClr val="2B2B2B"/>
                </a:solidFill>
              </a:rPr>
              <a:t>Add Simple PDU</a:t>
            </a:r>
            <a:r>
              <a:rPr lang="en-US" sz="1400" dirty="0">
                <a:solidFill>
                  <a:srgbClr val="2B2B2B"/>
                </a:solidFill>
              </a:rPr>
              <a:t> from PC-A to PC-B, or ping from the Command Prompt.</a:t>
            </a:r>
            <a:endParaRPr lang="en-US" sz="1400" dirty="0"/>
          </a:p>
        </p:txBody>
      </p:sp>
      <p:sp>
        <p:nvSpPr>
          <p:cNvPr id="15" name="Shape 12"/>
          <p:cNvSpPr/>
          <p:nvPr/>
        </p:nvSpPr>
        <p:spPr>
          <a:xfrm>
            <a:off x="548640" y="3345688"/>
            <a:ext cx="329184" cy="329184"/>
          </a:xfrm>
          <a:prstGeom prst="ellipse">
            <a:avLst/>
          </a:prstGeom>
          <a:solidFill>
            <a:srgbClr val="1E5631"/>
          </a:solidFill>
          <a:ln/>
        </p:spPr>
      </p:sp>
      <p:sp>
        <p:nvSpPr>
          <p:cNvPr id="16" name="Text 13"/>
          <p:cNvSpPr txBox="1"/>
          <p:nvPr/>
        </p:nvSpPr>
        <p:spPr>
          <a:xfrm>
            <a:off x="548640" y="334568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7" name="Text 14"/>
          <p:cNvSpPr txBox="1"/>
          <p:nvPr/>
        </p:nvSpPr>
        <p:spPr>
          <a:xfrm>
            <a:off x="1024128" y="3327400"/>
            <a:ext cx="5102352" cy="384048"/>
          </a:xfrm>
          <a:prstGeom prst="rect">
            <a:avLst/>
          </a:prstGeom>
          <a:noFill/>
          <a:ln/>
        </p:spPr>
        <p:txBody>
          <a:bodyPr wrap="square" lIns="0" tIns="0" rIns="0" bIns="0" rtlCol="0" anchor="t"/>
          <a:lstStyle/>
          <a:p>
            <a:pPr indent="0" marL="0">
              <a:buNone/>
            </a:pPr>
            <a:r>
              <a:rPr lang="en-US" sz="1400" dirty="0">
                <a:solidFill>
                  <a:srgbClr val="2B2B2B"/>
                </a:solidFill>
              </a:rPr>
              <a:t>Press </a:t>
            </a:r>
            <a:r>
              <a:rPr lang="en-US" sz="1400" b="1" dirty="0">
                <a:solidFill>
                  <a:srgbClr val="2B2B2B"/>
                </a:solidFill>
              </a:rPr>
              <a:t>Capture/Forward</a:t>
            </a:r>
            <a:r>
              <a:rPr lang="en-US" sz="1400" dirty="0">
                <a:solidFill>
                  <a:srgbClr val="2B2B2B"/>
                </a:solidFill>
              </a:rPr>
              <a:t> for one step, or </a:t>
            </a:r>
            <a:r>
              <a:rPr lang="en-US" sz="1400" b="1" dirty="0">
                <a:solidFill>
                  <a:srgbClr val="2B2B2B"/>
                </a:solidFill>
              </a:rPr>
              <a:t>Play</a:t>
            </a:r>
            <a:r>
              <a:rPr lang="en-US" sz="1400" dirty="0">
                <a:solidFill>
                  <a:srgbClr val="2B2B2B"/>
                </a:solidFill>
              </a:rPr>
              <a:t> to run.</a:t>
            </a:r>
            <a:endParaRPr lang="en-US" sz="1400" dirty="0"/>
          </a:p>
        </p:txBody>
      </p:sp>
      <p:sp>
        <p:nvSpPr>
          <p:cNvPr id="18" name="Shape 15"/>
          <p:cNvSpPr/>
          <p:nvPr/>
        </p:nvSpPr>
        <p:spPr>
          <a:xfrm>
            <a:off x="548640" y="3821176"/>
            <a:ext cx="329184" cy="329184"/>
          </a:xfrm>
          <a:prstGeom prst="ellipse">
            <a:avLst/>
          </a:prstGeom>
          <a:solidFill>
            <a:srgbClr val="1E5631"/>
          </a:solidFill>
          <a:ln/>
        </p:spPr>
      </p:sp>
      <p:sp>
        <p:nvSpPr>
          <p:cNvPr id="19" name="Text 16"/>
          <p:cNvSpPr txBox="1"/>
          <p:nvPr/>
        </p:nvSpPr>
        <p:spPr>
          <a:xfrm>
            <a:off x="548640" y="382117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20" name="Text 17"/>
          <p:cNvSpPr txBox="1"/>
          <p:nvPr/>
        </p:nvSpPr>
        <p:spPr>
          <a:xfrm>
            <a:off x="1024128" y="3802888"/>
            <a:ext cx="5102352" cy="488696"/>
          </a:xfrm>
          <a:prstGeom prst="rect">
            <a:avLst/>
          </a:prstGeom>
          <a:noFill/>
          <a:ln/>
        </p:spPr>
        <p:txBody>
          <a:bodyPr wrap="square" lIns="0" tIns="0" rIns="0" bIns="0" rtlCol="0" anchor="t"/>
          <a:lstStyle/>
          <a:p>
            <a:pPr indent="0" marL="0">
              <a:buNone/>
            </a:pPr>
            <a:r>
              <a:rPr lang="en-US" sz="1400" dirty="0">
                <a:solidFill>
                  <a:srgbClr val="2B2B2B"/>
                </a:solidFill>
              </a:rPr>
              <a:t>Click an envelope (or an Event List row) → the </a:t>
            </a:r>
            <a:r>
              <a:rPr lang="en-US" sz="1400" b="1" dirty="0">
                <a:solidFill>
                  <a:srgbClr val="2B2B2B"/>
                </a:solidFill>
              </a:rPr>
              <a:t>OSI Model</a:t>
            </a:r>
            <a:r>
              <a:rPr lang="en-US" sz="1400" dirty="0">
                <a:solidFill>
                  <a:srgbClr val="2B2B2B"/>
                </a:solidFill>
              </a:rPr>
              <a:t> tab explains each layer.</a:t>
            </a:r>
            <a:endParaRPr lang="en-US" sz="1400" dirty="0"/>
          </a:p>
        </p:txBody>
      </p:sp>
      <p:sp>
        <p:nvSpPr>
          <p:cNvPr id="21" name="Shape 18"/>
          <p:cNvSpPr/>
          <p:nvPr/>
        </p:nvSpPr>
        <p:spPr>
          <a:xfrm>
            <a:off x="548640" y="4401312"/>
            <a:ext cx="329184" cy="329184"/>
          </a:xfrm>
          <a:prstGeom prst="ellipse">
            <a:avLst/>
          </a:prstGeom>
          <a:solidFill>
            <a:srgbClr val="1E5631"/>
          </a:solidFill>
          <a:ln/>
        </p:spPr>
      </p:sp>
      <p:sp>
        <p:nvSpPr>
          <p:cNvPr id="22" name="Text 19"/>
          <p:cNvSpPr txBox="1"/>
          <p:nvPr/>
        </p:nvSpPr>
        <p:spPr>
          <a:xfrm>
            <a:off x="548640" y="440131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rPr>
              <a:t>6</a:t>
            </a:r>
            <a:endParaRPr lang="en-US" sz="1300" dirty="0"/>
          </a:p>
        </p:txBody>
      </p:sp>
      <p:sp>
        <p:nvSpPr>
          <p:cNvPr id="23" name="Text 20"/>
          <p:cNvSpPr txBox="1"/>
          <p:nvPr/>
        </p:nvSpPr>
        <p:spPr>
          <a:xfrm>
            <a:off x="1024128" y="4383024"/>
            <a:ext cx="5102352" cy="384048"/>
          </a:xfrm>
          <a:prstGeom prst="rect">
            <a:avLst/>
          </a:prstGeom>
          <a:noFill/>
          <a:ln/>
        </p:spPr>
        <p:txBody>
          <a:bodyPr wrap="square" lIns="0" tIns="0" rIns="0" bIns="0" rtlCol="0" anchor="t"/>
          <a:lstStyle/>
          <a:p>
            <a:pPr indent="0" marL="0">
              <a:buNone/>
            </a:pPr>
            <a:r>
              <a:rPr lang="en-US" sz="1400" dirty="0">
                <a:solidFill>
                  <a:srgbClr val="2B2B2B"/>
                </a:solidFill>
              </a:rPr>
              <a:t>Click </a:t>
            </a:r>
            <a:r>
              <a:rPr lang="en-US" sz="1400" b="1" dirty="0">
                <a:solidFill>
                  <a:srgbClr val="2B2B2B"/>
                </a:solidFill>
              </a:rPr>
              <a:t>Realtime</a:t>
            </a:r>
            <a:r>
              <a:rPr lang="en-US" sz="1400" dirty="0">
                <a:solidFill>
                  <a:srgbClr val="2B2B2B"/>
                </a:solidFill>
              </a:rPr>
              <a:t> to go back to normal.</a:t>
            </a:r>
            <a:endParaRPr lang="en-US" sz="1400" dirty="0"/>
          </a:p>
        </p:txBody>
      </p:sp>
      <p:sp>
        <p:nvSpPr>
          <p:cNvPr id="24" name="Shape 21"/>
          <p:cNvSpPr/>
          <p:nvPr/>
        </p:nvSpPr>
        <p:spPr>
          <a:xfrm>
            <a:off x="6858000" y="2240280"/>
            <a:ext cx="2148840" cy="914"/>
          </a:xfrm>
          <a:prstGeom prst="line">
            <a:avLst/>
          </a:prstGeom>
          <a:noFill/>
          <a:ln w="25400">
            <a:solidFill>
              <a:srgbClr val="3A3A3A"/>
            </a:solidFill>
            <a:prstDash val="solid"/>
          </a:ln>
        </p:spPr>
      </p:sp>
      <p:sp>
        <p:nvSpPr>
          <p:cNvPr id="25" name="Shape 22"/>
          <p:cNvSpPr/>
          <p:nvPr/>
        </p:nvSpPr>
        <p:spPr>
          <a:xfrm>
            <a:off x="9006840" y="2240280"/>
            <a:ext cx="2148840" cy="914"/>
          </a:xfrm>
          <a:prstGeom prst="line">
            <a:avLst/>
          </a:prstGeom>
          <a:noFill/>
          <a:ln w="25400">
            <a:solidFill>
              <a:srgbClr val="3A3A3A"/>
            </a:solidFill>
            <a:prstDash val="solid"/>
          </a:ln>
        </p:spPr>
      </p:sp>
      <p:pic>
        <p:nvPicPr>
          <p:cNvPr id="26" name="Image 1" descr="PC-A">    </p:cNvPr>
          <p:cNvPicPr>
            <a:picLocks noChangeAspect="1"/>
          </p:cNvPicPr>
          <p:nvPr/>
        </p:nvPicPr>
        <p:blipFill>
          <a:blip r:embed="rId3"/>
          <a:stretch>
            <a:fillRect/>
          </a:stretch>
        </p:blipFill>
        <p:spPr>
          <a:xfrm>
            <a:off x="6606540" y="1988820"/>
            <a:ext cx="502920" cy="502920"/>
          </a:xfrm>
          <a:prstGeom prst="rect">
            <a:avLst/>
          </a:prstGeom>
        </p:spPr>
      </p:pic>
      <p:sp>
        <p:nvSpPr>
          <p:cNvPr id="27" name="Text 23"/>
          <p:cNvSpPr txBox="1"/>
          <p:nvPr/>
        </p:nvSpPr>
        <p:spPr>
          <a:xfrm>
            <a:off x="6126480" y="2473452"/>
            <a:ext cx="1463040" cy="457200"/>
          </a:xfrm>
          <a:prstGeom prst="rect">
            <a:avLst/>
          </a:prstGeom>
          <a:noFill/>
          <a:ln/>
        </p:spPr>
        <p:txBody>
          <a:bodyPr wrap="square" lIns="0" tIns="0" rIns="0" bIns="0" rtlCol="0" anchor="t"/>
          <a:lstStyle/>
          <a:p>
            <a:pPr algn="ctr" indent="0" marL="0">
              <a:buNone/>
            </a:pPr>
            <a:r>
              <a:rPr lang="en-US" sz="1200" b="1" dirty="0">
                <a:solidFill>
                  <a:srgbClr val="2B2B2B"/>
                </a:solidFill>
              </a:rPr>
              <a:t>PC-A</a:t>
            </a:r>
            <a:endParaRPr lang="en-US" sz="1200" dirty="0"/>
          </a:p>
          <a:p>
            <a:pPr algn="ctr" indent="0" marL="0">
              <a:buNone/>
            </a:pPr>
            <a:r>
              <a:rPr lang="en-US" sz="1000" dirty="0">
                <a:solidFill>
                  <a:srgbClr val="6B6B6B"/>
                </a:solidFill>
              </a:rPr>
              <a:t>192.168.1.10</a:t>
            </a:r>
            <a:endParaRPr lang="en-US" sz="1200" dirty="0"/>
          </a:p>
        </p:txBody>
      </p:sp>
      <p:pic>
        <p:nvPicPr>
          <p:cNvPr id="28" name="Image 2" descr="S1">    </p:cNvPr>
          <p:cNvPicPr>
            <a:picLocks noChangeAspect="1"/>
          </p:cNvPicPr>
          <p:nvPr/>
        </p:nvPicPr>
        <p:blipFill>
          <a:blip r:embed="rId4"/>
          <a:stretch>
            <a:fillRect/>
          </a:stretch>
        </p:blipFill>
        <p:spPr>
          <a:xfrm>
            <a:off x="8723376" y="1956816"/>
            <a:ext cx="566928" cy="566928"/>
          </a:xfrm>
          <a:prstGeom prst="rect">
            <a:avLst/>
          </a:prstGeom>
        </p:spPr>
      </p:pic>
      <p:sp>
        <p:nvSpPr>
          <p:cNvPr id="29" name="Text 24"/>
          <p:cNvSpPr txBox="1"/>
          <p:nvPr/>
        </p:nvSpPr>
        <p:spPr>
          <a:xfrm>
            <a:off x="8275320" y="2432304"/>
            <a:ext cx="1463040" cy="274320"/>
          </a:xfrm>
          <a:prstGeom prst="rect">
            <a:avLst/>
          </a:prstGeom>
          <a:noFill/>
          <a:ln/>
        </p:spPr>
        <p:txBody>
          <a:bodyPr wrap="square" lIns="0" tIns="0" rIns="0" bIns="0" rtlCol="0" anchor="t"/>
          <a:lstStyle/>
          <a:p>
            <a:pPr algn="ctr" indent="0" marL="0">
              <a:buNone/>
            </a:pPr>
            <a:r>
              <a:rPr lang="en-US" sz="1200" b="1" dirty="0">
                <a:solidFill>
                  <a:srgbClr val="2B2B2B"/>
                </a:solidFill>
              </a:rPr>
              <a:t>S1</a:t>
            </a:r>
            <a:endParaRPr lang="en-US" sz="1200" dirty="0"/>
          </a:p>
        </p:txBody>
      </p:sp>
      <p:pic>
        <p:nvPicPr>
          <p:cNvPr id="30" name="Image 3" descr="PC-B">    </p:cNvPr>
          <p:cNvPicPr>
            <a:picLocks noChangeAspect="1"/>
          </p:cNvPicPr>
          <p:nvPr/>
        </p:nvPicPr>
        <p:blipFill>
          <a:blip r:embed="rId5"/>
          <a:stretch>
            <a:fillRect/>
          </a:stretch>
        </p:blipFill>
        <p:spPr>
          <a:xfrm>
            <a:off x="10904220" y="1988820"/>
            <a:ext cx="502920" cy="502920"/>
          </a:xfrm>
          <a:prstGeom prst="rect">
            <a:avLst/>
          </a:prstGeom>
        </p:spPr>
      </p:pic>
      <p:sp>
        <p:nvSpPr>
          <p:cNvPr id="31" name="Text 25"/>
          <p:cNvSpPr txBox="1"/>
          <p:nvPr/>
        </p:nvSpPr>
        <p:spPr>
          <a:xfrm>
            <a:off x="10424160" y="2473452"/>
            <a:ext cx="1463040" cy="457200"/>
          </a:xfrm>
          <a:prstGeom prst="rect">
            <a:avLst/>
          </a:prstGeom>
          <a:noFill/>
          <a:ln/>
        </p:spPr>
        <p:txBody>
          <a:bodyPr wrap="square" lIns="0" tIns="0" rIns="0" bIns="0" rtlCol="0" anchor="t"/>
          <a:lstStyle/>
          <a:p>
            <a:pPr algn="ctr" indent="0" marL="0">
              <a:buNone/>
            </a:pPr>
            <a:r>
              <a:rPr lang="en-US" sz="1200" b="1" dirty="0">
                <a:solidFill>
                  <a:srgbClr val="2B2B2B"/>
                </a:solidFill>
              </a:rPr>
              <a:t>PC-B</a:t>
            </a:r>
            <a:endParaRPr lang="en-US" sz="1200" dirty="0"/>
          </a:p>
          <a:p>
            <a:pPr algn="ctr" indent="0" marL="0">
              <a:buNone/>
            </a:pPr>
            <a:r>
              <a:rPr lang="en-US" sz="1000" dirty="0">
                <a:solidFill>
                  <a:srgbClr val="6B6B6B"/>
                </a:solidFill>
              </a:rPr>
              <a:t>192.168.1.11</a:t>
            </a:r>
            <a:endParaRPr lang="en-US" sz="1200" dirty="0"/>
          </a:p>
        </p:txBody>
      </p:sp>
      <p:pic>
        <p:nvPicPr>
          <p:cNvPr id="32" name="Image 4" descr="ARP packet">    </p:cNvPr>
          <p:cNvPicPr>
            <a:picLocks noChangeAspect="1"/>
          </p:cNvPicPr>
          <p:nvPr/>
        </p:nvPicPr>
        <p:blipFill>
          <a:blip r:embed="rId6"/>
          <a:stretch>
            <a:fillRect/>
          </a:stretch>
        </p:blipFill>
        <p:spPr>
          <a:xfrm>
            <a:off x="7726680" y="1810512"/>
            <a:ext cx="329184" cy="274320"/>
          </a:xfrm>
          <a:prstGeom prst="rect">
            <a:avLst/>
          </a:prstGeom>
        </p:spPr>
      </p:pic>
      <p:pic>
        <p:nvPicPr>
          <p:cNvPr id="33" name="Image 5" descr="ICMP packet">    </p:cNvPr>
          <p:cNvPicPr>
            <a:picLocks noChangeAspect="1"/>
          </p:cNvPicPr>
          <p:nvPr/>
        </p:nvPicPr>
        <p:blipFill>
          <a:blip r:embed="rId7"/>
          <a:stretch>
            <a:fillRect/>
          </a:stretch>
        </p:blipFill>
        <p:spPr>
          <a:xfrm>
            <a:off x="9921240" y="1810512"/>
            <a:ext cx="329184" cy="274320"/>
          </a:xfrm>
          <a:prstGeom prst="rect">
            <a:avLst/>
          </a:prstGeom>
        </p:spPr>
      </p:pic>
      <p:graphicFrame>
        <p:nvGraphicFramePr>
          <p:cNvPr id="41" name="event list"/>
          <p:cNvGraphicFramePr>
            <a:graphicFrameLocks noGrp="1"/>
          </p:cNvGraphicFramePr>
          <p:nvPr>
            <p:extLst>
              <p:ext uri="{D42A27DB-BD31-4B8C-83A1-F6EECF244321}">
                <p14:modId xmlns:p14="http://schemas.microsoft.com/office/powerpoint/2010/main" val="1579011935"/>
              </p:ext>
            </p:extLst>
          </p:nvPr>
        </p:nvGraphicFramePr>
        <p:xfrm>
          <a:off x="6400800" y="3063240"/>
          <a:ext cx="5239512" cy="914400"/>
        </p:xfrm>
        <a:graphic>
          <a:graphicData uri="http://schemas.openxmlformats.org/drawingml/2006/table">
            <a:tbl>
              <a:tblPr/>
              <a:tblGrid>
                <a:gridCol w="1051560"/>
                <a:gridCol w="1325880"/>
                <a:gridCol w="1325880"/>
                <a:gridCol w="1536192"/>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Time (s)</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1E563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Last device</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1E563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At device</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1E563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Type</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1E5631"/>
                    </a:solidFill>
                  </a:tcPr>
                </a:tc>
              </a:tr>
              <a:tr h="0">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0.000</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PC-A</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ARP</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r>
              <a:tr h="0">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0.001</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PC-A</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S1</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ARP</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0.002</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S1</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PC-B</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ARP</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r>
              <a:tr h="0">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0.003</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PC-B</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S1</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ARP</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0.005</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PC-A</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S1</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ICMP</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r>
            </a:tbl>
          </a:graphicData>
        </a:graphic>
      </p:graphicFrame>
      <p:sp>
        <p:nvSpPr>
          <p:cNvPr id="35" name="check box"/>
          <p:cNvSpPr/>
          <p:nvPr/>
        </p:nvSpPr>
        <p:spPr>
          <a:xfrm>
            <a:off x="548640" y="5504688"/>
            <a:ext cx="5410048" cy="749808"/>
          </a:xfrm>
          <a:prstGeom prst="roundRect">
            <a:avLst>
              <a:gd name="adj" fmla="val 9756"/>
            </a:avLst>
          </a:prstGeom>
          <a:solidFill>
            <a:srgbClr val="E8F1EA"/>
          </a:solidFill>
          <a:ln w="12700">
            <a:solidFill>
              <a:srgbClr val="B7C9BA"/>
            </a:solidFill>
            <a:prstDash val="solid"/>
          </a:ln>
        </p:spPr>
      </p:sp>
      <p:pic>
        <p:nvPicPr>
          <p:cNvPr id="36" name="check icon" descr="Check it:">    </p:cNvPr>
          <p:cNvPicPr>
            <a:picLocks noChangeAspect="1"/>
          </p:cNvPicPr>
          <p:nvPr/>
        </p:nvPicPr>
        <p:blipFill>
          <a:blip r:embed="rId8"/>
          <a:stretch>
            <a:fillRect/>
          </a:stretch>
        </p:blipFill>
        <p:spPr>
          <a:xfrm>
            <a:off x="694944" y="5733288"/>
            <a:ext cx="292608" cy="292608"/>
          </a:xfrm>
          <a:prstGeom prst="rect">
            <a:avLst/>
          </a:prstGeom>
        </p:spPr>
      </p:pic>
      <p:sp>
        <p:nvSpPr>
          <p:cNvPr id="37" name="check text"/>
          <p:cNvSpPr txBox="1"/>
          <p:nvPr/>
        </p:nvSpPr>
        <p:spPr>
          <a:xfrm>
            <a:off x="1097280" y="5541264"/>
            <a:ext cx="4751680" cy="676656"/>
          </a:xfrm>
          <a:prstGeom prst="rect">
            <a:avLst/>
          </a:prstGeom>
          <a:noFill/>
          <a:ln/>
        </p:spPr>
        <p:txBody>
          <a:bodyPr wrap="square" lIns="0" tIns="0" rIns="0" bIns="0" rtlCol="0" anchor="ctr"/>
          <a:lstStyle/>
          <a:p>
            <a:pPr indent="0" marL="0">
              <a:buNone/>
            </a:pPr>
            <a:r>
              <a:rPr lang="en-US" sz="1400" b="1" dirty="0">
                <a:solidFill>
                  <a:srgbClr val="1E5631"/>
                </a:solidFill>
              </a:rPr>
              <a:t>Check it:  </a:t>
            </a:r>
            <a:r>
              <a:rPr lang="en-US" sz="1400" dirty="0">
                <a:solidFill>
                  <a:srgbClr val="2B2B2B"/>
                </a:solidFill>
              </a:rPr>
              <a:t>You should see ARP first (“who has 192.168.1.11?”), then the ICMP echo request and reply.</a:t>
            </a:r>
            <a:endParaRPr lang="en-US" sz="1400" dirty="0"/>
          </a:p>
        </p:txBody>
      </p:sp>
      <p:sp>
        <p:nvSpPr>
          <p:cNvPr id="38" name="watch box"/>
          <p:cNvSpPr/>
          <p:nvPr/>
        </p:nvSpPr>
        <p:spPr>
          <a:xfrm>
            <a:off x="6233008" y="5504688"/>
            <a:ext cx="5410048" cy="749808"/>
          </a:xfrm>
          <a:prstGeom prst="roundRect">
            <a:avLst>
              <a:gd name="adj" fmla="val 9756"/>
            </a:avLst>
          </a:prstGeom>
          <a:solidFill>
            <a:srgbClr val="FBEAEA"/>
          </a:solidFill>
          <a:ln w="12700">
            <a:solidFill>
              <a:srgbClr val="E9B8B5"/>
            </a:solidFill>
            <a:prstDash val="solid"/>
          </a:ln>
        </p:spPr>
      </p:sp>
      <p:pic>
        <p:nvPicPr>
          <p:cNvPr id="39" name="watch icon" descr="Watch out:">    </p:cNvPr>
          <p:cNvPicPr>
            <a:picLocks noChangeAspect="1"/>
          </p:cNvPicPr>
          <p:nvPr/>
        </p:nvPicPr>
        <p:blipFill>
          <a:blip r:embed="rId9"/>
          <a:stretch>
            <a:fillRect/>
          </a:stretch>
        </p:blipFill>
        <p:spPr>
          <a:xfrm>
            <a:off x="6379312" y="5733288"/>
            <a:ext cx="292608" cy="292608"/>
          </a:xfrm>
          <a:prstGeom prst="rect">
            <a:avLst/>
          </a:prstGeom>
        </p:spPr>
      </p:pic>
      <p:sp>
        <p:nvSpPr>
          <p:cNvPr id="40" name="watch text"/>
          <p:cNvSpPr txBox="1"/>
          <p:nvPr/>
        </p:nvSpPr>
        <p:spPr>
          <a:xfrm>
            <a:off x="6781648" y="5541264"/>
            <a:ext cx="4751680" cy="676656"/>
          </a:xfrm>
          <a:prstGeom prst="rect">
            <a:avLst/>
          </a:prstGeom>
          <a:noFill/>
          <a:ln/>
        </p:spPr>
        <p:txBody>
          <a:bodyPr wrap="square" lIns="0" tIns="0" rIns="0" bIns="0" rtlCol="0" anchor="ctr"/>
          <a:lstStyle/>
          <a:p>
            <a:pPr indent="0" marL="0">
              <a:buNone/>
            </a:pPr>
            <a:r>
              <a:rPr lang="en-US" sz="1400" b="1" dirty="0">
                <a:solidFill>
                  <a:srgbClr val="8B1A1A"/>
                </a:solidFill>
              </a:rPr>
              <a:t>Watch out:  </a:t>
            </a:r>
            <a:r>
              <a:rPr lang="en-US" sz="1400" dirty="0">
                <a:solidFill>
                  <a:srgbClr val="2B2B2B"/>
                </a:solidFill>
              </a:rPr>
              <a:t>Nothing moves? Tick the protocol in </a:t>
            </a:r>
            <a:r>
              <a:rPr lang="en-US" sz="1400" b="1" dirty="0">
                <a:solidFill>
                  <a:srgbClr val="2B2B2B"/>
                </a:solidFill>
              </a:rPr>
              <a:t>Edit Filters</a:t>
            </a:r>
            <a:r>
              <a:rPr lang="en-US" sz="1400" dirty="0">
                <a:solidFill>
                  <a:srgbClr val="2B2B2B"/>
                </a:solidFill>
              </a:rPr>
              <a:t>, then press </a:t>
            </a:r>
            <a:r>
              <a:rPr lang="en-US" sz="1400" b="1" dirty="0">
                <a:solidFill>
                  <a:srgbClr val="2B2B2B"/>
                </a:solidFill>
              </a:rPr>
              <a:t>Capture/Forward</a:t>
            </a:r>
            <a:r>
              <a:rPr lang="en-US" sz="1400" dirty="0">
                <a:solidFill>
                  <a:srgbClr val="2B2B2B"/>
                </a:solidFill>
              </a:rPr>
              <a:t>.</a:t>
            </a:r>
            <a:endParaRPr lang="en-US" sz="1400" dirty="0"/>
          </a:p>
        </p:txBody>
      </p:sp>
      <p:sp>
        <p:nvSpPr>
          <p:cNvPr id="42" name="Slide Number Placeholder 0"/>
          <p:cNvSpPr>
            <a:spLocks noGrp="1"/>
          </p:cNvSpPr>
          <p:nvPr>
            <p:ph type="sldNum" sz="quarter" idx="4294967295"/>
          </p:nvPr>
        </p:nvSpPr>
        <p:spPr>
          <a:xfrm>
            <a:off x="10698480" y="6464808"/>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body" hasCustomPrompt="1"/>
          </p:nvPr>
        </p:nvSpPr>
        <p:spPr>
          <a:xfrm>
            <a:off x="548640" y="685800"/>
            <a:ext cx="3200400" cy="1143000"/>
          </a:xfrm>
          <a:prstGeom prst="rect">
            <a:avLst/>
          </a:prstGeom>
          <a:noFill/>
          <a:ln/>
        </p:spPr>
        <p:txBody>
          <a:bodyPr wrap="square" lIns="0" tIns="0" rIns="0" bIns="0" rtlCol="0" anchor="b"/>
          <a:lstStyle/>
          <a:p>
            <a:pPr algn="l" indent="0" marL="0">
              <a:buNone/>
            </a:pPr>
            <a:r>
              <a:rPr lang="en-US" sz="7200" b="1" dirty="0">
                <a:solidFill>
                  <a:schemeClr val="accent3"/>
                </a:solidFill>
                <a:latin typeface="Cambria" pitchFamily="34" charset="0"/>
                <a:ea typeface="Cambria" pitchFamily="34" charset="-122"/>
                <a:cs typeface="Cambria" pitchFamily="34" charset="-120"/>
              </a:rPr>
              <a:t>02</a:t>
            </a:r>
            <a:endParaRPr lang="en-US" sz="7200" dirty="0"/>
          </a:p>
        </p:txBody>
      </p:sp>
      <p:sp>
        <p:nvSpPr>
          <p:cNvPr id="3" name="Text 1"/>
          <p:cNvSpPr/>
          <p:nvPr>
            <p:ph idx="102" type="title" hasCustomPrompt="1"/>
          </p:nvPr>
        </p:nvSpPr>
        <p:spPr>
          <a:xfrm>
            <a:off x="548640" y="2011680"/>
            <a:ext cx="6492240" cy="1600200"/>
          </a:xfrm>
          <a:prstGeom prst="rect">
            <a:avLst/>
          </a:prstGeom>
          <a:noFill/>
          <a:ln/>
        </p:spPr>
        <p:txBody>
          <a:bodyPr wrap="square" lIns="0" tIns="0" rIns="0" bIns="0" rtlCol="0" anchor="t"/>
          <a:lstStyle/>
          <a:p>
            <a:pPr algn="l" indent="0" marL="0">
              <a:buNone/>
            </a:pPr>
            <a:r>
              <a:rPr lang="en-US" sz="3400" b="1" dirty="0">
                <a:solidFill>
                  <a:srgbClr val="FFFFFF"/>
                </a:solidFill>
              </a:rPr>
              <a:t>How to work in the Cisco IOS command line</a:t>
            </a:r>
            <a:endParaRPr lang="en-US" sz="3400" dirty="0"/>
          </a:p>
        </p:txBody>
      </p:sp>
      <p:sp>
        <p:nvSpPr>
          <p:cNvPr id="4" name="Text 1"/>
          <p:cNvSpPr/>
          <p:nvPr>
            <p:ph idx="103" type="body" hasCustomPrompt="1"/>
          </p:nvPr>
        </p:nvSpPr>
        <p:spPr>
          <a:xfrm>
            <a:off x="548640" y="3703320"/>
            <a:ext cx="6309360" cy="1188720"/>
          </a:xfrm>
          <a:prstGeom prst="rect">
            <a:avLst/>
          </a:prstGeom>
          <a:noFill/>
          <a:ln/>
        </p:spPr>
        <p:txBody>
          <a:bodyPr wrap="square" lIns="0" tIns="0" rIns="0" bIns="0" rtlCol="0" anchor="t"/>
          <a:lstStyle/>
          <a:p>
            <a:pPr algn="l" indent="0" marL="0">
              <a:buNone/>
            </a:pPr>
            <a:r>
              <a:rPr lang="en-US" sz="1600" dirty="0">
                <a:solidFill>
                  <a:srgbClr val="CFE3D4"/>
                </a:solidFill>
              </a:rPr>
              <a:t>Every Cisco router and switch speaks IOS. Learn its modes, its built-in help and how to read its messages before you configure anything.</a:t>
            </a:r>
            <a:endParaRPr lang="en-US" sz="1600" dirty="0"/>
          </a:p>
        </p:txBody>
      </p:sp>
      <p:sp>
        <p:nvSpPr>
          <p:cNvPr id="5" name="Shape 3"/>
          <p:cNvSpPr/>
          <p:nvPr/>
        </p:nvSpPr>
        <p:spPr>
          <a:xfrm>
            <a:off x="7452360" y="2223770"/>
            <a:ext cx="4187952" cy="2410460"/>
          </a:xfrm>
          <a:prstGeom prst="roundRect">
            <a:avLst>
              <a:gd name="adj" fmla="val 3793"/>
            </a:avLst>
          </a:prstGeom>
          <a:solidFill>
            <a:srgbClr val="1B2B22">
              <a:alpha val="75000"/>
            </a:srgbClr>
          </a:solidFill>
          <a:ln w="12700">
            <a:solidFill>
              <a:srgbClr val="24663A"/>
            </a:solidFill>
            <a:prstDash val="solid"/>
          </a:ln>
        </p:spPr>
      </p:sp>
      <p:sp>
        <p:nvSpPr>
          <p:cNvPr id="6" name="Text 4"/>
          <p:cNvSpPr txBox="1"/>
          <p:nvPr/>
        </p:nvSpPr>
        <p:spPr>
          <a:xfrm>
            <a:off x="7726680" y="2479802"/>
            <a:ext cx="3639312" cy="320040"/>
          </a:xfrm>
          <a:prstGeom prst="rect">
            <a:avLst/>
          </a:prstGeom>
          <a:noFill/>
          <a:ln/>
        </p:spPr>
        <p:txBody>
          <a:bodyPr wrap="square" lIns="0" tIns="0" rIns="0" bIns="0" rtlCol="0" anchor="ctr"/>
          <a:lstStyle/>
          <a:p>
            <a:pPr indent="0" marL="0">
              <a:buNone/>
            </a:pPr>
            <a:r>
              <a:rPr lang="en-US" sz="1500" b="1" dirty="0">
                <a:solidFill>
                  <a:srgbClr val="E8B92E"/>
                </a:solidFill>
              </a:rPr>
              <a:t>In this part, learn how to:</a:t>
            </a:r>
            <a:endParaRPr lang="en-US" sz="1500" dirty="0"/>
          </a:p>
        </p:txBody>
      </p:sp>
      <p:sp>
        <p:nvSpPr>
          <p:cNvPr id="7" name="Text 5"/>
          <p:cNvSpPr txBox="1"/>
          <p:nvPr/>
        </p:nvSpPr>
        <p:spPr>
          <a:xfrm>
            <a:off x="7726680" y="2955290"/>
            <a:ext cx="3730752" cy="149606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FFFFFF"/>
                </a:solidFill>
              </a:rPr>
              <a:t>move between the command modes</a:t>
            </a:r>
            <a:endParaRPr lang="en-US" sz="1500" dirty="0"/>
          </a:p>
          <a:p>
            <a:pPr marL="203200" indent="-203200">
              <a:spcAft>
                <a:spcPts val="800"/>
              </a:spcAft>
              <a:buSzPct val="100000"/>
              <a:buChar char="•"/>
            </a:pPr>
            <a:r>
              <a:rPr lang="en-US" sz="1500" dirty="0">
                <a:solidFill>
                  <a:srgbClr val="FFFFFF"/>
                </a:solidFill>
              </a:rPr>
              <a:t>get help and type less</a:t>
            </a:r>
            <a:endParaRPr lang="en-US" sz="1500" dirty="0"/>
          </a:p>
          <a:p>
            <a:pPr marL="203200" indent="-203200">
              <a:spcAft>
                <a:spcPts val="800"/>
              </a:spcAft>
              <a:buSzPct val="100000"/>
              <a:buChar char="•"/>
            </a:pPr>
            <a:r>
              <a:rPr lang="en-US" sz="1500" dirty="0">
                <a:solidFill>
                  <a:srgbClr val="FFFFFF"/>
                </a:solidFill>
              </a:rPr>
              <a:t>read IOS error messages</a:t>
            </a:r>
            <a:endParaRPr lang="en-US" sz="1500" dirty="0"/>
          </a:p>
          <a:p>
            <a:pPr marL="203200" indent="-203200">
              <a:spcAft>
                <a:spcPts val="800"/>
              </a:spcAft>
              <a:buSzPct val="100000"/>
              <a:buChar char="•"/>
            </a:pPr>
            <a:r>
              <a:rPr lang="en-US" sz="1500" dirty="0">
                <a:solidFill>
                  <a:srgbClr val="FFFFFF"/>
                </a:solidFill>
              </a:rPr>
              <a:t>name interfaces correctly</a:t>
            </a:r>
            <a:endParaRPr lang="en-US" sz="1500" dirty="0"/>
          </a:p>
        </p:txBody>
      </p:sp>
      <p:sp>
        <p:nvSpPr>
          <p:cNvPr id="8" name="Shape 6"/>
          <p:cNvSpPr/>
          <p:nvPr/>
        </p:nvSpPr>
        <p:spPr>
          <a:xfrm>
            <a:off x="548640" y="5989320"/>
            <a:ext cx="914400" cy="566928"/>
          </a:xfrm>
          <a:prstGeom prst="roundRect">
            <a:avLst>
              <a:gd name="adj" fmla="val 9677"/>
            </a:avLst>
          </a:prstGeom>
          <a:solidFill>
            <a:srgbClr val="FFFFFF"/>
          </a:solidFill>
          <a:ln/>
        </p:spPr>
      </p:sp>
      <p:pic>
        <p:nvPicPr>
          <p:cNvPr id="9" name="Image 0" descr="Kabete National Polytechnic logo">    </p:cNvPr>
          <p:cNvPicPr>
            <a:picLocks noChangeAspect="1"/>
          </p:cNvPicPr>
          <p:nvPr/>
        </p:nvPicPr>
        <p:blipFill>
          <a:blip r:embed="rId1"/>
          <a:stretch>
            <a:fillRect/>
          </a:stretch>
        </p:blipFill>
        <p:spPr>
          <a:xfrm>
            <a:off x="594360" y="6022175"/>
            <a:ext cx="822960" cy="501218"/>
          </a:xfrm>
          <a:prstGeom prst="rect">
            <a:avLst/>
          </a:prstGeom>
        </p:spPr>
      </p:pic>
      <p:pic>
        <p:nvPicPr>
          <p:cNvPr id="10" name="Home button" descr="Home: back to the workbook menu">
            <a:hlinkClick r:id="rId3" tooltip="Back to the workbook menu" action="ppaction://hlinksldjump"/>
          </p:cNvPr>
          <p:cNvPicPr>
            <a:picLocks noChangeAspect="1"/>
          </p:cNvPicPr>
          <p:nvPr/>
        </p:nvPicPr>
        <p:blipFill>
          <a:blip r:embed="rId2"/>
          <a:stretch>
            <a:fillRect/>
          </a:stretch>
        </p:blipFill>
        <p:spPr>
          <a:xfrm>
            <a:off x="11365992" y="6336792"/>
            <a:ext cx="365760" cy="365760"/>
          </a:xfrm>
          <a:prstGeom prst="rect">
            <a:avLst/>
          </a:prstGeom>
        </p:spPr>
      </p:pic>
      <p:sp>
        <p:nvSpPr>
          <p:cNvPr id="25" name="Slide Number Placeholder 0"/>
          <p:cNvSpPr>
            <a:spLocks noGrp="1"/>
          </p:cNvSpPr>
          <p:nvPr>
            <p:ph type="sldNum" sz="quarter" idx="4294967295"/>
          </p:nvPr>
        </p:nvSpPr>
        <p:spPr>
          <a:xfrm>
            <a:off x="10698480" y="6464808"/>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CFE3D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body" hasCustomPrompt="1"/>
          </p:nvPr>
        </p:nvSpPr>
        <p:spPr>
          <a:xfrm>
            <a:off x="548640" y="274320"/>
            <a:ext cx="9966960" cy="256032"/>
          </a:xfrm>
          <a:prstGeom prst="rect">
            <a:avLst/>
          </a:prstGeom>
          <a:noFill/>
          <a:ln/>
        </p:spPr>
        <p:txBody>
          <a:bodyPr wrap="square" lIns="0" tIns="0" rIns="0" bIns="0" rtlCol="0" anchor="ctr"/>
          <a:lstStyle/>
          <a:p>
            <a:pPr algn="l" indent="0" marL="0">
              <a:buNone/>
            </a:pPr>
            <a:r>
              <a:rPr lang="en-US" sz="1100" b="1" spc="100" kern="0" dirty="0">
                <a:solidFill>
                  <a:schemeClr val="accent2"/>
                </a:solidFill>
              </a:rPr>
              <a:t>02  •  THE IOS COMMAND LINE</a:t>
            </a:r>
            <a:endParaRPr lang="en-US" sz="1100" dirty="0"/>
          </a:p>
        </p:txBody>
      </p:sp>
      <p:sp>
        <p:nvSpPr>
          <p:cNvPr id="3" name="Text 1"/>
          <p:cNvSpPr/>
          <p:nvPr>
            <p:ph idx="103" type="title" hasCustomPrompt="1"/>
          </p:nvPr>
        </p:nvSpPr>
        <p:spPr>
          <a:xfrm>
            <a:off x="548640" y="548640"/>
            <a:ext cx="10149840" cy="548640"/>
          </a:xfrm>
          <a:prstGeom prst="rect">
            <a:avLst/>
          </a:prstGeom>
          <a:noFill/>
          <a:ln/>
        </p:spPr>
        <p:txBody>
          <a:bodyPr wrap="square" lIns="0" tIns="0" rIns="0" bIns="0" rtlCol="0" anchor="ctr"/>
          <a:lstStyle/>
          <a:p>
            <a:pPr algn="l" indent="0" marL="0">
              <a:buNone/>
            </a:pPr>
            <a:r>
              <a:rPr lang="en-US" sz="2600" b="1" dirty="0">
                <a:solidFill>
                  <a:schemeClr val="accent1"/>
                </a:solidFill>
              </a:rPr>
              <a:t>How to move between the IOS command modes</a:t>
            </a:r>
            <a:endParaRPr lang="en-US" sz="2600" dirty="0"/>
          </a:p>
        </p:txBody>
      </p:sp>
      <p:pic>
        <p:nvPicPr>
          <p:cNvPr id="4" name="Home button" descr="Home: back to the workbook menu">
            <a:hlinkClick r:id="rId2" tooltip="Back to the workbook menu" action="ppaction://hlinksldjump"/>
          </p:cNvPr>
          <p:cNvPicPr>
            <a:picLocks noChangeAspect="1"/>
          </p:cNvPicPr>
          <p:nvPr/>
        </p:nvPicPr>
        <p:blipFill>
          <a:blip r:embed="rId1"/>
          <a:stretch>
            <a:fillRect/>
          </a:stretch>
        </p:blipFill>
        <p:spPr>
          <a:xfrm>
            <a:off x="11365992" y="6336792"/>
            <a:ext cx="365760" cy="365760"/>
          </a:xfrm>
          <a:prstGeom prst="rect">
            <a:avLst/>
          </a:prstGeom>
        </p:spPr>
      </p:pic>
      <p:sp>
        <p:nvSpPr>
          <p:cNvPr id="5" name="Goal"/>
          <p:cNvSpPr txBox="1"/>
          <p:nvPr/>
        </p:nvSpPr>
        <p:spPr>
          <a:xfrm>
            <a:off x="548640" y="1161288"/>
            <a:ext cx="11094415" cy="384048"/>
          </a:xfrm>
          <a:prstGeom prst="rect">
            <a:avLst/>
          </a:prstGeom>
          <a:noFill/>
          <a:ln/>
        </p:spPr>
        <p:txBody>
          <a:bodyPr wrap="square" lIns="0" tIns="0" rIns="0" bIns="0" rtlCol="0" anchor="ctr"/>
          <a:lstStyle/>
          <a:p>
            <a:pPr indent="0" marL="0">
              <a:buNone/>
            </a:pPr>
            <a:r>
              <a:rPr lang="en-US" sz="1400" b="1" dirty="0">
                <a:solidFill>
                  <a:srgbClr val="2B7043"/>
                </a:solidFill>
              </a:rPr>
              <a:t>Goal:  </a:t>
            </a:r>
            <a:r>
              <a:rPr lang="en-US" sz="1400" dirty="0">
                <a:solidFill>
                  <a:srgbClr val="2B2B2B"/>
                </a:solidFill>
              </a:rPr>
              <a:t>IOS is like a building: each room (mode) allows different commands. The prompt tells you which room you are in.</a:t>
            </a:r>
            <a:endParaRPr lang="en-US" sz="1400" dirty="0"/>
          </a:p>
        </p:txBody>
      </p:sp>
      <p:sp>
        <p:nvSpPr>
          <p:cNvPr id="6" name="Shape 3"/>
          <p:cNvSpPr/>
          <p:nvPr/>
        </p:nvSpPr>
        <p:spPr>
          <a:xfrm>
            <a:off x="548640" y="1691640"/>
            <a:ext cx="2743200" cy="1188720"/>
          </a:xfrm>
          <a:prstGeom prst="roundRect">
            <a:avLst>
              <a:gd name="adj" fmla="val 6154"/>
            </a:avLst>
          </a:prstGeom>
          <a:solidFill>
            <a:srgbClr val="F2F8F3"/>
          </a:solidFill>
          <a:ln w="12700">
            <a:solidFill>
              <a:srgbClr val="B7C9BA"/>
            </a:solidFill>
            <a:prstDash val="solid"/>
          </a:ln>
        </p:spPr>
      </p:sp>
      <p:sp>
        <p:nvSpPr>
          <p:cNvPr id="7" name="Text 4"/>
          <p:cNvSpPr txBox="1"/>
          <p:nvPr/>
        </p:nvSpPr>
        <p:spPr>
          <a:xfrm>
            <a:off x="685800" y="1764792"/>
            <a:ext cx="2468880" cy="1042416"/>
          </a:xfrm>
          <a:prstGeom prst="rect">
            <a:avLst/>
          </a:prstGeom>
          <a:noFill/>
          <a:ln/>
        </p:spPr>
        <p:txBody>
          <a:bodyPr wrap="square" lIns="0" tIns="0" rIns="0" bIns="0" rtlCol="0" anchor="ctr"/>
          <a:lstStyle/>
          <a:p>
            <a:pPr algn="ctr" indent="0" marL="0">
              <a:spcAft>
                <a:spcPts val="200"/>
              </a:spcAft>
              <a:buNone/>
            </a:pPr>
            <a:r>
              <a:rPr lang="en-US" sz="1400" b="1" dirty="0">
                <a:solidFill>
                  <a:srgbClr val="1E5631"/>
                </a:solidFill>
              </a:rPr>
              <a:t>User EXEC</a:t>
            </a:r>
            <a:endParaRPr lang="en-US" sz="1400" dirty="0"/>
          </a:p>
          <a:p>
            <a:pPr algn="ctr" indent="0" marL="0">
              <a:spcAft>
                <a:spcPts val="200"/>
              </a:spcAft>
              <a:buNone/>
            </a:pPr>
            <a:r>
              <a:rPr lang="en-US" sz="1800" b="1" dirty="0">
                <a:solidFill>
                  <a:srgbClr val="2B7043"/>
                </a:solidFill>
                <a:latin typeface="Courier New" pitchFamily="34" charset="0"/>
                <a:ea typeface="Courier New" pitchFamily="34" charset="-122"/>
                <a:cs typeface="Courier New" pitchFamily="34" charset="-120"/>
              </a:rPr>
              <a:t>R1&gt;</a:t>
            </a:r>
            <a:endParaRPr lang="en-US" sz="1400" dirty="0"/>
          </a:p>
          <a:p>
            <a:pPr algn="ctr" indent="0" marL="0">
              <a:spcAft>
                <a:spcPts val="200"/>
              </a:spcAft>
              <a:buNone/>
            </a:pPr>
            <a:r>
              <a:rPr lang="en-US" sz="1400" dirty="0">
                <a:solidFill>
                  <a:srgbClr val="1E5631"/>
                </a:solidFill>
              </a:rPr>
              <a:t>Look only: basic show, ping</a:t>
            </a:r>
            <a:endParaRPr lang="en-US" sz="1400" dirty="0"/>
          </a:p>
        </p:txBody>
      </p:sp>
      <p:sp>
        <p:nvSpPr>
          <p:cNvPr id="8" name="Shape 5"/>
          <p:cNvSpPr/>
          <p:nvPr/>
        </p:nvSpPr>
        <p:spPr>
          <a:xfrm>
            <a:off x="4718304" y="1691640"/>
            <a:ext cx="2743200" cy="1188720"/>
          </a:xfrm>
          <a:prstGeom prst="roundRect">
            <a:avLst>
              <a:gd name="adj" fmla="val 6154"/>
            </a:avLst>
          </a:prstGeom>
          <a:solidFill>
            <a:srgbClr val="E8F1EA"/>
          </a:solidFill>
          <a:ln w="12700">
            <a:solidFill>
              <a:srgbClr val="B7C9BA"/>
            </a:solidFill>
            <a:prstDash val="solid"/>
          </a:ln>
        </p:spPr>
      </p:sp>
      <p:sp>
        <p:nvSpPr>
          <p:cNvPr id="9" name="Text 6"/>
          <p:cNvSpPr txBox="1"/>
          <p:nvPr/>
        </p:nvSpPr>
        <p:spPr>
          <a:xfrm>
            <a:off x="4855464" y="1764792"/>
            <a:ext cx="2468880" cy="1042416"/>
          </a:xfrm>
          <a:prstGeom prst="rect">
            <a:avLst/>
          </a:prstGeom>
          <a:noFill/>
          <a:ln/>
        </p:spPr>
        <p:txBody>
          <a:bodyPr wrap="square" lIns="0" tIns="0" rIns="0" bIns="0" rtlCol="0" anchor="ctr"/>
          <a:lstStyle/>
          <a:p>
            <a:pPr algn="ctr" indent="0" marL="0">
              <a:spcAft>
                <a:spcPts val="200"/>
              </a:spcAft>
              <a:buNone/>
            </a:pPr>
            <a:r>
              <a:rPr lang="en-US" sz="1400" b="1" dirty="0">
                <a:solidFill>
                  <a:srgbClr val="1E5631"/>
                </a:solidFill>
              </a:rPr>
              <a:t>Privileged EXEC</a:t>
            </a:r>
            <a:endParaRPr lang="en-US" sz="1400" dirty="0"/>
          </a:p>
          <a:p>
            <a:pPr algn="ctr" indent="0" marL="0">
              <a:spcAft>
                <a:spcPts val="200"/>
              </a:spcAft>
              <a:buNone/>
            </a:pPr>
            <a:r>
              <a:rPr lang="en-US" sz="1800" b="1" dirty="0">
                <a:solidFill>
                  <a:srgbClr val="2B7043"/>
                </a:solidFill>
                <a:latin typeface="Courier New" pitchFamily="34" charset="0"/>
                <a:ea typeface="Courier New" pitchFamily="34" charset="-122"/>
                <a:cs typeface="Courier New" pitchFamily="34" charset="-120"/>
              </a:rPr>
              <a:t>R1#</a:t>
            </a:r>
            <a:endParaRPr lang="en-US" sz="1400" dirty="0"/>
          </a:p>
          <a:p>
            <a:pPr algn="ctr" indent="0" marL="0">
              <a:spcAft>
                <a:spcPts val="200"/>
              </a:spcAft>
              <a:buNone/>
            </a:pPr>
            <a:r>
              <a:rPr lang="en-US" sz="1400" dirty="0">
                <a:solidFill>
                  <a:srgbClr val="1E5631"/>
                </a:solidFill>
              </a:rPr>
              <a:t>All show, copy, reload</a:t>
            </a:r>
            <a:endParaRPr lang="en-US" sz="1400" dirty="0"/>
          </a:p>
        </p:txBody>
      </p:sp>
      <p:sp>
        <p:nvSpPr>
          <p:cNvPr id="10" name="Shape 7"/>
          <p:cNvSpPr/>
          <p:nvPr/>
        </p:nvSpPr>
        <p:spPr>
          <a:xfrm>
            <a:off x="8887968" y="1691640"/>
            <a:ext cx="2743200" cy="1188720"/>
          </a:xfrm>
          <a:prstGeom prst="roundRect">
            <a:avLst>
              <a:gd name="adj" fmla="val 6154"/>
            </a:avLst>
          </a:prstGeom>
          <a:solidFill>
            <a:srgbClr val="1E5631"/>
          </a:solidFill>
          <a:ln w="12700">
            <a:solidFill>
              <a:srgbClr val="1E5631"/>
            </a:solidFill>
            <a:prstDash val="solid"/>
          </a:ln>
        </p:spPr>
      </p:sp>
      <p:sp>
        <p:nvSpPr>
          <p:cNvPr id="11" name="Text 8"/>
          <p:cNvSpPr txBox="1"/>
          <p:nvPr/>
        </p:nvSpPr>
        <p:spPr>
          <a:xfrm>
            <a:off x="9025128" y="1764792"/>
            <a:ext cx="2468880" cy="1042416"/>
          </a:xfrm>
          <a:prstGeom prst="rect">
            <a:avLst/>
          </a:prstGeom>
          <a:noFill/>
          <a:ln/>
        </p:spPr>
        <p:txBody>
          <a:bodyPr wrap="square" lIns="0" tIns="0" rIns="0" bIns="0" rtlCol="0" anchor="ctr"/>
          <a:lstStyle/>
          <a:p>
            <a:pPr algn="ctr" indent="0" marL="0">
              <a:spcAft>
                <a:spcPts val="200"/>
              </a:spcAft>
              <a:buNone/>
            </a:pPr>
            <a:r>
              <a:rPr lang="en-US" sz="1400" b="1" dirty="0">
                <a:solidFill>
                  <a:srgbClr val="FFFFFF"/>
                </a:solidFill>
              </a:rPr>
              <a:t>Global configuration</a:t>
            </a:r>
            <a:endParaRPr lang="en-US" sz="1400" dirty="0"/>
          </a:p>
          <a:p>
            <a:pPr algn="ctr" indent="0" marL="0">
              <a:spcAft>
                <a:spcPts val="200"/>
              </a:spcAft>
              <a:buNone/>
            </a:pPr>
            <a:r>
              <a:rPr lang="en-US" sz="1800" b="1" dirty="0">
                <a:solidFill>
                  <a:srgbClr val="E8B92E"/>
                </a:solidFill>
                <a:latin typeface="Courier New" pitchFamily="34" charset="0"/>
                <a:ea typeface="Courier New" pitchFamily="34" charset="-122"/>
                <a:cs typeface="Courier New" pitchFamily="34" charset="-120"/>
              </a:rPr>
              <a:t>R1(config)#</a:t>
            </a:r>
            <a:endParaRPr lang="en-US" sz="1400" dirty="0"/>
          </a:p>
          <a:p>
            <a:pPr algn="ctr" indent="0" marL="0">
              <a:spcAft>
                <a:spcPts val="200"/>
              </a:spcAft>
              <a:buNone/>
            </a:pPr>
            <a:r>
              <a:rPr lang="en-US" sz="1400" dirty="0">
                <a:solidFill>
                  <a:srgbClr val="FFFFFF"/>
                </a:solidFill>
              </a:rPr>
              <a:t>Settings for the whole device</a:t>
            </a:r>
            <a:endParaRPr lang="en-US" sz="1400" dirty="0"/>
          </a:p>
        </p:txBody>
      </p:sp>
      <p:sp>
        <p:nvSpPr>
          <p:cNvPr id="12" name="Shape 9"/>
          <p:cNvSpPr/>
          <p:nvPr/>
        </p:nvSpPr>
        <p:spPr>
          <a:xfrm>
            <a:off x="3337560" y="2194560"/>
            <a:ext cx="1335024" cy="914"/>
          </a:xfrm>
          <a:prstGeom prst="line">
            <a:avLst/>
          </a:prstGeom>
          <a:noFill/>
          <a:ln w="31750">
            <a:solidFill>
              <a:srgbClr val="1E5631"/>
            </a:solidFill>
            <a:prstDash val="solid"/>
            <a:tailEnd type="triangle"/>
          </a:ln>
        </p:spPr>
      </p:sp>
      <p:sp>
        <p:nvSpPr>
          <p:cNvPr id="13" name="Text 10"/>
          <p:cNvSpPr txBox="1"/>
          <p:nvPr/>
        </p:nvSpPr>
        <p:spPr>
          <a:xfrm>
            <a:off x="3291840" y="1801368"/>
            <a:ext cx="1426464" cy="329184"/>
          </a:xfrm>
          <a:prstGeom prst="rect">
            <a:avLst/>
          </a:prstGeom>
          <a:noFill/>
          <a:ln/>
        </p:spPr>
        <p:txBody>
          <a:bodyPr wrap="square" lIns="0" tIns="0" rIns="0" bIns="0" rtlCol="0" anchor="b"/>
          <a:lstStyle/>
          <a:p>
            <a:pPr algn="ctr" indent="0" marL="0">
              <a:buNone/>
            </a:pPr>
            <a:r>
              <a:rPr lang="en-US" sz="1300" b="1" dirty="0">
                <a:solidFill>
                  <a:srgbClr val="1E5631"/>
                </a:solidFill>
                <a:latin typeface="Courier New" pitchFamily="34" charset="0"/>
                <a:ea typeface="Courier New" pitchFamily="34" charset="-122"/>
                <a:cs typeface="Courier New" pitchFamily="34" charset="-120"/>
              </a:rPr>
              <a:t>enable</a:t>
            </a:r>
            <a:endParaRPr lang="en-US" sz="1300" dirty="0"/>
          </a:p>
        </p:txBody>
      </p:sp>
      <p:sp>
        <p:nvSpPr>
          <p:cNvPr id="14" name="Shape 11"/>
          <p:cNvSpPr/>
          <p:nvPr/>
        </p:nvSpPr>
        <p:spPr>
          <a:xfrm>
            <a:off x="7507224" y="2194560"/>
            <a:ext cx="1335024" cy="914"/>
          </a:xfrm>
          <a:prstGeom prst="line">
            <a:avLst/>
          </a:prstGeom>
          <a:noFill/>
          <a:ln w="31750">
            <a:solidFill>
              <a:srgbClr val="1E5631"/>
            </a:solidFill>
            <a:prstDash val="solid"/>
            <a:tailEnd type="triangle"/>
          </a:ln>
        </p:spPr>
      </p:sp>
      <p:sp>
        <p:nvSpPr>
          <p:cNvPr id="15" name="Text 12"/>
          <p:cNvSpPr txBox="1"/>
          <p:nvPr/>
        </p:nvSpPr>
        <p:spPr>
          <a:xfrm>
            <a:off x="7461504" y="1581912"/>
            <a:ext cx="1426464" cy="566928"/>
          </a:xfrm>
          <a:prstGeom prst="rect">
            <a:avLst/>
          </a:prstGeom>
          <a:noFill/>
          <a:ln/>
        </p:spPr>
        <p:txBody>
          <a:bodyPr wrap="square" lIns="0" tIns="0" rIns="0" bIns="0" rtlCol="0" anchor="b"/>
          <a:lstStyle/>
          <a:p>
            <a:pPr algn="ctr" indent="0" marL="0">
              <a:buNone/>
            </a:pPr>
            <a:r>
              <a:rPr lang="en-US" sz="1300" b="1" dirty="0">
                <a:solidFill>
                  <a:srgbClr val="1E5631"/>
                </a:solidFill>
                <a:latin typeface="Courier New" pitchFamily="34" charset="0"/>
                <a:ea typeface="Courier New" pitchFamily="34" charset="-122"/>
                <a:cs typeface="Courier New" pitchFamily="34" charset="-120"/>
              </a:rPr>
              <a:t>configure</a:t>
            </a:r>
            <a:endParaRPr lang="en-US" sz="1300" dirty="0"/>
          </a:p>
          <a:p>
            <a:pPr algn="ctr" indent="0" marL="0">
              <a:buNone/>
            </a:pPr>
            <a:r>
              <a:rPr lang="en-US" sz="1300" b="1" dirty="0">
                <a:solidFill>
                  <a:srgbClr val="1E5631"/>
                </a:solidFill>
                <a:latin typeface="Courier New" pitchFamily="34" charset="0"/>
                <a:ea typeface="Courier New" pitchFamily="34" charset="-122"/>
                <a:cs typeface="Courier New" pitchFamily="34" charset="-120"/>
              </a:rPr>
              <a:t>terminal</a:t>
            </a:r>
            <a:endParaRPr lang="en-US" sz="1300" dirty="0"/>
          </a:p>
        </p:txBody>
      </p:sp>
      <p:sp>
        <p:nvSpPr>
          <p:cNvPr id="16" name="Shape 13"/>
          <p:cNvSpPr/>
          <p:nvPr/>
        </p:nvSpPr>
        <p:spPr>
          <a:xfrm flipH="1">
            <a:off x="3337560" y="2514600"/>
            <a:ext cx="1335024" cy="914"/>
          </a:xfrm>
          <a:prstGeom prst="line">
            <a:avLst/>
          </a:prstGeom>
          <a:noFill/>
          <a:ln w="19050">
            <a:solidFill>
              <a:srgbClr val="6B6B6B"/>
            </a:solidFill>
            <a:prstDash val="dash"/>
            <a:tailEnd type="triangle"/>
          </a:ln>
        </p:spPr>
      </p:sp>
      <p:sp>
        <p:nvSpPr>
          <p:cNvPr id="17" name="Text 14"/>
          <p:cNvSpPr txBox="1"/>
          <p:nvPr/>
        </p:nvSpPr>
        <p:spPr>
          <a:xfrm>
            <a:off x="3291840" y="2560320"/>
            <a:ext cx="1426464" cy="292608"/>
          </a:xfrm>
          <a:prstGeom prst="rect">
            <a:avLst/>
          </a:prstGeom>
          <a:noFill/>
          <a:ln/>
        </p:spPr>
        <p:txBody>
          <a:bodyPr wrap="square" lIns="0" tIns="0" rIns="0" bIns="0" rtlCol="0" anchor="t"/>
          <a:lstStyle/>
          <a:p>
            <a:pPr algn="ctr" indent="0" marL="0">
              <a:buNone/>
            </a:pPr>
            <a:r>
              <a:rPr lang="en-US" sz="1200" b="1" dirty="0">
                <a:solidFill>
                  <a:srgbClr val="6B6B6B"/>
                </a:solidFill>
                <a:latin typeface="Courier New" pitchFamily="34" charset="0"/>
                <a:ea typeface="Courier New" pitchFamily="34" charset="-122"/>
                <a:cs typeface="Courier New" pitchFamily="34" charset="-120"/>
              </a:rPr>
              <a:t>disable</a:t>
            </a:r>
            <a:endParaRPr lang="en-US" sz="1200" dirty="0"/>
          </a:p>
        </p:txBody>
      </p:sp>
      <p:sp>
        <p:nvSpPr>
          <p:cNvPr id="18" name="Shape 15"/>
          <p:cNvSpPr/>
          <p:nvPr/>
        </p:nvSpPr>
        <p:spPr>
          <a:xfrm flipH="1">
            <a:off x="7507224" y="2514600"/>
            <a:ext cx="1335024" cy="914"/>
          </a:xfrm>
          <a:prstGeom prst="line">
            <a:avLst/>
          </a:prstGeom>
          <a:noFill/>
          <a:ln w="19050">
            <a:solidFill>
              <a:srgbClr val="6B6B6B"/>
            </a:solidFill>
            <a:prstDash val="dash"/>
            <a:tailEnd type="triangle"/>
          </a:ln>
        </p:spPr>
      </p:sp>
      <p:sp>
        <p:nvSpPr>
          <p:cNvPr id="19" name="Text 16"/>
          <p:cNvSpPr txBox="1"/>
          <p:nvPr/>
        </p:nvSpPr>
        <p:spPr>
          <a:xfrm>
            <a:off x="7461504" y="2560320"/>
            <a:ext cx="1426464" cy="292608"/>
          </a:xfrm>
          <a:prstGeom prst="rect">
            <a:avLst/>
          </a:prstGeom>
          <a:noFill/>
          <a:ln/>
        </p:spPr>
        <p:txBody>
          <a:bodyPr wrap="square" lIns="0" tIns="0" rIns="0" bIns="0" rtlCol="0" anchor="t"/>
          <a:lstStyle/>
          <a:p>
            <a:pPr algn="ctr" indent="0" marL="0">
              <a:buNone/>
            </a:pPr>
            <a:r>
              <a:rPr lang="en-US" sz="1200" b="1" dirty="0">
                <a:solidFill>
                  <a:srgbClr val="6B6B6B"/>
                </a:solidFill>
                <a:latin typeface="Courier New" pitchFamily="34" charset="0"/>
                <a:ea typeface="Courier New" pitchFamily="34" charset="-122"/>
                <a:cs typeface="Courier New" pitchFamily="34" charset="-120"/>
              </a:rPr>
              <a:t>end / exit</a:t>
            </a:r>
            <a:endParaRPr lang="en-US" sz="1200" dirty="0"/>
          </a:p>
        </p:txBody>
      </p:sp>
      <p:sp>
        <p:nvSpPr>
          <p:cNvPr id="20" name="Shape 17"/>
          <p:cNvSpPr/>
          <p:nvPr/>
        </p:nvSpPr>
        <p:spPr>
          <a:xfrm>
            <a:off x="10259568" y="2880360"/>
            <a:ext cx="914" cy="338328"/>
          </a:xfrm>
          <a:prstGeom prst="line">
            <a:avLst/>
          </a:prstGeom>
          <a:noFill/>
          <a:ln w="25400">
            <a:solidFill>
              <a:srgbClr val="1E5631"/>
            </a:solidFill>
            <a:prstDash val="solid"/>
          </a:ln>
        </p:spPr>
      </p:sp>
      <p:sp>
        <p:nvSpPr>
          <p:cNvPr id="21" name="Shape 18"/>
          <p:cNvSpPr/>
          <p:nvPr/>
        </p:nvSpPr>
        <p:spPr>
          <a:xfrm>
            <a:off x="1577340" y="3218688"/>
            <a:ext cx="9037015" cy="914"/>
          </a:xfrm>
          <a:prstGeom prst="line">
            <a:avLst/>
          </a:prstGeom>
          <a:noFill/>
          <a:ln w="25400">
            <a:solidFill>
              <a:srgbClr val="1E5631"/>
            </a:solidFill>
            <a:prstDash val="solid"/>
          </a:ln>
        </p:spPr>
      </p:sp>
      <p:sp>
        <p:nvSpPr>
          <p:cNvPr id="22" name="Shape 19"/>
          <p:cNvSpPr/>
          <p:nvPr/>
        </p:nvSpPr>
        <p:spPr>
          <a:xfrm>
            <a:off x="1577340" y="3218688"/>
            <a:ext cx="914" cy="301752"/>
          </a:xfrm>
          <a:prstGeom prst="line">
            <a:avLst/>
          </a:prstGeom>
          <a:noFill/>
          <a:ln w="25400">
            <a:solidFill>
              <a:srgbClr val="1E5631"/>
            </a:solidFill>
            <a:prstDash val="solid"/>
            <a:tailEnd type="triangle"/>
          </a:ln>
        </p:spPr>
      </p:sp>
      <p:sp>
        <p:nvSpPr>
          <p:cNvPr id="23" name="Shape 20"/>
          <p:cNvSpPr/>
          <p:nvPr/>
        </p:nvSpPr>
        <p:spPr>
          <a:xfrm>
            <a:off x="548640" y="3520440"/>
            <a:ext cx="2057400" cy="1261872"/>
          </a:xfrm>
          <a:prstGeom prst="roundRect">
            <a:avLst>
              <a:gd name="adj" fmla="val 5797"/>
            </a:avLst>
          </a:prstGeom>
          <a:solidFill>
            <a:srgbClr val="FFFFFF"/>
          </a:solidFill>
          <a:ln w="15875">
            <a:solidFill>
              <a:srgbClr val="1E5631"/>
            </a:solidFill>
            <a:prstDash val="solid"/>
          </a:ln>
        </p:spPr>
      </p:sp>
      <p:sp>
        <p:nvSpPr>
          <p:cNvPr id="24" name="Text 21"/>
          <p:cNvSpPr txBox="1"/>
          <p:nvPr/>
        </p:nvSpPr>
        <p:spPr>
          <a:xfrm>
            <a:off x="621792" y="3593592"/>
            <a:ext cx="1911096" cy="1115568"/>
          </a:xfrm>
          <a:prstGeom prst="rect">
            <a:avLst/>
          </a:prstGeom>
          <a:noFill/>
          <a:ln/>
        </p:spPr>
        <p:txBody>
          <a:bodyPr wrap="square" lIns="0" tIns="0" rIns="0" bIns="0" rtlCol="0" anchor="ctr"/>
          <a:lstStyle/>
          <a:p>
            <a:pPr algn="ctr" indent="0" marL="0">
              <a:spcAft>
                <a:spcPts val="400"/>
              </a:spcAft>
              <a:buNone/>
            </a:pPr>
            <a:r>
              <a:rPr lang="en-US" sz="1200" b="1" dirty="0">
                <a:solidFill>
                  <a:srgbClr val="2B2B2B"/>
                </a:solidFill>
                <a:latin typeface="Courier New" pitchFamily="34" charset="0"/>
                <a:ea typeface="Courier New" pitchFamily="34" charset="-122"/>
                <a:cs typeface="Courier New" pitchFamily="34" charset="-120"/>
              </a:rPr>
              <a:t>interface g0/0/0</a:t>
            </a:r>
            <a:endParaRPr lang="en-US" sz="1200" dirty="0"/>
          </a:p>
          <a:p>
            <a:pPr algn="ctr" indent="0" marL="0">
              <a:spcAft>
                <a:spcPts val="400"/>
              </a:spcAft>
              <a:buNone/>
            </a:pPr>
            <a:r>
              <a:rPr lang="en-US" sz="1300" b="1" dirty="0">
                <a:solidFill>
                  <a:srgbClr val="2B7043"/>
                </a:solidFill>
                <a:latin typeface="Courier New" pitchFamily="34" charset="0"/>
                <a:ea typeface="Courier New" pitchFamily="34" charset="-122"/>
                <a:cs typeface="Courier New" pitchFamily="34" charset="-120"/>
              </a:rPr>
              <a:t>R1(config-if)#</a:t>
            </a:r>
            <a:endParaRPr lang="en-US" sz="1200" dirty="0"/>
          </a:p>
          <a:p>
            <a:pPr algn="ctr" indent="0" marL="0">
              <a:spcAft>
                <a:spcPts val="400"/>
              </a:spcAft>
              <a:buNone/>
            </a:pPr>
            <a:r>
              <a:rPr lang="en-US" sz="1400" dirty="0">
                <a:solidFill>
                  <a:srgbClr val="2B2B2B"/>
                </a:solidFill>
              </a:rPr>
              <a:t>One port</a:t>
            </a:r>
            <a:endParaRPr lang="en-US" sz="1200" dirty="0"/>
          </a:p>
        </p:txBody>
      </p:sp>
      <p:sp>
        <p:nvSpPr>
          <p:cNvPr id="25" name="Shape 22"/>
          <p:cNvSpPr/>
          <p:nvPr/>
        </p:nvSpPr>
        <p:spPr>
          <a:xfrm>
            <a:off x="3836594" y="3218688"/>
            <a:ext cx="914" cy="301752"/>
          </a:xfrm>
          <a:prstGeom prst="line">
            <a:avLst/>
          </a:prstGeom>
          <a:noFill/>
          <a:ln w="25400">
            <a:solidFill>
              <a:srgbClr val="1E5631"/>
            </a:solidFill>
            <a:prstDash val="solid"/>
            <a:tailEnd type="triangle"/>
          </a:ln>
        </p:spPr>
      </p:sp>
      <p:sp>
        <p:nvSpPr>
          <p:cNvPr id="26" name="Shape 23"/>
          <p:cNvSpPr/>
          <p:nvPr/>
        </p:nvSpPr>
        <p:spPr>
          <a:xfrm>
            <a:off x="2807894" y="3520440"/>
            <a:ext cx="2057400" cy="1261872"/>
          </a:xfrm>
          <a:prstGeom prst="roundRect">
            <a:avLst>
              <a:gd name="adj" fmla="val 5797"/>
            </a:avLst>
          </a:prstGeom>
          <a:solidFill>
            <a:srgbClr val="FFFFFF"/>
          </a:solidFill>
          <a:ln w="15875">
            <a:solidFill>
              <a:srgbClr val="1E5631"/>
            </a:solidFill>
            <a:prstDash val="solid"/>
          </a:ln>
        </p:spPr>
      </p:sp>
      <p:sp>
        <p:nvSpPr>
          <p:cNvPr id="27" name="Text 24"/>
          <p:cNvSpPr txBox="1"/>
          <p:nvPr/>
        </p:nvSpPr>
        <p:spPr>
          <a:xfrm>
            <a:off x="2881046" y="3593592"/>
            <a:ext cx="1911096" cy="1115568"/>
          </a:xfrm>
          <a:prstGeom prst="rect">
            <a:avLst/>
          </a:prstGeom>
          <a:noFill/>
          <a:ln/>
        </p:spPr>
        <p:txBody>
          <a:bodyPr wrap="square" lIns="0" tIns="0" rIns="0" bIns="0" rtlCol="0" anchor="ctr"/>
          <a:lstStyle/>
          <a:p>
            <a:pPr algn="ctr" indent="0" marL="0">
              <a:spcAft>
                <a:spcPts val="400"/>
              </a:spcAft>
              <a:buNone/>
            </a:pPr>
            <a:r>
              <a:rPr lang="en-US" sz="1200" b="1" dirty="0">
                <a:solidFill>
                  <a:srgbClr val="2B2B2B"/>
                </a:solidFill>
                <a:latin typeface="Courier New" pitchFamily="34" charset="0"/>
                <a:ea typeface="Courier New" pitchFamily="34" charset="-122"/>
                <a:cs typeface="Courier New" pitchFamily="34" charset="-120"/>
              </a:rPr>
              <a:t>line vty 0 4</a:t>
            </a:r>
            <a:endParaRPr lang="en-US" sz="1200" dirty="0"/>
          </a:p>
          <a:p>
            <a:pPr algn="ctr" indent="0" marL="0">
              <a:spcAft>
                <a:spcPts val="400"/>
              </a:spcAft>
              <a:buNone/>
            </a:pPr>
            <a:r>
              <a:rPr lang="en-US" sz="1300" b="1" dirty="0">
                <a:solidFill>
                  <a:srgbClr val="2B7043"/>
                </a:solidFill>
                <a:latin typeface="Courier New" pitchFamily="34" charset="0"/>
                <a:ea typeface="Courier New" pitchFamily="34" charset="-122"/>
                <a:cs typeface="Courier New" pitchFamily="34" charset="-120"/>
              </a:rPr>
              <a:t>R1(config-line)#</a:t>
            </a:r>
            <a:endParaRPr lang="en-US" sz="1200" dirty="0"/>
          </a:p>
          <a:p>
            <a:pPr algn="ctr" indent="0" marL="0">
              <a:spcAft>
                <a:spcPts val="400"/>
              </a:spcAft>
              <a:buNone/>
            </a:pPr>
            <a:r>
              <a:rPr lang="en-US" sz="1400" dirty="0">
                <a:solidFill>
                  <a:srgbClr val="2B2B2B"/>
                </a:solidFill>
              </a:rPr>
              <a:t>Console or remote lines</a:t>
            </a:r>
            <a:endParaRPr lang="en-US" sz="1200" dirty="0"/>
          </a:p>
        </p:txBody>
      </p:sp>
      <p:sp>
        <p:nvSpPr>
          <p:cNvPr id="28" name="Shape 25"/>
          <p:cNvSpPr/>
          <p:nvPr/>
        </p:nvSpPr>
        <p:spPr>
          <a:xfrm>
            <a:off x="6095848" y="3218688"/>
            <a:ext cx="914" cy="301752"/>
          </a:xfrm>
          <a:prstGeom prst="line">
            <a:avLst/>
          </a:prstGeom>
          <a:noFill/>
          <a:ln w="25400">
            <a:solidFill>
              <a:srgbClr val="1E5631"/>
            </a:solidFill>
            <a:prstDash val="solid"/>
            <a:tailEnd type="triangle"/>
          </a:ln>
        </p:spPr>
      </p:sp>
      <p:sp>
        <p:nvSpPr>
          <p:cNvPr id="29" name="Shape 26"/>
          <p:cNvSpPr/>
          <p:nvPr/>
        </p:nvSpPr>
        <p:spPr>
          <a:xfrm>
            <a:off x="5067148" y="3520440"/>
            <a:ext cx="2057400" cy="1261872"/>
          </a:xfrm>
          <a:prstGeom prst="roundRect">
            <a:avLst>
              <a:gd name="adj" fmla="val 5797"/>
            </a:avLst>
          </a:prstGeom>
          <a:solidFill>
            <a:srgbClr val="FFFFFF"/>
          </a:solidFill>
          <a:ln w="15875">
            <a:solidFill>
              <a:srgbClr val="1E5631"/>
            </a:solidFill>
            <a:prstDash val="solid"/>
          </a:ln>
        </p:spPr>
      </p:sp>
      <p:sp>
        <p:nvSpPr>
          <p:cNvPr id="30" name="Text 27"/>
          <p:cNvSpPr txBox="1"/>
          <p:nvPr/>
        </p:nvSpPr>
        <p:spPr>
          <a:xfrm>
            <a:off x="5140300" y="3593592"/>
            <a:ext cx="1911096" cy="1115568"/>
          </a:xfrm>
          <a:prstGeom prst="rect">
            <a:avLst/>
          </a:prstGeom>
          <a:noFill/>
          <a:ln/>
        </p:spPr>
        <p:txBody>
          <a:bodyPr wrap="square" lIns="0" tIns="0" rIns="0" bIns="0" rtlCol="0" anchor="ctr"/>
          <a:lstStyle/>
          <a:p>
            <a:pPr algn="ctr" indent="0" marL="0">
              <a:spcAft>
                <a:spcPts val="400"/>
              </a:spcAft>
              <a:buNone/>
            </a:pPr>
            <a:r>
              <a:rPr lang="en-US" sz="1200" b="1" dirty="0">
                <a:solidFill>
                  <a:srgbClr val="2B2B2B"/>
                </a:solidFill>
                <a:latin typeface="Courier New" pitchFamily="34" charset="0"/>
                <a:ea typeface="Courier New" pitchFamily="34" charset="-122"/>
                <a:cs typeface="Courier New" pitchFamily="34" charset="-120"/>
              </a:rPr>
              <a:t>router ospf 10</a:t>
            </a:r>
            <a:endParaRPr lang="en-US" sz="1200" dirty="0"/>
          </a:p>
          <a:p>
            <a:pPr algn="ctr" indent="0" marL="0">
              <a:spcAft>
                <a:spcPts val="400"/>
              </a:spcAft>
              <a:buNone/>
            </a:pPr>
            <a:r>
              <a:rPr lang="en-US" sz="1300" b="1" dirty="0">
                <a:solidFill>
                  <a:srgbClr val="2B7043"/>
                </a:solidFill>
                <a:latin typeface="Courier New" pitchFamily="34" charset="0"/>
                <a:ea typeface="Courier New" pitchFamily="34" charset="-122"/>
                <a:cs typeface="Courier New" pitchFamily="34" charset="-120"/>
              </a:rPr>
              <a:t>R1(config-router)#</a:t>
            </a:r>
            <a:endParaRPr lang="en-US" sz="1200" dirty="0"/>
          </a:p>
          <a:p>
            <a:pPr algn="ctr" indent="0" marL="0">
              <a:spcAft>
                <a:spcPts val="400"/>
              </a:spcAft>
              <a:buNone/>
            </a:pPr>
            <a:r>
              <a:rPr lang="en-US" sz="1400" dirty="0">
                <a:solidFill>
                  <a:srgbClr val="2B2B2B"/>
                </a:solidFill>
              </a:rPr>
              <a:t>A routing protocol</a:t>
            </a:r>
            <a:endParaRPr lang="en-US" sz="1200" dirty="0"/>
          </a:p>
        </p:txBody>
      </p:sp>
      <p:sp>
        <p:nvSpPr>
          <p:cNvPr id="31" name="Shape 28"/>
          <p:cNvSpPr/>
          <p:nvPr/>
        </p:nvSpPr>
        <p:spPr>
          <a:xfrm>
            <a:off x="8355101" y="3218688"/>
            <a:ext cx="914" cy="301752"/>
          </a:xfrm>
          <a:prstGeom prst="line">
            <a:avLst/>
          </a:prstGeom>
          <a:noFill/>
          <a:ln w="25400">
            <a:solidFill>
              <a:srgbClr val="1E5631"/>
            </a:solidFill>
            <a:prstDash val="solid"/>
            <a:tailEnd type="triangle"/>
          </a:ln>
        </p:spPr>
      </p:sp>
      <p:sp>
        <p:nvSpPr>
          <p:cNvPr id="32" name="Shape 29"/>
          <p:cNvSpPr/>
          <p:nvPr/>
        </p:nvSpPr>
        <p:spPr>
          <a:xfrm>
            <a:off x="7326401" y="3520440"/>
            <a:ext cx="2057400" cy="1261872"/>
          </a:xfrm>
          <a:prstGeom prst="roundRect">
            <a:avLst>
              <a:gd name="adj" fmla="val 5797"/>
            </a:avLst>
          </a:prstGeom>
          <a:solidFill>
            <a:srgbClr val="FFFFFF"/>
          </a:solidFill>
          <a:ln w="15875">
            <a:solidFill>
              <a:srgbClr val="1E5631"/>
            </a:solidFill>
            <a:prstDash val="solid"/>
          </a:ln>
        </p:spPr>
      </p:sp>
      <p:sp>
        <p:nvSpPr>
          <p:cNvPr id="33" name="Text 30"/>
          <p:cNvSpPr txBox="1"/>
          <p:nvPr/>
        </p:nvSpPr>
        <p:spPr>
          <a:xfrm>
            <a:off x="7399553" y="3593592"/>
            <a:ext cx="1911096" cy="1115568"/>
          </a:xfrm>
          <a:prstGeom prst="rect">
            <a:avLst/>
          </a:prstGeom>
          <a:noFill/>
          <a:ln/>
        </p:spPr>
        <p:txBody>
          <a:bodyPr wrap="square" lIns="0" tIns="0" rIns="0" bIns="0" rtlCol="0" anchor="ctr"/>
          <a:lstStyle/>
          <a:p>
            <a:pPr algn="ctr" indent="0" marL="0">
              <a:spcAft>
                <a:spcPts val="400"/>
              </a:spcAft>
              <a:buNone/>
            </a:pPr>
            <a:r>
              <a:rPr lang="en-US" sz="1200" b="1" dirty="0">
                <a:solidFill>
                  <a:srgbClr val="2B2B2B"/>
                </a:solidFill>
                <a:latin typeface="Courier New" pitchFamily="34" charset="0"/>
                <a:ea typeface="Courier New" pitchFamily="34" charset="-122"/>
                <a:cs typeface="Courier New" pitchFamily="34" charset="-120"/>
              </a:rPr>
              <a:t>vlan 10</a:t>
            </a:r>
            <a:endParaRPr lang="en-US" sz="1200" dirty="0"/>
          </a:p>
          <a:p>
            <a:pPr algn="ctr" indent="0" marL="0">
              <a:spcAft>
                <a:spcPts val="400"/>
              </a:spcAft>
              <a:buNone/>
            </a:pPr>
            <a:r>
              <a:rPr lang="en-US" sz="1300" b="1" dirty="0">
                <a:solidFill>
                  <a:srgbClr val="2B7043"/>
                </a:solidFill>
                <a:latin typeface="Courier New" pitchFamily="34" charset="0"/>
                <a:ea typeface="Courier New" pitchFamily="34" charset="-122"/>
                <a:cs typeface="Courier New" pitchFamily="34" charset="-120"/>
              </a:rPr>
              <a:t>S1(config-vlan)#</a:t>
            </a:r>
            <a:endParaRPr lang="en-US" sz="1200" dirty="0"/>
          </a:p>
          <a:p>
            <a:pPr algn="ctr" indent="0" marL="0">
              <a:spcAft>
                <a:spcPts val="400"/>
              </a:spcAft>
              <a:buNone/>
            </a:pPr>
            <a:r>
              <a:rPr lang="en-US" sz="1400" dirty="0">
                <a:solidFill>
                  <a:srgbClr val="2B2B2B"/>
                </a:solidFill>
              </a:rPr>
              <a:t>A VLAN (switch)</a:t>
            </a:r>
            <a:endParaRPr lang="en-US" sz="1200" dirty="0"/>
          </a:p>
        </p:txBody>
      </p:sp>
      <p:sp>
        <p:nvSpPr>
          <p:cNvPr id="34" name="Shape 31"/>
          <p:cNvSpPr/>
          <p:nvPr/>
        </p:nvSpPr>
        <p:spPr>
          <a:xfrm>
            <a:off x="10614355" y="3218688"/>
            <a:ext cx="914" cy="301752"/>
          </a:xfrm>
          <a:prstGeom prst="line">
            <a:avLst/>
          </a:prstGeom>
          <a:noFill/>
          <a:ln w="25400">
            <a:solidFill>
              <a:srgbClr val="1E5631"/>
            </a:solidFill>
            <a:prstDash val="solid"/>
            <a:tailEnd type="triangle"/>
          </a:ln>
        </p:spPr>
      </p:sp>
      <p:sp>
        <p:nvSpPr>
          <p:cNvPr id="35" name="Shape 32"/>
          <p:cNvSpPr/>
          <p:nvPr/>
        </p:nvSpPr>
        <p:spPr>
          <a:xfrm>
            <a:off x="9585655" y="3520440"/>
            <a:ext cx="2057400" cy="1261872"/>
          </a:xfrm>
          <a:prstGeom prst="roundRect">
            <a:avLst>
              <a:gd name="adj" fmla="val 5797"/>
            </a:avLst>
          </a:prstGeom>
          <a:solidFill>
            <a:srgbClr val="FFFFFF"/>
          </a:solidFill>
          <a:ln w="15875">
            <a:solidFill>
              <a:srgbClr val="1E5631"/>
            </a:solidFill>
            <a:prstDash val="solid"/>
          </a:ln>
        </p:spPr>
      </p:sp>
      <p:sp>
        <p:nvSpPr>
          <p:cNvPr id="36" name="Text 33"/>
          <p:cNvSpPr txBox="1"/>
          <p:nvPr/>
        </p:nvSpPr>
        <p:spPr>
          <a:xfrm>
            <a:off x="9658807" y="3593592"/>
            <a:ext cx="1911096" cy="1115568"/>
          </a:xfrm>
          <a:prstGeom prst="rect">
            <a:avLst/>
          </a:prstGeom>
          <a:noFill/>
          <a:ln/>
        </p:spPr>
        <p:txBody>
          <a:bodyPr wrap="square" lIns="0" tIns="0" rIns="0" bIns="0" rtlCol="0" anchor="ctr"/>
          <a:lstStyle/>
          <a:p>
            <a:pPr algn="ctr" indent="0" marL="0">
              <a:spcAft>
                <a:spcPts val="400"/>
              </a:spcAft>
              <a:buNone/>
            </a:pPr>
            <a:r>
              <a:rPr lang="en-US" sz="1200" b="1" dirty="0">
                <a:solidFill>
                  <a:srgbClr val="2B2B2B"/>
                </a:solidFill>
                <a:latin typeface="Courier New" pitchFamily="34" charset="0"/>
                <a:ea typeface="Courier New" pitchFamily="34" charset="-122"/>
                <a:cs typeface="Courier New" pitchFamily="34" charset="-120"/>
              </a:rPr>
              <a:t>ip dhcp pool LAN</a:t>
            </a:r>
            <a:endParaRPr lang="en-US" sz="1200" dirty="0"/>
          </a:p>
          <a:p>
            <a:pPr algn="ctr" indent="0" marL="0">
              <a:spcAft>
                <a:spcPts val="400"/>
              </a:spcAft>
              <a:buNone/>
            </a:pPr>
            <a:r>
              <a:rPr lang="en-US" sz="1300" b="1" dirty="0">
                <a:solidFill>
                  <a:srgbClr val="2B7043"/>
                </a:solidFill>
                <a:latin typeface="Courier New" pitchFamily="34" charset="0"/>
                <a:ea typeface="Courier New" pitchFamily="34" charset="-122"/>
                <a:cs typeface="Courier New" pitchFamily="34" charset="-120"/>
              </a:rPr>
              <a:t>R1(dhcp-config)#</a:t>
            </a:r>
            <a:endParaRPr lang="en-US" sz="1200" dirty="0"/>
          </a:p>
          <a:p>
            <a:pPr algn="ctr" indent="0" marL="0">
              <a:spcAft>
                <a:spcPts val="400"/>
              </a:spcAft>
              <a:buNone/>
            </a:pPr>
            <a:r>
              <a:rPr lang="en-US" sz="1400" dirty="0">
                <a:solidFill>
                  <a:srgbClr val="2B2B2B"/>
                </a:solidFill>
              </a:rPr>
              <a:t>A DHCP pool</a:t>
            </a:r>
            <a:endParaRPr lang="en-US" sz="1200" dirty="0"/>
          </a:p>
        </p:txBody>
      </p:sp>
      <p:sp>
        <p:nvSpPr>
          <p:cNvPr id="37" name="Text 34"/>
          <p:cNvSpPr txBox="1"/>
          <p:nvPr/>
        </p:nvSpPr>
        <p:spPr>
          <a:xfrm>
            <a:off x="548640" y="4892040"/>
            <a:ext cx="11094415" cy="411480"/>
          </a:xfrm>
          <a:prstGeom prst="rect">
            <a:avLst/>
          </a:prstGeom>
          <a:noFill/>
          <a:ln/>
        </p:spPr>
        <p:txBody>
          <a:bodyPr wrap="square" lIns="0" tIns="0" rIns="0" bIns="0" rtlCol="0" anchor="ctr"/>
          <a:lstStyle/>
          <a:p>
            <a:pPr indent="0" marL="0">
              <a:buNone/>
            </a:pPr>
            <a:r>
              <a:rPr lang="en-US" sz="1400" dirty="0">
                <a:solidFill>
                  <a:srgbClr val="2B2B2B"/>
                </a:solidFill>
              </a:rPr>
              <a:t>Typed in global configuration mode, these commands open the smaller “rooms”. </a:t>
            </a:r>
            <a:r>
              <a:rPr lang="en-US" sz="1300" b="1" dirty="0">
                <a:solidFill>
                  <a:srgbClr val="1E5631"/>
                </a:solidFill>
                <a:latin typeface="Courier New" pitchFamily="34" charset="0"/>
                <a:ea typeface="Courier New" pitchFamily="34" charset="-122"/>
                <a:cs typeface="Courier New" pitchFamily="34" charset="-120"/>
              </a:rPr>
              <a:t>exit</a:t>
            </a:r>
            <a:r>
              <a:rPr lang="en-US" sz="1400" dirty="0">
                <a:solidFill>
                  <a:srgbClr val="2B2B2B"/>
                </a:solidFill>
              </a:rPr>
              <a:t> = one level back;  </a:t>
            </a:r>
            <a:r>
              <a:rPr lang="en-US" sz="1300" b="1" dirty="0">
                <a:solidFill>
                  <a:srgbClr val="1E5631"/>
                </a:solidFill>
                <a:latin typeface="Courier New" pitchFamily="34" charset="0"/>
                <a:ea typeface="Courier New" pitchFamily="34" charset="-122"/>
                <a:cs typeface="Courier New" pitchFamily="34" charset="-120"/>
              </a:rPr>
              <a:t>end</a:t>
            </a:r>
            <a:r>
              <a:rPr lang="en-US" sz="1400" dirty="0">
                <a:solidFill>
                  <a:srgbClr val="2B2B2B"/>
                </a:solidFill>
              </a:rPr>
              <a:t> or Ctrl+Z = straight back to </a:t>
            </a:r>
            <a:r>
              <a:rPr lang="en-US" sz="1300" b="1" dirty="0">
                <a:solidFill>
                  <a:srgbClr val="1E5631"/>
                </a:solidFill>
                <a:latin typeface="Courier New" pitchFamily="34" charset="0"/>
                <a:ea typeface="Courier New" pitchFamily="34" charset="-122"/>
                <a:cs typeface="Courier New" pitchFamily="34" charset="-120"/>
              </a:rPr>
              <a:t>R1#</a:t>
            </a:r>
            <a:r>
              <a:rPr lang="en-US" sz="1400" dirty="0">
                <a:solidFill>
                  <a:srgbClr val="2B2B2B"/>
                </a:solidFill>
              </a:rPr>
              <a:t>.</a:t>
            </a:r>
            <a:endParaRPr lang="en-US" sz="1400" dirty="0"/>
          </a:p>
        </p:txBody>
      </p:sp>
      <p:sp>
        <p:nvSpPr>
          <p:cNvPr id="38" name="check box"/>
          <p:cNvSpPr/>
          <p:nvPr/>
        </p:nvSpPr>
        <p:spPr>
          <a:xfrm>
            <a:off x="548640" y="5504688"/>
            <a:ext cx="5410048" cy="749808"/>
          </a:xfrm>
          <a:prstGeom prst="roundRect">
            <a:avLst>
              <a:gd name="adj" fmla="val 9756"/>
            </a:avLst>
          </a:prstGeom>
          <a:solidFill>
            <a:srgbClr val="E8F1EA"/>
          </a:solidFill>
          <a:ln w="12700">
            <a:solidFill>
              <a:srgbClr val="B7C9BA"/>
            </a:solidFill>
            <a:prstDash val="solid"/>
          </a:ln>
        </p:spPr>
      </p:sp>
      <p:pic>
        <p:nvPicPr>
          <p:cNvPr id="39" name="check icon" descr="Check it:">    </p:cNvPr>
          <p:cNvPicPr>
            <a:picLocks noChangeAspect="1"/>
          </p:cNvPicPr>
          <p:nvPr/>
        </p:nvPicPr>
        <p:blipFill>
          <a:blip r:embed="rId3"/>
          <a:stretch>
            <a:fillRect/>
          </a:stretch>
        </p:blipFill>
        <p:spPr>
          <a:xfrm>
            <a:off x="694944" y="5733288"/>
            <a:ext cx="292608" cy="292608"/>
          </a:xfrm>
          <a:prstGeom prst="rect">
            <a:avLst/>
          </a:prstGeom>
        </p:spPr>
      </p:pic>
      <p:sp>
        <p:nvSpPr>
          <p:cNvPr id="40" name="check text"/>
          <p:cNvSpPr txBox="1"/>
          <p:nvPr/>
        </p:nvSpPr>
        <p:spPr>
          <a:xfrm>
            <a:off x="1097280" y="5541264"/>
            <a:ext cx="4751680" cy="676656"/>
          </a:xfrm>
          <a:prstGeom prst="rect">
            <a:avLst/>
          </a:prstGeom>
          <a:noFill/>
          <a:ln/>
        </p:spPr>
        <p:txBody>
          <a:bodyPr wrap="square" lIns="0" tIns="0" rIns="0" bIns="0" rtlCol="0" anchor="ctr"/>
          <a:lstStyle/>
          <a:p>
            <a:pPr indent="0" marL="0">
              <a:buNone/>
            </a:pPr>
            <a:r>
              <a:rPr lang="en-US" sz="1400" b="1" dirty="0">
                <a:solidFill>
                  <a:srgbClr val="1E5631"/>
                </a:solidFill>
              </a:rPr>
              <a:t>Check it:  </a:t>
            </a:r>
            <a:r>
              <a:rPr lang="en-US" sz="1400" dirty="0">
                <a:solidFill>
                  <a:srgbClr val="2B2B2B"/>
                </a:solidFill>
              </a:rPr>
              <a:t>Type </a:t>
            </a:r>
            <a:r>
              <a:rPr lang="en-US" sz="1300" b="1" dirty="0">
                <a:solidFill>
                  <a:srgbClr val="1E5631"/>
                </a:solidFill>
                <a:latin typeface="Courier New" pitchFamily="34" charset="0"/>
                <a:ea typeface="Courier New" pitchFamily="34" charset="-122"/>
                <a:cs typeface="Courier New" pitchFamily="34" charset="-120"/>
              </a:rPr>
              <a:t>?</a:t>
            </a:r>
            <a:r>
              <a:rPr lang="en-US" sz="1400" dirty="0">
                <a:solidFill>
                  <a:srgbClr val="2B2B2B"/>
                </a:solidFill>
              </a:rPr>
              <a:t> at any prompt: IOS lists exactly what that mode accepts.</a:t>
            </a:r>
            <a:endParaRPr lang="en-US" sz="1400" dirty="0"/>
          </a:p>
        </p:txBody>
      </p:sp>
      <p:sp>
        <p:nvSpPr>
          <p:cNvPr id="41" name="watch box"/>
          <p:cNvSpPr/>
          <p:nvPr/>
        </p:nvSpPr>
        <p:spPr>
          <a:xfrm>
            <a:off x="6233008" y="5504688"/>
            <a:ext cx="5410048" cy="749808"/>
          </a:xfrm>
          <a:prstGeom prst="roundRect">
            <a:avLst>
              <a:gd name="adj" fmla="val 9756"/>
            </a:avLst>
          </a:prstGeom>
          <a:solidFill>
            <a:srgbClr val="FBEAEA"/>
          </a:solidFill>
          <a:ln w="12700">
            <a:solidFill>
              <a:srgbClr val="E9B8B5"/>
            </a:solidFill>
            <a:prstDash val="solid"/>
          </a:ln>
        </p:spPr>
      </p:sp>
      <p:pic>
        <p:nvPicPr>
          <p:cNvPr id="42" name="watch icon" descr="Watch out:">    </p:cNvPr>
          <p:cNvPicPr>
            <a:picLocks noChangeAspect="1"/>
          </p:cNvPicPr>
          <p:nvPr/>
        </p:nvPicPr>
        <p:blipFill>
          <a:blip r:embed="rId4"/>
          <a:stretch>
            <a:fillRect/>
          </a:stretch>
        </p:blipFill>
        <p:spPr>
          <a:xfrm>
            <a:off x="6379312" y="5733288"/>
            <a:ext cx="292608" cy="292608"/>
          </a:xfrm>
          <a:prstGeom prst="rect">
            <a:avLst/>
          </a:prstGeom>
        </p:spPr>
      </p:pic>
      <p:sp>
        <p:nvSpPr>
          <p:cNvPr id="43" name="watch text"/>
          <p:cNvSpPr txBox="1"/>
          <p:nvPr/>
        </p:nvSpPr>
        <p:spPr>
          <a:xfrm>
            <a:off x="6781648" y="5541264"/>
            <a:ext cx="4751680" cy="676656"/>
          </a:xfrm>
          <a:prstGeom prst="rect">
            <a:avLst/>
          </a:prstGeom>
          <a:noFill/>
          <a:ln/>
        </p:spPr>
        <p:txBody>
          <a:bodyPr wrap="square" lIns="0" tIns="0" rIns="0" bIns="0" rtlCol="0" anchor="ctr"/>
          <a:lstStyle/>
          <a:p>
            <a:pPr indent="0" marL="0">
              <a:buNone/>
            </a:pPr>
            <a:r>
              <a:rPr lang="en-US" sz="1400" b="1" dirty="0">
                <a:solidFill>
                  <a:srgbClr val="8B1A1A"/>
                </a:solidFill>
              </a:rPr>
              <a:t>Watch out:  </a:t>
            </a:r>
            <a:r>
              <a:rPr lang="en-US" sz="1400" dirty="0">
                <a:solidFill>
                  <a:srgbClr val="2B2B2B"/>
                </a:solidFill>
              </a:rPr>
              <a:t>Read the prompt before you type. Most errors are the right command in the wrong mode.</a:t>
            </a:r>
            <a:endParaRPr lang="en-US" sz="1400" dirty="0"/>
          </a:p>
        </p:txBody>
      </p:sp>
      <p:sp>
        <p:nvSpPr>
          <p:cNvPr id="44" name="Slide Number Placeholder 0"/>
          <p:cNvSpPr>
            <a:spLocks noGrp="1"/>
          </p:cNvSpPr>
          <p:nvPr>
            <p:ph type="sldNum" sz="quarter" idx="4294967295"/>
          </p:nvPr>
        </p:nvSpPr>
        <p:spPr>
          <a:xfrm>
            <a:off x="10698480" y="6464808"/>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body" hasCustomPrompt="1"/>
          </p:nvPr>
        </p:nvSpPr>
        <p:spPr>
          <a:xfrm>
            <a:off x="548640" y="274320"/>
            <a:ext cx="9966960" cy="256032"/>
          </a:xfrm>
          <a:prstGeom prst="rect">
            <a:avLst/>
          </a:prstGeom>
          <a:noFill/>
          <a:ln/>
        </p:spPr>
        <p:txBody>
          <a:bodyPr wrap="square" lIns="0" tIns="0" rIns="0" bIns="0" rtlCol="0" anchor="ctr"/>
          <a:lstStyle/>
          <a:p>
            <a:pPr algn="l" indent="0" marL="0">
              <a:buNone/>
            </a:pPr>
            <a:r>
              <a:rPr lang="en-US" sz="1100" b="1" spc="100" kern="0" dirty="0">
                <a:solidFill>
                  <a:schemeClr val="accent2"/>
                </a:solidFill>
              </a:rPr>
              <a:t>02  •  THE IOS COMMAND LINE</a:t>
            </a:r>
            <a:endParaRPr lang="en-US" sz="1100" dirty="0"/>
          </a:p>
        </p:txBody>
      </p:sp>
      <p:sp>
        <p:nvSpPr>
          <p:cNvPr id="3" name="Text 1"/>
          <p:cNvSpPr/>
          <p:nvPr>
            <p:ph idx="103" type="title" hasCustomPrompt="1"/>
          </p:nvPr>
        </p:nvSpPr>
        <p:spPr>
          <a:xfrm>
            <a:off x="548640" y="548640"/>
            <a:ext cx="10149840" cy="548640"/>
          </a:xfrm>
          <a:prstGeom prst="rect">
            <a:avLst/>
          </a:prstGeom>
          <a:noFill/>
          <a:ln/>
        </p:spPr>
        <p:txBody>
          <a:bodyPr wrap="square" lIns="0" tIns="0" rIns="0" bIns="0" rtlCol="0" anchor="ctr"/>
          <a:lstStyle/>
          <a:p>
            <a:pPr algn="l" indent="0" marL="0">
              <a:buNone/>
            </a:pPr>
            <a:r>
              <a:rPr lang="en-US" sz="2600" b="1" dirty="0">
                <a:solidFill>
                  <a:schemeClr val="accent1"/>
                </a:solidFill>
              </a:rPr>
              <a:t>How to get help and type less in the CLI</a:t>
            </a:r>
            <a:endParaRPr lang="en-US" sz="2600" dirty="0"/>
          </a:p>
        </p:txBody>
      </p:sp>
      <p:pic>
        <p:nvPicPr>
          <p:cNvPr id="4" name="Home button" descr="Home: back to the workbook menu">
            <a:hlinkClick r:id="rId2" tooltip="Back to the workbook menu" action="ppaction://hlinksldjump"/>
          </p:cNvPr>
          <p:cNvPicPr>
            <a:picLocks noChangeAspect="1"/>
          </p:cNvPicPr>
          <p:nvPr/>
        </p:nvPicPr>
        <p:blipFill>
          <a:blip r:embed="rId1"/>
          <a:stretch>
            <a:fillRect/>
          </a:stretch>
        </p:blipFill>
        <p:spPr>
          <a:xfrm>
            <a:off x="11365992" y="6336792"/>
            <a:ext cx="365760" cy="365760"/>
          </a:xfrm>
          <a:prstGeom prst="rect">
            <a:avLst/>
          </a:prstGeom>
        </p:spPr>
      </p:pic>
      <p:sp>
        <p:nvSpPr>
          <p:cNvPr id="5" name="Goal"/>
          <p:cNvSpPr txBox="1"/>
          <p:nvPr/>
        </p:nvSpPr>
        <p:spPr>
          <a:xfrm>
            <a:off x="548640" y="1161288"/>
            <a:ext cx="11094415" cy="384048"/>
          </a:xfrm>
          <a:prstGeom prst="rect">
            <a:avLst/>
          </a:prstGeom>
          <a:noFill/>
          <a:ln/>
        </p:spPr>
        <p:txBody>
          <a:bodyPr wrap="square" lIns="0" tIns="0" rIns="0" bIns="0" rtlCol="0" anchor="ctr"/>
          <a:lstStyle/>
          <a:p>
            <a:pPr indent="0" marL="0">
              <a:buNone/>
            </a:pPr>
            <a:r>
              <a:rPr lang="en-US" sz="1400" b="1" dirty="0">
                <a:solidFill>
                  <a:srgbClr val="2B7043"/>
                </a:solidFill>
              </a:rPr>
              <a:t>Goal:  </a:t>
            </a:r>
            <a:r>
              <a:rPr lang="en-US" sz="1400" dirty="0">
                <a:solidFill>
                  <a:srgbClr val="2B2B2B"/>
                </a:solidFill>
              </a:rPr>
              <a:t>IOS has built-in help and shortcuts. Use them and you will type less and make fewer mistakes.</a:t>
            </a:r>
            <a:endParaRPr lang="en-US" sz="1400" dirty="0"/>
          </a:p>
        </p:txBody>
      </p:sp>
      <p:graphicFrame>
        <p:nvGraphicFramePr>
          <p:cNvPr id="13" name="help keys"/>
          <p:cNvGraphicFramePr>
            <a:graphicFrameLocks noGrp="1"/>
          </p:cNvGraphicFramePr>
          <p:nvPr>
            <p:extLst>
              <p:ext uri="{D42A27DB-BD31-4B8C-83A1-F6EECF244321}">
                <p14:modId xmlns:p14="http://schemas.microsoft.com/office/powerpoint/2010/main" val="1579011935"/>
              </p:ext>
            </p:extLst>
          </p:nvPr>
        </p:nvGraphicFramePr>
        <p:xfrm>
          <a:off x="548640" y="1691640"/>
          <a:ext cx="11091672" cy="914400"/>
        </p:xfrm>
        <a:graphic>
          <a:graphicData uri="http://schemas.openxmlformats.org/drawingml/2006/table">
            <a:tbl>
              <a:tblPr/>
              <a:tblGrid>
                <a:gridCol w="1965960"/>
                <a:gridCol w="5166360"/>
                <a:gridCol w="3959352"/>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Key or command</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1E563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it does</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1E563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Example</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1E5631"/>
                    </a:solidFill>
                  </a:tcPr>
                </a:tc>
              </a:tr>
              <a:tr h="0">
                <a:tc>
                  <a:txBody>
                    <a:bodyPr/>
                    <a:lstStyle/>
                    <a:p>
                      <a:pPr indent="0" marL="0">
                        <a:buNone/>
                      </a:pPr>
                      <a:r>
                        <a:rPr lang="en-US" sz="1200" b="1" dirty="0">
                          <a:solidFill>
                            <a:srgbClr val="1E5631"/>
                          </a:solidFill>
                          <a:latin typeface="Courier New" pitchFamily="34" charset="0"/>
                          <a:ea typeface="Courier New" pitchFamily="34" charset="-122"/>
                          <a:cs typeface="Courier New" pitchFamily="34" charset="-120"/>
                        </a:rPr>
                        <a:t>?</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List every command or option you can type at this point</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200" b="1" dirty="0">
                          <a:solidFill>
                            <a:srgbClr val="1E5631"/>
                          </a:solidFill>
                          <a:latin typeface="Courier New" pitchFamily="34" charset="0"/>
                          <a:ea typeface="Courier New" pitchFamily="34" charset="-122"/>
                          <a:cs typeface="Courier New" pitchFamily="34" charset="-120"/>
                        </a:rPr>
                        <a:t>R1# show ?</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r>
              <a:tr h="0">
                <a:tc>
                  <a:txBody>
                    <a:bodyPr/>
                    <a:lstStyle/>
                    <a:p>
                      <a:pPr indent="0" marL="0">
                        <a:buNone/>
                      </a:pPr>
                      <a:r>
                        <a:rPr lang="en-US" sz="1200" b="1" dirty="0">
                          <a:solidFill>
                            <a:srgbClr val="1E5631"/>
                          </a:solidFill>
                          <a:latin typeface="Courier New" pitchFamily="34" charset="0"/>
                          <a:ea typeface="Courier New" pitchFamily="34" charset="-122"/>
                          <a:cs typeface="Courier New" pitchFamily="34" charset="-120"/>
                        </a:rPr>
                        <a:t>co?</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List the commands that start with those letters (no space before </a:t>
                      </a:r>
                      <a:r>
                        <a:rPr lang="en-US" sz="1200" b="1" dirty="0">
                          <a:solidFill>
                            <a:srgbClr val="1E5631"/>
                          </a:solidFill>
                          <a:latin typeface="Courier New" pitchFamily="34" charset="0"/>
                          <a:ea typeface="Courier New" pitchFamily="34" charset="-122"/>
                          <a:cs typeface="Courier New" pitchFamily="34" charset="-120"/>
                        </a:rPr>
                        <a:t>?</a:t>
                      </a:r>
                      <a:r>
                        <a:rPr lang="en-US" sz="1300" dirty="0">
                          <a:solidFill>
                            <a:srgbClr val="2B2B2B"/>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c>
                  <a:txBody>
                    <a:bodyPr/>
                    <a:lstStyle/>
                    <a:p>
                      <a:pPr indent="0" marL="0">
                        <a:buNone/>
                      </a:pPr>
                      <a:r>
                        <a:rPr lang="en-US" sz="1200" b="1" dirty="0">
                          <a:solidFill>
                            <a:srgbClr val="1E5631"/>
                          </a:solidFill>
                          <a:latin typeface="Courier New" pitchFamily="34" charset="0"/>
                          <a:ea typeface="Courier New" pitchFamily="34" charset="-122"/>
                          <a:cs typeface="Courier New" pitchFamily="34" charset="-120"/>
                        </a:rPr>
                        <a:t>configure  connect  copy</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B2B2B"/>
                          </a:solidFill>
                          <a:latin typeface="Calibri" pitchFamily="34" charset="0"/>
                          <a:ea typeface="Calibri" pitchFamily="34" charset="-122"/>
                          <a:cs typeface="Calibri" pitchFamily="34" charset="-120"/>
                        </a:rPr>
                        <a:t>Tab</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Complete a partly typed word</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200" b="1" dirty="0">
                          <a:solidFill>
                            <a:srgbClr val="1E5631"/>
                          </a:solidFill>
                          <a:latin typeface="Courier New" pitchFamily="34" charset="0"/>
                          <a:ea typeface="Courier New" pitchFamily="34" charset="-122"/>
                          <a:cs typeface="Courier New" pitchFamily="34" charset="-120"/>
                        </a:rPr>
                        <a:t>conf</a:t>
                      </a:r>
                      <a:r>
                        <a:rPr lang="en-US" sz="1300" dirty="0">
                          <a:solidFill>
                            <a:srgbClr val="2B2B2B"/>
                          </a:solidFill>
                          <a:latin typeface="Calibri" pitchFamily="34" charset="0"/>
                          <a:ea typeface="Calibri" pitchFamily="34" charset="-122"/>
                          <a:cs typeface="Calibri" pitchFamily="34" charset="-120"/>
                        </a:rPr>
                        <a:t> + Tab gives </a:t>
                      </a:r>
                      <a:r>
                        <a:rPr lang="en-US" sz="1200" b="1" dirty="0">
                          <a:solidFill>
                            <a:srgbClr val="1E5631"/>
                          </a:solidFill>
                          <a:latin typeface="Courier New" pitchFamily="34" charset="0"/>
                          <a:ea typeface="Courier New" pitchFamily="34" charset="-122"/>
                          <a:cs typeface="Courier New" pitchFamily="34" charset="-120"/>
                        </a:rPr>
                        <a:t>configure</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r>
              <a:tr h="0">
                <a:tc>
                  <a:txBody>
                    <a:bodyPr/>
                    <a:lstStyle/>
                    <a:p>
                      <a:pPr indent="0" marL="0">
                        <a:buNone/>
                      </a:pPr>
                      <a:r>
                        <a:rPr lang="en-US" sz="1300" b="1" dirty="0">
                          <a:solidFill>
                            <a:srgbClr val="2B2B2B"/>
                          </a:solidFill>
                          <a:latin typeface="Calibri" pitchFamily="34" charset="0"/>
                          <a:ea typeface="Calibri" pitchFamily="34" charset="-122"/>
                          <a:cs typeface="Calibri" pitchFamily="34" charset="-120"/>
                        </a:rPr>
                        <a:t>Short forms</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Any abbreviation that is unique works</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c>
                  <a:txBody>
                    <a:bodyPr/>
                    <a:lstStyle/>
                    <a:p>
                      <a:pPr indent="0" marL="0">
                        <a:buNone/>
                      </a:pPr>
                      <a:r>
                        <a:rPr lang="en-US" sz="1200" b="1" dirty="0">
                          <a:solidFill>
                            <a:srgbClr val="1E5631"/>
                          </a:solidFill>
                          <a:latin typeface="Courier New" pitchFamily="34" charset="0"/>
                          <a:ea typeface="Courier New" pitchFamily="34" charset="-122"/>
                          <a:cs typeface="Courier New" pitchFamily="34" charset="-120"/>
                        </a:rPr>
                        <a:t>conf t</a:t>
                      </a:r>
                      <a:r>
                        <a:rPr lang="en-US" sz="1300" dirty="0">
                          <a:solidFill>
                            <a:srgbClr val="2B2B2B"/>
                          </a:solidFill>
                          <a:latin typeface="Calibri" pitchFamily="34" charset="0"/>
                          <a:ea typeface="Calibri" pitchFamily="34" charset="-122"/>
                          <a:cs typeface="Calibri" pitchFamily="34" charset="-120"/>
                        </a:rPr>
                        <a:t>, </a:t>
                      </a:r>
                      <a:r>
                        <a:rPr lang="en-US" sz="1200" b="1" dirty="0">
                          <a:solidFill>
                            <a:srgbClr val="1E5631"/>
                          </a:solidFill>
                          <a:latin typeface="Courier New" pitchFamily="34" charset="0"/>
                          <a:ea typeface="Courier New" pitchFamily="34" charset="-122"/>
                          <a:cs typeface="Courier New" pitchFamily="34" charset="-120"/>
                        </a:rPr>
                        <a:t>int g0/0/0</a:t>
                      </a:r>
                      <a:r>
                        <a:rPr lang="en-US" sz="1300" dirty="0">
                          <a:solidFill>
                            <a:srgbClr val="2B2B2B"/>
                          </a:solidFill>
                          <a:latin typeface="Calibri" pitchFamily="34" charset="0"/>
                          <a:ea typeface="Calibri" pitchFamily="34" charset="-122"/>
                          <a:cs typeface="Calibri" pitchFamily="34" charset="-120"/>
                        </a:rPr>
                        <a:t>, </a:t>
                      </a:r>
                      <a:r>
                        <a:rPr lang="en-US" sz="1200" b="1" dirty="0">
                          <a:solidFill>
                            <a:srgbClr val="1E5631"/>
                          </a:solidFill>
                          <a:latin typeface="Courier New" pitchFamily="34" charset="0"/>
                          <a:ea typeface="Courier New" pitchFamily="34" charset="-122"/>
                          <a:cs typeface="Courier New" pitchFamily="34" charset="-120"/>
                        </a:rPr>
                        <a:t>sh ip int br</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B2B2B"/>
                          </a:solidFill>
                          <a:latin typeface="Calibri" pitchFamily="34" charset="0"/>
                          <a:ea typeface="Calibri" pitchFamily="34" charset="-122"/>
                          <a:cs typeface="Calibri" pitchFamily="34" charset="-120"/>
                        </a:rPr>
                        <a:t>↑  ↓  arrows</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Recall the previous or next command</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Edit it, then press Enter</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r>
              <a:tr h="0">
                <a:tc>
                  <a:txBody>
                    <a:bodyPr/>
                    <a:lstStyle/>
                    <a:p>
                      <a:pPr indent="0" marL="0">
                        <a:buNone/>
                      </a:pPr>
                      <a:r>
                        <a:rPr lang="en-US" sz="1300" b="1" dirty="0">
                          <a:solidFill>
                            <a:srgbClr val="2B2B2B"/>
                          </a:solidFill>
                          <a:latin typeface="Calibri" pitchFamily="34" charset="0"/>
                          <a:ea typeface="Calibri" pitchFamily="34" charset="-122"/>
                          <a:cs typeface="Calibri" pitchFamily="34" charset="-120"/>
                        </a:rPr>
                        <a:t>end  or  Ctrl+Z</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Jump straight back to privileged mode (</a:t>
                      </a:r>
                      <a:r>
                        <a:rPr lang="en-US" sz="1200" b="1" dirty="0">
                          <a:solidFill>
                            <a:srgbClr val="1E5631"/>
                          </a:solidFill>
                          <a:latin typeface="Courier New" pitchFamily="34" charset="0"/>
                          <a:ea typeface="Courier New" pitchFamily="34" charset="-122"/>
                          <a:cs typeface="Courier New" pitchFamily="34" charset="-120"/>
                        </a:rPr>
                        <a:t>#</a:t>
                      </a:r>
                      <a:r>
                        <a:rPr lang="en-US" sz="1300" dirty="0">
                          <a:solidFill>
                            <a:srgbClr val="2B2B2B"/>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c>
                  <a:txBody>
                    <a:bodyPr/>
                    <a:lstStyle/>
                    <a:p>
                      <a:pPr indent="0" marL="0">
                        <a:buNone/>
                      </a:pPr>
                      <a:r>
                        <a:rPr lang="en-US" sz="1200" b="1" dirty="0">
                          <a:solidFill>
                            <a:srgbClr val="1E5631"/>
                          </a:solidFill>
                          <a:latin typeface="Courier New" pitchFamily="34" charset="0"/>
                          <a:ea typeface="Courier New" pitchFamily="34" charset="-122"/>
                          <a:cs typeface="Courier New" pitchFamily="34" charset="-120"/>
                        </a:rPr>
                        <a:t>R1(config-if)# end</a:t>
                      </a:r>
                      <a:r>
                        <a:rPr lang="en-US" sz="1300" dirty="0">
                          <a:solidFill>
                            <a:srgbClr val="2B2B2B"/>
                          </a:solidFill>
                          <a:latin typeface="Calibri" pitchFamily="34" charset="0"/>
                          <a:ea typeface="Calibri" pitchFamily="34" charset="-122"/>
                          <a:cs typeface="Calibri" pitchFamily="34" charset="-120"/>
                        </a:rPr>
                        <a:t> → </a:t>
                      </a:r>
                      <a:r>
                        <a:rPr lang="en-US" sz="1200" b="1" dirty="0">
                          <a:solidFill>
                            <a:srgbClr val="1E5631"/>
                          </a:solidFill>
                          <a:latin typeface="Courier New" pitchFamily="34" charset="0"/>
                          <a:ea typeface="Courier New" pitchFamily="34" charset="-122"/>
                          <a:cs typeface="Courier New" pitchFamily="34" charset="-120"/>
                        </a:rPr>
                        <a:t>R1#</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B2B2B"/>
                          </a:solidFill>
                          <a:latin typeface="Calibri" pitchFamily="34" charset="0"/>
                          <a:ea typeface="Calibri" pitchFamily="34" charset="-122"/>
                          <a:cs typeface="Calibri" pitchFamily="34" charset="-120"/>
                        </a:rPr>
                        <a:t>Ctrl+Shift+6</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Stop a running ping, traceroute or name lookup</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When a typo freezes the screen</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r>
              <a:tr h="0">
                <a:tc>
                  <a:txBody>
                    <a:bodyPr/>
                    <a:lstStyle/>
                    <a:p>
                      <a:pPr indent="0" marL="0">
                        <a:buNone/>
                      </a:pPr>
                      <a:r>
                        <a:rPr lang="en-US" sz="1200" b="1" dirty="0">
                          <a:solidFill>
                            <a:srgbClr val="1E5631"/>
                          </a:solidFill>
                          <a:latin typeface="Courier New" pitchFamily="34" charset="0"/>
                          <a:ea typeface="Courier New" pitchFamily="34" charset="-122"/>
                          <a:cs typeface="Courier New" pitchFamily="34" charset="-120"/>
                        </a:rPr>
                        <a:t>do</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Run a show or copy command without leaving config mode</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c>
                  <a:txBody>
                    <a:bodyPr/>
                    <a:lstStyle/>
                    <a:p>
                      <a:pPr indent="0" marL="0">
                        <a:buNone/>
                      </a:pPr>
                      <a:r>
                        <a:rPr lang="en-US" sz="1200" b="1" dirty="0">
                          <a:solidFill>
                            <a:srgbClr val="1E5631"/>
                          </a:solidFill>
                          <a:latin typeface="Courier New" pitchFamily="34" charset="0"/>
                          <a:ea typeface="Courier New" pitchFamily="34" charset="-122"/>
                          <a:cs typeface="Courier New" pitchFamily="34" charset="-120"/>
                        </a:rPr>
                        <a:t>do show ip int brief</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E5631"/>
                          </a:solidFill>
                          <a:latin typeface="Courier New" pitchFamily="34" charset="0"/>
                          <a:ea typeface="Courier New" pitchFamily="34" charset="-122"/>
                          <a:cs typeface="Courier New" pitchFamily="34" charset="-120"/>
                        </a:rPr>
                        <a:t>no</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Undo (reverse) a command</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200" b="1" dirty="0">
                          <a:solidFill>
                            <a:srgbClr val="1E5631"/>
                          </a:solidFill>
                          <a:latin typeface="Courier New" pitchFamily="34" charset="0"/>
                          <a:ea typeface="Courier New" pitchFamily="34" charset="-122"/>
                          <a:cs typeface="Courier New" pitchFamily="34" charset="-120"/>
                        </a:rPr>
                        <a:t>no shutdown</a:t>
                      </a:r>
                      <a:r>
                        <a:rPr lang="en-US" sz="1300" dirty="0">
                          <a:solidFill>
                            <a:srgbClr val="2B2B2B"/>
                          </a:solidFill>
                          <a:latin typeface="Calibri" pitchFamily="34" charset="0"/>
                          <a:ea typeface="Calibri" pitchFamily="34" charset="-122"/>
                          <a:cs typeface="Calibri" pitchFamily="34" charset="-120"/>
                        </a:rPr>
                        <a:t>, </a:t>
                      </a:r>
                      <a:r>
                        <a:rPr lang="en-US" sz="1200" b="1" dirty="0">
                          <a:solidFill>
                            <a:srgbClr val="1E5631"/>
                          </a:solidFill>
                          <a:latin typeface="Courier New" pitchFamily="34" charset="0"/>
                          <a:ea typeface="Courier New" pitchFamily="34" charset="-122"/>
                          <a:cs typeface="Courier New" pitchFamily="34" charset="-120"/>
                        </a:rPr>
                        <a:t>no ip address</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r>
            </a:tbl>
          </a:graphicData>
        </a:graphic>
      </p:graphicFrame>
      <p:sp>
        <p:nvSpPr>
          <p:cNvPr id="7" name="tip box"/>
          <p:cNvSpPr/>
          <p:nvPr/>
        </p:nvSpPr>
        <p:spPr>
          <a:xfrm>
            <a:off x="548640" y="5504688"/>
            <a:ext cx="11094415" cy="749808"/>
          </a:xfrm>
          <a:prstGeom prst="roundRect">
            <a:avLst>
              <a:gd name="adj" fmla="val 9756"/>
            </a:avLst>
          </a:prstGeom>
          <a:solidFill>
            <a:srgbClr val="E6EEF8"/>
          </a:solidFill>
          <a:ln w="12700">
            <a:solidFill>
              <a:srgbClr val="B8C9E0"/>
            </a:solidFill>
            <a:prstDash val="solid"/>
          </a:ln>
        </p:spPr>
      </p:sp>
      <p:pic>
        <p:nvPicPr>
          <p:cNvPr id="8" name="tip icon" descr="Tip:">    </p:cNvPr>
          <p:cNvPicPr>
            <a:picLocks noChangeAspect="1"/>
          </p:cNvPicPr>
          <p:nvPr/>
        </p:nvPicPr>
        <p:blipFill>
          <a:blip r:embed="rId3"/>
          <a:stretch>
            <a:fillRect/>
          </a:stretch>
        </p:blipFill>
        <p:spPr>
          <a:xfrm>
            <a:off x="694944" y="5733288"/>
            <a:ext cx="292608" cy="292608"/>
          </a:xfrm>
          <a:prstGeom prst="rect">
            <a:avLst/>
          </a:prstGeom>
        </p:spPr>
      </p:pic>
      <p:sp>
        <p:nvSpPr>
          <p:cNvPr id="9" name="tip text"/>
          <p:cNvSpPr txBox="1"/>
          <p:nvPr/>
        </p:nvSpPr>
        <p:spPr>
          <a:xfrm>
            <a:off x="1097280" y="5541264"/>
            <a:ext cx="10436047" cy="676656"/>
          </a:xfrm>
          <a:prstGeom prst="rect">
            <a:avLst/>
          </a:prstGeom>
          <a:noFill/>
          <a:ln/>
        </p:spPr>
        <p:txBody>
          <a:bodyPr wrap="square" lIns="0" tIns="0" rIns="0" bIns="0" rtlCol="0" anchor="ctr"/>
          <a:lstStyle/>
          <a:p>
            <a:pPr indent="0" marL="0">
              <a:buNone/>
            </a:pPr>
            <a:r>
              <a:rPr lang="en-US" sz="1400" b="1" dirty="0">
                <a:solidFill>
                  <a:srgbClr val="1F4E8C"/>
                </a:solidFill>
              </a:rPr>
              <a:t>Tip:  </a:t>
            </a:r>
            <a:r>
              <a:rPr lang="en-US" sz="1400" dirty="0">
                <a:solidFill>
                  <a:srgbClr val="2B2B2B"/>
                </a:solidFill>
              </a:rPr>
              <a:t>Learn with </a:t>
            </a:r>
            <a:r>
              <a:rPr lang="en-US" sz="1300" b="1" dirty="0">
                <a:solidFill>
                  <a:srgbClr val="1E5631"/>
                </a:solidFill>
                <a:latin typeface="Courier New" pitchFamily="34" charset="0"/>
                <a:ea typeface="Courier New" pitchFamily="34" charset="-122"/>
                <a:cs typeface="Courier New" pitchFamily="34" charset="-120"/>
              </a:rPr>
              <a:t>?</a:t>
            </a:r>
            <a:r>
              <a:rPr lang="en-US" sz="1400" dirty="0">
                <a:solidFill>
                  <a:srgbClr val="2B2B2B"/>
                </a:solidFill>
              </a:rPr>
              <a:t>: type </a:t>
            </a:r>
            <a:r>
              <a:rPr lang="en-US" sz="1300" b="1" dirty="0">
                <a:solidFill>
                  <a:srgbClr val="1E5631"/>
                </a:solidFill>
                <a:latin typeface="Courier New" pitchFamily="34" charset="0"/>
                <a:ea typeface="Courier New" pitchFamily="34" charset="-122"/>
                <a:cs typeface="Courier New" pitchFamily="34" charset="-120"/>
              </a:rPr>
              <a:t>show ?</a:t>
            </a:r>
            <a:r>
              <a:rPr lang="en-US" sz="1400" dirty="0">
                <a:solidFill>
                  <a:srgbClr val="2B2B2B"/>
                </a:solidFill>
              </a:rPr>
              <a:t> or </a:t>
            </a:r>
            <a:r>
              <a:rPr lang="en-US" sz="1300" b="1" dirty="0">
                <a:solidFill>
                  <a:srgbClr val="1E5631"/>
                </a:solidFill>
                <a:latin typeface="Courier New" pitchFamily="34" charset="0"/>
                <a:ea typeface="Courier New" pitchFamily="34" charset="-122"/>
                <a:cs typeface="Courier New" pitchFamily="34" charset="-120"/>
              </a:rPr>
              <a:t>interface ?</a:t>
            </a:r>
            <a:r>
              <a:rPr lang="en-US" sz="1400" dirty="0">
                <a:solidFill>
                  <a:srgbClr val="2B2B2B"/>
                </a:solidFill>
              </a:rPr>
              <a:t> and IOS lists exactly what it expects next.</a:t>
            </a:r>
            <a:endParaRPr lang="en-US" sz="1400" dirty="0"/>
          </a:p>
        </p:txBody>
      </p:sp>
      <p:sp>
        <p:nvSpPr>
          <p:cNvPr id="25" name="Slide Number Placeholder 0"/>
          <p:cNvSpPr>
            <a:spLocks noGrp="1"/>
          </p:cNvSpPr>
          <p:nvPr>
            <p:ph type="sldNum" sz="quarter" idx="4294967295"/>
          </p:nvPr>
        </p:nvSpPr>
        <p:spPr>
          <a:xfrm>
            <a:off x="10698480" y="6464808"/>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body" hasCustomPrompt="1"/>
          </p:nvPr>
        </p:nvSpPr>
        <p:spPr>
          <a:xfrm>
            <a:off x="548640" y="274320"/>
            <a:ext cx="9966960" cy="256032"/>
          </a:xfrm>
          <a:prstGeom prst="rect">
            <a:avLst/>
          </a:prstGeom>
          <a:noFill/>
          <a:ln/>
        </p:spPr>
        <p:txBody>
          <a:bodyPr wrap="square" lIns="0" tIns="0" rIns="0" bIns="0" rtlCol="0" anchor="ctr"/>
          <a:lstStyle/>
          <a:p>
            <a:pPr algn="l" indent="0" marL="0">
              <a:buNone/>
            </a:pPr>
            <a:r>
              <a:rPr lang="en-US" sz="1100" b="1" spc="100" kern="0" dirty="0">
                <a:solidFill>
                  <a:schemeClr val="accent2"/>
                </a:solidFill>
              </a:rPr>
              <a:t>02  •  THE IOS COMMAND LINE</a:t>
            </a:r>
            <a:endParaRPr lang="en-US" sz="1100" dirty="0"/>
          </a:p>
        </p:txBody>
      </p:sp>
      <p:sp>
        <p:nvSpPr>
          <p:cNvPr id="3" name="Text 1"/>
          <p:cNvSpPr/>
          <p:nvPr>
            <p:ph idx="103" type="title" hasCustomPrompt="1"/>
          </p:nvPr>
        </p:nvSpPr>
        <p:spPr>
          <a:xfrm>
            <a:off x="548640" y="548640"/>
            <a:ext cx="10149840" cy="548640"/>
          </a:xfrm>
          <a:prstGeom prst="rect">
            <a:avLst/>
          </a:prstGeom>
          <a:noFill/>
          <a:ln/>
        </p:spPr>
        <p:txBody>
          <a:bodyPr wrap="square" lIns="0" tIns="0" rIns="0" bIns="0" rtlCol="0" anchor="ctr"/>
          <a:lstStyle/>
          <a:p>
            <a:pPr algn="l" indent="0" marL="0">
              <a:buNone/>
            </a:pPr>
            <a:r>
              <a:rPr lang="en-US" sz="2600" b="1" dirty="0">
                <a:solidFill>
                  <a:schemeClr val="accent1"/>
                </a:solidFill>
              </a:rPr>
              <a:t>How to read IOS error messages</a:t>
            </a:r>
            <a:endParaRPr lang="en-US" sz="2600" dirty="0"/>
          </a:p>
        </p:txBody>
      </p:sp>
      <p:pic>
        <p:nvPicPr>
          <p:cNvPr id="4" name="Home button" descr="Home: back to the workbook menu">
            <a:hlinkClick r:id="rId2" tooltip="Back to the workbook menu" action="ppaction://hlinksldjump"/>
          </p:cNvPr>
          <p:cNvPicPr>
            <a:picLocks noChangeAspect="1"/>
          </p:cNvPicPr>
          <p:nvPr/>
        </p:nvPicPr>
        <p:blipFill>
          <a:blip r:embed="rId1"/>
          <a:stretch>
            <a:fillRect/>
          </a:stretch>
        </p:blipFill>
        <p:spPr>
          <a:xfrm>
            <a:off x="11365992" y="6336792"/>
            <a:ext cx="365760" cy="365760"/>
          </a:xfrm>
          <a:prstGeom prst="rect">
            <a:avLst/>
          </a:prstGeom>
        </p:spPr>
      </p:pic>
      <p:sp>
        <p:nvSpPr>
          <p:cNvPr id="5" name="Goal"/>
          <p:cNvSpPr txBox="1"/>
          <p:nvPr/>
        </p:nvSpPr>
        <p:spPr>
          <a:xfrm>
            <a:off x="548640" y="1161288"/>
            <a:ext cx="11094415" cy="384048"/>
          </a:xfrm>
          <a:prstGeom prst="rect">
            <a:avLst/>
          </a:prstGeom>
          <a:noFill/>
          <a:ln/>
        </p:spPr>
        <p:txBody>
          <a:bodyPr wrap="square" lIns="0" tIns="0" rIns="0" bIns="0" rtlCol="0" anchor="ctr"/>
          <a:lstStyle/>
          <a:p>
            <a:pPr indent="0" marL="0">
              <a:buNone/>
            </a:pPr>
            <a:r>
              <a:rPr lang="en-US" sz="1400" b="1" dirty="0">
                <a:solidFill>
                  <a:srgbClr val="2B7043"/>
                </a:solidFill>
              </a:rPr>
              <a:t>Goal:  </a:t>
            </a:r>
            <a:r>
              <a:rPr lang="en-US" sz="1400" dirty="0">
                <a:solidFill>
                  <a:srgbClr val="2B2B2B"/>
                </a:solidFill>
              </a:rPr>
              <a:t>Error messages are clues, not failures. Each one tells you what kind of mistake you made.</a:t>
            </a:r>
            <a:endParaRPr lang="en-US" sz="1400" dirty="0"/>
          </a:p>
        </p:txBody>
      </p:sp>
      <p:graphicFrame>
        <p:nvGraphicFramePr>
          <p:cNvPr id="14" name="errors"/>
          <p:cNvGraphicFramePr>
            <a:graphicFrameLocks noGrp="1"/>
          </p:cNvGraphicFramePr>
          <p:nvPr>
            <p:extLst>
              <p:ext uri="{D42A27DB-BD31-4B8C-83A1-F6EECF244321}">
                <p14:modId xmlns:p14="http://schemas.microsoft.com/office/powerpoint/2010/main" val="1579011935"/>
              </p:ext>
            </p:extLst>
          </p:nvPr>
        </p:nvGraphicFramePr>
        <p:xfrm>
          <a:off x="548640" y="1691640"/>
          <a:ext cx="11091672" cy="914400"/>
        </p:xfrm>
        <a:graphic>
          <a:graphicData uri="http://schemas.openxmlformats.org/drawingml/2006/table">
            <a:tbl>
              <a:tblPr/>
              <a:tblGrid>
                <a:gridCol w="3246120"/>
                <a:gridCol w="3611880"/>
                <a:gridCol w="4233672"/>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You typed</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1E563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IOS replied</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1E563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Why — and the fix</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1E5631"/>
                    </a:solidFill>
                  </a:tcPr>
                </a:tc>
              </a:tr>
              <a:tr h="0">
                <a:tc>
                  <a:txBody>
                    <a:bodyPr/>
                    <a:lstStyle/>
                    <a:p>
                      <a:pPr indent="0" marL="0">
                        <a:buNone/>
                      </a:pPr>
                      <a:r>
                        <a:rPr lang="en-US" sz="1200" b="1" dirty="0">
                          <a:solidFill>
                            <a:srgbClr val="1E5631"/>
                          </a:solidFill>
                          <a:latin typeface="Courier New" pitchFamily="34" charset="0"/>
                          <a:ea typeface="Courier New" pitchFamily="34" charset="-122"/>
                          <a:cs typeface="Courier New" pitchFamily="34" charset="-120"/>
                        </a:rPr>
                        <a:t>R1&gt; configure terminal</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200" b="1" dirty="0">
                          <a:solidFill>
                            <a:srgbClr val="1E5631"/>
                          </a:solidFill>
                          <a:latin typeface="Courier New" pitchFamily="34" charset="0"/>
                          <a:ea typeface="Courier New" pitchFamily="34" charset="-122"/>
                          <a:cs typeface="Courier New" pitchFamily="34" charset="-120"/>
                        </a:rPr>
                        <a:t>% Invalid input detected at '^' marker.</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You are in user mode (</a:t>
                      </a:r>
                      <a:r>
                        <a:rPr lang="en-US" sz="1200" b="1" dirty="0">
                          <a:solidFill>
                            <a:srgbClr val="1E5631"/>
                          </a:solidFill>
                          <a:latin typeface="Courier New" pitchFamily="34" charset="0"/>
                          <a:ea typeface="Courier New" pitchFamily="34" charset="-122"/>
                          <a:cs typeface="Courier New" pitchFamily="34" charset="-120"/>
                        </a:rPr>
                        <a:t>&gt;</a:t>
                      </a:r>
                      <a:r>
                        <a:rPr lang="en-US" sz="1300" dirty="0">
                          <a:solidFill>
                            <a:srgbClr val="2B2B2B"/>
                          </a:solidFill>
                          <a:latin typeface="Calibri" pitchFamily="34" charset="0"/>
                          <a:ea typeface="Calibri" pitchFamily="34" charset="-122"/>
                          <a:cs typeface="Calibri" pitchFamily="34" charset="-120"/>
                        </a:rPr>
                        <a:t>). Type </a:t>
                      </a:r>
                      <a:r>
                        <a:rPr lang="en-US" sz="1200" b="1" dirty="0">
                          <a:solidFill>
                            <a:srgbClr val="1E5631"/>
                          </a:solidFill>
                          <a:latin typeface="Courier New" pitchFamily="34" charset="0"/>
                          <a:ea typeface="Courier New" pitchFamily="34" charset="-122"/>
                          <a:cs typeface="Courier New" pitchFamily="34" charset="-120"/>
                        </a:rPr>
                        <a:t>enable</a:t>
                      </a:r>
                      <a:r>
                        <a:rPr lang="en-US" sz="1300" dirty="0">
                          <a:solidFill>
                            <a:srgbClr val="2B2B2B"/>
                          </a:solidFill>
                          <a:latin typeface="Calibri" pitchFamily="34" charset="0"/>
                          <a:ea typeface="Calibri" pitchFamily="34" charset="-122"/>
                          <a:cs typeface="Calibri" pitchFamily="34" charset="-120"/>
                        </a:rPr>
                        <a:t> first.</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r>
              <a:tr h="0">
                <a:tc>
                  <a:txBody>
                    <a:bodyPr/>
                    <a:lstStyle/>
                    <a:p>
                      <a:pPr indent="0" marL="0">
                        <a:buNone/>
                      </a:pPr>
                      <a:r>
                        <a:rPr lang="en-US" sz="1200" b="1" dirty="0">
                          <a:solidFill>
                            <a:srgbClr val="1E5631"/>
                          </a:solidFill>
                          <a:latin typeface="Courier New" pitchFamily="34" charset="0"/>
                          <a:ea typeface="Courier New" pitchFamily="34" charset="-122"/>
                          <a:cs typeface="Courier New" pitchFamily="34" charset="-120"/>
                        </a:rPr>
                        <a:t>R1(config)# show running-config</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c>
                  <a:txBody>
                    <a:bodyPr/>
                    <a:lstStyle/>
                    <a:p>
                      <a:pPr indent="0" marL="0">
                        <a:buNone/>
                      </a:pPr>
                      <a:r>
                        <a:rPr lang="en-US" sz="1200" b="1" dirty="0">
                          <a:solidFill>
                            <a:srgbClr val="1E5631"/>
                          </a:solidFill>
                          <a:latin typeface="Courier New" pitchFamily="34" charset="0"/>
                          <a:ea typeface="Courier New" pitchFamily="34" charset="-122"/>
                          <a:cs typeface="Courier New" pitchFamily="34" charset="-120"/>
                        </a:rPr>
                        <a:t>% Invalid input detected at '^' marker.</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c>
                  <a:txBody>
                    <a:bodyPr/>
                    <a:lstStyle/>
                    <a:p>
                      <a:pPr indent="0" marL="0">
                        <a:buNone/>
                      </a:pPr>
                      <a:r>
                        <a:rPr lang="en-US" sz="1200" b="1" dirty="0">
                          <a:solidFill>
                            <a:srgbClr val="1E5631"/>
                          </a:solidFill>
                          <a:latin typeface="Courier New" pitchFamily="34" charset="0"/>
                          <a:ea typeface="Courier New" pitchFamily="34" charset="-122"/>
                          <a:cs typeface="Courier New" pitchFamily="34" charset="-120"/>
                        </a:rPr>
                        <a:t>show</a:t>
                      </a:r>
                      <a:r>
                        <a:rPr lang="en-US" sz="1300" dirty="0">
                          <a:solidFill>
                            <a:srgbClr val="2B2B2B"/>
                          </a:solidFill>
                          <a:latin typeface="Calibri" pitchFamily="34" charset="0"/>
                          <a:ea typeface="Calibri" pitchFamily="34" charset="-122"/>
                          <a:cs typeface="Calibri" pitchFamily="34" charset="-120"/>
                        </a:rPr>
                        <a:t> is not a config command. Use </a:t>
                      </a:r>
                      <a:r>
                        <a:rPr lang="en-US" sz="1200" b="1" dirty="0">
                          <a:solidFill>
                            <a:srgbClr val="1E5631"/>
                          </a:solidFill>
                          <a:latin typeface="Courier New" pitchFamily="34" charset="0"/>
                          <a:ea typeface="Courier New" pitchFamily="34" charset="-122"/>
                          <a:cs typeface="Courier New" pitchFamily="34" charset="-120"/>
                        </a:rPr>
                        <a:t>do show running-config</a:t>
                      </a:r>
                      <a:r>
                        <a:rPr lang="en-US" sz="1300" dirty="0">
                          <a:solidFill>
                            <a:srgbClr val="2B2B2B"/>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E5631"/>
                          </a:solidFill>
                          <a:latin typeface="Courier New" pitchFamily="34" charset="0"/>
                          <a:ea typeface="Courier New" pitchFamily="34" charset="-122"/>
                          <a:cs typeface="Courier New" pitchFamily="34" charset="-120"/>
                        </a:rPr>
                        <a:t>R1(config-if)# ip address 192.168.1.1</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200" b="1" dirty="0">
                          <a:solidFill>
                            <a:srgbClr val="1E5631"/>
                          </a:solidFill>
                          <a:latin typeface="Courier New" pitchFamily="34" charset="0"/>
                          <a:ea typeface="Courier New" pitchFamily="34" charset="-122"/>
                          <a:cs typeface="Courier New" pitchFamily="34" charset="-120"/>
                        </a:rPr>
                        <a:t>% Incomplete command.</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Something is missing — here the mask. Type </a:t>
                      </a:r>
                      <a:r>
                        <a:rPr lang="en-US" sz="1200" b="1" dirty="0">
                          <a:solidFill>
                            <a:srgbClr val="1E5631"/>
                          </a:solidFill>
                          <a:latin typeface="Courier New" pitchFamily="34" charset="0"/>
                          <a:ea typeface="Courier New" pitchFamily="34" charset="-122"/>
                          <a:cs typeface="Courier New" pitchFamily="34" charset="-120"/>
                        </a:rPr>
                        <a:t>?</a:t>
                      </a:r>
                      <a:r>
                        <a:rPr lang="en-US" sz="1300" dirty="0">
                          <a:solidFill>
                            <a:srgbClr val="2B2B2B"/>
                          </a:solidFill>
                          <a:latin typeface="Calibri" pitchFamily="34" charset="0"/>
                          <a:ea typeface="Calibri" pitchFamily="34" charset="-122"/>
                          <a:cs typeface="Calibri" pitchFamily="34" charset="-120"/>
                        </a:rPr>
                        <a:t> to see what comes next.</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r>
              <a:tr h="0">
                <a:tc>
                  <a:txBody>
                    <a:bodyPr/>
                    <a:lstStyle/>
                    <a:p>
                      <a:pPr indent="0" marL="0">
                        <a:buNone/>
                      </a:pPr>
                      <a:r>
                        <a:rPr lang="en-US" sz="1200" b="1" dirty="0">
                          <a:solidFill>
                            <a:srgbClr val="1E5631"/>
                          </a:solidFill>
                          <a:latin typeface="Courier New" pitchFamily="34" charset="0"/>
                          <a:ea typeface="Courier New" pitchFamily="34" charset="-122"/>
                          <a:cs typeface="Courier New" pitchFamily="34" charset="-120"/>
                        </a:rPr>
                        <a:t>R1# c</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c>
                  <a:txBody>
                    <a:bodyPr/>
                    <a:lstStyle/>
                    <a:p>
                      <a:pPr indent="0" marL="0">
                        <a:buNone/>
                      </a:pPr>
                      <a:r>
                        <a:rPr lang="en-US" sz="1200" b="1" dirty="0">
                          <a:solidFill>
                            <a:srgbClr val="1E5631"/>
                          </a:solidFill>
                          <a:latin typeface="Courier New" pitchFamily="34" charset="0"/>
                          <a:ea typeface="Courier New" pitchFamily="34" charset="-122"/>
                          <a:cs typeface="Courier New" pitchFamily="34" charset="-120"/>
                        </a:rPr>
                        <a:t>% Ambiguous command: "c"</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Several commands start with c. Type more letters.</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E5631"/>
                          </a:solidFill>
                          <a:latin typeface="Courier New" pitchFamily="34" charset="0"/>
                          <a:ea typeface="Courier New" pitchFamily="34" charset="-122"/>
                          <a:cs typeface="Courier New" pitchFamily="34" charset="-120"/>
                        </a:rPr>
                        <a:t>R1# shwo</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200" b="1" dirty="0">
                          <a:solidFill>
                            <a:srgbClr val="1E5631"/>
                          </a:solidFill>
                          <a:latin typeface="Courier New" pitchFamily="34" charset="0"/>
                          <a:ea typeface="Courier New" pitchFamily="34" charset="-122"/>
                          <a:cs typeface="Courier New" pitchFamily="34" charset="-120"/>
                        </a:rPr>
                        <a:t>Translating "shwo"...domain server (255.255.255.255)</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IOS thinks the typo is a computer name. Press Ctrl+Shift+6; prevent it with </a:t>
                      </a:r>
                      <a:r>
                        <a:rPr lang="en-US" sz="1200" b="1" dirty="0">
                          <a:solidFill>
                            <a:srgbClr val="1E5631"/>
                          </a:solidFill>
                          <a:latin typeface="Courier New" pitchFamily="34" charset="0"/>
                          <a:ea typeface="Courier New" pitchFamily="34" charset="-122"/>
                          <a:cs typeface="Courier New" pitchFamily="34" charset="-120"/>
                        </a:rPr>
                        <a:t>no ip domain-lookup</a:t>
                      </a:r>
                      <a:r>
                        <a:rPr lang="en-US" sz="1300" dirty="0">
                          <a:solidFill>
                            <a:srgbClr val="2B2B2B"/>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r>
              <a:tr h="0">
                <a:tc>
                  <a:txBody>
                    <a:bodyPr/>
                    <a:lstStyle/>
                    <a:p>
                      <a:pPr indent="0" marL="0">
                        <a:buNone/>
                      </a:pPr>
                      <a:r>
                        <a:rPr lang="en-US" sz="1200" b="1" dirty="0">
                          <a:solidFill>
                            <a:srgbClr val="1E5631"/>
                          </a:solidFill>
                          <a:latin typeface="Courier New" pitchFamily="34" charset="0"/>
                          <a:ea typeface="Courier New" pitchFamily="34" charset="-122"/>
                          <a:cs typeface="Courier New" pitchFamily="34" charset="-120"/>
                        </a:rPr>
                        <a:t>R1(config-if)# ip address 192.168.1.5 255.255.255.0</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c>
                  <a:txBody>
                    <a:bodyPr/>
                    <a:lstStyle/>
                    <a:p>
                      <a:pPr indent="0" marL="0">
                        <a:buNone/>
                      </a:pPr>
                      <a:r>
                        <a:rPr lang="en-US" sz="1200" b="1" dirty="0">
                          <a:solidFill>
                            <a:srgbClr val="1E5631"/>
                          </a:solidFill>
                          <a:latin typeface="Courier New" pitchFamily="34" charset="0"/>
                          <a:ea typeface="Courier New" pitchFamily="34" charset="-122"/>
                          <a:cs typeface="Courier New" pitchFamily="34" charset="-120"/>
                        </a:rPr>
                        <a:t>% 192.168.1.0 overlaps with GigabitEthernet0/0/0</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Two router ports can’t share a subnet. Give this port a different one.</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r>
            </a:tbl>
          </a:graphicData>
        </a:graphic>
      </p:graphicFrame>
      <p:sp>
        <p:nvSpPr>
          <p:cNvPr id="7" name="tip box"/>
          <p:cNvSpPr/>
          <p:nvPr/>
        </p:nvSpPr>
        <p:spPr>
          <a:xfrm>
            <a:off x="548640" y="5504688"/>
            <a:ext cx="11094415" cy="749808"/>
          </a:xfrm>
          <a:prstGeom prst="roundRect">
            <a:avLst>
              <a:gd name="adj" fmla="val 9756"/>
            </a:avLst>
          </a:prstGeom>
          <a:solidFill>
            <a:srgbClr val="E6EEF8"/>
          </a:solidFill>
          <a:ln w="12700">
            <a:solidFill>
              <a:srgbClr val="B8C9E0"/>
            </a:solidFill>
            <a:prstDash val="solid"/>
          </a:ln>
        </p:spPr>
      </p:sp>
      <p:pic>
        <p:nvPicPr>
          <p:cNvPr id="8" name="tip icon" descr="Tip:">    </p:cNvPr>
          <p:cNvPicPr>
            <a:picLocks noChangeAspect="1"/>
          </p:cNvPicPr>
          <p:nvPr/>
        </p:nvPicPr>
        <p:blipFill>
          <a:blip r:embed="rId3"/>
          <a:stretch>
            <a:fillRect/>
          </a:stretch>
        </p:blipFill>
        <p:spPr>
          <a:xfrm>
            <a:off x="694944" y="5733288"/>
            <a:ext cx="292608" cy="292608"/>
          </a:xfrm>
          <a:prstGeom prst="rect">
            <a:avLst/>
          </a:prstGeom>
        </p:spPr>
      </p:pic>
      <p:sp>
        <p:nvSpPr>
          <p:cNvPr id="9" name="tip text"/>
          <p:cNvSpPr txBox="1"/>
          <p:nvPr/>
        </p:nvSpPr>
        <p:spPr>
          <a:xfrm>
            <a:off x="1097280" y="5541264"/>
            <a:ext cx="10436047" cy="676656"/>
          </a:xfrm>
          <a:prstGeom prst="rect">
            <a:avLst/>
          </a:prstGeom>
          <a:noFill/>
          <a:ln/>
        </p:spPr>
        <p:txBody>
          <a:bodyPr wrap="square" lIns="0" tIns="0" rIns="0" bIns="0" rtlCol="0" anchor="ctr"/>
          <a:lstStyle/>
          <a:p>
            <a:pPr indent="0" marL="0">
              <a:buNone/>
            </a:pPr>
            <a:r>
              <a:rPr lang="en-US" sz="1400" b="1" dirty="0">
                <a:solidFill>
                  <a:srgbClr val="1F4E8C"/>
                </a:solidFill>
              </a:rPr>
              <a:t>Tip:  </a:t>
            </a:r>
            <a:r>
              <a:rPr lang="en-US" sz="1400" dirty="0">
                <a:solidFill>
                  <a:srgbClr val="2B2B2B"/>
                </a:solidFill>
              </a:rPr>
              <a:t>The </a:t>
            </a:r>
            <a:r>
              <a:rPr lang="en-US" sz="1300" b="1" dirty="0">
                <a:solidFill>
                  <a:srgbClr val="1E5631"/>
                </a:solidFill>
                <a:latin typeface="Courier New" pitchFamily="34" charset="0"/>
                <a:ea typeface="Courier New" pitchFamily="34" charset="-122"/>
                <a:cs typeface="Courier New" pitchFamily="34" charset="-120"/>
              </a:rPr>
              <a:t>^</a:t>
            </a:r>
            <a:r>
              <a:rPr lang="en-US" sz="1400" dirty="0">
                <a:solidFill>
                  <a:srgbClr val="2B2B2B"/>
                </a:solidFill>
              </a:rPr>
              <a:t> marker points at the first character IOS did not understand — look there first.</a:t>
            </a:r>
            <a:endParaRPr lang="en-US" sz="1400" dirty="0"/>
          </a:p>
        </p:txBody>
      </p:sp>
      <p:sp>
        <p:nvSpPr>
          <p:cNvPr id="25" name="Slide Number Placeholder 0"/>
          <p:cNvSpPr>
            <a:spLocks noGrp="1"/>
          </p:cNvSpPr>
          <p:nvPr>
            <p:ph type="sldNum" sz="quarter" idx="4294967295"/>
          </p:nvPr>
        </p:nvSpPr>
        <p:spPr>
          <a:xfrm>
            <a:off x="10698480" y="6464808"/>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body" hasCustomPrompt="1"/>
          </p:nvPr>
        </p:nvSpPr>
        <p:spPr>
          <a:xfrm>
            <a:off x="548640" y="274320"/>
            <a:ext cx="9966960" cy="256032"/>
          </a:xfrm>
          <a:prstGeom prst="rect">
            <a:avLst/>
          </a:prstGeom>
          <a:noFill/>
          <a:ln/>
        </p:spPr>
        <p:txBody>
          <a:bodyPr wrap="square" lIns="0" tIns="0" rIns="0" bIns="0" rtlCol="0" anchor="ctr"/>
          <a:lstStyle/>
          <a:p>
            <a:pPr algn="l" indent="0" marL="0">
              <a:buNone/>
            </a:pPr>
            <a:r>
              <a:rPr lang="en-US" sz="1100" b="1" spc="100" kern="0" dirty="0">
                <a:solidFill>
                  <a:schemeClr val="accent2"/>
                </a:solidFill>
              </a:rPr>
              <a:t>02  •  THE IOS COMMAND LINE</a:t>
            </a:r>
            <a:endParaRPr lang="en-US" sz="1100" dirty="0"/>
          </a:p>
        </p:txBody>
      </p:sp>
      <p:sp>
        <p:nvSpPr>
          <p:cNvPr id="3" name="Text 1"/>
          <p:cNvSpPr/>
          <p:nvPr>
            <p:ph idx="103" type="title" hasCustomPrompt="1"/>
          </p:nvPr>
        </p:nvSpPr>
        <p:spPr>
          <a:xfrm>
            <a:off x="548640" y="548640"/>
            <a:ext cx="10149840" cy="548640"/>
          </a:xfrm>
          <a:prstGeom prst="rect">
            <a:avLst/>
          </a:prstGeom>
          <a:noFill/>
          <a:ln/>
        </p:spPr>
        <p:txBody>
          <a:bodyPr wrap="square" lIns="0" tIns="0" rIns="0" bIns="0" rtlCol="0" anchor="ctr"/>
          <a:lstStyle/>
          <a:p>
            <a:pPr algn="l" indent="0" marL="0">
              <a:buNone/>
            </a:pPr>
            <a:r>
              <a:rPr lang="en-US" sz="2600" b="1" dirty="0">
                <a:solidFill>
                  <a:schemeClr val="accent1"/>
                </a:solidFill>
              </a:rPr>
              <a:t>How to name the interfaces you type</a:t>
            </a:r>
            <a:endParaRPr lang="en-US" sz="2600" dirty="0"/>
          </a:p>
        </p:txBody>
      </p:sp>
      <p:pic>
        <p:nvPicPr>
          <p:cNvPr id="4" name="Home button" descr="Home: back to the workbook menu">
            <a:hlinkClick r:id="rId2" tooltip="Back to the workbook menu" action="ppaction://hlinksldjump"/>
          </p:cNvPr>
          <p:cNvPicPr>
            <a:picLocks noChangeAspect="1"/>
          </p:cNvPicPr>
          <p:nvPr/>
        </p:nvPicPr>
        <p:blipFill>
          <a:blip r:embed="rId1"/>
          <a:stretch>
            <a:fillRect/>
          </a:stretch>
        </p:blipFill>
        <p:spPr>
          <a:xfrm>
            <a:off x="11365992" y="6336792"/>
            <a:ext cx="365760" cy="365760"/>
          </a:xfrm>
          <a:prstGeom prst="rect">
            <a:avLst/>
          </a:prstGeom>
        </p:spPr>
      </p:pic>
      <p:sp>
        <p:nvSpPr>
          <p:cNvPr id="5" name="Goal"/>
          <p:cNvSpPr txBox="1"/>
          <p:nvPr/>
        </p:nvSpPr>
        <p:spPr>
          <a:xfrm>
            <a:off x="548640" y="1161288"/>
            <a:ext cx="11094415" cy="384048"/>
          </a:xfrm>
          <a:prstGeom prst="rect">
            <a:avLst/>
          </a:prstGeom>
          <a:noFill/>
          <a:ln/>
        </p:spPr>
        <p:txBody>
          <a:bodyPr wrap="square" lIns="0" tIns="0" rIns="0" bIns="0" rtlCol="0" anchor="ctr"/>
          <a:lstStyle/>
          <a:p>
            <a:pPr indent="0" marL="0">
              <a:buNone/>
            </a:pPr>
            <a:r>
              <a:rPr lang="en-US" sz="1400" b="1" dirty="0">
                <a:solidFill>
                  <a:srgbClr val="2B7043"/>
                </a:solidFill>
              </a:rPr>
              <a:t>Goal:  </a:t>
            </a:r>
            <a:r>
              <a:rPr lang="en-US" sz="1400" dirty="0">
                <a:solidFill>
                  <a:srgbClr val="2B2B2B"/>
                </a:solidFill>
              </a:rPr>
              <a:t>Every command that touches a port needs its exact name. The name tells you the type and where the port sits.</a:t>
            </a:r>
            <a:endParaRPr lang="en-US" sz="1400" dirty="0"/>
          </a:p>
        </p:txBody>
      </p:sp>
      <p:sp>
        <p:nvSpPr>
          <p:cNvPr id="6" name="Shape 3"/>
          <p:cNvSpPr/>
          <p:nvPr/>
        </p:nvSpPr>
        <p:spPr>
          <a:xfrm>
            <a:off x="548640" y="1783080"/>
            <a:ext cx="3429000" cy="566928"/>
          </a:xfrm>
          <a:prstGeom prst="roundRect">
            <a:avLst>
              <a:gd name="adj" fmla="val 9677"/>
            </a:avLst>
          </a:prstGeom>
          <a:solidFill>
            <a:srgbClr val="1E5631"/>
          </a:solidFill>
          <a:ln/>
        </p:spPr>
      </p:sp>
      <p:sp>
        <p:nvSpPr>
          <p:cNvPr id="7" name="Text 4"/>
          <p:cNvSpPr txBox="1"/>
          <p:nvPr/>
        </p:nvSpPr>
        <p:spPr>
          <a:xfrm>
            <a:off x="548640" y="1783080"/>
            <a:ext cx="3429000" cy="566928"/>
          </a:xfrm>
          <a:prstGeom prst="rect">
            <a:avLst/>
          </a:prstGeom>
          <a:noFill/>
          <a:ln/>
        </p:spPr>
        <p:txBody>
          <a:bodyPr wrap="square" lIns="0" tIns="0" rIns="0" bIns="0" rtlCol="0" anchor="ctr"/>
          <a:lstStyle/>
          <a:p>
            <a:pPr algn="ctr" indent="0" marL="0">
              <a:buNone/>
            </a:pPr>
            <a:r>
              <a:rPr lang="en-US" sz="2400" b="1" dirty="0">
                <a:solidFill>
                  <a:srgbClr val="FFFFFF"/>
                </a:solidFill>
                <a:latin typeface="Courier New" pitchFamily="34" charset="0"/>
                <a:ea typeface="Courier New" pitchFamily="34" charset="-122"/>
                <a:cs typeface="Courier New" pitchFamily="34" charset="-120"/>
              </a:rPr>
              <a:t>GigabitEthernet</a:t>
            </a:r>
            <a:endParaRPr lang="en-US" sz="2400" dirty="0"/>
          </a:p>
        </p:txBody>
      </p:sp>
      <p:sp>
        <p:nvSpPr>
          <p:cNvPr id="8" name="Text 5"/>
          <p:cNvSpPr txBox="1"/>
          <p:nvPr/>
        </p:nvSpPr>
        <p:spPr>
          <a:xfrm>
            <a:off x="320040" y="2404872"/>
            <a:ext cx="3886200" cy="274320"/>
          </a:xfrm>
          <a:prstGeom prst="rect">
            <a:avLst/>
          </a:prstGeom>
          <a:noFill/>
          <a:ln/>
        </p:spPr>
        <p:txBody>
          <a:bodyPr wrap="square" lIns="0" tIns="0" rIns="0" bIns="0" rtlCol="0" anchor="ctr"/>
          <a:lstStyle/>
          <a:p>
            <a:pPr algn="ctr" indent="0" marL="0">
              <a:buNone/>
            </a:pPr>
            <a:r>
              <a:rPr lang="en-US" sz="1200" dirty="0">
                <a:solidFill>
                  <a:srgbClr val="6B6B6B"/>
                </a:solidFill>
              </a:rPr>
              <a:t>type (short: g, fa, s)</a:t>
            </a:r>
            <a:endParaRPr lang="en-US" sz="1200" dirty="0"/>
          </a:p>
        </p:txBody>
      </p:sp>
      <p:sp>
        <p:nvSpPr>
          <p:cNvPr id="9" name="Text 6"/>
          <p:cNvSpPr txBox="1"/>
          <p:nvPr/>
        </p:nvSpPr>
        <p:spPr>
          <a:xfrm>
            <a:off x="3977640" y="1783080"/>
            <a:ext cx="274320" cy="566928"/>
          </a:xfrm>
          <a:prstGeom prst="rect">
            <a:avLst/>
          </a:prstGeom>
          <a:noFill/>
          <a:ln/>
        </p:spPr>
        <p:txBody>
          <a:bodyPr wrap="square" lIns="0" tIns="0" rIns="0" bIns="0" rtlCol="0" anchor="ctr"/>
          <a:lstStyle/>
          <a:p>
            <a:pPr algn="ctr" indent="0" marL="0">
              <a:buNone/>
            </a:pPr>
            <a:r>
              <a:rPr lang="en-US" sz="2400" b="1" dirty="0">
                <a:solidFill>
                  <a:srgbClr val="1E5631"/>
                </a:solidFill>
                <a:latin typeface="Courier New" pitchFamily="34" charset="0"/>
                <a:ea typeface="Courier New" pitchFamily="34" charset="-122"/>
                <a:cs typeface="Courier New" pitchFamily="34" charset="-120"/>
              </a:rPr>
              <a:t>/</a:t>
            </a:r>
            <a:endParaRPr lang="en-US" sz="2400" dirty="0"/>
          </a:p>
        </p:txBody>
      </p:sp>
      <p:sp>
        <p:nvSpPr>
          <p:cNvPr id="10" name="Shape 7"/>
          <p:cNvSpPr/>
          <p:nvPr/>
        </p:nvSpPr>
        <p:spPr>
          <a:xfrm>
            <a:off x="4251960" y="1783080"/>
            <a:ext cx="566928" cy="566928"/>
          </a:xfrm>
          <a:prstGeom prst="roundRect">
            <a:avLst>
              <a:gd name="adj" fmla="val 9677"/>
            </a:avLst>
          </a:prstGeom>
          <a:solidFill>
            <a:srgbClr val="2B7043"/>
          </a:solidFill>
          <a:ln/>
        </p:spPr>
      </p:sp>
      <p:sp>
        <p:nvSpPr>
          <p:cNvPr id="11" name="Text 8"/>
          <p:cNvSpPr txBox="1"/>
          <p:nvPr/>
        </p:nvSpPr>
        <p:spPr>
          <a:xfrm>
            <a:off x="4251960" y="1783080"/>
            <a:ext cx="566928" cy="566928"/>
          </a:xfrm>
          <a:prstGeom prst="rect">
            <a:avLst/>
          </a:prstGeom>
          <a:noFill/>
          <a:ln/>
        </p:spPr>
        <p:txBody>
          <a:bodyPr wrap="square" lIns="0" tIns="0" rIns="0" bIns="0" rtlCol="0" anchor="ctr"/>
          <a:lstStyle/>
          <a:p>
            <a:pPr algn="ctr" indent="0" marL="0">
              <a:buNone/>
            </a:pPr>
            <a:r>
              <a:rPr lang="en-US" sz="2400" b="1" dirty="0">
                <a:solidFill>
                  <a:srgbClr val="FFFFFF"/>
                </a:solidFill>
                <a:latin typeface="Courier New" pitchFamily="34" charset="0"/>
                <a:ea typeface="Courier New" pitchFamily="34" charset="-122"/>
                <a:cs typeface="Courier New" pitchFamily="34" charset="-120"/>
              </a:rPr>
              <a:t>0</a:t>
            </a:r>
            <a:endParaRPr lang="en-US" sz="2400" dirty="0"/>
          </a:p>
        </p:txBody>
      </p:sp>
      <p:sp>
        <p:nvSpPr>
          <p:cNvPr id="12" name="Text 9"/>
          <p:cNvSpPr txBox="1"/>
          <p:nvPr/>
        </p:nvSpPr>
        <p:spPr>
          <a:xfrm>
            <a:off x="4023360" y="2404872"/>
            <a:ext cx="1024128" cy="274320"/>
          </a:xfrm>
          <a:prstGeom prst="rect">
            <a:avLst/>
          </a:prstGeom>
          <a:noFill/>
          <a:ln/>
        </p:spPr>
        <p:txBody>
          <a:bodyPr wrap="square" lIns="0" tIns="0" rIns="0" bIns="0" rtlCol="0" anchor="ctr"/>
          <a:lstStyle/>
          <a:p>
            <a:pPr algn="ctr" indent="0" marL="0">
              <a:buNone/>
            </a:pPr>
            <a:r>
              <a:rPr lang="en-US" sz="1200" dirty="0">
                <a:solidFill>
                  <a:srgbClr val="6B6B6B"/>
                </a:solidFill>
              </a:rPr>
              <a:t>slot</a:t>
            </a:r>
            <a:endParaRPr lang="en-US" sz="1200" dirty="0"/>
          </a:p>
        </p:txBody>
      </p:sp>
      <p:sp>
        <p:nvSpPr>
          <p:cNvPr id="13" name="Text 10"/>
          <p:cNvSpPr txBox="1"/>
          <p:nvPr/>
        </p:nvSpPr>
        <p:spPr>
          <a:xfrm>
            <a:off x="4818888" y="1783080"/>
            <a:ext cx="274320" cy="566928"/>
          </a:xfrm>
          <a:prstGeom prst="rect">
            <a:avLst/>
          </a:prstGeom>
          <a:noFill/>
          <a:ln/>
        </p:spPr>
        <p:txBody>
          <a:bodyPr wrap="square" lIns="0" tIns="0" rIns="0" bIns="0" rtlCol="0" anchor="ctr"/>
          <a:lstStyle/>
          <a:p>
            <a:pPr algn="ctr" indent="0" marL="0">
              <a:buNone/>
            </a:pPr>
            <a:r>
              <a:rPr lang="en-US" sz="2400" b="1" dirty="0">
                <a:solidFill>
                  <a:srgbClr val="1E5631"/>
                </a:solidFill>
                <a:latin typeface="Courier New" pitchFamily="34" charset="0"/>
                <a:ea typeface="Courier New" pitchFamily="34" charset="-122"/>
                <a:cs typeface="Courier New" pitchFamily="34" charset="-120"/>
              </a:rPr>
              <a:t>/</a:t>
            </a:r>
            <a:endParaRPr lang="en-US" sz="2400" dirty="0"/>
          </a:p>
        </p:txBody>
      </p:sp>
      <p:sp>
        <p:nvSpPr>
          <p:cNvPr id="14" name="Shape 11"/>
          <p:cNvSpPr/>
          <p:nvPr/>
        </p:nvSpPr>
        <p:spPr>
          <a:xfrm>
            <a:off x="5093208" y="1783080"/>
            <a:ext cx="566928" cy="566928"/>
          </a:xfrm>
          <a:prstGeom prst="roundRect">
            <a:avLst>
              <a:gd name="adj" fmla="val 9677"/>
            </a:avLst>
          </a:prstGeom>
          <a:solidFill>
            <a:srgbClr val="2B7043"/>
          </a:solidFill>
          <a:ln/>
        </p:spPr>
      </p:sp>
      <p:sp>
        <p:nvSpPr>
          <p:cNvPr id="15" name="Text 12"/>
          <p:cNvSpPr txBox="1"/>
          <p:nvPr/>
        </p:nvSpPr>
        <p:spPr>
          <a:xfrm>
            <a:off x="5093208" y="1783080"/>
            <a:ext cx="566928" cy="566928"/>
          </a:xfrm>
          <a:prstGeom prst="rect">
            <a:avLst/>
          </a:prstGeom>
          <a:noFill/>
          <a:ln/>
        </p:spPr>
        <p:txBody>
          <a:bodyPr wrap="square" lIns="0" tIns="0" rIns="0" bIns="0" rtlCol="0" anchor="ctr"/>
          <a:lstStyle/>
          <a:p>
            <a:pPr algn="ctr" indent="0" marL="0">
              <a:buNone/>
            </a:pPr>
            <a:r>
              <a:rPr lang="en-US" sz="2400" b="1" dirty="0">
                <a:solidFill>
                  <a:srgbClr val="FFFFFF"/>
                </a:solidFill>
                <a:latin typeface="Courier New" pitchFamily="34" charset="0"/>
                <a:ea typeface="Courier New" pitchFamily="34" charset="-122"/>
                <a:cs typeface="Courier New" pitchFamily="34" charset="-120"/>
              </a:rPr>
              <a:t>0</a:t>
            </a:r>
            <a:endParaRPr lang="en-US" sz="2400" dirty="0"/>
          </a:p>
        </p:txBody>
      </p:sp>
      <p:sp>
        <p:nvSpPr>
          <p:cNvPr id="16" name="Text 13"/>
          <p:cNvSpPr txBox="1"/>
          <p:nvPr/>
        </p:nvSpPr>
        <p:spPr>
          <a:xfrm>
            <a:off x="4864608" y="2404872"/>
            <a:ext cx="1024128" cy="274320"/>
          </a:xfrm>
          <a:prstGeom prst="rect">
            <a:avLst/>
          </a:prstGeom>
          <a:noFill/>
          <a:ln/>
        </p:spPr>
        <p:txBody>
          <a:bodyPr wrap="square" lIns="0" tIns="0" rIns="0" bIns="0" rtlCol="0" anchor="ctr"/>
          <a:lstStyle/>
          <a:p>
            <a:pPr algn="ctr" indent="0" marL="0">
              <a:buNone/>
            </a:pPr>
            <a:r>
              <a:rPr lang="en-US" sz="1200" dirty="0">
                <a:solidFill>
                  <a:srgbClr val="6B6B6B"/>
                </a:solidFill>
              </a:rPr>
              <a:t>module bay</a:t>
            </a:r>
            <a:endParaRPr lang="en-US" sz="1200" dirty="0"/>
          </a:p>
        </p:txBody>
      </p:sp>
      <p:sp>
        <p:nvSpPr>
          <p:cNvPr id="17" name="Text 14"/>
          <p:cNvSpPr txBox="1"/>
          <p:nvPr/>
        </p:nvSpPr>
        <p:spPr>
          <a:xfrm>
            <a:off x="5660136" y="1783080"/>
            <a:ext cx="274320" cy="566928"/>
          </a:xfrm>
          <a:prstGeom prst="rect">
            <a:avLst/>
          </a:prstGeom>
          <a:noFill/>
          <a:ln/>
        </p:spPr>
        <p:txBody>
          <a:bodyPr wrap="square" lIns="0" tIns="0" rIns="0" bIns="0" rtlCol="0" anchor="ctr"/>
          <a:lstStyle/>
          <a:p>
            <a:pPr algn="ctr" indent="0" marL="0">
              <a:buNone/>
            </a:pPr>
            <a:r>
              <a:rPr lang="en-US" sz="2400" b="1" dirty="0">
                <a:solidFill>
                  <a:srgbClr val="1E5631"/>
                </a:solidFill>
                <a:latin typeface="Courier New" pitchFamily="34" charset="0"/>
                <a:ea typeface="Courier New" pitchFamily="34" charset="-122"/>
                <a:cs typeface="Courier New" pitchFamily="34" charset="-120"/>
              </a:rPr>
              <a:t>/</a:t>
            </a:r>
            <a:endParaRPr lang="en-US" sz="2400" dirty="0"/>
          </a:p>
        </p:txBody>
      </p:sp>
      <p:sp>
        <p:nvSpPr>
          <p:cNvPr id="18" name="Shape 15"/>
          <p:cNvSpPr/>
          <p:nvPr/>
        </p:nvSpPr>
        <p:spPr>
          <a:xfrm>
            <a:off x="5934456" y="1783080"/>
            <a:ext cx="566928" cy="566928"/>
          </a:xfrm>
          <a:prstGeom prst="roundRect">
            <a:avLst>
              <a:gd name="adj" fmla="val 9677"/>
            </a:avLst>
          </a:prstGeom>
          <a:solidFill>
            <a:srgbClr val="2B7043"/>
          </a:solidFill>
          <a:ln/>
        </p:spPr>
      </p:sp>
      <p:sp>
        <p:nvSpPr>
          <p:cNvPr id="19" name="Text 16"/>
          <p:cNvSpPr txBox="1"/>
          <p:nvPr/>
        </p:nvSpPr>
        <p:spPr>
          <a:xfrm>
            <a:off x="5934456" y="1783080"/>
            <a:ext cx="566928" cy="566928"/>
          </a:xfrm>
          <a:prstGeom prst="rect">
            <a:avLst/>
          </a:prstGeom>
          <a:noFill/>
          <a:ln/>
        </p:spPr>
        <p:txBody>
          <a:bodyPr wrap="square" lIns="0" tIns="0" rIns="0" bIns="0" rtlCol="0" anchor="ctr"/>
          <a:lstStyle/>
          <a:p>
            <a:pPr algn="ctr" indent="0" marL="0">
              <a:buNone/>
            </a:pPr>
            <a:r>
              <a:rPr lang="en-US" sz="2400" b="1" dirty="0">
                <a:solidFill>
                  <a:srgbClr val="FFFFFF"/>
                </a:solidFill>
                <a:latin typeface="Courier New" pitchFamily="34" charset="0"/>
                <a:ea typeface="Courier New" pitchFamily="34" charset="-122"/>
                <a:cs typeface="Courier New" pitchFamily="34" charset="-120"/>
              </a:rPr>
              <a:t>0</a:t>
            </a:r>
            <a:endParaRPr lang="en-US" sz="2400" dirty="0"/>
          </a:p>
        </p:txBody>
      </p:sp>
      <p:sp>
        <p:nvSpPr>
          <p:cNvPr id="20" name="Text 17"/>
          <p:cNvSpPr txBox="1"/>
          <p:nvPr/>
        </p:nvSpPr>
        <p:spPr>
          <a:xfrm>
            <a:off x="5705856" y="2404872"/>
            <a:ext cx="1024128" cy="274320"/>
          </a:xfrm>
          <a:prstGeom prst="rect">
            <a:avLst/>
          </a:prstGeom>
          <a:noFill/>
          <a:ln/>
        </p:spPr>
        <p:txBody>
          <a:bodyPr wrap="square" lIns="0" tIns="0" rIns="0" bIns="0" rtlCol="0" anchor="ctr"/>
          <a:lstStyle/>
          <a:p>
            <a:pPr algn="ctr" indent="0" marL="0">
              <a:buNone/>
            </a:pPr>
            <a:r>
              <a:rPr lang="en-US" sz="1200" dirty="0">
                <a:solidFill>
                  <a:srgbClr val="6B6B6B"/>
                </a:solidFill>
              </a:rPr>
              <a:t>port</a:t>
            </a:r>
            <a:endParaRPr lang="en-US" sz="1200" dirty="0"/>
          </a:p>
        </p:txBody>
      </p:sp>
      <p:sp>
        <p:nvSpPr>
          <p:cNvPr id="21" name="Card"/>
          <p:cNvSpPr/>
          <p:nvPr/>
        </p:nvSpPr>
        <p:spPr>
          <a:xfrm>
            <a:off x="7086600" y="1691640"/>
            <a:ext cx="4553712" cy="1097280"/>
          </a:xfrm>
          <a:prstGeom prst="roundRect">
            <a:avLst>
              <a:gd name="adj" fmla="val 6667"/>
            </a:avLst>
          </a:prstGeom>
          <a:solidFill>
            <a:srgbClr val="E6EEF8"/>
          </a:solidFill>
          <a:ln w="12700">
            <a:solidFill>
              <a:srgbClr val="B8C9E0"/>
            </a:solidFill>
            <a:prstDash val="solid"/>
          </a:ln>
        </p:spPr>
      </p:sp>
      <p:sp>
        <p:nvSpPr>
          <p:cNvPr id="22" name="Text 19"/>
          <p:cNvSpPr txBox="1"/>
          <p:nvPr/>
        </p:nvSpPr>
        <p:spPr>
          <a:xfrm>
            <a:off x="7232904" y="1794053"/>
            <a:ext cx="4261104" cy="892454"/>
          </a:xfrm>
          <a:prstGeom prst="rect">
            <a:avLst/>
          </a:prstGeom>
          <a:noFill/>
          <a:ln/>
        </p:spPr>
        <p:txBody>
          <a:bodyPr wrap="square" lIns="0" tIns="0" rIns="0" bIns="0" rtlCol="0" anchor="t"/>
          <a:lstStyle/>
          <a:p>
            <a:pPr indent="0" marL="0">
              <a:buNone/>
            </a:pPr>
            <a:r>
              <a:rPr lang="en-US" sz="1400" b="1" dirty="0">
                <a:solidFill>
                  <a:srgbClr val="1F4E8C"/>
                </a:solidFill>
              </a:rPr>
              <a:t>Not sure of the name?</a:t>
            </a:r>
            <a:endParaRPr lang="en-US" sz="1400" dirty="0"/>
          </a:p>
          <a:p>
            <a:pPr indent="0" marL="0">
              <a:buNone/>
            </a:pPr>
            <a:r>
              <a:rPr lang="en-US" sz="1400" dirty="0">
                <a:solidFill>
                  <a:srgbClr val="2B2B2B"/>
                </a:solidFill>
              </a:rPr>
              <a:t>Run </a:t>
            </a:r>
            <a:r>
              <a:rPr lang="en-US" sz="1300" b="1" dirty="0">
                <a:solidFill>
                  <a:srgbClr val="1E5631"/>
                </a:solidFill>
                <a:latin typeface="Courier New" pitchFamily="34" charset="0"/>
                <a:ea typeface="Courier New" pitchFamily="34" charset="-122"/>
                <a:cs typeface="Courier New" pitchFamily="34" charset="-120"/>
              </a:rPr>
              <a:t>show ip interface brief</a:t>
            </a:r>
            <a:r>
              <a:rPr lang="en-US" sz="1400" dirty="0">
                <a:solidFill>
                  <a:srgbClr val="2B2B2B"/>
                </a:solidFill>
              </a:rPr>
              <a:t> — it lists every port your device really has.</a:t>
            </a:r>
            <a:endParaRPr lang="en-US" sz="1400" dirty="0"/>
          </a:p>
        </p:txBody>
      </p:sp>
      <p:graphicFrame>
        <p:nvGraphicFramePr>
          <p:cNvPr id="26" name="interface names"/>
          <p:cNvGraphicFramePr>
            <a:graphicFrameLocks noGrp="1"/>
          </p:cNvGraphicFramePr>
          <p:nvPr>
            <p:extLst>
              <p:ext uri="{D42A27DB-BD31-4B8C-83A1-F6EECF244321}">
                <p14:modId xmlns:p14="http://schemas.microsoft.com/office/powerpoint/2010/main" val="1579011935"/>
              </p:ext>
            </p:extLst>
          </p:nvPr>
        </p:nvGraphicFramePr>
        <p:xfrm>
          <a:off x="548640" y="3017520"/>
          <a:ext cx="11091672" cy="914400"/>
        </p:xfrm>
        <a:graphic>
          <a:graphicData uri="http://schemas.openxmlformats.org/drawingml/2006/table">
            <a:tbl>
              <a:tblPr/>
              <a:tblGrid>
                <a:gridCol w="3429000"/>
                <a:gridCol w="5257800"/>
                <a:gridCol w="2404872"/>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Device (Packet Tracer model)</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1E563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Interface names</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1E563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Type it as</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1E5631"/>
                    </a:solidFill>
                  </a:tcPr>
                </a:tc>
              </a:tr>
              <a:tr h="0">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Router </a:t>
                      </a:r>
                      <a:r>
                        <a:rPr lang="en-US" sz="1300" b="1" dirty="0">
                          <a:solidFill>
                            <a:srgbClr val="2B2B2B"/>
                          </a:solidFill>
                          <a:latin typeface="Calibri" pitchFamily="34" charset="0"/>
                          <a:ea typeface="Calibri" pitchFamily="34" charset="-122"/>
                          <a:cs typeface="Calibri" pitchFamily="34" charset="-120"/>
                        </a:rPr>
                        <a:t>4331</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GigabitEthernet0/0/0 and 0/0/1. </a:t>
                      </a:r>
                      <a:r>
                        <a:rPr lang="en-US" sz="1300" b="1" dirty="0">
                          <a:solidFill>
                            <a:srgbClr val="2B2B2B"/>
                          </a:solidFill>
                          <a:latin typeface="Calibri" pitchFamily="34" charset="0"/>
                          <a:ea typeface="Calibri" pitchFamily="34" charset="-122"/>
                          <a:cs typeface="Calibri" pitchFamily="34" charset="-120"/>
                        </a:rPr>
                        <a:t>0/0/2 is an empty slot</a:t>
                      </a:r>
                      <a:r>
                        <a:rPr lang="en-US" sz="1300" dirty="0">
                          <a:solidFill>
                            <a:srgbClr val="2B2B2B"/>
                          </a:solidFill>
                          <a:latin typeface="Calibri" pitchFamily="34" charset="0"/>
                          <a:ea typeface="Calibri" pitchFamily="34" charset="-122"/>
                          <a:cs typeface="Calibri" pitchFamily="34" charset="-120"/>
                        </a:rPr>
                        <a:t>: power off, add a </a:t>
                      </a:r>
                      <a:r>
                        <a:rPr lang="en-US" sz="1300" b="1" dirty="0">
                          <a:solidFill>
                            <a:srgbClr val="2B2B2B"/>
                          </a:solidFill>
                          <a:latin typeface="Calibri" pitchFamily="34" charset="0"/>
                          <a:ea typeface="Calibri" pitchFamily="34" charset="-122"/>
                          <a:cs typeface="Calibri" pitchFamily="34" charset="-120"/>
                        </a:rPr>
                        <a:t>GLC-T</a:t>
                      </a:r>
                      <a:r>
                        <a:rPr lang="en-US" sz="1300" dirty="0">
                          <a:solidFill>
                            <a:srgbClr val="2B2B2B"/>
                          </a:solidFill>
                          <a:latin typeface="Calibri" pitchFamily="34" charset="0"/>
                          <a:ea typeface="Calibri" pitchFamily="34" charset="-122"/>
                          <a:cs typeface="Calibri" pitchFamily="34" charset="-120"/>
                        </a:rPr>
                        <a:t> module, power on</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200" b="1" dirty="0">
                          <a:solidFill>
                            <a:srgbClr val="1E5631"/>
                          </a:solidFill>
                          <a:latin typeface="Courier New" pitchFamily="34" charset="0"/>
                          <a:ea typeface="Courier New" pitchFamily="34" charset="-122"/>
                          <a:cs typeface="Courier New" pitchFamily="34" charset="-120"/>
                        </a:rPr>
                        <a:t>g0/0/0</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r>
              <a:tr h="0">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Router </a:t>
                      </a:r>
                      <a:r>
                        <a:rPr lang="en-US" sz="1300" b="1" dirty="0">
                          <a:solidFill>
                            <a:srgbClr val="2B2B2B"/>
                          </a:solidFill>
                          <a:latin typeface="Calibri" pitchFamily="34" charset="0"/>
                          <a:ea typeface="Calibri" pitchFamily="34" charset="-122"/>
                          <a:cs typeface="Calibri" pitchFamily="34" charset="-120"/>
                        </a:rPr>
                        <a:t>1941 / 2901 / 2911</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GigabitEthernet0/0 and 0/1 (the 2911 also has 0/2)</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c>
                  <a:txBody>
                    <a:bodyPr/>
                    <a:lstStyle/>
                    <a:p>
                      <a:pPr indent="0" marL="0">
                        <a:buNone/>
                      </a:pPr>
                      <a:r>
                        <a:rPr lang="en-US" sz="1200" b="1" dirty="0">
                          <a:solidFill>
                            <a:srgbClr val="1E5631"/>
                          </a:solidFill>
                          <a:latin typeface="Courier New" pitchFamily="34" charset="0"/>
                          <a:ea typeface="Courier New" pitchFamily="34" charset="-122"/>
                          <a:cs typeface="Courier New" pitchFamily="34" charset="-120"/>
                        </a:rPr>
                        <a:t>g0/0</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Router + serial module</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4331 + NIM-2T: Serial0/1/0 – 0/1/1.  1941 + HWIC-2T: Serial0/0/0 – 0/0/1</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200" b="1" dirty="0">
                          <a:solidFill>
                            <a:srgbClr val="1E5631"/>
                          </a:solidFill>
                          <a:latin typeface="Courier New" pitchFamily="34" charset="0"/>
                          <a:ea typeface="Courier New" pitchFamily="34" charset="-122"/>
                          <a:cs typeface="Courier New" pitchFamily="34" charset="-120"/>
                        </a:rPr>
                        <a:t>s0/1/0</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r>
              <a:tr h="0">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Switch </a:t>
                      </a:r>
                      <a:r>
                        <a:rPr lang="en-US" sz="1300" b="1" dirty="0">
                          <a:solidFill>
                            <a:srgbClr val="2B2B2B"/>
                          </a:solidFill>
                          <a:latin typeface="Calibri" pitchFamily="34" charset="0"/>
                          <a:ea typeface="Calibri" pitchFamily="34" charset="-122"/>
                          <a:cs typeface="Calibri" pitchFamily="34" charset="-120"/>
                        </a:rPr>
                        <a:t>2960-24TT</a:t>
                      </a:r>
                      <a:r>
                        <a:rPr lang="en-US" sz="1300" dirty="0">
                          <a:solidFill>
                            <a:srgbClr val="2B2B2B"/>
                          </a:solidFill>
                          <a:latin typeface="Calibri" pitchFamily="34" charset="0"/>
                          <a:ea typeface="Calibri" pitchFamily="34" charset="-122"/>
                          <a:cs typeface="Calibri" pitchFamily="34" charset="-120"/>
                        </a:rPr>
                        <a:t>, multilayer </a:t>
                      </a:r>
                      <a:r>
                        <a:rPr lang="en-US" sz="1300" b="1" dirty="0">
                          <a:solidFill>
                            <a:srgbClr val="2B2B2B"/>
                          </a:solidFill>
                          <a:latin typeface="Calibri" pitchFamily="34" charset="0"/>
                          <a:ea typeface="Calibri" pitchFamily="34" charset="-122"/>
                          <a:cs typeface="Calibri" pitchFamily="34" charset="-120"/>
                        </a:rPr>
                        <a:t>3560-24PS</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FastEthernet0/1 – 0/24 and GigabitEthernet0/1 – 0/2</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c>
                  <a:txBody>
                    <a:bodyPr/>
                    <a:lstStyle/>
                    <a:p>
                      <a:pPr indent="0" marL="0">
                        <a:buNone/>
                      </a:pPr>
                      <a:r>
                        <a:rPr lang="en-US" sz="1200" b="1" dirty="0">
                          <a:solidFill>
                            <a:srgbClr val="1E5631"/>
                          </a:solidFill>
                          <a:latin typeface="Courier New" pitchFamily="34" charset="0"/>
                          <a:ea typeface="Courier New" pitchFamily="34" charset="-122"/>
                          <a:cs typeface="Courier New" pitchFamily="34" charset="-120"/>
                        </a:rPr>
                        <a:t>fa0/1</a:t>
                      </a:r>
                      <a:r>
                        <a:rPr lang="en-US" sz="1300" dirty="0">
                          <a:solidFill>
                            <a:srgbClr val="2B2B2B"/>
                          </a:solidFill>
                          <a:latin typeface="Calibri" pitchFamily="34" charset="0"/>
                          <a:ea typeface="Calibri" pitchFamily="34" charset="-122"/>
                          <a:cs typeface="Calibri" pitchFamily="34" charset="-120"/>
                        </a:rPr>
                        <a:t>, </a:t>
                      </a:r>
                      <a:r>
                        <a:rPr lang="en-US" sz="1200" b="1" dirty="0">
                          <a:solidFill>
                            <a:srgbClr val="1E5631"/>
                          </a:solidFill>
                          <a:latin typeface="Courier New" pitchFamily="34" charset="0"/>
                          <a:ea typeface="Courier New" pitchFamily="34" charset="-122"/>
                          <a:cs typeface="Courier New" pitchFamily="34" charset="-120"/>
                        </a:rPr>
                        <a:t>g0/1</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Virtual interfaces</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Vlan1, Vlan99 (SVI)  •  Port-channel1  •  g0/0/1.10 (sub-interface)</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200" b="1" dirty="0">
                          <a:solidFill>
                            <a:srgbClr val="1E5631"/>
                          </a:solidFill>
                          <a:latin typeface="Courier New" pitchFamily="34" charset="0"/>
                          <a:ea typeface="Courier New" pitchFamily="34" charset="-122"/>
                          <a:cs typeface="Courier New" pitchFamily="34" charset="-120"/>
                        </a:rPr>
                        <a:t>int vlan 99</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r>
            </a:tbl>
          </a:graphicData>
        </a:graphic>
      </p:graphicFrame>
      <p:sp>
        <p:nvSpPr>
          <p:cNvPr id="25" name="Slide Number Placeholder 0"/>
          <p:cNvSpPr>
            <a:spLocks noGrp="1"/>
          </p:cNvSpPr>
          <p:nvPr>
            <p:ph type="sldNum" sz="quarter" idx="4294967295"/>
          </p:nvPr>
        </p:nvSpPr>
        <p:spPr>
          <a:xfrm>
            <a:off x="10698480" y="6464808"/>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body" hasCustomPrompt="1"/>
          </p:nvPr>
        </p:nvSpPr>
        <p:spPr>
          <a:xfrm>
            <a:off x="548640" y="685800"/>
            <a:ext cx="3200400" cy="1143000"/>
          </a:xfrm>
          <a:prstGeom prst="rect">
            <a:avLst/>
          </a:prstGeom>
          <a:noFill/>
          <a:ln/>
        </p:spPr>
        <p:txBody>
          <a:bodyPr wrap="square" lIns="0" tIns="0" rIns="0" bIns="0" rtlCol="0" anchor="b"/>
          <a:lstStyle/>
          <a:p>
            <a:pPr algn="l" indent="0" marL="0">
              <a:buNone/>
            </a:pPr>
            <a:r>
              <a:rPr lang="en-US" sz="7200" b="1" dirty="0">
                <a:solidFill>
                  <a:schemeClr val="accent3"/>
                </a:solidFill>
                <a:latin typeface="Cambria" pitchFamily="34" charset="0"/>
                <a:ea typeface="Cambria" pitchFamily="34" charset="-122"/>
                <a:cs typeface="Cambria" pitchFamily="34" charset="-120"/>
              </a:rPr>
              <a:t>03</a:t>
            </a:r>
            <a:endParaRPr lang="en-US" sz="7200" dirty="0"/>
          </a:p>
        </p:txBody>
      </p:sp>
      <p:sp>
        <p:nvSpPr>
          <p:cNvPr id="3" name="Text 1"/>
          <p:cNvSpPr/>
          <p:nvPr>
            <p:ph idx="102" type="title" hasCustomPrompt="1"/>
          </p:nvPr>
        </p:nvSpPr>
        <p:spPr>
          <a:xfrm>
            <a:off x="548640" y="2011680"/>
            <a:ext cx="6492240" cy="1600200"/>
          </a:xfrm>
          <a:prstGeom prst="rect">
            <a:avLst/>
          </a:prstGeom>
          <a:noFill/>
          <a:ln/>
        </p:spPr>
        <p:txBody>
          <a:bodyPr wrap="square" lIns="0" tIns="0" rIns="0" bIns="0" rtlCol="0" anchor="t"/>
          <a:lstStyle/>
          <a:p>
            <a:pPr algn="l" indent="0" marL="0">
              <a:buNone/>
            </a:pPr>
            <a:r>
              <a:rPr lang="en-US" sz="3400" b="1" dirty="0">
                <a:solidFill>
                  <a:srgbClr val="FFFFFF"/>
                </a:solidFill>
              </a:rPr>
              <a:t>How to set up a new router or switch</a:t>
            </a:r>
            <a:endParaRPr lang="en-US" sz="3400" dirty="0"/>
          </a:p>
        </p:txBody>
      </p:sp>
      <p:sp>
        <p:nvSpPr>
          <p:cNvPr id="4" name="Text 1"/>
          <p:cNvSpPr/>
          <p:nvPr>
            <p:ph idx="103" type="body" hasCustomPrompt="1"/>
          </p:nvPr>
        </p:nvSpPr>
        <p:spPr>
          <a:xfrm>
            <a:off x="548640" y="3703320"/>
            <a:ext cx="6309360" cy="1188720"/>
          </a:xfrm>
          <a:prstGeom prst="rect">
            <a:avLst/>
          </a:prstGeom>
          <a:noFill/>
          <a:ln/>
        </p:spPr>
        <p:txBody>
          <a:bodyPr wrap="square" lIns="0" tIns="0" rIns="0" bIns="0" rtlCol="0" anchor="t"/>
          <a:lstStyle/>
          <a:p>
            <a:pPr algn="l" indent="0" marL="0">
              <a:buNone/>
            </a:pPr>
            <a:r>
              <a:rPr lang="en-US" sz="1600" dirty="0">
                <a:solidFill>
                  <a:srgbClr val="CFE3D4"/>
                </a:solidFill>
              </a:rPr>
              <a:t>The “starter pack” for every Cisco device: name it, secure it, address it, save it — and manage it safely with SSH. (Lab 1)</a:t>
            </a:r>
            <a:endParaRPr lang="en-US" sz="1600" dirty="0"/>
          </a:p>
        </p:txBody>
      </p:sp>
      <p:sp>
        <p:nvSpPr>
          <p:cNvPr id="5" name="Shape 3"/>
          <p:cNvSpPr/>
          <p:nvPr/>
        </p:nvSpPr>
        <p:spPr>
          <a:xfrm>
            <a:off x="7452360" y="1595120"/>
            <a:ext cx="4187952" cy="3667760"/>
          </a:xfrm>
          <a:prstGeom prst="roundRect">
            <a:avLst>
              <a:gd name="adj" fmla="val 2493"/>
            </a:avLst>
          </a:prstGeom>
          <a:solidFill>
            <a:srgbClr val="1B2B22">
              <a:alpha val="75000"/>
            </a:srgbClr>
          </a:solidFill>
          <a:ln w="12700">
            <a:solidFill>
              <a:srgbClr val="24663A"/>
            </a:solidFill>
            <a:prstDash val="solid"/>
          </a:ln>
        </p:spPr>
      </p:sp>
      <p:sp>
        <p:nvSpPr>
          <p:cNvPr id="6" name="Text 4"/>
          <p:cNvSpPr txBox="1"/>
          <p:nvPr/>
        </p:nvSpPr>
        <p:spPr>
          <a:xfrm>
            <a:off x="7726680" y="1851152"/>
            <a:ext cx="3639312" cy="320040"/>
          </a:xfrm>
          <a:prstGeom prst="rect">
            <a:avLst/>
          </a:prstGeom>
          <a:noFill/>
          <a:ln/>
        </p:spPr>
        <p:txBody>
          <a:bodyPr wrap="square" lIns="0" tIns="0" rIns="0" bIns="0" rtlCol="0" anchor="ctr"/>
          <a:lstStyle/>
          <a:p>
            <a:pPr indent="0" marL="0">
              <a:buNone/>
            </a:pPr>
            <a:r>
              <a:rPr lang="en-US" sz="1500" b="1" dirty="0">
                <a:solidFill>
                  <a:srgbClr val="E8B92E"/>
                </a:solidFill>
              </a:rPr>
              <a:t>In this part, learn how to:</a:t>
            </a:r>
            <a:endParaRPr lang="en-US" sz="1500" dirty="0"/>
          </a:p>
        </p:txBody>
      </p:sp>
      <p:sp>
        <p:nvSpPr>
          <p:cNvPr id="7" name="Text 5"/>
          <p:cNvSpPr txBox="1"/>
          <p:nvPr/>
        </p:nvSpPr>
        <p:spPr>
          <a:xfrm>
            <a:off x="7726680" y="2326640"/>
            <a:ext cx="3730752" cy="275336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FFFFFF"/>
                </a:solidFill>
              </a:rPr>
              <a:t>do the basic set-up on any device</a:t>
            </a:r>
            <a:endParaRPr lang="en-US" sz="1500" dirty="0"/>
          </a:p>
          <a:p>
            <a:pPr marL="203200" indent="-203200">
              <a:spcAft>
                <a:spcPts val="800"/>
              </a:spcAft>
              <a:buSzPct val="100000"/>
              <a:buChar char="•"/>
            </a:pPr>
            <a:r>
              <a:rPr lang="en-US" sz="1500" dirty="0">
                <a:solidFill>
                  <a:srgbClr val="FFFFFF"/>
                </a:solidFill>
              </a:rPr>
              <a:t>save, view and erase a configuration</a:t>
            </a:r>
            <a:endParaRPr lang="en-US" sz="1500" dirty="0"/>
          </a:p>
          <a:p>
            <a:pPr marL="203200" indent="-203200">
              <a:spcAft>
                <a:spcPts val="800"/>
              </a:spcAft>
              <a:buSzPct val="100000"/>
              <a:buChar char="•"/>
            </a:pPr>
            <a:r>
              <a:rPr lang="en-US" sz="1500" dirty="0">
                <a:solidFill>
                  <a:srgbClr val="FFFFFF"/>
                </a:solidFill>
              </a:rPr>
              <a:t>address a router interface</a:t>
            </a:r>
            <a:endParaRPr lang="en-US" sz="1500" dirty="0"/>
          </a:p>
          <a:p>
            <a:pPr marL="203200" indent="-203200">
              <a:spcAft>
                <a:spcPts val="800"/>
              </a:spcAft>
              <a:buSzPct val="100000"/>
              <a:buChar char="•"/>
            </a:pPr>
            <a:r>
              <a:rPr lang="en-US" sz="1500" dirty="0">
                <a:solidFill>
                  <a:srgbClr val="FFFFFF"/>
                </a:solidFill>
              </a:rPr>
              <a:t>read show ip interface brief</a:t>
            </a:r>
            <a:endParaRPr lang="en-US" sz="1500" dirty="0"/>
          </a:p>
          <a:p>
            <a:pPr marL="203200" indent="-203200">
              <a:spcAft>
                <a:spcPts val="800"/>
              </a:spcAft>
              <a:buSzPct val="100000"/>
              <a:buChar char="•"/>
            </a:pPr>
            <a:r>
              <a:rPr lang="en-US" sz="1500" dirty="0">
                <a:solidFill>
                  <a:srgbClr val="FFFFFF"/>
                </a:solidFill>
              </a:rPr>
              <a:t>give a switch a management IP</a:t>
            </a:r>
            <a:endParaRPr lang="en-US" sz="1500" dirty="0"/>
          </a:p>
          <a:p>
            <a:pPr marL="203200" indent="-203200">
              <a:spcAft>
                <a:spcPts val="800"/>
              </a:spcAft>
              <a:buSzPct val="100000"/>
              <a:buChar char="•"/>
            </a:pPr>
            <a:r>
              <a:rPr lang="en-US" sz="1500" dirty="0">
                <a:solidFill>
                  <a:srgbClr val="FFFFFF"/>
                </a:solidFill>
              </a:rPr>
              <a:t>configure many ports at once</a:t>
            </a:r>
            <a:endParaRPr lang="en-US" sz="1500" dirty="0"/>
          </a:p>
          <a:p>
            <a:pPr marL="203200" indent="-203200">
              <a:spcAft>
                <a:spcPts val="800"/>
              </a:spcAft>
              <a:buSzPct val="100000"/>
              <a:buChar char="•"/>
            </a:pPr>
            <a:r>
              <a:rPr lang="en-US" sz="1500" dirty="0">
                <a:solidFill>
                  <a:srgbClr val="FFFFFF"/>
                </a:solidFill>
              </a:rPr>
              <a:t>set up SSH remote access</a:t>
            </a:r>
            <a:endParaRPr lang="en-US" sz="1500" dirty="0"/>
          </a:p>
        </p:txBody>
      </p:sp>
      <p:sp>
        <p:nvSpPr>
          <p:cNvPr id="8" name="Shape 6"/>
          <p:cNvSpPr/>
          <p:nvPr/>
        </p:nvSpPr>
        <p:spPr>
          <a:xfrm>
            <a:off x="548640" y="5989320"/>
            <a:ext cx="914400" cy="566928"/>
          </a:xfrm>
          <a:prstGeom prst="roundRect">
            <a:avLst>
              <a:gd name="adj" fmla="val 9677"/>
            </a:avLst>
          </a:prstGeom>
          <a:solidFill>
            <a:srgbClr val="FFFFFF"/>
          </a:solidFill>
          <a:ln/>
        </p:spPr>
      </p:sp>
      <p:pic>
        <p:nvPicPr>
          <p:cNvPr id="9" name="Image 0" descr="Kabete National Polytechnic logo">    </p:cNvPr>
          <p:cNvPicPr>
            <a:picLocks noChangeAspect="1"/>
          </p:cNvPicPr>
          <p:nvPr/>
        </p:nvPicPr>
        <p:blipFill>
          <a:blip r:embed="rId1"/>
          <a:stretch>
            <a:fillRect/>
          </a:stretch>
        </p:blipFill>
        <p:spPr>
          <a:xfrm>
            <a:off x="594360" y="6022175"/>
            <a:ext cx="822960" cy="501218"/>
          </a:xfrm>
          <a:prstGeom prst="rect">
            <a:avLst/>
          </a:prstGeom>
        </p:spPr>
      </p:pic>
      <p:pic>
        <p:nvPicPr>
          <p:cNvPr id="10" name="Home button" descr="Home: back to the workbook menu">
            <a:hlinkClick r:id="rId3" tooltip="Back to the workbook menu" action="ppaction://hlinksldjump"/>
          </p:cNvPr>
          <p:cNvPicPr>
            <a:picLocks noChangeAspect="1"/>
          </p:cNvPicPr>
          <p:nvPr/>
        </p:nvPicPr>
        <p:blipFill>
          <a:blip r:embed="rId2"/>
          <a:stretch>
            <a:fillRect/>
          </a:stretch>
        </p:blipFill>
        <p:spPr>
          <a:xfrm>
            <a:off x="11365992" y="6336792"/>
            <a:ext cx="365760" cy="365760"/>
          </a:xfrm>
          <a:prstGeom prst="rect">
            <a:avLst/>
          </a:prstGeom>
        </p:spPr>
      </p:pic>
      <p:sp>
        <p:nvSpPr>
          <p:cNvPr id="25" name="Slide Number Placeholder 0"/>
          <p:cNvSpPr>
            <a:spLocks noGrp="1"/>
          </p:cNvSpPr>
          <p:nvPr>
            <p:ph type="sldNum" sz="quarter" idx="4294967295"/>
          </p:nvPr>
        </p:nvSpPr>
        <p:spPr>
          <a:xfrm>
            <a:off x="10698480" y="6464808"/>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CFE3D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2" type="body" hasCustomPrompt="1"/>
          </p:nvPr>
        </p:nvSpPr>
        <p:spPr>
          <a:xfrm>
            <a:off x="548640" y="274320"/>
            <a:ext cx="9966960" cy="256032"/>
          </a:xfrm>
          <a:prstGeom prst="rect">
            <a:avLst/>
          </a:prstGeom>
          <a:noFill/>
          <a:ln/>
        </p:spPr>
        <p:txBody>
          <a:bodyPr wrap="square" lIns="0" tIns="0" rIns="0" bIns="0" rtlCol="0" anchor="ctr"/>
          <a:lstStyle/>
          <a:p>
            <a:pPr algn="l" indent="0" marL="0">
              <a:buNone/>
            </a:pPr>
            <a:r>
              <a:rPr lang="en-US" sz="1100" b="1" spc="100" kern="0" dirty="0">
                <a:solidFill>
                  <a:schemeClr val="accent2"/>
                </a:solidFill>
              </a:rPr>
              <a:t>03  •  BASIC SET-UP &amp; SSH  •  LAB 1</a:t>
            </a:r>
            <a:endParaRPr lang="en-US" sz="1100" dirty="0"/>
          </a:p>
        </p:txBody>
      </p:sp>
      <p:sp>
        <p:nvSpPr>
          <p:cNvPr id="3" name="Text 1"/>
          <p:cNvSpPr/>
          <p:nvPr>
            <p:ph idx="103" type="title" hasCustomPrompt="1"/>
          </p:nvPr>
        </p:nvSpPr>
        <p:spPr>
          <a:xfrm>
            <a:off x="548640" y="548640"/>
            <a:ext cx="10149840" cy="548640"/>
          </a:xfrm>
          <a:prstGeom prst="rect">
            <a:avLst/>
          </a:prstGeom>
          <a:noFill/>
          <a:ln/>
        </p:spPr>
        <p:txBody>
          <a:bodyPr wrap="square" lIns="0" tIns="0" rIns="0" bIns="0" rtlCol="0" anchor="ctr"/>
          <a:lstStyle/>
          <a:p>
            <a:pPr algn="l" indent="0" marL="0">
              <a:buNone/>
            </a:pPr>
            <a:r>
              <a:rPr lang="en-US" sz="2600" b="1" dirty="0">
                <a:solidFill>
                  <a:schemeClr val="accent1"/>
                </a:solidFill>
              </a:rPr>
              <a:t>How to do the basic set-up on any router or switch (1 of 2)</a:t>
            </a:r>
            <a:endParaRPr lang="en-US" sz="2600" dirty="0"/>
          </a:p>
        </p:txBody>
      </p:sp>
      <p:pic>
        <p:nvPicPr>
          <p:cNvPr id="4" name="Home button" descr="Home: back to the workbook menu">
            <a:hlinkClick r:id="rId2" tooltip="Back to the workbook menu" action="ppaction://hlinksldjump"/>
          </p:cNvPr>
          <p:cNvPicPr>
            <a:picLocks noChangeAspect="1"/>
          </p:cNvPicPr>
          <p:nvPr/>
        </p:nvPicPr>
        <p:blipFill>
          <a:blip r:embed="rId1"/>
          <a:stretch>
            <a:fillRect/>
          </a:stretch>
        </p:blipFill>
        <p:spPr>
          <a:xfrm>
            <a:off x="11365992" y="6336792"/>
            <a:ext cx="365760" cy="365760"/>
          </a:xfrm>
          <a:prstGeom prst="rect">
            <a:avLst/>
          </a:prstGeom>
        </p:spPr>
      </p:pic>
      <p:sp>
        <p:nvSpPr>
          <p:cNvPr id="5" name="Goal"/>
          <p:cNvSpPr txBox="1"/>
          <p:nvPr/>
        </p:nvSpPr>
        <p:spPr>
          <a:xfrm>
            <a:off x="548640" y="1161288"/>
            <a:ext cx="11094415" cy="384048"/>
          </a:xfrm>
          <a:prstGeom prst="rect">
            <a:avLst/>
          </a:prstGeom>
          <a:noFill/>
          <a:ln/>
        </p:spPr>
        <p:txBody>
          <a:bodyPr wrap="square" lIns="0" tIns="0" rIns="0" bIns="0" rtlCol="0" anchor="ctr"/>
          <a:lstStyle/>
          <a:p>
            <a:pPr indent="0" marL="0">
              <a:buNone/>
            </a:pPr>
            <a:r>
              <a:rPr lang="en-US" sz="1400" b="1" dirty="0">
                <a:solidFill>
                  <a:srgbClr val="2B7043"/>
                </a:solidFill>
              </a:rPr>
              <a:t>Goal:  </a:t>
            </a:r>
            <a:r>
              <a:rPr lang="en-US" sz="1400" dirty="0">
                <a:solidFill>
                  <a:srgbClr val="2B2B2B"/>
                </a:solidFill>
              </a:rPr>
              <a:t>Name the device, protect privileged mode and add a legal warning. Do this first on every new device.</a:t>
            </a:r>
            <a:endParaRPr lang="en-US" sz="1400" dirty="0"/>
          </a:p>
        </p:txBody>
      </p:sp>
      <p:sp>
        <p:nvSpPr>
          <p:cNvPr id="6" name="Command header"/>
          <p:cNvSpPr/>
          <p:nvPr/>
        </p:nvSpPr>
        <p:spPr>
          <a:xfrm>
            <a:off x="548640" y="1664208"/>
            <a:ext cx="6153912" cy="310896"/>
          </a:xfrm>
          <a:prstGeom prst="rect">
            <a:avLst/>
          </a:prstGeom>
          <a:solidFill>
            <a:srgbClr val="1B2B22"/>
          </a:solidFill>
          <a:ln/>
        </p:spPr>
        <p:txBody>
          <a:bodyPr wrap="square" lIns="109728" tIns="45720" rIns="109728" bIns="45720" rtlCol="0" anchor="ctr"/>
          <a:lstStyle/>
          <a:p>
            <a:pPr indent="0" marL="0">
              <a:buNone/>
            </a:pPr>
            <a:r>
              <a:rPr lang="en-US" sz="1100" dirty="0">
                <a:solidFill>
                  <a:srgbClr val="E0605A"/>
                </a:solidFill>
              </a:rPr>
              <a:t>●  </a:t>
            </a:r>
            <a:r>
              <a:rPr lang="en-US" sz="1100" dirty="0">
                <a:solidFill>
                  <a:srgbClr val="E8B92E"/>
                </a:solidFill>
              </a:rPr>
              <a:t>●  </a:t>
            </a:r>
            <a:r>
              <a:rPr lang="en-US" sz="1100" dirty="0">
                <a:solidFill>
                  <a:srgbClr val="4CAF50"/>
                </a:solidFill>
              </a:rPr>
              <a:t>●   </a:t>
            </a:r>
            <a:r>
              <a:rPr lang="en-US" sz="1100" b="1" dirty="0">
                <a:solidFill>
                  <a:srgbClr val="C9D6CC"/>
                </a:solidFill>
              </a:rPr>
              <a:t>R1  —  type the white text, then press Enter</a:t>
            </a:r>
            <a:endParaRPr lang="en-US" sz="1100" dirty="0"/>
          </a:p>
        </p:txBody>
      </p:sp>
      <p:sp>
        <p:nvSpPr>
          <p:cNvPr id="7" name="Meaning header"/>
          <p:cNvSpPr/>
          <p:nvPr/>
        </p:nvSpPr>
        <p:spPr>
          <a:xfrm>
            <a:off x="6720840" y="1664208"/>
            <a:ext cx="4922215" cy="310896"/>
          </a:xfrm>
          <a:prstGeom prst="rect">
            <a:avLst/>
          </a:prstGeom>
          <a:solidFill>
            <a:srgbClr val="E8F1EA"/>
          </a:solidFill>
          <a:ln/>
        </p:spPr>
        <p:txBody>
          <a:bodyPr wrap="square" lIns="109728" tIns="45720" rIns="109728" bIns="45720" rtlCol="0" anchor="ctr"/>
          <a:lstStyle/>
          <a:p>
            <a:pPr indent="0" marL="0">
              <a:buNone/>
            </a:pPr>
            <a:r>
              <a:rPr lang="en-US" sz="1200" b="1" dirty="0">
                <a:solidFill>
                  <a:srgbClr val="1E5631"/>
                </a:solidFill>
              </a:rPr>
              <a:t>What it does</a:t>
            </a:r>
            <a:endParaRPr lang="en-US" sz="1200" dirty="0"/>
          </a:p>
        </p:txBody>
      </p:sp>
      <p:sp>
        <p:nvSpPr>
          <p:cNvPr id="8" name="Command 01"/>
          <p:cNvSpPr/>
          <p:nvPr/>
        </p:nvSpPr>
        <p:spPr>
          <a:xfrm>
            <a:off x="548640" y="1993392"/>
            <a:ext cx="6153912" cy="54380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Router&gt; </a:t>
            </a:r>
            <a:r>
              <a:rPr lang="en-US" sz="1200" b="1" dirty="0">
                <a:solidFill>
                  <a:srgbClr val="FFFFFF"/>
                </a:solidFill>
                <a:latin typeface="Courier New" pitchFamily="34" charset="0"/>
                <a:ea typeface="Courier New" pitchFamily="34" charset="-122"/>
                <a:cs typeface="Courier New" pitchFamily="34" charset="-120"/>
              </a:rPr>
              <a:t>enable</a:t>
            </a:r>
            <a:endParaRPr lang="en-US" sz="1200" dirty="0"/>
          </a:p>
        </p:txBody>
      </p:sp>
      <p:sp>
        <p:nvSpPr>
          <p:cNvPr id="9" name="Reveal 01 meaning"/>
          <p:cNvSpPr/>
          <p:nvPr/>
        </p:nvSpPr>
        <p:spPr>
          <a:xfrm>
            <a:off x="6720840" y="1993392"/>
            <a:ext cx="4922215" cy="543809"/>
          </a:xfrm>
          <a:prstGeom prst="rect">
            <a:avLst/>
          </a:prstGeom>
          <a:solidFill>
            <a:srgbClr val="F2F8F3"/>
          </a:solidFill>
          <a:ln/>
        </p:spPr>
        <p:txBody>
          <a:bodyPr wrap="square" lIns="109728" tIns="45720" rIns="109728" bIns="45720" rtlCol="0" anchor="ctr"/>
          <a:lstStyle/>
          <a:p>
            <a:pPr indent="0" marL="0">
              <a:buNone/>
            </a:pPr>
            <a:r>
              <a:rPr lang="en-US" sz="1400" dirty="0">
                <a:solidFill>
                  <a:srgbClr val="2B2B2B"/>
                </a:solidFill>
              </a:rPr>
              <a:t>Move from user mode (</a:t>
            </a:r>
            <a:r>
              <a:rPr lang="en-US" sz="1300" b="1" dirty="0">
                <a:solidFill>
                  <a:srgbClr val="1E5631"/>
                </a:solidFill>
                <a:latin typeface="Courier New" pitchFamily="34" charset="0"/>
                <a:ea typeface="Courier New" pitchFamily="34" charset="-122"/>
                <a:cs typeface="Courier New" pitchFamily="34" charset="-120"/>
              </a:rPr>
              <a:t>&gt;</a:t>
            </a:r>
            <a:r>
              <a:rPr lang="en-US" sz="1400" dirty="0">
                <a:solidFill>
                  <a:srgbClr val="2B2B2B"/>
                </a:solidFill>
              </a:rPr>
              <a:t>) to privileged mode (</a:t>
            </a:r>
            <a:r>
              <a:rPr lang="en-US" sz="1300" b="1" dirty="0">
                <a:solidFill>
                  <a:srgbClr val="1E5631"/>
                </a:solidFill>
                <a:latin typeface="Courier New" pitchFamily="34" charset="0"/>
                <a:ea typeface="Courier New" pitchFamily="34" charset="-122"/>
                <a:cs typeface="Courier New" pitchFamily="34" charset="-120"/>
              </a:rPr>
              <a:t>#</a:t>
            </a:r>
            <a:r>
              <a:rPr lang="en-US" sz="1400" dirty="0">
                <a:solidFill>
                  <a:srgbClr val="2B2B2B"/>
                </a:solidFill>
              </a:rPr>
              <a:t>). Nothing can be configured from </a:t>
            </a:r>
            <a:r>
              <a:rPr lang="en-US" sz="1300" b="1" dirty="0">
                <a:solidFill>
                  <a:srgbClr val="1E5631"/>
                </a:solidFill>
                <a:latin typeface="Courier New" pitchFamily="34" charset="0"/>
                <a:ea typeface="Courier New" pitchFamily="34" charset="-122"/>
                <a:cs typeface="Courier New" pitchFamily="34" charset="-120"/>
              </a:rPr>
              <a:t>&gt;</a:t>
            </a:r>
            <a:r>
              <a:rPr lang="en-US" sz="1400" dirty="0">
                <a:solidFill>
                  <a:srgbClr val="2B2B2B"/>
                </a:solidFill>
              </a:rPr>
              <a:t>.</a:t>
            </a:r>
            <a:endParaRPr lang="en-US" sz="1400" dirty="0"/>
          </a:p>
        </p:txBody>
      </p:sp>
      <p:sp>
        <p:nvSpPr>
          <p:cNvPr id="10" name="Command 02"/>
          <p:cNvSpPr/>
          <p:nvPr/>
        </p:nvSpPr>
        <p:spPr>
          <a:xfrm>
            <a:off x="548640" y="2555489"/>
            <a:ext cx="6153912" cy="54380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Router# </a:t>
            </a:r>
            <a:r>
              <a:rPr lang="en-US" sz="1200" b="1" dirty="0">
                <a:solidFill>
                  <a:srgbClr val="FFFFFF"/>
                </a:solidFill>
                <a:latin typeface="Courier New" pitchFamily="34" charset="0"/>
                <a:ea typeface="Courier New" pitchFamily="34" charset="-122"/>
                <a:cs typeface="Courier New" pitchFamily="34" charset="-120"/>
              </a:rPr>
              <a:t>configure terminal</a:t>
            </a:r>
            <a:endParaRPr lang="en-US" sz="1200" dirty="0"/>
          </a:p>
        </p:txBody>
      </p:sp>
      <p:sp>
        <p:nvSpPr>
          <p:cNvPr id="11" name="Reveal 02 meaning"/>
          <p:cNvSpPr/>
          <p:nvPr/>
        </p:nvSpPr>
        <p:spPr>
          <a:xfrm>
            <a:off x="6720840" y="2555489"/>
            <a:ext cx="4922215" cy="543809"/>
          </a:xfrm>
          <a:prstGeom prst="rect">
            <a:avLst/>
          </a:prstGeom>
          <a:solidFill>
            <a:srgbClr val="FFFFFF"/>
          </a:solidFill>
          <a:ln/>
        </p:spPr>
        <p:txBody>
          <a:bodyPr wrap="square" lIns="109728" tIns="45720" rIns="109728" bIns="45720" rtlCol="0" anchor="ctr"/>
          <a:lstStyle/>
          <a:p>
            <a:pPr indent="0" marL="0">
              <a:buNone/>
            </a:pPr>
            <a:r>
              <a:rPr lang="en-US" sz="1400" dirty="0">
                <a:solidFill>
                  <a:srgbClr val="2B2B2B"/>
                </a:solidFill>
              </a:rPr>
              <a:t>Enter global configuration mode. From now on, each command changes the live configuration at once.</a:t>
            </a:r>
            <a:endParaRPr lang="en-US" sz="1400" dirty="0"/>
          </a:p>
        </p:txBody>
      </p:sp>
      <p:sp>
        <p:nvSpPr>
          <p:cNvPr id="12" name="Command 03"/>
          <p:cNvSpPr/>
          <p:nvPr/>
        </p:nvSpPr>
        <p:spPr>
          <a:xfrm>
            <a:off x="548640" y="3117586"/>
            <a:ext cx="6153912" cy="54380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Router(config)# </a:t>
            </a:r>
            <a:r>
              <a:rPr lang="en-US" sz="1200" b="1" dirty="0">
                <a:solidFill>
                  <a:srgbClr val="FFFFFF"/>
                </a:solidFill>
                <a:latin typeface="Courier New" pitchFamily="34" charset="0"/>
                <a:ea typeface="Courier New" pitchFamily="34" charset="-122"/>
                <a:cs typeface="Courier New" pitchFamily="34" charset="-120"/>
              </a:rPr>
              <a:t>hostname R1</a:t>
            </a:r>
            <a:endParaRPr lang="en-US" sz="1200" dirty="0"/>
          </a:p>
        </p:txBody>
      </p:sp>
      <p:sp>
        <p:nvSpPr>
          <p:cNvPr id="13" name="Reveal 03 meaning"/>
          <p:cNvSpPr/>
          <p:nvPr/>
        </p:nvSpPr>
        <p:spPr>
          <a:xfrm>
            <a:off x="6720840" y="3117586"/>
            <a:ext cx="4922215" cy="543809"/>
          </a:xfrm>
          <a:prstGeom prst="rect">
            <a:avLst/>
          </a:prstGeom>
          <a:solidFill>
            <a:srgbClr val="F2F8F3"/>
          </a:solidFill>
          <a:ln/>
        </p:spPr>
        <p:txBody>
          <a:bodyPr wrap="square" lIns="109728" tIns="45720" rIns="109728" bIns="45720" rtlCol="0" anchor="ctr"/>
          <a:lstStyle/>
          <a:p>
            <a:pPr indent="0" marL="0">
              <a:buNone/>
            </a:pPr>
            <a:r>
              <a:rPr lang="en-US" sz="1400" dirty="0">
                <a:solidFill>
                  <a:srgbClr val="2B2B2B"/>
                </a:solidFill>
              </a:rPr>
              <a:t>Name the device. The prompt becomes </a:t>
            </a:r>
            <a:r>
              <a:rPr lang="en-US" sz="1300" b="1" dirty="0">
                <a:solidFill>
                  <a:srgbClr val="1E5631"/>
                </a:solidFill>
                <a:latin typeface="Courier New" pitchFamily="34" charset="0"/>
                <a:ea typeface="Courier New" pitchFamily="34" charset="-122"/>
                <a:cs typeface="Courier New" pitchFamily="34" charset="-120"/>
              </a:rPr>
              <a:t>R1(config)#</a:t>
            </a:r>
            <a:r>
              <a:rPr lang="en-US" sz="1400" dirty="0">
                <a:solidFill>
                  <a:srgbClr val="2B2B2B"/>
                </a:solidFill>
              </a:rPr>
              <a:t>, so you always know which device you are on.</a:t>
            </a:r>
            <a:endParaRPr lang="en-US" sz="1400" dirty="0"/>
          </a:p>
        </p:txBody>
      </p:sp>
      <p:sp>
        <p:nvSpPr>
          <p:cNvPr id="14" name="Command 04"/>
          <p:cNvSpPr/>
          <p:nvPr/>
        </p:nvSpPr>
        <p:spPr>
          <a:xfrm>
            <a:off x="548640" y="3679683"/>
            <a:ext cx="6153912" cy="54380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R1(config)# </a:t>
            </a:r>
            <a:r>
              <a:rPr lang="en-US" sz="1200" b="1" dirty="0">
                <a:solidFill>
                  <a:srgbClr val="FFFFFF"/>
                </a:solidFill>
                <a:latin typeface="Courier New" pitchFamily="34" charset="0"/>
                <a:ea typeface="Courier New" pitchFamily="34" charset="-122"/>
                <a:cs typeface="Courier New" pitchFamily="34" charset="-120"/>
              </a:rPr>
              <a:t>no ip domain-lookup</a:t>
            </a:r>
            <a:endParaRPr lang="en-US" sz="1200" dirty="0"/>
          </a:p>
        </p:txBody>
      </p:sp>
      <p:sp>
        <p:nvSpPr>
          <p:cNvPr id="15" name="Reveal 04 meaning"/>
          <p:cNvSpPr/>
          <p:nvPr/>
        </p:nvSpPr>
        <p:spPr>
          <a:xfrm>
            <a:off x="6720840" y="3679683"/>
            <a:ext cx="4922215" cy="543809"/>
          </a:xfrm>
          <a:prstGeom prst="rect">
            <a:avLst/>
          </a:prstGeom>
          <a:solidFill>
            <a:srgbClr val="FFFFFF"/>
          </a:solidFill>
          <a:ln/>
        </p:spPr>
        <p:txBody>
          <a:bodyPr wrap="square" lIns="109728" tIns="45720" rIns="109728" bIns="45720" rtlCol="0" anchor="ctr"/>
          <a:lstStyle/>
          <a:p>
            <a:pPr indent="0" marL="0">
              <a:buNone/>
            </a:pPr>
            <a:r>
              <a:rPr lang="en-US" sz="1400" dirty="0">
                <a:solidFill>
                  <a:srgbClr val="2B2B2B"/>
                </a:solidFill>
              </a:rPr>
              <a:t>Stop IOS treating a typo as a computer name to look up (it freezes the screen for about 30 seconds).</a:t>
            </a:r>
            <a:endParaRPr lang="en-US" sz="1400" dirty="0"/>
          </a:p>
        </p:txBody>
      </p:sp>
      <p:sp>
        <p:nvSpPr>
          <p:cNvPr id="16" name="Command 05"/>
          <p:cNvSpPr/>
          <p:nvPr/>
        </p:nvSpPr>
        <p:spPr>
          <a:xfrm>
            <a:off x="548640" y="4241780"/>
            <a:ext cx="6153912" cy="54380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R1(config)# </a:t>
            </a:r>
            <a:r>
              <a:rPr lang="en-US" sz="1200" b="1" dirty="0">
                <a:solidFill>
                  <a:srgbClr val="FFFFFF"/>
                </a:solidFill>
                <a:latin typeface="Courier New" pitchFamily="34" charset="0"/>
                <a:ea typeface="Courier New" pitchFamily="34" charset="-122"/>
                <a:cs typeface="Courier New" pitchFamily="34" charset="-120"/>
              </a:rPr>
              <a:t>enable secret Kabete@2026</a:t>
            </a:r>
            <a:endParaRPr lang="en-US" sz="1200" dirty="0"/>
          </a:p>
        </p:txBody>
      </p:sp>
      <p:sp>
        <p:nvSpPr>
          <p:cNvPr id="17" name="Reveal 05 meaning"/>
          <p:cNvSpPr/>
          <p:nvPr/>
        </p:nvSpPr>
        <p:spPr>
          <a:xfrm>
            <a:off x="6720840" y="4241780"/>
            <a:ext cx="4922215" cy="543809"/>
          </a:xfrm>
          <a:prstGeom prst="rect">
            <a:avLst/>
          </a:prstGeom>
          <a:solidFill>
            <a:srgbClr val="F2F8F3"/>
          </a:solidFill>
          <a:ln/>
        </p:spPr>
        <p:txBody>
          <a:bodyPr wrap="square" lIns="109728" tIns="45720" rIns="109728" bIns="45720" rtlCol="0" anchor="ctr"/>
          <a:lstStyle/>
          <a:p>
            <a:pPr indent="0" marL="0">
              <a:buNone/>
            </a:pPr>
            <a:r>
              <a:rPr lang="en-US" sz="1400" dirty="0">
                <a:solidFill>
                  <a:srgbClr val="2B2B2B"/>
                </a:solidFill>
              </a:rPr>
              <a:t>The password for </a:t>
            </a:r>
            <a:r>
              <a:rPr lang="en-US" sz="1300" b="1" dirty="0">
                <a:solidFill>
                  <a:srgbClr val="1E5631"/>
                </a:solidFill>
                <a:latin typeface="Courier New" pitchFamily="34" charset="0"/>
                <a:ea typeface="Courier New" pitchFamily="34" charset="-122"/>
                <a:cs typeface="Courier New" pitchFamily="34" charset="-120"/>
              </a:rPr>
              <a:t>enable</a:t>
            </a:r>
            <a:r>
              <a:rPr lang="en-US" sz="1400" dirty="0">
                <a:solidFill>
                  <a:srgbClr val="2B2B2B"/>
                </a:solidFill>
              </a:rPr>
              <a:t>, stored as a secure hash. Never use the old </a:t>
            </a:r>
            <a:r>
              <a:rPr lang="en-US" sz="1300" b="1" dirty="0">
                <a:solidFill>
                  <a:srgbClr val="1E5631"/>
                </a:solidFill>
                <a:latin typeface="Courier New" pitchFamily="34" charset="0"/>
                <a:ea typeface="Courier New" pitchFamily="34" charset="-122"/>
                <a:cs typeface="Courier New" pitchFamily="34" charset="-120"/>
              </a:rPr>
              <a:t>enable password</a:t>
            </a:r>
            <a:r>
              <a:rPr lang="en-US" sz="1400" dirty="0">
                <a:solidFill>
                  <a:srgbClr val="2B2B2B"/>
                </a:solidFill>
              </a:rPr>
              <a:t> — it is stored as plain text.</a:t>
            </a:r>
            <a:endParaRPr lang="en-US" sz="1400" dirty="0"/>
          </a:p>
        </p:txBody>
      </p:sp>
      <p:sp>
        <p:nvSpPr>
          <p:cNvPr id="18" name="Command 06"/>
          <p:cNvSpPr/>
          <p:nvPr/>
        </p:nvSpPr>
        <p:spPr>
          <a:xfrm>
            <a:off x="548640" y="4803877"/>
            <a:ext cx="6153912" cy="54380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R1(config)# </a:t>
            </a:r>
            <a:r>
              <a:rPr lang="en-US" sz="1200" b="1" dirty="0">
                <a:solidFill>
                  <a:srgbClr val="FFFFFF"/>
                </a:solidFill>
                <a:latin typeface="Courier New" pitchFamily="34" charset="0"/>
                <a:ea typeface="Courier New" pitchFamily="34" charset="-122"/>
                <a:cs typeface="Courier New" pitchFamily="34" charset="-120"/>
              </a:rPr>
              <a:t>banner motd # Authorised access only! #</a:t>
            </a:r>
            <a:endParaRPr lang="en-US" sz="1200" dirty="0"/>
          </a:p>
        </p:txBody>
      </p:sp>
      <p:sp>
        <p:nvSpPr>
          <p:cNvPr id="19" name="Reveal 06 meaning"/>
          <p:cNvSpPr/>
          <p:nvPr/>
        </p:nvSpPr>
        <p:spPr>
          <a:xfrm>
            <a:off x="6720840" y="4803877"/>
            <a:ext cx="4922215" cy="543809"/>
          </a:xfrm>
          <a:prstGeom prst="rect">
            <a:avLst/>
          </a:prstGeom>
          <a:solidFill>
            <a:srgbClr val="FFFFFF"/>
          </a:solidFill>
          <a:ln/>
        </p:spPr>
        <p:txBody>
          <a:bodyPr wrap="square" lIns="109728" tIns="45720" rIns="109728" bIns="45720" rtlCol="0" anchor="ctr"/>
          <a:lstStyle/>
          <a:p>
            <a:pPr indent="0" marL="0">
              <a:buNone/>
            </a:pPr>
            <a:r>
              <a:rPr lang="en-US" sz="1400" dirty="0">
                <a:solidFill>
                  <a:srgbClr val="2B2B2B"/>
                </a:solidFill>
              </a:rPr>
              <a:t>A legal warning shown to everyone who connects. The </a:t>
            </a:r>
            <a:r>
              <a:rPr lang="en-US" sz="1300" b="1" dirty="0">
                <a:solidFill>
                  <a:srgbClr val="1E5631"/>
                </a:solidFill>
                <a:latin typeface="Courier New" pitchFamily="34" charset="0"/>
                <a:ea typeface="Courier New" pitchFamily="34" charset="-122"/>
                <a:cs typeface="Courier New" pitchFamily="34" charset="-120"/>
              </a:rPr>
              <a:t>#</a:t>
            </a:r>
            <a:r>
              <a:rPr lang="en-US" sz="1400" dirty="0">
                <a:solidFill>
                  <a:srgbClr val="2B2B2B"/>
                </a:solidFill>
              </a:rPr>
              <a:t> signs mark where the message starts and ends.</a:t>
            </a:r>
            <a:endParaRPr lang="en-US" sz="1400" dirty="0"/>
          </a:p>
        </p:txBody>
      </p:sp>
      <p:sp>
        <p:nvSpPr>
          <p:cNvPr id="20" name="Reveal 99 check box"/>
          <p:cNvSpPr/>
          <p:nvPr/>
        </p:nvSpPr>
        <p:spPr>
          <a:xfrm>
            <a:off x="548640" y="5504688"/>
            <a:ext cx="5410048" cy="749808"/>
          </a:xfrm>
          <a:prstGeom prst="roundRect">
            <a:avLst>
              <a:gd name="adj" fmla="val 9756"/>
            </a:avLst>
          </a:prstGeom>
          <a:solidFill>
            <a:srgbClr val="E8F1EA"/>
          </a:solidFill>
          <a:ln w="12700">
            <a:solidFill>
              <a:srgbClr val="B7C9BA"/>
            </a:solidFill>
            <a:prstDash val="solid"/>
          </a:ln>
        </p:spPr>
      </p:sp>
      <p:pic>
        <p:nvPicPr>
          <p:cNvPr id="21" name="Reveal 99 check icon" descr="Check it:">    </p:cNvPr>
          <p:cNvPicPr>
            <a:picLocks noChangeAspect="1"/>
          </p:cNvPicPr>
          <p:nvPr/>
        </p:nvPicPr>
        <p:blipFill>
          <a:blip r:embed="rId3"/>
          <a:stretch>
            <a:fillRect/>
          </a:stretch>
        </p:blipFill>
        <p:spPr>
          <a:xfrm>
            <a:off x="694944" y="5733288"/>
            <a:ext cx="292608" cy="292608"/>
          </a:xfrm>
          <a:prstGeom prst="rect">
            <a:avLst/>
          </a:prstGeom>
        </p:spPr>
      </p:pic>
      <p:sp>
        <p:nvSpPr>
          <p:cNvPr id="22" name="Reveal 99 check text"/>
          <p:cNvSpPr txBox="1"/>
          <p:nvPr/>
        </p:nvSpPr>
        <p:spPr>
          <a:xfrm>
            <a:off x="1097280" y="5541264"/>
            <a:ext cx="4751680" cy="676656"/>
          </a:xfrm>
          <a:prstGeom prst="rect">
            <a:avLst/>
          </a:prstGeom>
          <a:noFill/>
          <a:ln/>
        </p:spPr>
        <p:txBody>
          <a:bodyPr wrap="square" lIns="0" tIns="0" rIns="0" bIns="0" rtlCol="0" anchor="ctr"/>
          <a:lstStyle/>
          <a:p>
            <a:pPr indent="0" marL="0">
              <a:buNone/>
            </a:pPr>
            <a:r>
              <a:rPr lang="en-US" sz="1400" b="1" dirty="0">
                <a:solidFill>
                  <a:srgbClr val="1E5631"/>
                </a:solidFill>
              </a:rPr>
              <a:t>Check it:  </a:t>
            </a:r>
            <a:r>
              <a:rPr lang="en-US" sz="1400" dirty="0">
                <a:solidFill>
                  <a:srgbClr val="2B2B2B"/>
                </a:solidFill>
              </a:rPr>
              <a:t>Type </a:t>
            </a:r>
            <a:r>
              <a:rPr lang="en-US" sz="1300" b="1" dirty="0">
                <a:solidFill>
                  <a:srgbClr val="1E5631"/>
                </a:solidFill>
                <a:latin typeface="Courier New" pitchFamily="34" charset="0"/>
                <a:ea typeface="Courier New" pitchFamily="34" charset="-122"/>
                <a:cs typeface="Courier New" pitchFamily="34" charset="-120"/>
              </a:rPr>
              <a:t>end</a:t>
            </a:r>
            <a:r>
              <a:rPr lang="en-US" sz="1400" dirty="0">
                <a:solidFill>
                  <a:srgbClr val="2B2B2B"/>
                </a:solidFill>
              </a:rPr>
              <a:t>, then </a:t>
            </a:r>
            <a:r>
              <a:rPr lang="en-US" sz="1300" b="1" dirty="0">
                <a:solidFill>
                  <a:srgbClr val="1E5631"/>
                </a:solidFill>
                <a:latin typeface="Courier New" pitchFamily="34" charset="0"/>
                <a:ea typeface="Courier New" pitchFamily="34" charset="-122"/>
                <a:cs typeface="Courier New" pitchFamily="34" charset="-120"/>
              </a:rPr>
              <a:t>disable</a:t>
            </a:r>
            <a:r>
              <a:rPr lang="en-US" sz="1400" dirty="0">
                <a:solidFill>
                  <a:srgbClr val="2B2B2B"/>
                </a:solidFill>
              </a:rPr>
              <a:t>, then </a:t>
            </a:r>
            <a:r>
              <a:rPr lang="en-US" sz="1300" b="1" dirty="0">
                <a:solidFill>
                  <a:srgbClr val="1E5631"/>
                </a:solidFill>
                <a:latin typeface="Courier New" pitchFamily="34" charset="0"/>
                <a:ea typeface="Courier New" pitchFamily="34" charset="-122"/>
                <a:cs typeface="Courier New" pitchFamily="34" charset="-120"/>
              </a:rPr>
              <a:t>enable</a:t>
            </a:r>
            <a:r>
              <a:rPr lang="en-US" sz="1400" dirty="0">
                <a:solidFill>
                  <a:srgbClr val="2B2B2B"/>
                </a:solidFill>
              </a:rPr>
              <a:t> again: R1 must now ask for the password.</a:t>
            </a:r>
            <a:endParaRPr lang="en-US" sz="1400" dirty="0"/>
          </a:p>
        </p:txBody>
      </p:sp>
      <p:sp>
        <p:nvSpPr>
          <p:cNvPr id="23" name="Reveal 99 watch box"/>
          <p:cNvSpPr/>
          <p:nvPr/>
        </p:nvSpPr>
        <p:spPr>
          <a:xfrm>
            <a:off x="6233008" y="5504688"/>
            <a:ext cx="5410048" cy="749808"/>
          </a:xfrm>
          <a:prstGeom prst="roundRect">
            <a:avLst>
              <a:gd name="adj" fmla="val 9756"/>
            </a:avLst>
          </a:prstGeom>
          <a:solidFill>
            <a:srgbClr val="FBEAEA"/>
          </a:solidFill>
          <a:ln w="12700">
            <a:solidFill>
              <a:srgbClr val="E9B8B5"/>
            </a:solidFill>
            <a:prstDash val="solid"/>
          </a:ln>
        </p:spPr>
      </p:sp>
      <p:pic>
        <p:nvPicPr>
          <p:cNvPr id="24" name="Reveal 99 watch icon" descr="Watch out:">    </p:cNvPr>
          <p:cNvPicPr>
            <a:picLocks noChangeAspect="1"/>
          </p:cNvPicPr>
          <p:nvPr/>
        </p:nvPicPr>
        <p:blipFill>
          <a:blip r:embed="rId4"/>
          <a:stretch>
            <a:fillRect/>
          </a:stretch>
        </p:blipFill>
        <p:spPr>
          <a:xfrm>
            <a:off x="6379312" y="5733288"/>
            <a:ext cx="292608" cy="292608"/>
          </a:xfrm>
          <a:prstGeom prst="rect">
            <a:avLst/>
          </a:prstGeom>
        </p:spPr>
      </p:pic>
      <p:sp>
        <p:nvSpPr>
          <p:cNvPr id="25" name="Reveal 99 watch text"/>
          <p:cNvSpPr txBox="1"/>
          <p:nvPr/>
        </p:nvSpPr>
        <p:spPr>
          <a:xfrm>
            <a:off x="6781648" y="5541264"/>
            <a:ext cx="4751680" cy="676656"/>
          </a:xfrm>
          <a:prstGeom prst="rect">
            <a:avLst/>
          </a:prstGeom>
          <a:noFill/>
          <a:ln/>
        </p:spPr>
        <p:txBody>
          <a:bodyPr wrap="square" lIns="0" tIns="0" rIns="0" bIns="0" rtlCol="0" anchor="ctr"/>
          <a:lstStyle/>
          <a:p>
            <a:pPr indent="0" marL="0">
              <a:buNone/>
            </a:pPr>
            <a:r>
              <a:rPr lang="en-US" sz="1400" b="1" dirty="0">
                <a:solidFill>
                  <a:srgbClr val="8B1A1A"/>
                </a:solidFill>
              </a:rPr>
              <a:t>Watch out:  </a:t>
            </a:r>
            <a:r>
              <a:rPr lang="en-US" sz="1400" dirty="0">
                <a:solidFill>
                  <a:srgbClr val="2B2B2B"/>
                </a:solidFill>
              </a:rPr>
              <a:t>If your message contains #, use another start/end sign, e.g. </a:t>
            </a:r>
            <a:r>
              <a:rPr lang="en-US" sz="1300" b="1" dirty="0">
                <a:solidFill>
                  <a:srgbClr val="1E5631"/>
                </a:solidFill>
                <a:latin typeface="Courier New" pitchFamily="34" charset="0"/>
                <a:ea typeface="Courier New" pitchFamily="34" charset="-122"/>
                <a:cs typeface="Courier New" pitchFamily="34" charset="-120"/>
              </a:rPr>
              <a:t>banner motd $ … $</a:t>
            </a:r>
            <a:r>
              <a:rPr lang="en-US" sz="1400" dirty="0">
                <a:solidFill>
                  <a:srgbClr val="2B2B2B"/>
                </a:solidFill>
              </a:rPr>
              <a:t>.</a:t>
            </a:r>
            <a:endParaRPr lang="en-US" sz="1400" dirty="0"/>
          </a:p>
        </p:txBody>
      </p:sp>
      <p:sp>
        <p:nvSpPr>
          <p:cNvPr id="26" name="Slide Number Placeholder 0"/>
          <p:cNvSpPr>
            <a:spLocks noGrp="1"/>
          </p:cNvSpPr>
          <p:nvPr>
            <p:ph type="sldNum" sz="quarter" idx="4294967295"/>
          </p:nvPr>
        </p:nvSpPr>
        <p:spPr>
          <a:xfrm>
            <a:off x="10698480" y="6464808"/>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r"/>
            <a:fld id="{F7021451-1387-4CA6-816F-3879F97B5CBC}" type="slidenum">
              <a:rPr b="0" lang="en-US"/>
              <a:t>16</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4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0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400"/>
                                        <p:tgtEl>
                                          <p:spTgt spid="1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00"/>
                                        <p:tgtEl>
                                          <p:spTgt spid="20"/>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00"/>
                                        <p:tgtEl>
                                          <p:spTgt spid="21"/>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2"/>
                                        </p:tgtEl>
                                        <p:attrNameLst>
                                          <p:attrName>style.visibility</p:attrName>
                                        </p:attrNameLst>
                                      </p:cBhvr>
                                      <p:to>
                                        <p:strVal val="visible"/>
                                      </p:to>
                                    </p:set>
                                    <p:animEffect transition="in" filter="fade">
                                      <p:cBhvr>
                                        <p:cTn id="43" dur="400"/>
                                        <p:tgtEl>
                                          <p:spTgt spid="22"/>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3"/>
                                        </p:tgtEl>
                                        <p:attrNameLst>
                                          <p:attrName>style.visibility</p:attrName>
                                        </p:attrNameLst>
                                      </p:cBhvr>
                                      <p:to>
                                        <p:strVal val="visible"/>
                                      </p:to>
                                    </p:set>
                                    <p:animEffect transition="in" filter="fade">
                                      <p:cBhvr>
                                        <p:cTn id="46" dur="400"/>
                                        <p:tgtEl>
                                          <p:spTgt spid="23"/>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4"/>
                                        </p:tgtEl>
                                        <p:attrNameLst>
                                          <p:attrName>style.visibility</p:attrName>
                                        </p:attrNameLst>
                                      </p:cBhvr>
                                      <p:to>
                                        <p:strVal val="visible"/>
                                      </p:to>
                                    </p:set>
                                    <p:animEffect transition="in" filter="fade">
                                      <p:cBhvr>
                                        <p:cTn id="49" dur="400"/>
                                        <p:tgtEl>
                                          <p:spTgt spid="24"/>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fade">
                                      <p:cBhvr>
                                        <p:cTn id="52"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3" grpId="0" animBg="1"/>
      <p:bldP spid="15" grpId="0" animBg="1"/>
      <p:bldP spid="17" grpId="0" animBg="1"/>
      <p:bldP spid="19" grpId="0" animBg="1"/>
      <p:bldP spid="20" grpId="0" animBg="1"/>
      <p:bldP spid="22" grpId="0" animBg="1"/>
      <p:bldP spid="23" grpId="0" animBg="1"/>
      <p:bldP spid="2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2" type="body" hasCustomPrompt="1"/>
          </p:nvPr>
        </p:nvSpPr>
        <p:spPr>
          <a:xfrm>
            <a:off x="548640" y="274320"/>
            <a:ext cx="9966960" cy="256032"/>
          </a:xfrm>
          <a:prstGeom prst="rect">
            <a:avLst/>
          </a:prstGeom>
          <a:noFill/>
          <a:ln/>
        </p:spPr>
        <p:txBody>
          <a:bodyPr wrap="square" lIns="0" tIns="0" rIns="0" bIns="0" rtlCol="0" anchor="ctr"/>
          <a:lstStyle/>
          <a:p>
            <a:pPr algn="l" indent="0" marL="0">
              <a:buNone/>
            </a:pPr>
            <a:r>
              <a:rPr lang="en-US" sz="1100" b="1" spc="100" kern="0" dirty="0">
                <a:solidFill>
                  <a:schemeClr val="accent2"/>
                </a:solidFill>
              </a:rPr>
              <a:t>03  •  BASIC SET-UP &amp; SSH  •  LAB 1</a:t>
            </a:r>
            <a:endParaRPr lang="en-US" sz="1100" dirty="0"/>
          </a:p>
        </p:txBody>
      </p:sp>
      <p:sp>
        <p:nvSpPr>
          <p:cNvPr id="3" name="Text 1"/>
          <p:cNvSpPr/>
          <p:nvPr>
            <p:ph idx="103" type="title" hasCustomPrompt="1"/>
          </p:nvPr>
        </p:nvSpPr>
        <p:spPr>
          <a:xfrm>
            <a:off x="548640" y="548640"/>
            <a:ext cx="10149840" cy="548640"/>
          </a:xfrm>
          <a:prstGeom prst="rect">
            <a:avLst/>
          </a:prstGeom>
          <a:noFill/>
          <a:ln/>
        </p:spPr>
        <p:txBody>
          <a:bodyPr wrap="square" lIns="0" tIns="0" rIns="0" bIns="0" rtlCol="0" anchor="ctr"/>
          <a:lstStyle/>
          <a:p>
            <a:pPr algn="l" indent="0" marL="0">
              <a:buNone/>
            </a:pPr>
            <a:r>
              <a:rPr lang="en-US" sz="2600" b="1" dirty="0">
                <a:solidFill>
                  <a:schemeClr val="accent1"/>
                </a:solidFill>
              </a:rPr>
              <a:t>How to do the basic set-up on any router or switch (2 of 2)</a:t>
            </a:r>
            <a:endParaRPr lang="en-US" sz="2600" dirty="0"/>
          </a:p>
        </p:txBody>
      </p:sp>
      <p:pic>
        <p:nvPicPr>
          <p:cNvPr id="4" name="Home button" descr="Home: back to the workbook menu">
            <a:hlinkClick r:id="rId2" tooltip="Back to the workbook menu" action="ppaction://hlinksldjump"/>
          </p:cNvPr>
          <p:cNvPicPr>
            <a:picLocks noChangeAspect="1"/>
          </p:cNvPicPr>
          <p:nvPr/>
        </p:nvPicPr>
        <p:blipFill>
          <a:blip r:embed="rId1"/>
          <a:stretch>
            <a:fillRect/>
          </a:stretch>
        </p:blipFill>
        <p:spPr>
          <a:xfrm>
            <a:off x="11365992" y="6336792"/>
            <a:ext cx="365760" cy="365760"/>
          </a:xfrm>
          <a:prstGeom prst="rect">
            <a:avLst/>
          </a:prstGeom>
        </p:spPr>
      </p:pic>
      <p:sp>
        <p:nvSpPr>
          <p:cNvPr id="5" name="Goal"/>
          <p:cNvSpPr txBox="1"/>
          <p:nvPr/>
        </p:nvSpPr>
        <p:spPr>
          <a:xfrm>
            <a:off x="548640" y="1161288"/>
            <a:ext cx="11094415" cy="384048"/>
          </a:xfrm>
          <a:prstGeom prst="rect">
            <a:avLst/>
          </a:prstGeom>
          <a:noFill/>
          <a:ln/>
        </p:spPr>
        <p:txBody>
          <a:bodyPr wrap="square" lIns="0" tIns="0" rIns="0" bIns="0" rtlCol="0" anchor="ctr"/>
          <a:lstStyle/>
          <a:p>
            <a:pPr indent="0" marL="0">
              <a:buNone/>
            </a:pPr>
            <a:r>
              <a:rPr lang="en-US" sz="1400" b="1" dirty="0">
                <a:solidFill>
                  <a:srgbClr val="2B7043"/>
                </a:solidFill>
              </a:rPr>
              <a:t>Goal:  </a:t>
            </a:r>
            <a:r>
              <a:rPr lang="en-US" sz="1400" dirty="0">
                <a:solidFill>
                  <a:srgbClr val="2B2B2B"/>
                </a:solidFill>
              </a:rPr>
              <a:t>Lock the console port, keep messages tidy, hide passwords and save. The same commands work on a switch.</a:t>
            </a:r>
            <a:endParaRPr lang="en-US" sz="1400" dirty="0"/>
          </a:p>
        </p:txBody>
      </p:sp>
      <p:sp>
        <p:nvSpPr>
          <p:cNvPr id="6" name="Command header"/>
          <p:cNvSpPr/>
          <p:nvPr/>
        </p:nvSpPr>
        <p:spPr>
          <a:xfrm>
            <a:off x="548640" y="1664208"/>
            <a:ext cx="6153912" cy="310896"/>
          </a:xfrm>
          <a:prstGeom prst="rect">
            <a:avLst/>
          </a:prstGeom>
          <a:solidFill>
            <a:srgbClr val="1B2B22"/>
          </a:solidFill>
          <a:ln/>
        </p:spPr>
        <p:txBody>
          <a:bodyPr wrap="square" lIns="109728" tIns="45720" rIns="109728" bIns="45720" rtlCol="0" anchor="ctr"/>
          <a:lstStyle/>
          <a:p>
            <a:pPr indent="0" marL="0">
              <a:buNone/>
            </a:pPr>
            <a:r>
              <a:rPr lang="en-US" sz="1100" dirty="0">
                <a:solidFill>
                  <a:srgbClr val="E0605A"/>
                </a:solidFill>
              </a:rPr>
              <a:t>●  </a:t>
            </a:r>
            <a:r>
              <a:rPr lang="en-US" sz="1100" dirty="0">
                <a:solidFill>
                  <a:srgbClr val="E8B92E"/>
                </a:solidFill>
              </a:rPr>
              <a:t>●  </a:t>
            </a:r>
            <a:r>
              <a:rPr lang="en-US" sz="1100" dirty="0">
                <a:solidFill>
                  <a:srgbClr val="4CAF50"/>
                </a:solidFill>
              </a:rPr>
              <a:t>●   </a:t>
            </a:r>
            <a:r>
              <a:rPr lang="en-US" sz="1100" b="1" dirty="0">
                <a:solidFill>
                  <a:srgbClr val="C9D6CC"/>
                </a:solidFill>
              </a:rPr>
              <a:t>R1  —  type the white text, then press Enter</a:t>
            </a:r>
            <a:endParaRPr lang="en-US" sz="1100" dirty="0"/>
          </a:p>
        </p:txBody>
      </p:sp>
      <p:sp>
        <p:nvSpPr>
          <p:cNvPr id="7" name="Meaning header"/>
          <p:cNvSpPr/>
          <p:nvPr/>
        </p:nvSpPr>
        <p:spPr>
          <a:xfrm>
            <a:off x="6720840" y="1664208"/>
            <a:ext cx="4922215" cy="310896"/>
          </a:xfrm>
          <a:prstGeom prst="rect">
            <a:avLst/>
          </a:prstGeom>
          <a:solidFill>
            <a:srgbClr val="E8F1EA"/>
          </a:solidFill>
          <a:ln/>
        </p:spPr>
        <p:txBody>
          <a:bodyPr wrap="square" lIns="109728" tIns="45720" rIns="109728" bIns="45720" rtlCol="0" anchor="ctr"/>
          <a:lstStyle/>
          <a:p>
            <a:pPr indent="0" marL="0">
              <a:buNone/>
            </a:pPr>
            <a:r>
              <a:rPr lang="en-US" sz="1200" b="1" dirty="0">
                <a:solidFill>
                  <a:srgbClr val="1E5631"/>
                </a:solidFill>
              </a:rPr>
              <a:t>What it does</a:t>
            </a:r>
            <a:endParaRPr lang="en-US" sz="1200" dirty="0"/>
          </a:p>
        </p:txBody>
      </p:sp>
      <p:sp>
        <p:nvSpPr>
          <p:cNvPr id="8" name="Command 01"/>
          <p:cNvSpPr/>
          <p:nvPr/>
        </p:nvSpPr>
        <p:spPr>
          <a:xfrm>
            <a:off x="548640" y="1993392"/>
            <a:ext cx="6153912" cy="54380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R1(config)# </a:t>
            </a:r>
            <a:r>
              <a:rPr lang="en-US" sz="1200" b="1" dirty="0">
                <a:solidFill>
                  <a:srgbClr val="FFFFFF"/>
                </a:solidFill>
                <a:latin typeface="Courier New" pitchFamily="34" charset="0"/>
                <a:ea typeface="Courier New" pitchFamily="34" charset="-122"/>
                <a:cs typeface="Courier New" pitchFamily="34" charset="-120"/>
              </a:rPr>
              <a:t>line console 0</a:t>
            </a:r>
            <a:endParaRPr lang="en-US" sz="1200" dirty="0"/>
          </a:p>
        </p:txBody>
      </p:sp>
      <p:sp>
        <p:nvSpPr>
          <p:cNvPr id="9" name="Reveal 01 meaning"/>
          <p:cNvSpPr/>
          <p:nvPr/>
        </p:nvSpPr>
        <p:spPr>
          <a:xfrm>
            <a:off x="6720840" y="1993392"/>
            <a:ext cx="4922215" cy="543809"/>
          </a:xfrm>
          <a:prstGeom prst="rect">
            <a:avLst/>
          </a:prstGeom>
          <a:solidFill>
            <a:srgbClr val="F2F8F3"/>
          </a:solidFill>
          <a:ln/>
        </p:spPr>
        <p:txBody>
          <a:bodyPr wrap="square" lIns="109728" tIns="45720" rIns="109728" bIns="45720" rtlCol="0" anchor="ctr"/>
          <a:lstStyle/>
          <a:p>
            <a:pPr indent="0" marL="0">
              <a:buNone/>
            </a:pPr>
            <a:r>
              <a:rPr lang="en-US" sz="1400" dirty="0">
                <a:solidFill>
                  <a:srgbClr val="2B2B2B"/>
                </a:solidFill>
              </a:rPr>
              <a:t>Open the settings of the console port (the light-blue cable). The prompt becomes </a:t>
            </a:r>
            <a:r>
              <a:rPr lang="en-US" sz="1300" b="1" dirty="0">
                <a:solidFill>
                  <a:srgbClr val="1E5631"/>
                </a:solidFill>
                <a:latin typeface="Courier New" pitchFamily="34" charset="0"/>
                <a:ea typeface="Courier New" pitchFamily="34" charset="-122"/>
                <a:cs typeface="Courier New" pitchFamily="34" charset="-120"/>
              </a:rPr>
              <a:t>(config-line)#</a:t>
            </a:r>
            <a:r>
              <a:rPr lang="en-US" sz="1400" dirty="0">
                <a:solidFill>
                  <a:srgbClr val="2B2B2B"/>
                </a:solidFill>
              </a:rPr>
              <a:t>.</a:t>
            </a:r>
            <a:endParaRPr lang="en-US" sz="1400" dirty="0"/>
          </a:p>
        </p:txBody>
      </p:sp>
      <p:sp>
        <p:nvSpPr>
          <p:cNvPr id="10" name="Command 02"/>
          <p:cNvSpPr/>
          <p:nvPr/>
        </p:nvSpPr>
        <p:spPr>
          <a:xfrm>
            <a:off x="548640" y="2555489"/>
            <a:ext cx="6153912" cy="326768"/>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R1(config-line)# </a:t>
            </a:r>
            <a:r>
              <a:rPr lang="en-US" sz="1200" b="1" dirty="0">
                <a:solidFill>
                  <a:srgbClr val="FFFFFF"/>
                </a:solidFill>
                <a:latin typeface="Courier New" pitchFamily="34" charset="0"/>
                <a:ea typeface="Courier New" pitchFamily="34" charset="-122"/>
                <a:cs typeface="Courier New" pitchFamily="34" charset="-120"/>
              </a:rPr>
              <a:t>password Cons@1234</a:t>
            </a:r>
            <a:endParaRPr lang="en-US" sz="1200" dirty="0"/>
          </a:p>
        </p:txBody>
      </p:sp>
      <p:sp>
        <p:nvSpPr>
          <p:cNvPr id="11" name="Reveal 02 meaning"/>
          <p:cNvSpPr/>
          <p:nvPr/>
        </p:nvSpPr>
        <p:spPr>
          <a:xfrm>
            <a:off x="6720840" y="2555489"/>
            <a:ext cx="4922215" cy="326768"/>
          </a:xfrm>
          <a:prstGeom prst="rect">
            <a:avLst/>
          </a:prstGeom>
          <a:solidFill>
            <a:srgbClr val="FFFFFF"/>
          </a:solidFill>
          <a:ln/>
        </p:spPr>
        <p:txBody>
          <a:bodyPr wrap="square" lIns="109728" tIns="45720" rIns="109728" bIns="45720" rtlCol="0" anchor="ctr"/>
          <a:lstStyle/>
          <a:p>
            <a:pPr indent="0" marL="0">
              <a:buNone/>
            </a:pPr>
            <a:r>
              <a:rPr lang="en-US" sz="1400" dirty="0">
                <a:solidFill>
                  <a:srgbClr val="2B2B2B"/>
                </a:solidFill>
              </a:rPr>
              <a:t>Set the console password.</a:t>
            </a:r>
            <a:endParaRPr lang="en-US" sz="1400" dirty="0"/>
          </a:p>
        </p:txBody>
      </p:sp>
      <p:sp>
        <p:nvSpPr>
          <p:cNvPr id="12" name="Command 03"/>
          <p:cNvSpPr/>
          <p:nvPr/>
        </p:nvSpPr>
        <p:spPr>
          <a:xfrm>
            <a:off x="548640" y="2900545"/>
            <a:ext cx="6153912" cy="54380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R1(config-line)# </a:t>
            </a:r>
            <a:r>
              <a:rPr lang="en-US" sz="1200" b="1" dirty="0">
                <a:solidFill>
                  <a:srgbClr val="FFFFFF"/>
                </a:solidFill>
                <a:latin typeface="Courier New" pitchFamily="34" charset="0"/>
                <a:ea typeface="Courier New" pitchFamily="34" charset="-122"/>
                <a:cs typeface="Courier New" pitchFamily="34" charset="-120"/>
              </a:rPr>
              <a:t>login</a:t>
            </a:r>
            <a:endParaRPr lang="en-US" sz="1200" dirty="0"/>
          </a:p>
        </p:txBody>
      </p:sp>
      <p:sp>
        <p:nvSpPr>
          <p:cNvPr id="13" name="Reveal 03 meaning"/>
          <p:cNvSpPr/>
          <p:nvPr/>
        </p:nvSpPr>
        <p:spPr>
          <a:xfrm>
            <a:off x="6720840" y="2900545"/>
            <a:ext cx="4922215" cy="543809"/>
          </a:xfrm>
          <a:prstGeom prst="rect">
            <a:avLst/>
          </a:prstGeom>
          <a:solidFill>
            <a:srgbClr val="F2F8F3"/>
          </a:solidFill>
          <a:ln/>
        </p:spPr>
        <p:txBody>
          <a:bodyPr wrap="square" lIns="109728" tIns="45720" rIns="109728" bIns="45720" rtlCol="0" anchor="ctr"/>
          <a:lstStyle/>
          <a:p>
            <a:pPr indent="0" marL="0">
              <a:buNone/>
            </a:pPr>
            <a:r>
              <a:rPr lang="en-US" sz="1400" dirty="0">
                <a:solidFill>
                  <a:srgbClr val="2B2B2B"/>
                </a:solidFill>
              </a:rPr>
              <a:t>Make the console ask for that password. Without </a:t>
            </a:r>
            <a:r>
              <a:rPr lang="en-US" sz="1300" b="1" dirty="0">
                <a:solidFill>
                  <a:srgbClr val="1E5631"/>
                </a:solidFill>
                <a:latin typeface="Courier New" pitchFamily="34" charset="0"/>
                <a:ea typeface="Courier New" pitchFamily="34" charset="-122"/>
                <a:cs typeface="Courier New" pitchFamily="34" charset="-120"/>
              </a:rPr>
              <a:t>login</a:t>
            </a:r>
            <a:r>
              <a:rPr lang="en-US" sz="1400" dirty="0">
                <a:solidFill>
                  <a:srgbClr val="2B2B2B"/>
                </a:solidFill>
              </a:rPr>
              <a:t>, the password is never requested.</a:t>
            </a:r>
            <a:endParaRPr lang="en-US" sz="1400" dirty="0"/>
          </a:p>
        </p:txBody>
      </p:sp>
      <p:sp>
        <p:nvSpPr>
          <p:cNvPr id="14" name="Command 04"/>
          <p:cNvSpPr/>
          <p:nvPr/>
        </p:nvSpPr>
        <p:spPr>
          <a:xfrm>
            <a:off x="548640" y="3462642"/>
            <a:ext cx="6153912" cy="326768"/>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R1(config-line)# </a:t>
            </a:r>
            <a:r>
              <a:rPr lang="en-US" sz="1200" b="1" dirty="0">
                <a:solidFill>
                  <a:srgbClr val="FFFFFF"/>
                </a:solidFill>
                <a:latin typeface="Courier New" pitchFamily="34" charset="0"/>
                <a:ea typeface="Courier New" pitchFamily="34" charset="-122"/>
                <a:cs typeface="Courier New" pitchFamily="34" charset="-120"/>
              </a:rPr>
              <a:t>logging synchronous</a:t>
            </a:r>
            <a:endParaRPr lang="en-US" sz="1200" dirty="0"/>
          </a:p>
        </p:txBody>
      </p:sp>
      <p:sp>
        <p:nvSpPr>
          <p:cNvPr id="15" name="Reveal 04 meaning"/>
          <p:cNvSpPr/>
          <p:nvPr/>
        </p:nvSpPr>
        <p:spPr>
          <a:xfrm>
            <a:off x="6720840" y="3462642"/>
            <a:ext cx="4922215" cy="326768"/>
          </a:xfrm>
          <a:prstGeom prst="rect">
            <a:avLst/>
          </a:prstGeom>
          <a:solidFill>
            <a:srgbClr val="FFFFFF"/>
          </a:solidFill>
          <a:ln/>
        </p:spPr>
        <p:txBody>
          <a:bodyPr wrap="square" lIns="109728" tIns="45720" rIns="109728" bIns="45720" rtlCol="0" anchor="ctr"/>
          <a:lstStyle/>
          <a:p>
            <a:pPr indent="0" marL="0">
              <a:buNone/>
            </a:pPr>
            <a:r>
              <a:rPr lang="en-US" sz="1400" dirty="0">
                <a:solidFill>
                  <a:srgbClr val="2B2B2B"/>
                </a:solidFill>
              </a:rPr>
              <a:t>Stop system messages from interrupting your typing.</a:t>
            </a:r>
            <a:endParaRPr lang="en-US" sz="1400" dirty="0"/>
          </a:p>
        </p:txBody>
      </p:sp>
      <p:sp>
        <p:nvSpPr>
          <p:cNvPr id="16" name="Command 05"/>
          <p:cNvSpPr/>
          <p:nvPr/>
        </p:nvSpPr>
        <p:spPr>
          <a:xfrm>
            <a:off x="548640" y="3807699"/>
            <a:ext cx="6153912" cy="326768"/>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R1(config-line)# </a:t>
            </a:r>
            <a:r>
              <a:rPr lang="en-US" sz="1200" b="1" dirty="0">
                <a:solidFill>
                  <a:srgbClr val="FFFFFF"/>
                </a:solidFill>
                <a:latin typeface="Courier New" pitchFamily="34" charset="0"/>
                <a:ea typeface="Courier New" pitchFamily="34" charset="-122"/>
                <a:cs typeface="Courier New" pitchFamily="34" charset="-120"/>
              </a:rPr>
              <a:t>exec-timeout 5 0</a:t>
            </a:r>
            <a:endParaRPr lang="en-US" sz="1200" dirty="0"/>
          </a:p>
        </p:txBody>
      </p:sp>
      <p:sp>
        <p:nvSpPr>
          <p:cNvPr id="17" name="Reveal 05 meaning"/>
          <p:cNvSpPr/>
          <p:nvPr/>
        </p:nvSpPr>
        <p:spPr>
          <a:xfrm>
            <a:off x="6720840" y="3807699"/>
            <a:ext cx="4922215" cy="326768"/>
          </a:xfrm>
          <a:prstGeom prst="rect">
            <a:avLst/>
          </a:prstGeom>
          <a:solidFill>
            <a:srgbClr val="F2F8F3"/>
          </a:solidFill>
          <a:ln/>
        </p:spPr>
        <p:txBody>
          <a:bodyPr wrap="square" lIns="109728" tIns="45720" rIns="109728" bIns="45720" rtlCol="0" anchor="ctr"/>
          <a:lstStyle/>
          <a:p>
            <a:pPr indent="0" marL="0">
              <a:buNone/>
            </a:pPr>
            <a:r>
              <a:rPr lang="en-US" sz="1400" dirty="0">
                <a:solidFill>
                  <a:srgbClr val="2B2B2B"/>
                </a:solidFill>
              </a:rPr>
              <a:t>Log out a session that is idle for 5 minutes 0 seconds.</a:t>
            </a:r>
            <a:endParaRPr lang="en-US" sz="1400" dirty="0"/>
          </a:p>
        </p:txBody>
      </p:sp>
      <p:sp>
        <p:nvSpPr>
          <p:cNvPr id="18" name="Command 06"/>
          <p:cNvSpPr/>
          <p:nvPr/>
        </p:nvSpPr>
        <p:spPr>
          <a:xfrm>
            <a:off x="548640" y="4152755"/>
            <a:ext cx="6153912" cy="54380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R1(config-line)# </a:t>
            </a:r>
            <a:r>
              <a:rPr lang="en-US" sz="1200" b="1" dirty="0">
                <a:solidFill>
                  <a:srgbClr val="FFFFFF"/>
                </a:solidFill>
                <a:latin typeface="Courier New" pitchFamily="34" charset="0"/>
                <a:ea typeface="Courier New" pitchFamily="34" charset="-122"/>
                <a:cs typeface="Courier New" pitchFamily="34" charset="-120"/>
              </a:rPr>
              <a:t>exit</a:t>
            </a:r>
            <a:endParaRPr lang="en-US" sz="1200" dirty="0"/>
          </a:p>
          <a:p>
            <a:pPr indent="0" marL="0">
              <a:buNone/>
            </a:pPr>
            <a:r>
              <a:rPr lang="en-US" sz="1200" dirty="0">
                <a:solidFill>
                  <a:srgbClr val="8FC9A0"/>
                </a:solidFill>
                <a:latin typeface="Courier New" pitchFamily="34" charset="0"/>
                <a:ea typeface="Courier New" pitchFamily="34" charset="-122"/>
                <a:cs typeface="Courier New" pitchFamily="34" charset="-120"/>
              </a:rPr>
              <a:t>R1(config)# </a:t>
            </a:r>
            <a:r>
              <a:rPr lang="en-US" sz="1200" b="1" dirty="0">
                <a:solidFill>
                  <a:srgbClr val="FFFFFF"/>
                </a:solidFill>
                <a:latin typeface="Courier New" pitchFamily="34" charset="0"/>
                <a:ea typeface="Courier New" pitchFamily="34" charset="-122"/>
                <a:cs typeface="Courier New" pitchFamily="34" charset="-120"/>
              </a:rPr>
              <a:t>service password-encryption</a:t>
            </a:r>
            <a:endParaRPr lang="en-US" sz="1200" dirty="0"/>
          </a:p>
        </p:txBody>
      </p:sp>
      <p:sp>
        <p:nvSpPr>
          <p:cNvPr id="19" name="Reveal 06 meaning"/>
          <p:cNvSpPr/>
          <p:nvPr/>
        </p:nvSpPr>
        <p:spPr>
          <a:xfrm>
            <a:off x="6720840" y="4152755"/>
            <a:ext cx="4922215" cy="543809"/>
          </a:xfrm>
          <a:prstGeom prst="rect">
            <a:avLst/>
          </a:prstGeom>
          <a:solidFill>
            <a:srgbClr val="FFFFFF"/>
          </a:solidFill>
          <a:ln/>
        </p:spPr>
        <p:txBody>
          <a:bodyPr wrap="square" lIns="109728" tIns="45720" rIns="109728" bIns="45720" rtlCol="0" anchor="ctr"/>
          <a:lstStyle/>
          <a:p>
            <a:pPr indent="0" marL="0">
              <a:buNone/>
            </a:pPr>
            <a:r>
              <a:rPr lang="en-US" sz="1400" dirty="0">
                <a:solidFill>
                  <a:srgbClr val="2B2B2B"/>
                </a:solidFill>
              </a:rPr>
              <a:t>Back to global mode, then hide the console and VTY passwords in </a:t>
            </a:r>
            <a:r>
              <a:rPr lang="en-US" sz="1300" b="1" dirty="0">
                <a:solidFill>
                  <a:srgbClr val="1E5631"/>
                </a:solidFill>
                <a:latin typeface="Courier New" pitchFamily="34" charset="0"/>
                <a:ea typeface="Courier New" pitchFamily="34" charset="-122"/>
                <a:cs typeface="Courier New" pitchFamily="34" charset="-120"/>
              </a:rPr>
              <a:t>show running-config</a:t>
            </a:r>
            <a:r>
              <a:rPr lang="en-US" sz="1400" dirty="0">
                <a:solidFill>
                  <a:srgbClr val="2B2B2B"/>
                </a:solidFill>
              </a:rPr>
              <a:t> (weak: it only stops onlookers).</a:t>
            </a:r>
            <a:endParaRPr lang="en-US" sz="1400" dirty="0"/>
          </a:p>
        </p:txBody>
      </p:sp>
      <p:sp>
        <p:nvSpPr>
          <p:cNvPr id="20" name="Command 07"/>
          <p:cNvSpPr/>
          <p:nvPr/>
        </p:nvSpPr>
        <p:spPr>
          <a:xfrm>
            <a:off x="548640" y="4714852"/>
            <a:ext cx="6153912" cy="455005"/>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R1(config)# </a:t>
            </a:r>
            <a:r>
              <a:rPr lang="en-US" sz="1200" b="1" dirty="0">
                <a:solidFill>
                  <a:srgbClr val="FFFFFF"/>
                </a:solidFill>
                <a:latin typeface="Courier New" pitchFamily="34" charset="0"/>
                <a:ea typeface="Courier New" pitchFamily="34" charset="-122"/>
                <a:cs typeface="Courier New" pitchFamily="34" charset="-120"/>
              </a:rPr>
              <a:t>end</a:t>
            </a:r>
            <a:endParaRPr lang="en-US" sz="1200" dirty="0"/>
          </a:p>
          <a:p>
            <a:pPr indent="0" marL="0">
              <a:buNone/>
            </a:pPr>
            <a:r>
              <a:rPr lang="en-US" sz="1200" dirty="0">
                <a:solidFill>
                  <a:srgbClr val="8FC9A0"/>
                </a:solidFill>
                <a:latin typeface="Courier New" pitchFamily="34" charset="0"/>
                <a:ea typeface="Courier New" pitchFamily="34" charset="-122"/>
                <a:cs typeface="Courier New" pitchFamily="34" charset="-120"/>
              </a:rPr>
              <a:t>R1# </a:t>
            </a:r>
            <a:r>
              <a:rPr lang="en-US" sz="1200" b="1" dirty="0">
                <a:solidFill>
                  <a:srgbClr val="FFFFFF"/>
                </a:solidFill>
                <a:latin typeface="Courier New" pitchFamily="34" charset="0"/>
                <a:ea typeface="Courier New" pitchFamily="34" charset="-122"/>
                <a:cs typeface="Courier New" pitchFamily="34" charset="-120"/>
              </a:rPr>
              <a:t>copy running-config startup-config</a:t>
            </a:r>
            <a:endParaRPr lang="en-US" sz="1200" dirty="0"/>
          </a:p>
        </p:txBody>
      </p:sp>
      <p:sp>
        <p:nvSpPr>
          <p:cNvPr id="21" name="Reveal 07 meaning"/>
          <p:cNvSpPr/>
          <p:nvPr/>
        </p:nvSpPr>
        <p:spPr>
          <a:xfrm>
            <a:off x="6720840" y="4714852"/>
            <a:ext cx="4922215" cy="455005"/>
          </a:xfrm>
          <a:prstGeom prst="rect">
            <a:avLst/>
          </a:prstGeom>
          <a:solidFill>
            <a:srgbClr val="F2F8F3"/>
          </a:solidFill>
          <a:ln/>
        </p:spPr>
        <p:txBody>
          <a:bodyPr wrap="square" lIns="109728" tIns="45720" rIns="109728" bIns="45720" rtlCol="0" anchor="ctr"/>
          <a:lstStyle/>
          <a:p>
            <a:pPr indent="0" marL="0">
              <a:buNone/>
            </a:pPr>
            <a:r>
              <a:rPr lang="en-US" sz="1400" dirty="0">
                <a:solidFill>
                  <a:srgbClr val="2B2B2B"/>
                </a:solidFill>
              </a:rPr>
              <a:t>Back to privileged mode, then save your work.</a:t>
            </a:r>
            <a:endParaRPr lang="en-US" sz="1400" dirty="0"/>
          </a:p>
        </p:txBody>
      </p:sp>
      <p:sp>
        <p:nvSpPr>
          <p:cNvPr id="22" name="Reveal 99 check box"/>
          <p:cNvSpPr/>
          <p:nvPr/>
        </p:nvSpPr>
        <p:spPr>
          <a:xfrm>
            <a:off x="548640" y="5504688"/>
            <a:ext cx="5410048" cy="749808"/>
          </a:xfrm>
          <a:prstGeom prst="roundRect">
            <a:avLst>
              <a:gd name="adj" fmla="val 9756"/>
            </a:avLst>
          </a:prstGeom>
          <a:solidFill>
            <a:srgbClr val="E8F1EA"/>
          </a:solidFill>
          <a:ln w="12700">
            <a:solidFill>
              <a:srgbClr val="B7C9BA"/>
            </a:solidFill>
            <a:prstDash val="solid"/>
          </a:ln>
        </p:spPr>
      </p:sp>
      <p:pic>
        <p:nvPicPr>
          <p:cNvPr id="23" name="Reveal 99 check icon" descr="Check it:">    </p:cNvPr>
          <p:cNvPicPr>
            <a:picLocks noChangeAspect="1"/>
          </p:cNvPicPr>
          <p:nvPr/>
        </p:nvPicPr>
        <p:blipFill>
          <a:blip r:embed="rId3"/>
          <a:stretch>
            <a:fillRect/>
          </a:stretch>
        </p:blipFill>
        <p:spPr>
          <a:xfrm>
            <a:off x="694944" y="5733288"/>
            <a:ext cx="292608" cy="292608"/>
          </a:xfrm>
          <a:prstGeom prst="rect">
            <a:avLst/>
          </a:prstGeom>
        </p:spPr>
      </p:pic>
      <p:sp>
        <p:nvSpPr>
          <p:cNvPr id="24" name="Reveal 99 check text"/>
          <p:cNvSpPr txBox="1"/>
          <p:nvPr/>
        </p:nvSpPr>
        <p:spPr>
          <a:xfrm>
            <a:off x="1097280" y="5541264"/>
            <a:ext cx="4751680" cy="676656"/>
          </a:xfrm>
          <a:prstGeom prst="rect">
            <a:avLst/>
          </a:prstGeom>
          <a:noFill/>
          <a:ln/>
        </p:spPr>
        <p:txBody>
          <a:bodyPr wrap="square" lIns="0" tIns="0" rIns="0" bIns="0" rtlCol="0" anchor="ctr"/>
          <a:lstStyle/>
          <a:p>
            <a:pPr indent="0" marL="0">
              <a:buNone/>
            </a:pPr>
            <a:r>
              <a:rPr lang="en-US" sz="1400" b="1" dirty="0">
                <a:solidFill>
                  <a:srgbClr val="1E5631"/>
                </a:solidFill>
              </a:rPr>
              <a:t>Check it:  </a:t>
            </a:r>
            <a:r>
              <a:rPr lang="en-US" sz="1400" dirty="0">
                <a:solidFill>
                  <a:srgbClr val="2B2B2B"/>
                </a:solidFill>
              </a:rPr>
              <a:t>Type </a:t>
            </a:r>
            <a:r>
              <a:rPr lang="en-US" sz="1300" b="1" dirty="0">
                <a:solidFill>
                  <a:srgbClr val="1E5631"/>
                </a:solidFill>
                <a:latin typeface="Courier New" pitchFamily="34" charset="0"/>
                <a:ea typeface="Courier New" pitchFamily="34" charset="-122"/>
                <a:cs typeface="Courier New" pitchFamily="34" charset="-120"/>
              </a:rPr>
              <a:t>exit</a:t>
            </a:r>
            <a:r>
              <a:rPr lang="en-US" sz="1400" dirty="0">
                <a:solidFill>
                  <a:srgbClr val="2B2B2B"/>
                </a:solidFill>
              </a:rPr>
              <a:t> to log out, then press Enter: the banner appears and the console asks for a password.</a:t>
            </a:r>
            <a:endParaRPr lang="en-US" sz="1400" dirty="0"/>
          </a:p>
        </p:txBody>
      </p:sp>
      <p:sp>
        <p:nvSpPr>
          <p:cNvPr id="25" name="Reveal 99 watch box"/>
          <p:cNvSpPr/>
          <p:nvPr/>
        </p:nvSpPr>
        <p:spPr>
          <a:xfrm>
            <a:off x="6233008" y="5504688"/>
            <a:ext cx="5410048" cy="749808"/>
          </a:xfrm>
          <a:prstGeom prst="roundRect">
            <a:avLst>
              <a:gd name="adj" fmla="val 9756"/>
            </a:avLst>
          </a:prstGeom>
          <a:solidFill>
            <a:srgbClr val="FBEAEA"/>
          </a:solidFill>
          <a:ln w="12700">
            <a:solidFill>
              <a:srgbClr val="E9B8B5"/>
            </a:solidFill>
            <a:prstDash val="solid"/>
          </a:ln>
        </p:spPr>
      </p:sp>
      <p:pic>
        <p:nvPicPr>
          <p:cNvPr id="26" name="Reveal 99 watch icon" descr="Watch out:">    </p:cNvPr>
          <p:cNvPicPr>
            <a:picLocks noChangeAspect="1"/>
          </p:cNvPicPr>
          <p:nvPr/>
        </p:nvPicPr>
        <p:blipFill>
          <a:blip r:embed="rId4"/>
          <a:stretch>
            <a:fillRect/>
          </a:stretch>
        </p:blipFill>
        <p:spPr>
          <a:xfrm>
            <a:off x="6379312" y="5733288"/>
            <a:ext cx="292608" cy="292608"/>
          </a:xfrm>
          <a:prstGeom prst="rect">
            <a:avLst/>
          </a:prstGeom>
        </p:spPr>
      </p:pic>
      <p:sp>
        <p:nvSpPr>
          <p:cNvPr id="27" name="Reveal 99 watch text"/>
          <p:cNvSpPr txBox="1"/>
          <p:nvPr/>
        </p:nvSpPr>
        <p:spPr>
          <a:xfrm>
            <a:off x="6781648" y="5541264"/>
            <a:ext cx="4751680" cy="676656"/>
          </a:xfrm>
          <a:prstGeom prst="rect">
            <a:avLst/>
          </a:prstGeom>
          <a:noFill/>
          <a:ln/>
        </p:spPr>
        <p:txBody>
          <a:bodyPr wrap="square" lIns="0" tIns="0" rIns="0" bIns="0" rtlCol="0" anchor="ctr"/>
          <a:lstStyle/>
          <a:p>
            <a:pPr indent="0" marL="0">
              <a:buNone/>
            </a:pPr>
            <a:r>
              <a:rPr lang="en-US" sz="1400" b="1" dirty="0">
                <a:solidFill>
                  <a:srgbClr val="8B1A1A"/>
                </a:solidFill>
              </a:rPr>
              <a:t>Watch out:  </a:t>
            </a:r>
            <a:r>
              <a:rPr lang="en-US" sz="1400" dirty="0">
                <a:solidFill>
                  <a:srgbClr val="2B2B2B"/>
                </a:solidFill>
              </a:rPr>
              <a:t>Passwords are case-sensitive. Record them in your lab notes — a forgotten secret means password recovery.</a:t>
            </a:r>
            <a:endParaRPr lang="en-US" sz="1400" dirty="0"/>
          </a:p>
        </p:txBody>
      </p:sp>
      <p:sp>
        <p:nvSpPr>
          <p:cNvPr id="28" name="Slide Number Placeholder 0"/>
          <p:cNvSpPr>
            <a:spLocks noGrp="1"/>
          </p:cNvSpPr>
          <p:nvPr>
            <p:ph type="sldNum" sz="quarter" idx="4294967295"/>
          </p:nvPr>
        </p:nvSpPr>
        <p:spPr>
          <a:xfrm>
            <a:off x="10698480" y="6464808"/>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r"/>
            <a:fld id="{F7021451-1387-4CA6-816F-3879F97B5CBC}" type="slidenum">
              <a:rPr b="0" lang="en-US"/>
              <a:t>17</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4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0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400"/>
                                        <p:tgtEl>
                                          <p:spTgt spid="1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fade">
                                      <p:cBhvr>
                                        <p:cTn id="37" dur="400"/>
                                        <p:tgtEl>
                                          <p:spTgt spid="2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400"/>
                                        <p:tgtEl>
                                          <p:spTgt spid="22"/>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3"/>
                                        </p:tgtEl>
                                        <p:attrNameLst>
                                          <p:attrName>style.visibility</p:attrName>
                                        </p:attrNameLst>
                                      </p:cBhvr>
                                      <p:to>
                                        <p:strVal val="visible"/>
                                      </p:to>
                                    </p:set>
                                    <p:animEffect transition="in" filter="fade">
                                      <p:cBhvr>
                                        <p:cTn id="45" dur="400"/>
                                        <p:tgtEl>
                                          <p:spTgt spid="23"/>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4"/>
                                        </p:tgtEl>
                                        <p:attrNameLst>
                                          <p:attrName>style.visibility</p:attrName>
                                        </p:attrNameLst>
                                      </p:cBhvr>
                                      <p:to>
                                        <p:strVal val="visible"/>
                                      </p:to>
                                    </p:set>
                                    <p:animEffect transition="in" filter="fade">
                                      <p:cBhvr>
                                        <p:cTn id="48" dur="400"/>
                                        <p:tgtEl>
                                          <p:spTgt spid="24"/>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5"/>
                                        </p:tgtEl>
                                        <p:attrNameLst>
                                          <p:attrName>style.visibility</p:attrName>
                                        </p:attrNameLst>
                                      </p:cBhvr>
                                      <p:to>
                                        <p:strVal val="visible"/>
                                      </p:to>
                                    </p:set>
                                    <p:animEffect transition="in" filter="fade">
                                      <p:cBhvr>
                                        <p:cTn id="51" dur="400"/>
                                        <p:tgtEl>
                                          <p:spTgt spid="25"/>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6"/>
                                        </p:tgtEl>
                                        <p:attrNameLst>
                                          <p:attrName>style.visibility</p:attrName>
                                        </p:attrNameLst>
                                      </p:cBhvr>
                                      <p:to>
                                        <p:strVal val="visible"/>
                                      </p:to>
                                    </p:set>
                                    <p:animEffect transition="in" filter="fade">
                                      <p:cBhvr>
                                        <p:cTn id="54" dur="400"/>
                                        <p:tgtEl>
                                          <p:spTgt spid="26"/>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fade">
                                      <p:cBhvr>
                                        <p:cTn id="57"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3" grpId="0" animBg="1"/>
      <p:bldP spid="15" grpId="0" animBg="1"/>
      <p:bldP spid="17" grpId="0" animBg="1"/>
      <p:bldP spid="19" grpId="0" animBg="1"/>
      <p:bldP spid="21" grpId="0" animBg="1"/>
      <p:bldP spid="22" grpId="0" animBg="1"/>
      <p:bldP spid="24" grpId="0" animBg="1"/>
      <p:bldP spid="25" grpId="0" animBg="1"/>
      <p:bldP spid="27"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2" type="body" hasCustomPrompt="1"/>
          </p:nvPr>
        </p:nvSpPr>
        <p:spPr>
          <a:xfrm>
            <a:off x="548640" y="274320"/>
            <a:ext cx="9966960" cy="256032"/>
          </a:xfrm>
          <a:prstGeom prst="rect">
            <a:avLst/>
          </a:prstGeom>
          <a:noFill/>
          <a:ln/>
        </p:spPr>
        <p:txBody>
          <a:bodyPr wrap="square" lIns="0" tIns="0" rIns="0" bIns="0" rtlCol="0" anchor="ctr"/>
          <a:lstStyle/>
          <a:p>
            <a:pPr algn="l" indent="0" marL="0">
              <a:buNone/>
            </a:pPr>
            <a:r>
              <a:rPr lang="en-US" sz="1100" b="1" spc="100" kern="0" dirty="0">
                <a:solidFill>
                  <a:schemeClr val="accent2"/>
                </a:solidFill>
              </a:rPr>
              <a:t>03  •  BASIC SET-UP &amp; SSH</a:t>
            </a:r>
            <a:endParaRPr lang="en-US" sz="1100" dirty="0"/>
          </a:p>
        </p:txBody>
      </p:sp>
      <p:sp>
        <p:nvSpPr>
          <p:cNvPr id="3" name="Text 1"/>
          <p:cNvSpPr/>
          <p:nvPr>
            <p:ph idx="103" type="title" hasCustomPrompt="1"/>
          </p:nvPr>
        </p:nvSpPr>
        <p:spPr>
          <a:xfrm>
            <a:off x="548640" y="548640"/>
            <a:ext cx="10149840" cy="548640"/>
          </a:xfrm>
          <a:prstGeom prst="rect">
            <a:avLst/>
          </a:prstGeom>
          <a:noFill/>
          <a:ln/>
        </p:spPr>
        <p:txBody>
          <a:bodyPr wrap="square" lIns="0" tIns="0" rIns="0" bIns="0" rtlCol="0" anchor="ctr"/>
          <a:lstStyle/>
          <a:p>
            <a:pPr algn="l" indent="0" marL="0">
              <a:buNone/>
            </a:pPr>
            <a:r>
              <a:rPr lang="en-US" sz="2600" b="1" dirty="0">
                <a:solidFill>
                  <a:schemeClr val="accent1"/>
                </a:solidFill>
              </a:rPr>
              <a:t>How to save, view and erase a configuration</a:t>
            </a:r>
            <a:endParaRPr lang="en-US" sz="2600" dirty="0"/>
          </a:p>
        </p:txBody>
      </p:sp>
      <p:pic>
        <p:nvPicPr>
          <p:cNvPr id="4" name="Home button" descr="Home: back to the workbook menu">
            <a:hlinkClick r:id="rId2" tooltip="Back to the workbook menu" action="ppaction://hlinksldjump"/>
          </p:cNvPr>
          <p:cNvPicPr>
            <a:picLocks noChangeAspect="1"/>
          </p:cNvPicPr>
          <p:nvPr/>
        </p:nvPicPr>
        <p:blipFill>
          <a:blip r:embed="rId1"/>
          <a:stretch>
            <a:fillRect/>
          </a:stretch>
        </p:blipFill>
        <p:spPr>
          <a:xfrm>
            <a:off x="11365992" y="6336792"/>
            <a:ext cx="365760" cy="365760"/>
          </a:xfrm>
          <a:prstGeom prst="rect">
            <a:avLst/>
          </a:prstGeom>
        </p:spPr>
      </p:pic>
      <p:sp>
        <p:nvSpPr>
          <p:cNvPr id="5" name="Goal"/>
          <p:cNvSpPr txBox="1"/>
          <p:nvPr/>
        </p:nvSpPr>
        <p:spPr>
          <a:xfrm>
            <a:off x="548640" y="1161288"/>
            <a:ext cx="11094415" cy="384048"/>
          </a:xfrm>
          <a:prstGeom prst="rect">
            <a:avLst/>
          </a:prstGeom>
          <a:noFill/>
          <a:ln/>
        </p:spPr>
        <p:txBody>
          <a:bodyPr wrap="square" lIns="0" tIns="0" rIns="0" bIns="0" rtlCol="0" anchor="ctr"/>
          <a:lstStyle/>
          <a:p>
            <a:pPr indent="0" marL="0">
              <a:buNone/>
            </a:pPr>
            <a:r>
              <a:rPr lang="en-US" sz="1400" b="1" dirty="0">
                <a:solidFill>
                  <a:srgbClr val="2B7043"/>
                </a:solidFill>
              </a:rPr>
              <a:t>Goal:  </a:t>
            </a:r>
            <a:r>
              <a:rPr lang="en-US" sz="1400" dirty="0">
                <a:solidFill>
                  <a:srgbClr val="2B2B2B"/>
                </a:solidFill>
              </a:rPr>
              <a:t>The live configuration (RAM) is lost at power-off. The saved one (NVRAM) is loaded at every start-up.</a:t>
            </a:r>
            <a:endParaRPr lang="en-US" sz="1400" dirty="0"/>
          </a:p>
        </p:txBody>
      </p:sp>
      <p:sp>
        <p:nvSpPr>
          <p:cNvPr id="6" name="Command header"/>
          <p:cNvSpPr/>
          <p:nvPr/>
        </p:nvSpPr>
        <p:spPr>
          <a:xfrm>
            <a:off x="548640" y="1664208"/>
            <a:ext cx="6153912" cy="310896"/>
          </a:xfrm>
          <a:prstGeom prst="rect">
            <a:avLst/>
          </a:prstGeom>
          <a:solidFill>
            <a:srgbClr val="1B2B22"/>
          </a:solidFill>
          <a:ln/>
        </p:spPr>
        <p:txBody>
          <a:bodyPr wrap="square" lIns="109728" tIns="45720" rIns="109728" bIns="45720" rtlCol="0" anchor="ctr"/>
          <a:lstStyle/>
          <a:p>
            <a:pPr indent="0" marL="0">
              <a:buNone/>
            </a:pPr>
            <a:r>
              <a:rPr lang="en-US" sz="1100" dirty="0">
                <a:solidFill>
                  <a:srgbClr val="E0605A"/>
                </a:solidFill>
              </a:rPr>
              <a:t>●  </a:t>
            </a:r>
            <a:r>
              <a:rPr lang="en-US" sz="1100" dirty="0">
                <a:solidFill>
                  <a:srgbClr val="E8B92E"/>
                </a:solidFill>
              </a:rPr>
              <a:t>●  </a:t>
            </a:r>
            <a:r>
              <a:rPr lang="en-US" sz="1100" dirty="0">
                <a:solidFill>
                  <a:srgbClr val="4CAF50"/>
                </a:solidFill>
              </a:rPr>
              <a:t>●   </a:t>
            </a:r>
            <a:r>
              <a:rPr lang="en-US" sz="1100" b="1" dirty="0">
                <a:solidFill>
                  <a:srgbClr val="C9D6CC"/>
                </a:solidFill>
              </a:rPr>
              <a:t>R1  —  type the white text, then press Enter</a:t>
            </a:r>
            <a:endParaRPr lang="en-US" sz="1100" dirty="0"/>
          </a:p>
        </p:txBody>
      </p:sp>
      <p:sp>
        <p:nvSpPr>
          <p:cNvPr id="7" name="Meaning header"/>
          <p:cNvSpPr/>
          <p:nvPr/>
        </p:nvSpPr>
        <p:spPr>
          <a:xfrm>
            <a:off x="6720840" y="1664208"/>
            <a:ext cx="4922215" cy="310896"/>
          </a:xfrm>
          <a:prstGeom prst="rect">
            <a:avLst/>
          </a:prstGeom>
          <a:solidFill>
            <a:srgbClr val="E8F1EA"/>
          </a:solidFill>
          <a:ln/>
        </p:spPr>
        <p:txBody>
          <a:bodyPr wrap="square" lIns="109728" tIns="45720" rIns="109728" bIns="45720" rtlCol="0" anchor="ctr"/>
          <a:lstStyle/>
          <a:p>
            <a:pPr indent="0" marL="0">
              <a:buNone/>
            </a:pPr>
            <a:r>
              <a:rPr lang="en-US" sz="1200" b="1" dirty="0">
                <a:solidFill>
                  <a:srgbClr val="1E5631"/>
                </a:solidFill>
              </a:rPr>
              <a:t>What it does</a:t>
            </a:r>
            <a:endParaRPr lang="en-US" sz="1200" dirty="0"/>
          </a:p>
        </p:txBody>
      </p:sp>
      <p:sp>
        <p:nvSpPr>
          <p:cNvPr id="8" name="Command 01"/>
          <p:cNvSpPr/>
          <p:nvPr/>
        </p:nvSpPr>
        <p:spPr>
          <a:xfrm>
            <a:off x="548640" y="1993392"/>
            <a:ext cx="6153912" cy="54380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 </a:t>
            </a:r>
            <a:r>
              <a:rPr lang="en-US" sz="1200" b="1" dirty="0">
                <a:solidFill>
                  <a:srgbClr val="FFFFFF"/>
                </a:solidFill>
                <a:latin typeface="Courier New" pitchFamily="34" charset="0"/>
                <a:ea typeface="Courier New" pitchFamily="34" charset="-122"/>
                <a:cs typeface="Courier New" pitchFamily="34" charset="-120"/>
              </a:rPr>
              <a:t>copy running-config startup-config</a:t>
            </a:r>
            <a:endParaRPr lang="en-US" sz="1200" dirty="0"/>
          </a:p>
        </p:txBody>
      </p:sp>
      <p:sp>
        <p:nvSpPr>
          <p:cNvPr id="9" name="Reveal 01 meaning"/>
          <p:cNvSpPr/>
          <p:nvPr/>
        </p:nvSpPr>
        <p:spPr>
          <a:xfrm>
            <a:off x="6720840" y="1993392"/>
            <a:ext cx="4922215" cy="543809"/>
          </a:xfrm>
          <a:prstGeom prst="rect">
            <a:avLst/>
          </a:prstGeom>
          <a:solidFill>
            <a:srgbClr val="F2F8F3"/>
          </a:solidFill>
          <a:ln/>
        </p:spPr>
        <p:txBody>
          <a:bodyPr wrap="square" lIns="109728" tIns="45720" rIns="109728" bIns="45720" rtlCol="0" anchor="ctr"/>
          <a:lstStyle/>
          <a:p>
            <a:pPr indent="0" marL="0">
              <a:buNone/>
            </a:pPr>
            <a:r>
              <a:rPr lang="en-US" sz="1400" dirty="0">
                <a:solidFill>
                  <a:srgbClr val="2B2B2B"/>
                </a:solidFill>
              </a:rPr>
              <a:t>Save the live configuration to NVRAM so it survives a restart. Press Enter to accept </a:t>
            </a:r>
            <a:r>
              <a:rPr lang="en-US" sz="1300" b="1" dirty="0">
                <a:solidFill>
                  <a:srgbClr val="1E5631"/>
                </a:solidFill>
                <a:latin typeface="Courier New" pitchFamily="34" charset="0"/>
                <a:ea typeface="Courier New" pitchFamily="34" charset="-122"/>
                <a:cs typeface="Courier New" pitchFamily="34" charset="-120"/>
              </a:rPr>
              <a:t>[startup-config]</a:t>
            </a:r>
            <a:r>
              <a:rPr lang="en-US" sz="1400" dirty="0">
                <a:solidFill>
                  <a:srgbClr val="2B2B2B"/>
                </a:solidFill>
              </a:rPr>
              <a:t>.</a:t>
            </a:r>
            <a:endParaRPr lang="en-US" sz="1400" dirty="0"/>
          </a:p>
        </p:txBody>
      </p:sp>
      <p:sp>
        <p:nvSpPr>
          <p:cNvPr id="10" name="Command 02"/>
          <p:cNvSpPr/>
          <p:nvPr/>
        </p:nvSpPr>
        <p:spPr>
          <a:xfrm>
            <a:off x="548640" y="2555489"/>
            <a:ext cx="6153912" cy="326768"/>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 </a:t>
            </a:r>
            <a:r>
              <a:rPr lang="en-US" sz="1200" b="1" dirty="0">
                <a:solidFill>
                  <a:srgbClr val="FFFFFF"/>
                </a:solidFill>
                <a:latin typeface="Courier New" pitchFamily="34" charset="0"/>
                <a:ea typeface="Courier New" pitchFamily="34" charset="-122"/>
                <a:cs typeface="Courier New" pitchFamily="34" charset="-120"/>
              </a:rPr>
              <a:t>write memory</a:t>
            </a:r>
            <a:endParaRPr lang="en-US" sz="1200" dirty="0"/>
          </a:p>
        </p:txBody>
      </p:sp>
      <p:sp>
        <p:nvSpPr>
          <p:cNvPr id="11" name="Reveal 02 meaning"/>
          <p:cNvSpPr/>
          <p:nvPr/>
        </p:nvSpPr>
        <p:spPr>
          <a:xfrm>
            <a:off x="6720840" y="2555489"/>
            <a:ext cx="4922215" cy="326768"/>
          </a:xfrm>
          <a:prstGeom prst="rect">
            <a:avLst/>
          </a:prstGeom>
          <a:solidFill>
            <a:srgbClr val="FFFFFF"/>
          </a:solidFill>
          <a:ln/>
        </p:spPr>
        <p:txBody>
          <a:bodyPr wrap="square" lIns="109728" tIns="45720" rIns="109728" bIns="45720" rtlCol="0" anchor="ctr"/>
          <a:lstStyle/>
          <a:p>
            <a:pPr indent="0" marL="0">
              <a:buNone/>
            </a:pPr>
            <a:r>
              <a:rPr lang="en-US" sz="1400" dirty="0">
                <a:solidFill>
                  <a:srgbClr val="2B2B2B"/>
                </a:solidFill>
              </a:rPr>
              <a:t>A shorter way to make exactly the same save (</a:t>
            </a:r>
            <a:r>
              <a:rPr lang="en-US" sz="1300" b="1" dirty="0">
                <a:solidFill>
                  <a:srgbClr val="1E5631"/>
                </a:solidFill>
                <a:latin typeface="Courier New" pitchFamily="34" charset="0"/>
                <a:ea typeface="Courier New" pitchFamily="34" charset="-122"/>
                <a:cs typeface="Courier New" pitchFamily="34" charset="-120"/>
              </a:rPr>
              <a:t>wr</a:t>
            </a:r>
            <a:r>
              <a:rPr lang="en-US" sz="1400" dirty="0">
                <a:solidFill>
                  <a:srgbClr val="2B2B2B"/>
                </a:solidFill>
              </a:rPr>
              <a:t> works too).</a:t>
            </a:r>
            <a:endParaRPr lang="en-US" sz="1400" dirty="0"/>
          </a:p>
        </p:txBody>
      </p:sp>
      <p:sp>
        <p:nvSpPr>
          <p:cNvPr id="12" name="Command 03"/>
          <p:cNvSpPr/>
          <p:nvPr/>
        </p:nvSpPr>
        <p:spPr>
          <a:xfrm>
            <a:off x="548640" y="2900545"/>
            <a:ext cx="6153912" cy="54380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 </a:t>
            </a:r>
            <a:r>
              <a:rPr lang="en-US" sz="1200" b="1" dirty="0">
                <a:solidFill>
                  <a:srgbClr val="FFFFFF"/>
                </a:solidFill>
                <a:latin typeface="Courier New" pitchFamily="34" charset="0"/>
                <a:ea typeface="Courier New" pitchFamily="34" charset="-122"/>
                <a:cs typeface="Courier New" pitchFamily="34" charset="-120"/>
              </a:rPr>
              <a:t>show running-config</a:t>
            </a:r>
            <a:endParaRPr lang="en-US" sz="1200" dirty="0"/>
          </a:p>
        </p:txBody>
      </p:sp>
      <p:sp>
        <p:nvSpPr>
          <p:cNvPr id="13" name="Reveal 03 meaning"/>
          <p:cNvSpPr/>
          <p:nvPr/>
        </p:nvSpPr>
        <p:spPr>
          <a:xfrm>
            <a:off x="6720840" y="2900545"/>
            <a:ext cx="4922215" cy="543809"/>
          </a:xfrm>
          <a:prstGeom prst="rect">
            <a:avLst/>
          </a:prstGeom>
          <a:solidFill>
            <a:srgbClr val="F2F8F3"/>
          </a:solidFill>
          <a:ln/>
        </p:spPr>
        <p:txBody>
          <a:bodyPr wrap="square" lIns="109728" tIns="45720" rIns="109728" bIns="45720" rtlCol="0" anchor="ctr"/>
          <a:lstStyle/>
          <a:p>
            <a:pPr indent="0" marL="0">
              <a:buNone/>
            </a:pPr>
            <a:r>
              <a:rPr lang="en-US" sz="1400" dirty="0">
                <a:solidFill>
                  <a:srgbClr val="2B2B2B"/>
                </a:solidFill>
              </a:rPr>
              <a:t>Show the live configuration. Space = next page, Enter = next line, Q = quit.</a:t>
            </a:r>
            <a:endParaRPr lang="en-US" sz="1400" dirty="0"/>
          </a:p>
        </p:txBody>
      </p:sp>
      <p:sp>
        <p:nvSpPr>
          <p:cNvPr id="14" name="Command 04"/>
          <p:cNvSpPr/>
          <p:nvPr/>
        </p:nvSpPr>
        <p:spPr>
          <a:xfrm>
            <a:off x="548640" y="3462642"/>
            <a:ext cx="6153912" cy="54380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 </a:t>
            </a:r>
            <a:r>
              <a:rPr lang="en-US" sz="1200" b="1" dirty="0">
                <a:solidFill>
                  <a:srgbClr val="FFFFFF"/>
                </a:solidFill>
                <a:latin typeface="Courier New" pitchFamily="34" charset="0"/>
                <a:ea typeface="Courier New" pitchFamily="34" charset="-122"/>
                <a:cs typeface="Courier New" pitchFamily="34" charset="-120"/>
              </a:rPr>
              <a:t>show startup-config</a:t>
            </a:r>
            <a:endParaRPr lang="en-US" sz="1200" dirty="0"/>
          </a:p>
        </p:txBody>
      </p:sp>
      <p:sp>
        <p:nvSpPr>
          <p:cNvPr id="15" name="Reveal 04 meaning"/>
          <p:cNvSpPr/>
          <p:nvPr/>
        </p:nvSpPr>
        <p:spPr>
          <a:xfrm>
            <a:off x="6720840" y="3462642"/>
            <a:ext cx="4922215" cy="543809"/>
          </a:xfrm>
          <a:prstGeom prst="rect">
            <a:avLst/>
          </a:prstGeom>
          <a:solidFill>
            <a:srgbClr val="FFFFFF"/>
          </a:solidFill>
          <a:ln/>
        </p:spPr>
        <p:txBody>
          <a:bodyPr wrap="square" lIns="109728" tIns="45720" rIns="109728" bIns="45720" rtlCol="0" anchor="ctr"/>
          <a:lstStyle/>
          <a:p>
            <a:pPr indent="0" marL="0">
              <a:buNone/>
            </a:pPr>
            <a:r>
              <a:rPr lang="en-US" sz="1400" dirty="0">
                <a:solidFill>
                  <a:srgbClr val="2B2B2B"/>
                </a:solidFill>
              </a:rPr>
              <a:t>Show the saved configuration. Anything missing here is not saved yet.</a:t>
            </a:r>
            <a:endParaRPr lang="en-US" sz="1400" dirty="0"/>
          </a:p>
        </p:txBody>
      </p:sp>
      <p:sp>
        <p:nvSpPr>
          <p:cNvPr id="16" name="Command 05"/>
          <p:cNvSpPr/>
          <p:nvPr/>
        </p:nvSpPr>
        <p:spPr>
          <a:xfrm>
            <a:off x="548640" y="4024739"/>
            <a:ext cx="6153912" cy="54380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 </a:t>
            </a:r>
            <a:r>
              <a:rPr lang="en-US" sz="1200" b="1" dirty="0">
                <a:solidFill>
                  <a:srgbClr val="FFFFFF"/>
                </a:solidFill>
                <a:latin typeface="Courier New" pitchFamily="34" charset="0"/>
                <a:ea typeface="Courier New" pitchFamily="34" charset="-122"/>
                <a:cs typeface="Courier New" pitchFamily="34" charset="-120"/>
              </a:rPr>
              <a:t>erase startup-config</a:t>
            </a:r>
            <a:endParaRPr lang="en-US" sz="1200" dirty="0"/>
          </a:p>
          <a:p>
            <a:pPr indent="0" marL="0">
              <a:buNone/>
            </a:pPr>
            <a:r>
              <a:rPr lang="en-US" sz="1200" dirty="0">
                <a:solidFill>
                  <a:srgbClr val="8FC9A0"/>
                </a:solidFill>
                <a:latin typeface="Courier New" pitchFamily="34" charset="0"/>
                <a:ea typeface="Courier New" pitchFamily="34" charset="-122"/>
                <a:cs typeface="Courier New" pitchFamily="34" charset="-120"/>
              </a:rPr>
              <a:t>S1# </a:t>
            </a:r>
            <a:r>
              <a:rPr lang="en-US" sz="1200" b="1" dirty="0">
                <a:solidFill>
                  <a:srgbClr val="FFFFFF"/>
                </a:solidFill>
                <a:latin typeface="Courier New" pitchFamily="34" charset="0"/>
                <a:ea typeface="Courier New" pitchFamily="34" charset="-122"/>
                <a:cs typeface="Courier New" pitchFamily="34" charset="-120"/>
              </a:rPr>
              <a:t>delete flash:vlan.dat</a:t>
            </a:r>
            <a:endParaRPr lang="en-US" sz="1200" dirty="0"/>
          </a:p>
        </p:txBody>
      </p:sp>
      <p:sp>
        <p:nvSpPr>
          <p:cNvPr id="17" name="Reveal 05 meaning"/>
          <p:cNvSpPr/>
          <p:nvPr/>
        </p:nvSpPr>
        <p:spPr>
          <a:xfrm>
            <a:off x="6720840" y="4024739"/>
            <a:ext cx="4922215" cy="543809"/>
          </a:xfrm>
          <a:prstGeom prst="rect">
            <a:avLst/>
          </a:prstGeom>
          <a:solidFill>
            <a:srgbClr val="F2F8F3"/>
          </a:solidFill>
          <a:ln/>
        </p:spPr>
        <p:txBody>
          <a:bodyPr wrap="square" lIns="109728" tIns="45720" rIns="109728" bIns="45720" rtlCol="0" anchor="ctr"/>
          <a:lstStyle/>
          <a:p>
            <a:pPr indent="0" marL="0">
              <a:buNone/>
            </a:pPr>
            <a:r>
              <a:rPr lang="en-US" sz="1400" dirty="0">
                <a:solidFill>
                  <a:srgbClr val="2B2B2B"/>
                </a:solidFill>
              </a:rPr>
              <a:t>Wipe the saved configuration to start a lab again. A switch keeps its VLANs in </a:t>
            </a:r>
            <a:r>
              <a:rPr lang="en-US" sz="1300" b="1" dirty="0">
                <a:solidFill>
                  <a:srgbClr val="1E5631"/>
                </a:solidFill>
                <a:latin typeface="Courier New" pitchFamily="34" charset="0"/>
                <a:ea typeface="Courier New" pitchFamily="34" charset="-122"/>
                <a:cs typeface="Courier New" pitchFamily="34" charset="-120"/>
              </a:rPr>
              <a:t>vlan.dat</a:t>
            </a:r>
            <a:r>
              <a:rPr lang="en-US" sz="1400" dirty="0">
                <a:solidFill>
                  <a:srgbClr val="2B2B2B"/>
                </a:solidFill>
              </a:rPr>
              <a:t> — delete that too.</a:t>
            </a:r>
            <a:endParaRPr lang="en-US" sz="1400" dirty="0"/>
          </a:p>
        </p:txBody>
      </p:sp>
      <p:sp>
        <p:nvSpPr>
          <p:cNvPr id="18" name="Command 06"/>
          <p:cNvSpPr/>
          <p:nvPr/>
        </p:nvSpPr>
        <p:spPr>
          <a:xfrm>
            <a:off x="548640" y="4586836"/>
            <a:ext cx="6153912" cy="54380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 </a:t>
            </a:r>
            <a:r>
              <a:rPr lang="en-US" sz="1200" b="1" dirty="0">
                <a:solidFill>
                  <a:srgbClr val="FFFFFF"/>
                </a:solidFill>
                <a:latin typeface="Courier New" pitchFamily="34" charset="0"/>
                <a:ea typeface="Courier New" pitchFamily="34" charset="-122"/>
                <a:cs typeface="Courier New" pitchFamily="34" charset="-120"/>
              </a:rPr>
              <a:t>reload</a:t>
            </a:r>
            <a:endParaRPr lang="en-US" sz="1200" dirty="0"/>
          </a:p>
        </p:txBody>
      </p:sp>
      <p:sp>
        <p:nvSpPr>
          <p:cNvPr id="19" name="Reveal 06 meaning"/>
          <p:cNvSpPr/>
          <p:nvPr/>
        </p:nvSpPr>
        <p:spPr>
          <a:xfrm>
            <a:off x="6720840" y="4586836"/>
            <a:ext cx="4922215" cy="543809"/>
          </a:xfrm>
          <a:prstGeom prst="rect">
            <a:avLst/>
          </a:prstGeom>
          <a:solidFill>
            <a:srgbClr val="FFFFFF"/>
          </a:solidFill>
          <a:ln/>
        </p:spPr>
        <p:txBody>
          <a:bodyPr wrap="square" lIns="109728" tIns="45720" rIns="109728" bIns="45720" rtlCol="0" anchor="ctr"/>
          <a:lstStyle/>
          <a:p>
            <a:pPr indent="0" marL="0">
              <a:buNone/>
            </a:pPr>
            <a:r>
              <a:rPr lang="en-US" sz="1400" dirty="0">
                <a:solidFill>
                  <a:srgbClr val="2B2B2B"/>
                </a:solidFill>
              </a:rPr>
              <a:t>Restart the device. After an erase, answer </a:t>
            </a:r>
            <a:r>
              <a:rPr lang="en-US" sz="1300" b="1" dirty="0">
                <a:solidFill>
                  <a:srgbClr val="1E5631"/>
                </a:solidFill>
                <a:latin typeface="Courier New" pitchFamily="34" charset="0"/>
                <a:ea typeface="Courier New" pitchFamily="34" charset="-122"/>
                <a:cs typeface="Courier New" pitchFamily="34" charset="-120"/>
              </a:rPr>
              <a:t>no</a:t>
            </a:r>
            <a:r>
              <a:rPr lang="en-US" sz="1400" dirty="0">
                <a:solidFill>
                  <a:srgbClr val="2B2B2B"/>
                </a:solidFill>
              </a:rPr>
              <a:t> to “Save?” so it starts empty.</a:t>
            </a:r>
            <a:endParaRPr lang="en-US" sz="1400" dirty="0"/>
          </a:p>
        </p:txBody>
      </p:sp>
      <p:sp>
        <p:nvSpPr>
          <p:cNvPr id="20" name="Reveal 99 check box"/>
          <p:cNvSpPr/>
          <p:nvPr/>
        </p:nvSpPr>
        <p:spPr>
          <a:xfrm>
            <a:off x="548640" y="5504688"/>
            <a:ext cx="5410048" cy="749808"/>
          </a:xfrm>
          <a:prstGeom prst="roundRect">
            <a:avLst>
              <a:gd name="adj" fmla="val 9756"/>
            </a:avLst>
          </a:prstGeom>
          <a:solidFill>
            <a:srgbClr val="E8F1EA"/>
          </a:solidFill>
          <a:ln w="12700">
            <a:solidFill>
              <a:srgbClr val="B7C9BA"/>
            </a:solidFill>
            <a:prstDash val="solid"/>
          </a:ln>
        </p:spPr>
      </p:sp>
      <p:pic>
        <p:nvPicPr>
          <p:cNvPr id="21" name="Reveal 99 check icon" descr="Check it:">    </p:cNvPr>
          <p:cNvPicPr>
            <a:picLocks noChangeAspect="1"/>
          </p:cNvPicPr>
          <p:nvPr/>
        </p:nvPicPr>
        <p:blipFill>
          <a:blip r:embed="rId3"/>
          <a:stretch>
            <a:fillRect/>
          </a:stretch>
        </p:blipFill>
        <p:spPr>
          <a:xfrm>
            <a:off x="694944" y="5733288"/>
            <a:ext cx="292608" cy="292608"/>
          </a:xfrm>
          <a:prstGeom prst="rect">
            <a:avLst/>
          </a:prstGeom>
        </p:spPr>
      </p:pic>
      <p:sp>
        <p:nvSpPr>
          <p:cNvPr id="22" name="Reveal 99 check text"/>
          <p:cNvSpPr txBox="1"/>
          <p:nvPr/>
        </p:nvSpPr>
        <p:spPr>
          <a:xfrm>
            <a:off x="1097280" y="5541264"/>
            <a:ext cx="4751680" cy="676656"/>
          </a:xfrm>
          <a:prstGeom prst="rect">
            <a:avLst/>
          </a:prstGeom>
          <a:noFill/>
          <a:ln/>
        </p:spPr>
        <p:txBody>
          <a:bodyPr wrap="square" lIns="0" tIns="0" rIns="0" bIns="0" rtlCol="0" anchor="ctr"/>
          <a:lstStyle/>
          <a:p>
            <a:pPr indent="0" marL="0">
              <a:buNone/>
            </a:pPr>
            <a:r>
              <a:rPr lang="en-US" sz="1400" b="1" dirty="0">
                <a:solidFill>
                  <a:srgbClr val="1E5631"/>
                </a:solidFill>
              </a:rPr>
              <a:t>Check it:  </a:t>
            </a:r>
            <a:r>
              <a:rPr lang="en-US" sz="1400" dirty="0">
                <a:solidFill>
                  <a:srgbClr val="2B2B2B"/>
                </a:solidFill>
              </a:rPr>
              <a:t>After saving, </a:t>
            </a:r>
            <a:r>
              <a:rPr lang="en-US" sz="1300" b="1" dirty="0">
                <a:solidFill>
                  <a:srgbClr val="1E5631"/>
                </a:solidFill>
                <a:latin typeface="Courier New" pitchFamily="34" charset="0"/>
                <a:ea typeface="Courier New" pitchFamily="34" charset="-122"/>
                <a:cs typeface="Courier New" pitchFamily="34" charset="-120"/>
              </a:rPr>
              <a:t>show startup-config</a:t>
            </a:r>
            <a:r>
              <a:rPr lang="en-US" sz="1400" dirty="0">
                <a:solidFill>
                  <a:srgbClr val="2B2B2B"/>
                </a:solidFill>
              </a:rPr>
              <a:t> shows your hostname and passwords.</a:t>
            </a:r>
            <a:endParaRPr lang="en-US" sz="1400" dirty="0"/>
          </a:p>
        </p:txBody>
      </p:sp>
      <p:sp>
        <p:nvSpPr>
          <p:cNvPr id="23" name="Reveal 99 watch box"/>
          <p:cNvSpPr/>
          <p:nvPr/>
        </p:nvSpPr>
        <p:spPr>
          <a:xfrm>
            <a:off x="6233008" y="5504688"/>
            <a:ext cx="5410048" cy="749808"/>
          </a:xfrm>
          <a:prstGeom prst="roundRect">
            <a:avLst>
              <a:gd name="adj" fmla="val 9756"/>
            </a:avLst>
          </a:prstGeom>
          <a:solidFill>
            <a:srgbClr val="FBEAEA"/>
          </a:solidFill>
          <a:ln w="12700">
            <a:solidFill>
              <a:srgbClr val="E9B8B5"/>
            </a:solidFill>
            <a:prstDash val="solid"/>
          </a:ln>
        </p:spPr>
      </p:sp>
      <p:pic>
        <p:nvPicPr>
          <p:cNvPr id="24" name="Reveal 99 watch icon" descr="Watch out:">    </p:cNvPr>
          <p:cNvPicPr>
            <a:picLocks noChangeAspect="1"/>
          </p:cNvPicPr>
          <p:nvPr/>
        </p:nvPicPr>
        <p:blipFill>
          <a:blip r:embed="rId4"/>
          <a:stretch>
            <a:fillRect/>
          </a:stretch>
        </p:blipFill>
        <p:spPr>
          <a:xfrm>
            <a:off x="6379312" y="5733288"/>
            <a:ext cx="292608" cy="292608"/>
          </a:xfrm>
          <a:prstGeom prst="rect">
            <a:avLst/>
          </a:prstGeom>
        </p:spPr>
      </p:pic>
      <p:sp>
        <p:nvSpPr>
          <p:cNvPr id="25" name="Reveal 99 watch text"/>
          <p:cNvSpPr txBox="1"/>
          <p:nvPr/>
        </p:nvSpPr>
        <p:spPr>
          <a:xfrm>
            <a:off x="6781648" y="5541264"/>
            <a:ext cx="4751680" cy="676656"/>
          </a:xfrm>
          <a:prstGeom prst="rect">
            <a:avLst/>
          </a:prstGeom>
          <a:noFill/>
          <a:ln/>
        </p:spPr>
        <p:txBody>
          <a:bodyPr wrap="square" lIns="0" tIns="0" rIns="0" bIns="0" rtlCol="0" anchor="ctr"/>
          <a:lstStyle/>
          <a:p>
            <a:pPr indent="0" marL="0">
              <a:buNone/>
            </a:pPr>
            <a:r>
              <a:rPr lang="en-US" sz="1400" b="1" dirty="0">
                <a:solidFill>
                  <a:srgbClr val="8B1A1A"/>
                </a:solidFill>
              </a:rPr>
              <a:t>Watch out:  </a:t>
            </a:r>
            <a:r>
              <a:rPr lang="en-US" sz="1400" dirty="0">
                <a:solidFill>
                  <a:srgbClr val="2B2B2B"/>
                </a:solidFill>
              </a:rPr>
              <a:t>Anything not saved is lost when the device reloads or loses power — save after every step that works.</a:t>
            </a:r>
            <a:endParaRPr lang="en-US" sz="1400" dirty="0"/>
          </a:p>
        </p:txBody>
      </p:sp>
      <p:sp>
        <p:nvSpPr>
          <p:cNvPr id="26" name="Slide Number Placeholder 0"/>
          <p:cNvSpPr>
            <a:spLocks noGrp="1"/>
          </p:cNvSpPr>
          <p:nvPr>
            <p:ph type="sldNum" sz="quarter" idx="4294967295"/>
          </p:nvPr>
        </p:nvSpPr>
        <p:spPr>
          <a:xfrm>
            <a:off x="10698480" y="6464808"/>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r"/>
            <a:fld id="{F7021451-1387-4CA6-816F-3879F97B5CBC}" type="slidenum">
              <a:rPr b="0" lang="en-US"/>
              <a:t>18</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4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0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400"/>
                                        <p:tgtEl>
                                          <p:spTgt spid="1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00"/>
                                        <p:tgtEl>
                                          <p:spTgt spid="20"/>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00"/>
                                        <p:tgtEl>
                                          <p:spTgt spid="21"/>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2"/>
                                        </p:tgtEl>
                                        <p:attrNameLst>
                                          <p:attrName>style.visibility</p:attrName>
                                        </p:attrNameLst>
                                      </p:cBhvr>
                                      <p:to>
                                        <p:strVal val="visible"/>
                                      </p:to>
                                    </p:set>
                                    <p:animEffect transition="in" filter="fade">
                                      <p:cBhvr>
                                        <p:cTn id="43" dur="400"/>
                                        <p:tgtEl>
                                          <p:spTgt spid="22"/>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3"/>
                                        </p:tgtEl>
                                        <p:attrNameLst>
                                          <p:attrName>style.visibility</p:attrName>
                                        </p:attrNameLst>
                                      </p:cBhvr>
                                      <p:to>
                                        <p:strVal val="visible"/>
                                      </p:to>
                                    </p:set>
                                    <p:animEffect transition="in" filter="fade">
                                      <p:cBhvr>
                                        <p:cTn id="46" dur="400"/>
                                        <p:tgtEl>
                                          <p:spTgt spid="23"/>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4"/>
                                        </p:tgtEl>
                                        <p:attrNameLst>
                                          <p:attrName>style.visibility</p:attrName>
                                        </p:attrNameLst>
                                      </p:cBhvr>
                                      <p:to>
                                        <p:strVal val="visible"/>
                                      </p:to>
                                    </p:set>
                                    <p:animEffect transition="in" filter="fade">
                                      <p:cBhvr>
                                        <p:cTn id="49" dur="400"/>
                                        <p:tgtEl>
                                          <p:spTgt spid="24"/>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fade">
                                      <p:cBhvr>
                                        <p:cTn id="52"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3" grpId="0" animBg="1"/>
      <p:bldP spid="15" grpId="0" animBg="1"/>
      <p:bldP spid="17" grpId="0" animBg="1"/>
      <p:bldP spid="19" grpId="0" animBg="1"/>
      <p:bldP spid="20" grpId="0" animBg="1"/>
      <p:bldP spid="22" grpId="0" animBg="1"/>
      <p:bldP spid="23" grpId="0" animBg="1"/>
      <p:bldP spid="2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2" type="body" hasCustomPrompt="1"/>
          </p:nvPr>
        </p:nvSpPr>
        <p:spPr>
          <a:xfrm>
            <a:off x="548640" y="274320"/>
            <a:ext cx="9966960" cy="256032"/>
          </a:xfrm>
          <a:prstGeom prst="rect">
            <a:avLst/>
          </a:prstGeom>
          <a:noFill/>
          <a:ln/>
        </p:spPr>
        <p:txBody>
          <a:bodyPr wrap="square" lIns="0" tIns="0" rIns="0" bIns="0" rtlCol="0" anchor="ctr"/>
          <a:lstStyle/>
          <a:p>
            <a:pPr algn="l" indent="0" marL="0">
              <a:buNone/>
            </a:pPr>
            <a:r>
              <a:rPr lang="en-US" sz="1100" b="1" spc="100" kern="0" dirty="0">
                <a:solidFill>
                  <a:schemeClr val="accent2"/>
                </a:solidFill>
              </a:rPr>
              <a:t>03  •  BASIC SET-UP &amp; SSH  •  LAB 1</a:t>
            </a:r>
            <a:endParaRPr lang="en-US" sz="1100" dirty="0"/>
          </a:p>
        </p:txBody>
      </p:sp>
      <p:sp>
        <p:nvSpPr>
          <p:cNvPr id="3" name="Text 1"/>
          <p:cNvSpPr/>
          <p:nvPr>
            <p:ph idx="103" type="title" hasCustomPrompt="1"/>
          </p:nvPr>
        </p:nvSpPr>
        <p:spPr>
          <a:xfrm>
            <a:off x="548640" y="548640"/>
            <a:ext cx="10149840" cy="548640"/>
          </a:xfrm>
          <a:prstGeom prst="rect">
            <a:avLst/>
          </a:prstGeom>
          <a:noFill/>
          <a:ln/>
        </p:spPr>
        <p:txBody>
          <a:bodyPr wrap="square" lIns="0" tIns="0" rIns="0" bIns="0" rtlCol="0" anchor="ctr"/>
          <a:lstStyle/>
          <a:p>
            <a:pPr algn="l" indent="0" marL="0">
              <a:buNone/>
            </a:pPr>
            <a:r>
              <a:rPr lang="en-US" sz="2600" b="1" dirty="0">
                <a:solidFill>
                  <a:schemeClr val="accent1"/>
                </a:solidFill>
              </a:rPr>
              <a:t>How to configure a router interface with an IP address</a:t>
            </a:r>
            <a:endParaRPr lang="en-US" sz="2600" dirty="0"/>
          </a:p>
        </p:txBody>
      </p:sp>
      <p:pic>
        <p:nvPicPr>
          <p:cNvPr id="4" name="Home button" descr="Home: back to the workbook menu">
            <a:hlinkClick r:id="rId2" tooltip="Back to the workbook menu" action="ppaction://hlinksldjump"/>
          </p:cNvPr>
          <p:cNvPicPr>
            <a:picLocks noChangeAspect="1"/>
          </p:cNvPicPr>
          <p:nvPr/>
        </p:nvPicPr>
        <p:blipFill>
          <a:blip r:embed="rId1"/>
          <a:stretch>
            <a:fillRect/>
          </a:stretch>
        </p:blipFill>
        <p:spPr>
          <a:xfrm>
            <a:off x="11365992" y="6336792"/>
            <a:ext cx="365760" cy="365760"/>
          </a:xfrm>
          <a:prstGeom prst="rect">
            <a:avLst/>
          </a:prstGeom>
        </p:spPr>
      </p:pic>
      <p:sp>
        <p:nvSpPr>
          <p:cNvPr id="5" name="Goal"/>
          <p:cNvSpPr txBox="1"/>
          <p:nvPr/>
        </p:nvSpPr>
        <p:spPr>
          <a:xfrm>
            <a:off x="548640" y="1161288"/>
            <a:ext cx="11094415" cy="384048"/>
          </a:xfrm>
          <a:prstGeom prst="rect">
            <a:avLst/>
          </a:prstGeom>
          <a:noFill/>
          <a:ln/>
        </p:spPr>
        <p:txBody>
          <a:bodyPr wrap="square" lIns="0" tIns="0" rIns="0" bIns="0" rtlCol="0" anchor="ctr"/>
          <a:lstStyle/>
          <a:p>
            <a:pPr indent="0" marL="0">
              <a:buNone/>
            </a:pPr>
            <a:r>
              <a:rPr lang="en-US" sz="1400" b="1" dirty="0">
                <a:solidFill>
                  <a:srgbClr val="2B7043"/>
                </a:solidFill>
              </a:rPr>
              <a:t>Goal:  </a:t>
            </a:r>
            <a:r>
              <a:rPr lang="en-US" sz="1400" dirty="0">
                <a:solidFill>
                  <a:srgbClr val="2B2B2B"/>
                </a:solidFill>
              </a:rPr>
              <a:t>Give R1’s LAN port an address so the PCs on that LAN can use it as their default gateway (192.168.1.0/24).</a:t>
            </a:r>
            <a:endParaRPr lang="en-US" sz="1400" dirty="0"/>
          </a:p>
        </p:txBody>
      </p:sp>
      <p:sp>
        <p:nvSpPr>
          <p:cNvPr id="6" name="Command header"/>
          <p:cNvSpPr/>
          <p:nvPr/>
        </p:nvSpPr>
        <p:spPr>
          <a:xfrm>
            <a:off x="548640" y="1664208"/>
            <a:ext cx="6153912" cy="310896"/>
          </a:xfrm>
          <a:prstGeom prst="rect">
            <a:avLst/>
          </a:prstGeom>
          <a:solidFill>
            <a:srgbClr val="1B2B22"/>
          </a:solidFill>
          <a:ln/>
        </p:spPr>
        <p:txBody>
          <a:bodyPr wrap="square" lIns="109728" tIns="45720" rIns="109728" bIns="45720" rtlCol="0" anchor="ctr"/>
          <a:lstStyle/>
          <a:p>
            <a:pPr indent="0" marL="0">
              <a:buNone/>
            </a:pPr>
            <a:r>
              <a:rPr lang="en-US" sz="1100" dirty="0">
                <a:solidFill>
                  <a:srgbClr val="E0605A"/>
                </a:solidFill>
              </a:rPr>
              <a:t>●  </a:t>
            </a:r>
            <a:r>
              <a:rPr lang="en-US" sz="1100" dirty="0">
                <a:solidFill>
                  <a:srgbClr val="E8B92E"/>
                </a:solidFill>
              </a:rPr>
              <a:t>●  </a:t>
            </a:r>
            <a:r>
              <a:rPr lang="en-US" sz="1100" dirty="0">
                <a:solidFill>
                  <a:srgbClr val="4CAF50"/>
                </a:solidFill>
              </a:rPr>
              <a:t>●   </a:t>
            </a:r>
            <a:r>
              <a:rPr lang="en-US" sz="1100" b="1" dirty="0">
                <a:solidFill>
                  <a:srgbClr val="C9D6CC"/>
                </a:solidFill>
              </a:rPr>
              <a:t>R1  —  type the white text, then press Enter</a:t>
            </a:r>
            <a:endParaRPr lang="en-US" sz="1100" dirty="0"/>
          </a:p>
        </p:txBody>
      </p:sp>
      <p:sp>
        <p:nvSpPr>
          <p:cNvPr id="7" name="Meaning header"/>
          <p:cNvSpPr/>
          <p:nvPr/>
        </p:nvSpPr>
        <p:spPr>
          <a:xfrm>
            <a:off x="6720840" y="1664208"/>
            <a:ext cx="4922215" cy="310896"/>
          </a:xfrm>
          <a:prstGeom prst="rect">
            <a:avLst/>
          </a:prstGeom>
          <a:solidFill>
            <a:srgbClr val="E8F1EA"/>
          </a:solidFill>
          <a:ln/>
        </p:spPr>
        <p:txBody>
          <a:bodyPr wrap="square" lIns="109728" tIns="45720" rIns="109728" bIns="45720" rtlCol="0" anchor="ctr"/>
          <a:lstStyle/>
          <a:p>
            <a:pPr indent="0" marL="0">
              <a:buNone/>
            </a:pPr>
            <a:r>
              <a:rPr lang="en-US" sz="1200" b="1" dirty="0">
                <a:solidFill>
                  <a:srgbClr val="1E5631"/>
                </a:solidFill>
              </a:rPr>
              <a:t>What it does</a:t>
            </a:r>
            <a:endParaRPr lang="en-US" sz="1200" dirty="0"/>
          </a:p>
        </p:txBody>
      </p:sp>
      <p:sp>
        <p:nvSpPr>
          <p:cNvPr id="8" name="Command 01"/>
          <p:cNvSpPr/>
          <p:nvPr/>
        </p:nvSpPr>
        <p:spPr>
          <a:xfrm>
            <a:off x="548640" y="1993392"/>
            <a:ext cx="6153912" cy="54380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R1(config)# </a:t>
            </a:r>
            <a:r>
              <a:rPr lang="en-US" sz="1200" b="1" dirty="0">
                <a:solidFill>
                  <a:srgbClr val="FFFFFF"/>
                </a:solidFill>
                <a:latin typeface="Courier New" pitchFamily="34" charset="0"/>
                <a:ea typeface="Courier New" pitchFamily="34" charset="-122"/>
                <a:cs typeface="Courier New" pitchFamily="34" charset="-120"/>
              </a:rPr>
              <a:t>interface g0/0/0</a:t>
            </a:r>
            <a:endParaRPr lang="en-US" sz="1200" dirty="0"/>
          </a:p>
        </p:txBody>
      </p:sp>
      <p:sp>
        <p:nvSpPr>
          <p:cNvPr id="9" name="Reveal 01 meaning"/>
          <p:cNvSpPr/>
          <p:nvPr/>
        </p:nvSpPr>
        <p:spPr>
          <a:xfrm>
            <a:off x="6720840" y="1993392"/>
            <a:ext cx="4922215" cy="543809"/>
          </a:xfrm>
          <a:prstGeom prst="rect">
            <a:avLst/>
          </a:prstGeom>
          <a:solidFill>
            <a:srgbClr val="F2F8F3"/>
          </a:solidFill>
          <a:ln/>
        </p:spPr>
        <p:txBody>
          <a:bodyPr wrap="square" lIns="109728" tIns="45720" rIns="109728" bIns="45720" rtlCol="0" anchor="ctr"/>
          <a:lstStyle/>
          <a:p>
            <a:pPr indent="0" marL="0">
              <a:buNone/>
            </a:pPr>
            <a:r>
              <a:rPr lang="en-US" sz="1400" dirty="0">
                <a:solidFill>
                  <a:srgbClr val="2B2B2B"/>
                </a:solidFill>
              </a:rPr>
              <a:t>Select the port (full name GigabitEthernet0/0/0). The prompt becomes </a:t>
            </a:r>
            <a:r>
              <a:rPr lang="en-US" sz="1300" b="1" dirty="0">
                <a:solidFill>
                  <a:srgbClr val="1E5631"/>
                </a:solidFill>
                <a:latin typeface="Courier New" pitchFamily="34" charset="0"/>
                <a:ea typeface="Courier New" pitchFamily="34" charset="-122"/>
                <a:cs typeface="Courier New" pitchFamily="34" charset="-120"/>
              </a:rPr>
              <a:t>(config-if)#</a:t>
            </a:r>
            <a:r>
              <a:rPr lang="en-US" sz="1400" dirty="0">
                <a:solidFill>
                  <a:srgbClr val="2B2B2B"/>
                </a:solidFill>
              </a:rPr>
              <a:t>.</a:t>
            </a:r>
            <a:endParaRPr lang="en-US" sz="1400" dirty="0"/>
          </a:p>
        </p:txBody>
      </p:sp>
      <p:sp>
        <p:nvSpPr>
          <p:cNvPr id="10" name="Command 02"/>
          <p:cNvSpPr/>
          <p:nvPr/>
        </p:nvSpPr>
        <p:spPr>
          <a:xfrm>
            <a:off x="548640" y="2555489"/>
            <a:ext cx="6153912" cy="54380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R1(config-if)# </a:t>
            </a:r>
            <a:r>
              <a:rPr lang="en-US" sz="1200" b="1" dirty="0">
                <a:solidFill>
                  <a:srgbClr val="FFFFFF"/>
                </a:solidFill>
                <a:latin typeface="Courier New" pitchFamily="34" charset="0"/>
                <a:ea typeface="Courier New" pitchFamily="34" charset="-122"/>
                <a:cs typeface="Courier New" pitchFamily="34" charset="-120"/>
              </a:rPr>
              <a:t>description LAN to S1 - ICT Lab</a:t>
            </a:r>
            <a:endParaRPr lang="en-US" sz="1200" dirty="0"/>
          </a:p>
        </p:txBody>
      </p:sp>
      <p:sp>
        <p:nvSpPr>
          <p:cNvPr id="11" name="Reveal 02 meaning"/>
          <p:cNvSpPr/>
          <p:nvPr/>
        </p:nvSpPr>
        <p:spPr>
          <a:xfrm>
            <a:off x="6720840" y="2555489"/>
            <a:ext cx="4922215" cy="543809"/>
          </a:xfrm>
          <a:prstGeom prst="rect">
            <a:avLst/>
          </a:prstGeom>
          <a:solidFill>
            <a:srgbClr val="FFFFFF"/>
          </a:solidFill>
          <a:ln/>
        </p:spPr>
        <p:txBody>
          <a:bodyPr wrap="square" lIns="109728" tIns="45720" rIns="109728" bIns="45720" rtlCol="0" anchor="ctr"/>
          <a:lstStyle/>
          <a:p>
            <a:pPr indent="0" marL="0">
              <a:buNone/>
            </a:pPr>
            <a:r>
              <a:rPr lang="en-US" sz="1400" dirty="0">
                <a:solidFill>
                  <a:srgbClr val="2B2B2B"/>
                </a:solidFill>
              </a:rPr>
              <a:t>A label for people. It changes nothing, but helps whoever troubleshoots later.</a:t>
            </a:r>
            <a:endParaRPr lang="en-US" sz="1400" dirty="0"/>
          </a:p>
        </p:txBody>
      </p:sp>
      <p:sp>
        <p:nvSpPr>
          <p:cNvPr id="12" name="Command 03"/>
          <p:cNvSpPr/>
          <p:nvPr/>
        </p:nvSpPr>
        <p:spPr>
          <a:xfrm>
            <a:off x="548640" y="3117586"/>
            <a:ext cx="6153912" cy="54380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R1(config-if)# </a:t>
            </a:r>
            <a:r>
              <a:rPr lang="en-US" sz="1200" b="1" dirty="0">
                <a:solidFill>
                  <a:srgbClr val="FFFFFF"/>
                </a:solidFill>
                <a:latin typeface="Courier New" pitchFamily="34" charset="0"/>
                <a:ea typeface="Courier New" pitchFamily="34" charset="-122"/>
                <a:cs typeface="Courier New" pitchFamily="34" charset="-120"/>
              </a:rPr>
              <a:t>ip address 192.168.1.1 255.255.255.0</a:t>
            </a:r>
            <a:endParaRPr lang="en-US" sz="1200" dirty="0"/>
          </a:p>
        </p:txBody>
      </p:sp>
      <p:sp>
        <p:nvSpPr>
          <p:cNvPr id="13" name="Reveal 03 meaning"/>
          <p:cNvSpPr/>
          <p:nvPr/>
        </p:nvSpPr>
        <p:spPr>
          <a:xfrm>
            <a:off x="6720840" y="3117586"/>
            <a:ext cx="4922215" cy="543809"/>
          </a:xfrm>
          <a:prstGeom prst="rect">
            <a:avLst/>
          </a:prstGeom>
          <a:solidFill>
            <a:srgbClr val="F2F8F3"/>
          </a:solidFill>
          <a:ln/>
        </p:spPr>
        <p:txBody>
          <a:bodyPr wrap="square" lIns="109728" tIns="45720" rIns="109728" bIns="45720" rtlCol="0" anchor="ctr"/>
          <a:lstStyle/>
          <a:p>
            <a:pPr indent="0" marL="0">
              <a:buNone/>
            </a:pPr>
            <a:r>
              <a:rPr lang="en-US" sz="1400" dirty="0">
                <a:solidFill>
                  <a:srgbClr val="2B2B2B"/>
                </a:solidFill>
              </a:rPr>
              <a:t>The port’s address and subnet mask. PCs on this LAN use 192.168.1.1 as their default gateway.</a:t>
            </a:r>
            <a:endParaRPr lang="en-US" sz="1400" dirty="0"/>
          </a:p>
        </p:txBody>
      </p:sp>
      <p:sp>
        <p:nvSpPr>
          <p:cNvPr id="14" name="Command 04"/>
          <p:cNvSpPr/>
          <p:nvPr/>
        </p:nvSpPr>
        <p:spPr>
          <a:xfrm>
            <a:off x="548640" y="3679683"/>
            <a:ext cx="6153912" cy="54380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R1(config-if)# </a:t>
            </a:r>
            <a:r>
              <a:rPr lang="en-US" sz="1200" b="1" dirty="0">
                <a:solidFill>
                  <a:srgbClr val="FFFFFF"/>
                </a:solidFill>
                <a:latin typeface="Courier New" pitchFamily="34" charset="0"/>
                <a:ea typeface="Courier New" pitchFamily="34" charset="-122"/>
                <a:cs typeface="Courier New" pitchFamily="34" charset="-120"/>
              </a:rPr>
              <a:t>no shutdown</a:t>
            </a:r>
            <a:endParaRPr lang="en-US" sz="1200" dirty="0"/>
          </a:p>
        </p:txBody>
      </p:sp>
      <p:sp>
        <p:nvSpPr>
          <p:cNvPr id="15" name="Reveal 04 meaning"/>
          <p:cNvSpPr/>
          <p:nvPr/>
        </p:nvSpPr>
        <p:spPr>
          <a:xfrm>
            <a:off x="6720840" y="3679683"/>
            <a:ext cx="4922215" cy="543809"/>
          </a:xfrm>
          <a:prstGeom prst="rect">
            <a:avLst/>
          </a:prstGeom>
          <a:solidFill>
            <a:srgbClr val="FFFFFF"/>
          </a:solidFill>
          <a:ln/>
        </p:spPr>
        <p:txBody>
          <a:bodyPr wrap="square" lIns="109728" tIns="45720" rIns="109728" bIns="45720" rtlCol="0" anchor="ctr"/>
          <a:lstStyle/>
          <a:p>
            <a:pPr indent="0" marL="0">
              <a:buNone/>
            </a:pPr>
            <a:r>
              <a:rPr lang="en-US" sz="1400" dirty="0">
                <a:solidFill>
                  <a:srgbClr val="2B2B2B"/>
                </a:solidFill>
              </a:rPr>
              <a:t>Switch the port on. Router ports start “administratively down” — the number-one cause of red links.</a:t>
            </a:r>
            <a:endParaRPr lang="en-US" sz="1400" dirty="0"/>
          </a:p>
        </p:txBody>
      </p:sp>
      <p:sp>
        <p:nvSpPr>
          <p:cNvPr id="16" name="Command 05"/>
          <p:cNvSpPr/>
          <p:nvPr/>
        </p:nvSpPr>
        <p:spPr>
          <a:xfrm>
            <a:off x="548640" y="4241780"/>
            <a:ext cx="6153912" cy="326768"/>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R1(config-if)# </a:t>
            </a:r>
            <a:r>
              <a:rPr lang="en-US" sz="1200" b="1" dirty="0">
                <a:solidFill>
                  <a:srgbClr val="FFFFFF"/>
                </a:solidFill>
                <a:latin typeface="Courier New" pitchFamily="34" charset="0"/>
                <a:ea typeface="Courier New" pitchFamily="34" charset="-122"/>
                <a:cs typeface="Courier New" pitchFamily="34" charset="-120"/>
              </a:rPr>
              <a:t>exit</a:t>
            </a:r>
            <a:endParaRPr lang="en-US" sz="1200" dirty="0"/>
          </a:p>
        </p:txBody>
      </p:sp>
      <p:sp>
        <p:nvSpPr>
          <p:cNvPr id="17" name="Reveal 05 meaning"/>
          <p:cNvSpPr/>
          <p:nvPr/>
        </p:nvSpPr>
        <p:spPr>
          <a:xfrm>
            <a:off x="6720840" y="4241780"/>
            <a:ext cx="4922215" cy="326768"/>
          </a:xfrm>
          <a:prstGeom prst="rect">
            <a:avLst/>
          </a:prstGeom>
          <a:solidFill>
            <a:srgbClr val="F2F8F3"/>
          </a:solidFill>
          <a:ln/>
        </p:spPr>
        <p:txBody>
          <a:bodyPr wrap="square" lIns="109728" tIns="45720" rIns="109728" bIns="45720" rtlCol="0" anchor="ctr"/>
          <a:lstStyle/>
          <a:p>
            <a:pPr indent="0" marL="0">
              <a:buNone/>
            </a:pPr>
            <a:r>
              <a:rPr lang="en-US" sz="1400" dirty="0">
                <a:solidFill>
                  <a:srgbClr val="2B2B2B"/>
                </a:solidFill>
              </a:rPr>
              <a:t>Back to global configuration mode.</a:t>
            </a:r>
            <a:endParaRPr lang="en-US" sz="1400" dirty="0"/>
          </a:p>
        </p:txBody>
      </p:sp>
      <p:sp>
        <p:nvSpPr>
          <p:cNvPr id="18" name="Reveal 99 check box"/>
          <p:cNvSpPr/>
          <p:nvPr/>
        </p:nvSpPr>
        <p:spPr>
          <a:xfrm>
            <a:off x="548640" y="5504688"/>
            <a:ext cx="5410048" cy="749808"/>
          </a:xfrm>
          <a:prstGeom prst="roundRect">
            <a:avLst>
              <a:gd name="adj" fmla="val 9756"/>
            </a:avLst>
          </a:prstGeom>
          <a:solidFill>
            <a:srgbClr val="E8F1EA"/>
          </a:solidFill>
          <a:ln w="12700">
            <a:solidFill>
              <a:srgbClr val="B7C9BA"/>
            </a:solidFill>
            <a:prstDash val="solid"/>
          </a:ln>
        </p:spPr>
      </p:sp>
      <p:pic>
        <p:nvPicPr>
          <p:cNvPr id="19" name="Reveal 99 check icon" descr="Check it:">    </p:cNvPr>
          <p:cNvPicPr>
            <a:picLocks noChangeAspect="1"/>
          </p:cNvPicPr>
          <p:nvPr/>
        </p:nvPicPr>
        <p:blipFill>
          <a:blip r:embed="rId3"/>
          <a:stretch>
            <a:fillRect/>
          </a:stretch>
        </p:blipFill>
        <p:spPr>
          <a:xfrm>
            <a:off x="694944" y="5733288"/>
            <a:ext cx="292608" cy="292608"/>
          </a:xfrm>
          <a:prstGeom prst="rect">
            <a:avLst/>
          </a:prstGeom>
        </p:spPr>
      </p:pic>
      <p:sp>
        <p:nvSpPr>
          <p:cNvPr id="20" name="Reveal 99 check text"/>
          <p:cNvSpPr txBox="1"/>
          <p:nvPr/>
        </p:nvSpPr>
        <p:spPr>
          <a:xfrm>
            <a:off x="1097280" y="5541264"/>
            <a:ext cx="4751680" cy="676656"/>
          </a:xfrm>
          <a:prstGeom prst="rect">
            <a:avLst/>
          </a:prstGeom>
          <a:noFill/>
          <a:ln/>
        </p:spPr>
        <p:txBody>
          <a:bodyPr wrap="square" lIns="0" tIns="0" rIns="0" bIns="0" rtlCol="0" anchor="ctr"/>
          <a:lstStyle/>
          <a:p>
            <a:pPr indent="0" marL="0">
              <a:buNone/>
            </a:pPr>
            <a:r>
              <a:rPr lang="en-US" sz="1400" b="1" dirty="0">
                <a:solidFill>
                  <a:srgbClr val="1E5631"/>
                </a:solidFill>
              </a:rPr>
              <a:t>Check it:  </a:t>
            </a:r>
            <a:r>
              <a:rPr lang="en-US" sz="1300" b="1" dirty="0">
                <a:solidFill>
                  <a:srgbClr val="1E5631"/>
                </a:solidFill>
                <a:latin typeface="Courier New" pitchFamily="34" charset="0"/>
                <a:ea typeface="Courier New" pitchFamily="34" charset="-122"/>
                <a:cs typeface="Courier New" pitchFamily="34" charset="-120"/>
              </a:rPr>
              <a:t>show ip interface brief</a:t>
            </a:r>
            <a:r>
              <a:rPr lang="en-US" sz="1400" dirty="0">
                <a:solidFill>
                  <a:srgbClr val="2B2B2B"/>
                </a:solidFill>
              </a:rPr>
              <a:t> → G0/0/0 192.168.1.1 up up. From PC-A, </a:t>
            </a:r>
            <a:r>
              <a:rPr lang="en-US" sz="1300" b="1" dirty="0">
                <a:solidFill>
                  <a:srgbClr val="1E5631"/>
                </a:solidFill>
                <a:latin typeface="Courier New" pitchFamily="34" charset="0"/>
                <a:ea typeface="Courier New" pitchFamily="34" charset="-122"/>
                <a:cs typeface="Courier New" pitchFamily="34" charset="-120"/>
              </a:rPr>
              <a:t>ping 192.168.1.1</a:t>
            </a:r>
            <a:r>
              <a:rPr lang="en-US" sz="1400" dirty="0">
                <a:solidFill>
                  <a:srgbClr val="2B2B2B"/>
                </a:solidFill>
              </a:rPr>
              <a:t> gets replies.</a:t>
            </a:r>
            <a:endParaRPr lang="en-US" sz="1400" dirty="0"/>
          </a:p>
        </p:txBody>
      </p:sp>
      <p:sp>
        <p:nvSpPr>
          <p:cNvPr id="21" name="Reveal 99 watch box"/>
          <p:cNvSpPr/>
          <p:nvPr/>
        </p:nvSpPr>
        <p:spPr>
          <a:xfrm>
            <a:off x="6233008" y="5504688"/>
            <a:ext cx="5410048" cy="749808"/>
          </a:xfrm>
          <a:prstGeom prst="roundRect">
            <a:avLst>
              <a:gd name="adj" fmla="val 9756"/>
            </a:avLst>
          </a:prstGeom>
          <a:solidFill>
            <a:srgbClr val="FBEAEA"/>
          </a:solidFill>
          <a:ln w="12700">
            <a:solidFill>
              <a:srgbClr val="E9B8B5"/>
            </a:solidFill>
            <a:prstDash val="solid"/>
          </a:ln>
        </p:spPr>
      </p:sp>
      <p:pic>
        <p:nvPicPr>
          <p:cNvPr id="22" name="Reveal 99 watch icon" descr="Watch out:">    </p:cNvPr>
          <p:cNvPicPr>
            <a:picLocks noChangeAspect="1"/>
          </p:cNvPicPr>
          <p:nvPr/>
        </p:nvPicPr>
        <p:blipFill>
          <a:blip r:embed="rId4"/>
          <a:stretch>
            <a:fillRect/>
          </a:stretch>
        </p:blipFill>
        <p:spPr>
          <a:xfrm>
            <a:off x="6379312" y="5733288"/>
            <a:ext cx="292608" cy="292608"/>
          </a:xfrm>
          <a:prstGeom prst="rect">
            <a:avLst/>
          </a:prstGeom>
        </p:spPr>
      </p:pic>
      <p:sp>
        <p:nvSpPr>
          <p:cNvPr id="23" name="Reveal 99 watch text"/>
          <p:cNvSpPr txBox="1"/>
          <p:nvPr/>
        </p:nvSpPr>
        <p:spPr>
          <a:xfrm>
            <a:off x="6781648" y="5541264"/>
            <a:ext cx="4751680" cy="676656"/>
          </a:xfrm>
          <a:prstGeom prst="rect">
            <a:avLst/>
          </a:prstGeom>
          <a:noFill/>
          <a:ln/>
        </p:spPr>
        <p:txBody>
          <a:bodyPr wrap="square" lIns="0" tIns="0" rIns="0" bIns="0" rtlCol="0" anchor="ctr"/>
          <a:lstStyle/>
          <a:p>
            <a:pPr indent="0" marL="0">
              <a:buNone/>
            </a:pPr>
            <a:r>
              <a:rPr lang="en-US" sz="1400" b="1" dirty="0">
                <a:solidFill>
                  <a:srgbClr val="8B1A1A"/>
                </a:solidFill>
              </a:rPr>
              <a:t>Watch out:  </a:t>
            </a:r>
            <a:r>
              <a:rPr lang="en-US" sz="1400" dirty="0">
                <a:solidFill>
                  <a:srgbClr val="2B2B2B"/>
                </a:solidFill>
              </a:rPr>
              <a:t>Each router port needs its own subnet, and the PCs’ gateway must match this address exactly.</a:t>
            </a:r>
            <a:endParaRPr lang="en-US" sz="1400" dirty="0"/>
          </a:p>
        </p:txBody>
      </p:sp>
      <p:sp>
        <p:nvSpPr>
          <p:cNvPr id="25" name="Slide Number Placeholder 0"/>
          <p:cNvSpPr>
            <a:spLocks noGrp="1"/>
          </p:cNvSpPr>
          <p:nvPr>
            <p:ph type="sldNum" sz="quarter" idx="4294967295"/>
          </p:nvPr>
        </p:nvSpPr>
        <p:spPr>
          <a:xfrm>
            <a:off x="10698480" y="6464808"/>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r"/>
            <a:fld id="{F7021451-1387-4CA6-816F-3879F97B5CBC}" type="slidenum">
              <a:rPr b="0" lang="en-US"/>
              <a:t>19</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4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0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400"/>
                                        <p:tgtEl>
                                          <p:spTgt spid="1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400"/>
                                        <p:tgtEl>
                                          <p:spTgt spid="1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fade">
                                      <p:cBhvr>
                                        <p:cTn id="38" dur="400"/>
                                        <p:tgtEl>
                                          <p:spTgt spid="20"/>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fade">
                                      <p:cBhvr>
                                        <p:cTn id="41" dur="400"/>
                                        <p:tgtEl>
                                          <p:spTgt spid="21"/>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fade">
                                      <p:cBhvr>
                                        <p:cTn id="44" dur="400"/>
                                        <p:tgtEl>
                                          <p:spTgt spid="22"/>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3" grpId="0" animBg="1"/>
      <p:bldP spid="15" grpId="0" animBg="1"/>
      <p:bldP spid="17" grpId="0" animBg="1"/>
      <p:bldP spid="18" grpId="0" animBg="1"/>
      <p:bldP spid="20" grpId="0" animBg="1"/>
      <p:bldP spid="21" grpId="0" animBg="1"/>
      <p:bldP spid="23"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2" type="body" hasCustomPrompt="1"/>
          </p:nvPr>
        </p:nvSpPr>
        <p:spPr>
          <a:xfrm>
            <a:off x="548640" y="274320"/>
            <a:ext cx="9966960" cy="256032"/>
          </a:xfrm>
          <a:prstGeom prst="rect">
            <a:avLst/>
          </a:prstGeom>
          <a:noFill/>
          <a:ln/>
        </p:spPr>
        <p:txBody>
          <a:bodyPr wrap="square" lIns="0" tIns="0" rIns="0" bIns="0" rtlCol="0" anchor="ctr"/>
          <a:lstStyle/>
          <a:p>
            <a:pPr algn="l" indent="0" marL="0">
              <a:buNone/>
            </a:pPr>
            <a:r>
              <a:rPr lang="en-US" sz="1100" b="1" spc="100" kern="0" dirty="0">
                <a:solidFill>
                  <a:schemeClr val="accent2"/>
                </a:solidFill>
              </a:rPr>
              <a:t>03  •  BASIC SET-UP &amp; SSH</a:t>
            </a:r>
            <a:endParaRPr lang="en-US" sz="1100" dirty="0"/>
          </a:p>
        </p:txBody>
      </p:sp>
      <p:sp>
        <p:nvSpPr>
          <p:cNvPr id="3" name="Text 1"/>
          <p:cNvSpPr/>
          <p:nvPr>
            <p:ph idx="103" type="title" hasCustomPrompt="1"/>
          </p:nvPr>
        </p:nvSpPr>
        <p:spPr>
          <a:xfrm>
            <a:off x="548640" y="548640"/>
            <a:ext cx="10149840" cy="548640"/>
          </a:xfrm>
          <a:prstGeom prst="rect">
            <a:avLst/>
          </a:prstGeom>
          <a:noFill/>
          <a:ln/>
        </p:spPr>
        <p:txBody>
          <a:bodyPr wrap="square" lIns="0" tIns="0" rIns="0" bIns="0" rtlCol="0" anchor="ctr"/>
          <a:lstStyle/>
          <a:p>
            <a:pPr algn="l" indent="0" marL="0">
              <a:buNone/>
            </a:pPr>
            <a:r>
              <a:rPr lang="en-US" sz="2600" b="1" dirty="0">
                <a:solidFill>
                  <a:schemeClr val="accent1"/>
                </a:solidFill>
              </a:rPr>
              <a:t>How to read show ip interface brief</a:t>
            </a:r>
            <a:endParaRPr lang="en-US" sz="2600" dirty="0"/>
          </a:p>
        </p:txBody>
      </p:sp>
      <p:pic>
        <p:nvPicPr>
          <p:cNvPr id="4" name="Home button" descr="Home: back to the workbook menu">
            <a:hlinkClick r:id="rId2" tooltip="Back to the workbook menu" action="ppaction://hlinksldjump"/>
          </p:cNvPr>
          <p:cNvPicPr>
            <a:picLocks noChangeAspect="1"/>
          </p:cNvPicPr>
          <p:nvPr/>
        </p:nvPicPr>
        <p:blipFill>
          <a:blip r:embed="rId1"/>
          <a:stretch>
            <a:fillRect/>
          </a:stretch>
        </p:blipFill>
        <p:spPr>
          <a:xfrm>
            <a:off x="11365992" y="6336792"/>
            <a:ext cx="365760" cy="365760"/>
          </a:xfrm>
          <a:prstGeom prst="rect">
            <a:avLst/>
          </a:prstGeom>
        </p:spPr>
      </p:pic>
      <p:sp>
        <p:nvSpPr>
          <p:cNvPr id="5" name="Goal"/>
          <p:cNvSpPr txBox="1"/>
          <p:nvPr/>
        </p:nvSpPr>
        <p:spPr>
          <a:xfrm>
            <a:off x="548640" y="1161288"/>
            <a:ext cx="11094415" cy="384048"/>
          </a:xfrm>
          <a:prstGeom prst="rect">
            <a:avLst/>
          </a:prstGeom>
          <a:noFill/>
          <a:ln/>
        </p:spPr>
        <p:txBody>
          <a:bodyPr wrap="square" lIns="0" tIns="0" rIns="0" bIns="0" rtlCol="0" anchor="ctr"/>
          <a:lstStyle/>
          <a:p>
            <a:pPr indent="0" marL="0">
              <a:buNone/>
            </a:pPr>
            <a:r>
              <a:rPr lang="en-US" sz="1400" b="1" dirty="0">
                <a:solidFill>
                  <a:srgbClr val="2B7043"/>
                </a:solidFill>
              </a:rPr>
              <a:t>Goal:  </a:t>
            </a:r>
            <a:r>
              <a:rPr lang="en-US" sz="1400" dirty="0">
                <a:solidFill>
                  <a:srgbClr val="2B2B2B"/>
                </a:solidFill>
              </a:rPr>
              <a:t>The most-used command in this workbook. Each row is a port; two columns tell you what is wrong.</a:t>
            </a:r>
            <a:endParaRPr lang="en-US" sz="1400" dirty="0"/>
          </a:p>
        </p:txBody>
      </p:sp>
      <p:sp>
        <p:nvSpPr>
          <p:cNvPr id="6" name="Terminal window"/>
          <p:cNvSpPr/>
          <p:nvPr/>
        </p:nvSpPr>
        <p:spPr>
          <a:xfrm>
            <a:off x="548640" y="1664208"/>
            <a:ext cx="11094415" cy="1481328"/>
          </a:xfrm>
          <a:prstGeom prst="roundRect">
            <a:avLst>
              <a:gd name="adj" fmla="val 4938"/>
            </a:avLst>
          </a:prstGeom>
          <a:solidFill>
            <a:srgbClr val="1B2B22"/>
          </a:solidFill>
          <a:ln w="6350">
            <a:solidFill>
              <a:srgbClr val="1B2B22"/>
            </a:solidFill>
            <a:prstDash val="solid"/>
          </a:ln>
        </p:spPr>
      </p:sp>
      <p:sp>
        <p:nvSpPr>
          <p:cNvPr id="7" name="Shape 4"/>
          <p:cNvSpPr/>
          <p:nvPr/>
        </p:nvSpPr>
        <p:spPr>
          <a:xfrm>
            <a:off x="713232" y="1783080"/>
            <a:ext cx="109728" cy="109728"/>
          </a:xfrm>
          <a:prstGeom prst="ellipse">
            <a:avLst/>
          </a:prstGeom>
          <a:solidFill>
            <a:srgbClr val="E0605A"/>
          </a:solidFill>
          <a:ln/>
        </p:spPr>
      </p:sp>
      <p:sp>
        <p:nvSpPr>
          <p:cNvPr id="8" name="Shape 5"/>
          <p:cNvSpPr/>
          <p:nvPr/>
        </p:nvSpPr>
        <p:spPr>
          <a:xfrm>
            <a:off x="896112" y="1783080"/>
            <a:ext cx="109728" cy="109728"/>
          </a:xfrm>
          <a:prstGeom prst="ellipse">
            <a:avLst/>
          </a:prstGeom>
          <a:solidFill>
            <a:srgbClr val="E8B92E"/>
          </a:solidFill>
          <a:ln/>
        </p:spPr>
      </p:sp>
      <p:sp>
        <p:nvSpPr>
          <p:cNvPr id="9" name="Shape 6"/>
          <p:cNvSpPr/>
          <p:nvPr/>
        </p:nvSpPr>
        <p:spPr>
          <a:xfrm>
            <a:off x="1078992" y="1783080"/>
            <a:ext cx="109728" cy="109728"/>
          </a:xfrm>
          <a:prstGeom prst="ellipse">
            <a:avLst/>
          </a:prstGeom>
          <a:solidFill>
            <a:srgbClr val="4CAF50"/>
          </a:solidFill>
          <a:ln/>
        </p:spPr>
      </p:sp>
      <p:sp>
        <p:nvSpPr>
          <p:cNvPr id="10" name="Text 7"/>
          <p:cNvSpPr txBox="1"/>
          <p:nvPr/>
        </p:nvSpPr>
        <p:spPr>
          <a:xfrm>
            <a:off x="1325880" y="1709928"/>
            <a:ext cx="10180015" cy="256032"/>
          </a:xfrm>
          <a:prstGeom prst="rect">
            <a:avLst/>
          </a:prstGeom>
          <a:noFill/>
          <a:ln/>
        </p:spPr>
        <p:txBody>
          <a:bodyPr wrap="square" lIns="0" tIns="0" rIns="0" bIns="0" rtlCol="0" anchor="ctr"/>
          <a:lstStyle/>
          <a:p>
            <a:pPr indent="0" marL="0">
              <a:buNone/>
            </a:pPr>
            <a:r>
              <a:rPr lang="en-US" sz="1100" b="1" dirty="0">
                <a:solidFill>
                  <a:srgbClr val="C9D6CC"/>
                </a:solidFill>
              </a:rPr>
              <a:t>R1  ›  CLI  (shortened)</a:t>
            </a:r>
            <a:endParaRPr lang="en-US" sz="1100" dirty="0"/>
          </a:p>
        </p:txBody>
      </p:sp>
      <p:sp>
        <p:nvSpPr>
          <p:cNvPr id="11" name="Terminal text"/>
          <p:cNvSpPr txBox="1"/>
          <p:nvPr/>
        </p:nvSpPr>
        <p:spPr>
          <a:xfrm>
            <a:off x="731520" y="2048256"/>
            <a:ext cx="10774375" cy="1005840"/>
          </a:xfrm>
          <a:prstGeom prst="rect">
            <a:avLst/>
          </a:prstGeom>
          <a:noFill/>
          <a:ln/>
        </p:spPr>
        <p:txBody>
          <a:bodyPr wrap="square" lIns="0" tIns="0" rIns="0" bIns="0" rtlCol="0" anchor="t"/>
          <a:lstStyle/>
          <a:p>
            <a:pPr indent="0" marL="0">
              <a:lnSpc>
                <a:spcPct val="100000"/>
              </a:lnSpc>
              <a:buNone/>
            </a:pPr>
            <a:r>
              <a:rPr lang="en-US" sz="1200" dirty="0">
                <a:solidFill>
                  <a:srgbClr val="8FC9A0"/>
                </a:solidFill>
                <a:latin typeface="Courier New" pitchFamily="34" charset="0"/>
                <a:ea typeface="Courier New" pitchFamily="34" charset="-122"/>
                <a:cs typeface="Courier New" pitchFamily="34" charset="-120"/>
              </a:rPr>
              <a:t>R1# </a:t>
            </a:r>
            <a:r>
              <a:rPr lang="en-US" sz="1200" b="1" dirty="0">
                <a:solidFill>
                  <a:srgbClr val="FFFFFF"/>
                </a:solidFill>
                <a:latin typeface="Courier New" pitchFamily="34" charset="0"/>
                <a:ea typeface="Courier New" pitchFamily="34" charset="-122"/>
                <a:cs typeface="Courier New" pitchFamily="34" charset="-120"/>
              </a:rPr>
              <a:t>show ip interface brief</a:t>
            </a:r>
            <a:endParaRPr lang="en-US" sz="1200" dirty="0"/>
          </a:p>
          <a:p>
            <a:pPr indent="0" marL="0">
              <a:lnSpc>
                <a:spcPct val="100000"/>
              </a:lnSpc>
              <a:buNone/>
            </a:pPr>
            <a:r>
              <a:rPr lang="en-US" sz="1200" dirty="0">
                <a:solidFill>
                  <a:srgbClr val="D5E2D8"/>
                </a:solidFill>
                <a:latin typeface="Courier New" pitchFamily="34" charset="0"/>
                <a:ea typeface="Courier New" pitchFamily="34" charset="-122"/>
                <a:cs typeface="Courier New" pitchFamily="34" charset="-120"/>
              </a:rPr>
              <a:t>Interface              IP-Address      OK? Method Status                Protocol</a:t>
            </a:r>
            <a:endParaRPr lang="en-US" sz="1200" dirty="0"/>
          </a:p>
          <a:p>
            <a:pPr indent="0" marL="0">
              <a:lnSpc>
                <a:spcPct val="100000"/>
              </a:lnSpc>
              <a:buNone/>
            </a:pPr>
            <a:r>
              <a:rPr lang="en-US" sz="1200" dirty="0">
                <a:solidFill>
                  <a:srgbClr val="D5E2D8"/>
                </a:solidFill>
                <a:latin typeface="Courier New" pitchFamily="34" charset="0"/>
                <a:ea typeface="Courier New" pitchFamily="34" charset="-122"/>
                <a:cs typeface="Courier New" pitchFamily="34" charset="-120"/>
              </a:rPr>
              <a:t>GigabitEthernet0/0/0   192.168.1.1     YES </a:t>
            </a:r>
            <a:r>
              <a:rPr lang="en-US" sz="1200" b="1" dirty="0">
                <a:solidFill>
                  <a:srgbClr val="E8B92E"/>
                </a:solidFill>
                <a:latin typeface="Courier New" pitchFamily="34" charset="0"/>
                <a:ea typeface="Courier New" pitchFamily="34" charset="-122"/>
                <a:cs typeface="Courier New" pitchFamily="34" charset="-120"/>
              </a:rPr>
              <a:t>manual</a:t>
            </a:r>
            <a:r>
              <a:rPr lang="en-US" sz="1200" dirty="0">
                <a:solidFill>
                  <a:srgbClr val="D5E2D8"/>
                </a:solidFill>
                <a:latin typeface="Courier New" pitchFamily="34" charset="0"/>
                <a:ea typeface="Courier New" pitchFamily="34" charset="-122"/>
                <a:cs typeface="Courier New" pitchFamily="34" charset="-120"/>
              </a:rPr>
              <a:t> </a:t>
            </a:r>
            <a:r>
              <a:rPr lang="en-US" sz="1200" b="1" dirty="0">
                <a:solidFill>
                  <a:srgbClr val="E8B92E"/>
                </a:solidFill>
                <a:latin typeface="Courier New" pitchFamily="34" charset="0"/>
                <a:ea typeface="Courier New" pitchFamily="34" charset="-122"/>
                <a:cs typeface="Courier New" pitchFamily="34" charset="-120"/>
              </a:rPr>
              <a:t>up</a:t>
            </a:r>
            <a:r>
              <a:rPr lang="en-US" sz="1200" dirty="0">
                <a:solidFill>
                  <a:srgbClr val="D5E2D8"/>
                </a:solidFill>
                <a:latin typeface="Courier New" pitchFamily="34" charset="0"/>
                <a:ea typeface="Courier New" pitchFamily="34" charset="-122"/>
                <a:cs typeface="Courier New" pitchFamily="34" charset="-120"/>
              </a:rPr>
              <a:t>                    </a:t>
            </a:r>
            <a:r>
              <a:rPr lang="en-US" sz="1200" b="1" dirty="0">
                <a:solidFill>
                  <a:srgbClr val="E8B92E"/>
                </a:solidFill>
                <a:latin typeface="Courier New" pitchFamily="34" charset="0"/>
                <a:ea typeface="Courier New" pitchFamily="34" charset="-122"/>
                <a:cs typeface="Courier New" pitchFamily="34" charset="-120"/>
              </a:rPr>
              <a:t>up</a:t>
            </a:r>
            <a:endParaRPr lang="en-US" sz="1200" dirty="0"/>
          </a:p>
          <a:p>
            <a:pPr indent="0" marL="0">
              <a:lnSpc>
                <a:spcPct val="100000"/>
              </a:lnSpc>
              <a:buNone/>
            </a:pPr>
            <a:r>
              <a:rPr lang="en-US" sz="1200" dirty="0">
                <a:solidFill>
                  <a:srgbClr val="D5E2D8"/>
                </a:solidFill>
                <a:latin typeface="Courier New" pitchFamily="34" charset="0"/>
                <a:ea typeface="Courier New" pitchFamily="34" charset="-122"/>
                <a:cs typeface="Courier New" pitchFamily="34" charset="-120"/>
              </a:rPr>
              <a:t>GigabitEthernet0/0/1   unassigned      YES unset  </a:t>
            </a:r>
            <a:r>
              <a:rPr lang="en-US" sz="1200" b="1" dirty="0">
                <a:solidFill>
                  <a:srgbClr val="E8B92E"/>
                </a:solidFill>
                <a:latin typeface="Courier New" pitchFamily="34" charset="0"/>
                <a:ea typeface="Courier New" pitchFamily="34" charset="-122"/>
                <a:cs typeface="Courier New" pitchFamily="34" charset="-120"/>
              </a:rPr>
              <a:t>administratively down</a:t>
            </a:r>
            <a:r>
              <a:rPr lang="en-US" sz="1200" dirty="0">
                <a:solidFill>
                  <a:srgbClr val="D5E2D8"/>
                </a:solidFill>
                <a:latin typeface="Courier New" pitchFamily="34" charset="0"/>
                <a:ea typeface="Courier New" pitchFamily="34" charset="-122"/>
                <a:cs typeface="Courier New" pitchFamily="34" charset="-120"/>
              </a:rPr>
              <a:t> down</a:t>
            </a:r>
            <a:endParaRPr lang="en-US" sz="1200" dirty="0"/>
          </a:p>
        </p:txBody>
      </p:sp>
      <p:graphicFrame>
        <p:nvGraphicFramePr>
          <p:cNvPr id="21" name="status table"/>
          <p:cNvGraphicFramePr>
            <a:graphicFrameLocks noGrp="1"/>
          </p:cNvGraphicFramePr>
          <p:nvPr>
            <p:extLst>
              <p:ext uri="{D42A27DB-BD31-4B8C-83A1-F6EECF244321}">
                <p14:modId xmlns:p14="http://schemas.microsoft.com/office/powerpoint/2010/main" val="1579011935"/>
              </p:ext>
            </p:extLst>
          </p:nvPr>
        </p:nvGraphicFramePr>
        <p:xfrm>
          <a:off x="548640" y="3310128"/>
          <a:ext cx="11091672" cy="914400"/>
        </p:xfrm>
        <a:graphic>
          <a:graphicData uri="http://schemas.openxmlformats.org/drawingml/2006/table">
            <a:tbl>
              <a:tblPr/>
              <a:tblGrid>
                <a:gridCol w="2240280"/>
                <a:gridCol w="1097280"/>
                <a:gridCol w="4983480"/>
                <a:gridCol w="2770632"/>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Status</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1E563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Protocol</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1E563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it means</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1E563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Usual fix</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1E5631"/>
                    </a:solidFill>
                  </a:tcPr>
                </a:tc>
              </a:tr>
              <a:tr h="0">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up</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up</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Working: cable and port are fine (Layers 1 and 2)</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r>
              <a:tr h="0">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administratively down</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down</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The port is switched off (never enabled, or </a:t>
                      </a:r>
                      <a:r>
                        <a:rPr lang="en-US" sz="1200" b="1" dirty="0">
                          <a:solidFill>
                            <a:srgbClr val="1E5631"/>
                          </a:solidFill>
                          <a:latin typeface="Courier New" pitchFamily="34" charset="0"/>
                          <a:ea typeface="Courier New" pitchFamily="34" charset="-122"/>
                          <a:cs typeface="Courier New" pitchFamily="34" charset="-120"/>
                        </a:rPr>
                        <a:t>shutdown</a:t>
                      </a:r>
                      <a:r>
                        <a:rPr lang="en-US" sz="1300" dirty="0">
                          <a:solidFill>
                            <a:srgbClr val="2B2B2B"/>
                          </a:solidFill>
                          <a:latin typeface="Calibri" pitchFamily="34" charset="0"/>
                          <a:ea typeface="Calibri" pitchFamily="34" charset="-122"/>
                          <a:cs typeface="Calibri" pitchFamily="34" charset="-120"/>
                        </a:rPr>
                        <a:t> typed)</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c>
                  <a:txBody>
                    <a:bodyPr/>
                    <a:lstStyle/>
                    <a:p>
                      <a:pPr indent="0" marL="0">
                        <a:buNone/>
                      </a:pPr>
                      <a:r>
                        <a:rPr lang="en-US" sz="1200" b="1" dirty="0">
                          <a:solidFill>
                            <a:srgbClr val="1E5631"/>
                          </a:solidFill>
                          <a:latin typeface="Courier New" pitchFamily="34" charset="0"/>
                          <a:ea typeface="Courier New" pitchFamily="34" charset="-122"/>
                          <a:cs typeface="Courier New" pitchFamily="34" charset="-120"/>
                        </a:rPr>
                        <a:t>no shutdown</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down</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down</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No signal: cable missing or wrong type, or the far end is off</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Check the cable and the other end</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r>
              <a:tr h="0">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up</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down</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Signal OK, but the two ends disagree (e.g. encapsulation)</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Compare the settings at both ends</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r>
            </a:tbl>
          </a:graphicData>
        </a:graphic>
      </p:graphicFrame>
      <p:sp>
        <p:nvSpPr>
          <p:cNvPr id="13" name="tip box"/>
          <p:cNvSpPr/>
          <p:nvPr/>
        </p:nvSpPr>
        <p:spPr>
          <a:xfrm>
            <a:off x="548640" y="5504688"/>
            <a:ext cx="11094415" cy="749808"/>
          </a:xfrm>
          <a:prstGeom prst="roundRect">
            <a:avLst>
              <a:gd name="adj" fmla="val 9756"/>
            </a:avLst>
          </a:prstGeom>
          <a:solidFill>
            <a:srgbClr val="E6EEF8"/>
          </a:solidFill>
          <a:ln w="12700">
            <a:solidFill>
              <a:srgbClr val="B8C9E0"/>
            </a:solidFill>
            <a:prstDash val="solid"/>
          </a:ln>
        </p:spPr>
      </p:sp>
      <p:pic>
        <p:nvPicPr>
          <p:cNvPr id="14" name="tip icon" descr="Tip:">    </p:cNvPr>
          <p:cNvPicPr>
            <a:picLocks noChangeAspect="1"/>
          </p:cNvPicPr>
          <p:nvPr/>
        </p:nvPicPr>
        <p:blipFill>
          <a:blip r:embed="rId3"/>
          <a:stretch>
            <a:fillRect/>
          </a:stretch>
        </p:blipFill>
        <p:spPr>
          <a:xfrm>
            <a:off x="694944" y="5733288"/>
            <a:ext cx="292608" cy="292608"/>
          </a:xfrm>
          <a:prstGeom prst="rect">
            <a:avLst/>
          </a:prstGeom>
        </p:spPr>
      </p:pic>
      <p:sp>
        <p:nvSpPr>
          <p:cNvPr id="15" name="tip text"/>
          <p:cNvSpPr txBox="1"/>
          <p:nvPr/>
        </p:nvSpPr>
        <p:spPr>
          <a:xfrm>
            <a:off x="1097280" y="5541264"/>
            <a:ext cx="10436047" cy="676656"/>
          </a:xfrm>
          <a:prstGeom prst="rect">
            <a:avLst/>
          </a:prstGeom>
          <a:noFill/>
          <a:ln/>
        </p:spPr>
        <p:txBody>
          <a:bodyPr wrap="square" lIns="0" tIns="0" rIns="0" bIns="0" rtlCol="0" anchor="ctr"/>
          <a:lstStyle/>
          <a:p>
            <a:pPr indent="0" marL="0">
              <a:buNone/>
            </a:pPr>
            <a:r>
              <a:rPr lang="en-US" sz="1400" b="1" dirty="0">
                <a:solidFill>
                  <a:srgbClr val="1F4E8C"/>
                </a:solidFill>
              </a:rPr>
              <a:t>Tip:  </a:t>
            </a:r>
            <a:r>
              <a:rPr lang="en-US" sz="1400" dirty="0">
                <a:solidFill>
                  <a:srgbClr val="2B2B2B"/>
                </a:solidFill>
              </a:rPr>
              <a:t>Method: </a:t>
            </a:r>
            <a:r>
              <a:rPr lang="en-US" sz="1300" b="1" dirty="0">
                <a:solidFill>
                  <a:srgbClr val="1E5631"/>
                </a:solidFill>
                <a:latin typeface="Courier New" pitchFamily="34" charset="0"/>
                <a:ea typeface="Courier New" pitchFamily="34" charset="-122"/>
                <a:cs typeface="Courier New" pitchFamily="34" charset="-120"/>
              </a:rPr>
              <a:t>manual</a:t>
            </a:r>
            <a:r>
              <a:rPr lang="en-US" sz="1400" dirty="0">
                <a:solidFill>
                  <a:srgbClr val="2B2B2B"/>
                </a:solidFill>
              </a:rPr>
              <a:t> = you typed the address, </a:t>
            </a:r>
            <a:r>
              <a:rPr lang="en-US" sz="1300" b="1" dirty="0">
                <a:solidFill>
                  <a:srgbClr val="1E5631"/>
                </a:solidFill>
                <a:latin typeface="Courier New" pitchFamily="34" charset="0"/>
                <a:ea typeface="Courier New" pitchFamily="34" charset="-122"/>
                <a:cs typeface="Courier New" pitchFamily="34" charset="-120"/>
              </a:rPr>
              <a:t>DHCP</a:t>
            </a:r>
            <a:r>
              <a:rPr lang="en-US" sz="1400" dirty="0">
                <a:solidFill>
                  <a:srgbClr val="2B2B2B"/>
                </a:solidFill>
              </a:rPr>
              <a:t> = it was leased, </a:t>
            </a:r>
            <a:r>
              <a:rPr lang="en-US" sz="1300" b="1" dirty="0">
                <a:solidFill>
                  <a:srgbClr val="1E5631"/>
                </a:solidFill>
                <a:latin typeface="Courier New" pitchFamily="34" charset="0"/>
                <a:ea typeface="Courier New" pitchFamily="34" charset="-122"/>
                <a:cs typeface="Courier New" pitchFamily="34" charset="-120"/>
              </a:rPr>
              <a:t>unset</a:t>
            </a:r>
            <a:r>
              <a:rPr lang="en-US" sz="1400" dirty="0">
                <a:solidFill>
                  <a:srgbClr val="2B2B2B"/>
                </a:solidFill>
              </a:rPr>
              <a:t> = no address yet.</a:t>
            </a:r>
            <a:endParaRPr lang="en-US" sz="1400" dirty="0"/>
          </a:p>
        </p:txBody>
      </p:sp>
      <p:sp>
        <p:nvSpPr>
          <p:cNvPr id="25" name="Slide Number Placeholder 0"/>
          <p:cNvSpPr>
            <a:spLocks noGrp="1"/>
          </p:cNvSpPr>
          <p:nvPr>
            <p:ph type="sldNum" sz="quarter" idx="4294967295"/>
          </p:nvPr>
        </p:nvSpPr>
        <p:spPr>
          <a:xfrm>
            <a:off x="10698480" y="6464808"/>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2" type="body" hasCustomPrompt="1"/>
          </p:nvPr>
        </p:nvSpPr>
        <p:spPr>
          <a:xfrm>
            <a:off x="548640" y="274320"/>
            <a:ext cx="9966960" cy="256032"/>
          </a:xfrm>
          <a:prstGeom prst="rect">
            <a:avLst/>
          </a:prstGeom>
          <a:noFill/>
          <a:ln/>
        </p:spPr>
        <p:txBody>
          <a:bodyPr wrap="square" lIns="0" tIns="0" rIns="0" bIns="0" rtlCol="0" anchor="ctr"/>
          <a:lstStyle/>
          <a:p>
            <a:pPr algn="l" indent="0" marL="0">
              <a:buNone/>
            </a:pPr>
            <a:r>
              <a:rPr lang="en-US" sz="1100" b="1" spc="100" kern="0" dirty="0">
                <a:solidFill>
                  <a:schemeClr val="accent2"/>
                </a:solidFill>
              </a:rPr>
              <a:t>03  •  BASIC SET-UP &amp; SSH  •  LAB 1</a:t>
            </a:r>
            <a:endParaRPr lang="en-US" sz="1100" dirty="0"/>
          </a:p>
        </p:txBody>
      </p:sp>
      <p:sp>
        <p:nvSpPr>
          <p:cNvPr id="3" name="Text 1"/>
          <p:cNvSpPr/>
          <p:nvPr>
            <p:ph idx="103" type="title" hasCustomPrompt="1"/>
          </p:nvPr>
        </p:nvSpPr>
        <p:spPr>
          <a:xfrm>
            <a:off x="548640" y="548640"/>
            <a:ext cx="10149840" cy="548640"/>
          </a:xfrm>
          <a:prstGeom prst="rect">
            <a:avLst/>
          </a:prstGeom>
          <a:noFill/>
          <a:ln/>
        </p:spPr>
        <p:txBody>
          <a:bodyPr wrap="square" lIns="0" tIns="0" rIns="0" bIns="0" rtlCol="0" anchor="ctr"/>
          <a:lstStyle/>
          <a:p>
            <a:pPr algn="l" indent="0" marL="0">
              <a:buNone/>
            </a:pPr>
            <a:r>
              <a:rPr lang="en-US" sz="2600" b="1" dirty="0">
                <a:solidFill>
                  <a:schemeClr val="accent1"/>
                </a:solidFill>
              </a:rPr>
              <a:t>How to give a switch a management IP address</a:t>
            </a:r>
            <a:endParaRPr lang="en-US" sz="2600" dirty="0"/>
          </a:p>
        </p:txBody>
      </p:sp>
      <p:pic>
        <p:nvPicPr>
          <p:cNvPr id="4" name="Home button" descr="Home: back to the workbook menu">
            <a:hlinkClick r:id="rId2" tooltip="Back to the workbook menu" action="ppaction://hlinksldjump"/>
          </p:cNvPr>
          <p:cNvPicPr>
            <a:picLocks noChangeAspect="1"/>
          </p:cNvPicPr>
          <p:nvPr/>
        </p:nvPicPr>
        <p:blipFill>
          <a:blip r:embed="rId1"/>
          <a:stretch>
            <a:fillRect/>
          </a:stretch>
        </p:blipFill>
        <p:spPr>
          <a:xfrm>
            <a:off x="11365992" y="6336792"/>
            <a:ext cx="365760" cy="365760"/>
          </a:xfrm>
          <a:prstGeom prst="rect">
            <a:avLst/>
          </a:prstGeom>
        </p:spPr>
      </p:pic>
      <p:sp>
        <p:nvSpPr>
          <p:cNvPr id="5" name="Goal"/>
          <p:cNvSpPr txBox="1"/>
          <p:nvPr/>
        </p:nvSpPr>
        <p:spPr>
          <a:xfrm>
            <a:off x="548640" y="1161288"/>
            <a:ext cx="11094415" cy="384048"/>
          </a:xfrm>
          <a:prstGeom prst="rect">
            <a:avLst/>
          </a:prstGeom>
          <a:noFill/>
          <a:ln/>
        </p:spPr>
        <p:txBody>
          <a:bodyPr wrap="square" lIns="0" tIns="0" rIns="0" bIns="0" rtlCol="0" anchor="ctr"/>
          <a:lstStyle/>
          <a:p>
            <a:pPr indent="0" marL="0">
              <a:buNone/>
            </a:pPr>
            <a:r>
              <a:rPr lang="en-US" sz="1400" b="1" dirty="0">
                <a:solidFill>
                  <a:srgbClr val="2B7043"/>
                </a:solidFill>
              </a:rPr>
              <a:t>Goal:  </a:t>
            </a:r>
            <a:r>
              <a:rPr lang="en-US" sz="1400" dirty="0">
                <a:solidFill>
                  <a:srgbClr val="2B2B2B"/>
                </a:solidFill>
              </a:rPr>
              <a:t>A switch forwards frames without any IP. Give it one only so you can manage it over the network (ping, SSH).</a:t>
            </a:r>
            <a:endParaRPr lang="en-US" sz="1400" dirty="0"/>
          </a:p>
        </p:txBody>
      </p:sp>
      <p:sp>
        <p:nvSpPr>
          <p:cNvPr id="6" name="Command header"/>
          <p:cNvSpPr/>
          <p:nvPr/>
        </p:nvSpPr>
        <p:spPr>
          <a:xfrm>
            <a:off x="548640" y="1664208"/>
            <a:ext cx="6153912" cy="310896"/>
          </a:xfrm>
          <a:prstGeom prst="rect">
            <a:avLst/>
          </a:prstGeom>
          <a:solidFill>
            <a:srgbClr val="1B2B22"/>
          </a:solidFill>
          <a:ln/>
        </p:spPr>
        <p:txBody>
          <a:bodyPr wrap="square" lIns="109728" tIns="45720" rIns="109728" bIns="45720" rtlCol="0" anchor="ctr"/>
          <a:lstStyle/>
          <a:p>
            <a:pPr indent="0" marL="0">
              <a:buNone/>
            </a:pPr>
            <a:r>
              <a:rPr lang="en-US" sz="1100" dirty="0">
                <a:solidFill>
                  <a:srgbClr val="E0605A"/>
                </a:solidFill>
              </a:rPr>
              <a:t>●  </a:t>
            </a:r>
            <a:r>
              <a:rPr lang="en-US" sz="1100" dirty="0">
                <a:solidFill>
                  <a:srgbClr val="E8B92E"/>
                </a:solidFill>
              </a:rPr>
              <a:t>●  </a:t>
            </a:r>
            <a:r>
              <a:rPr lang="en-US" sz="1100" dirty="0">
                <a:solidFill>
                  <a:srgbClr val="4CAF50"/>
                </a:solidFill>
              </a:rPr>
              <a:t>●   </a:t>
            </a:r>
            <a:r>
              <a:rPr lang="en-US" sz="1100" b="1" dirty="0">
                <a:solidFill>
                  <a:srgbClr val="C9D6CC"/>
                </a:solidFill>
              </a:rPr>
              <a:t>S1  —  type the white text, then press Enter</a:t>
            </a:r>
            <a:endParaRPr lang="en-US" sz="1100" dirty="0"/>
          </a:p>
        </p:txBody>
      </p:sp>
      <p:sp>
        <p:nvSpPr>
          <p:cNvPr id="7" name="Meaning header"/>
          <p:cNvSpPr/>
          <p:nvPr/>
        </p:nvSpPr>
        <p:spPr>
          <a:xfrm>
            <a:off x="6720840" y="1664208"/>
            <a:ext cx="4922215" cy="310896"/>
          </a:xfrm>
          <a:prstGeom prst="rect">
            <a:avLst/>
          </a:prstGeom>
          <a:solidFill>
            <a:srgbClr val="E8F1EA"/>
          </a:solidFill>
          <a:ln/>
        </p:spPr>
        <p:txBody>
          <a:bodyPr wrap="square" lIns="109728" tIns="45720" rIns="109728" bIns="45720" rtlCol="0" anchor="ctr"/>
          <a:lstStyle/>
          <a:p>
            <a:pPr indent="0" marL="0">
              <a:buNone/>
            </a:pPr>
            <a:r>
              <a:rPr lang="en-US" sz="1200" b="1" dirty="0">
                <a:solidFill>
                  <a:srgbClr val="1E5631"/>
                </a:solidFill>
              </a:rPr>
              <a:t>What it does</a:t>
            </a:r>
            <a:endParaRPr lang="en-US" sz="1200" dirty="0"/>
          </a:p>
        </p:txBody>
      </p:sp>
      <p:sp>
        <p:nvSpPr>
          <p:cNvPr id="8" name="Command 01"/>
          <p:cNvSpPr/>
          <p:nvPr/>
        </p:nvSpPr>
        <p:spPr>
          <a:xfrm>
            <a:off x="548640" y="1993392"/>
            <a:ext cx="6153912" cy="54380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S1(config)# </a:t>
            </a:r>
            <a:r>
              <a:rPr lang="en-US" sz="1200" b="1" dirty="0">
                <a:solidFill>
                  <a:srgbClr val="FFFFFF"/>
                </a:solidFill>
                <a:latin typeface="Courier New" pitchFamily="34" charset="0"/>
                <a:ea typeface="Courier New" pitchFamily="34" charset="-122"/>
                <a:cs typeface="Courier New" pitchFamily="34" charset="-120"/>
              </a:rPr>
              <a:t>interface vlan 1</a:t>
            </a:r>
            <a:endParaRPr lang="en-US" sz="1200" dirty="0"/>
          </a:p>
        </p:txBody>
      </p:sp>
      <p:sp>
        <p:nvSpPr>
          <p:cNvPr id="9" name="Reveal 01 meaning"/>
          <p:cNvSpPr/>
          <p:nvPr/>
        </p:nvSpPr>
        <p:spPr>
          <a:xfrm>
            <a:off x="6720840" y="1993392"/>
            <a:ext cx="4922215" cy="543809"/>
          </a:xfrm>
          <a:prstGeom prst="rect">
            <a:avLst/>
          </a:prstGeom>
          <a:solidFill>
            <a:srgbClr val="F2F8F3"/>
          </a:solidFill>
          <a:ln/>
        </p:spPr>
        <p:txBody>
          <a:bodyPr wrap="square" lIns="109728" tIns="45720" rIns="109728" bIns="45720" rtlCol="0" anchor="ctr"/>
          <a:lstStyle/>
          <a:p>
            <a:pPr indent="0" marL="0">
              <a:buNone/>
            </a:pPr>
            <a:r>
              <a:rPr lang="en-US" sz="1400" dirty="0">
                <a:solidFill>
                  <a:srgbClr val="2B2B2B"/>
                </a:solidFill>
              </a:rPr>
              <a:t>Open the switch virtual interface (SVI) of VLAN 1 — a virtual port inside the switch.</a:t>
            </a:r>
            <a:endParaRPr lang="en-US" sz="1400" dirty="0"/>
          </a:p>
        </p:txBody>
      </p:sp>
      <p:sp>
        <p:nvSpPr>
          <p:cNvPr id="10" name="Command 02"/>
          <p:cNvSpPr/>
          <p:nvPr/>
        </p:nvSpPr>
        <p:spPr>
          <a:xfrm>
            <a:off x="548640" y="2555489"/>
            <a:ext cx="6153912" cy="54380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S1(config-if)# </a:t>
            </a:r>
            <a:r>
              <a:rPr lang="en-US" sz="1200" b="1" dirty="0">
                <a:solidFill>
                  <a:srgbClr val="FFFFFF"/>
                </a:solidFill>
                <a:latin typeface="Courier New" pitchFamily="34" charset="0"/>
                <a:ea typeface="Courier New" pitchFamily="34" charset="-122"/>
                <a:cs typeface="Courier New" pitchFamily="34" charset="-120"/>
              </a:rPr>
              <a:t>ip address 192.168.1.2 255.255.255.0</a:t>
            </a:r>
            <a:endParaRPr lang="en-US" sz="1200" dirty="0"/>
          </a:p>
        </p:txBody>
      </p:sp>
      <p:sp>
        <p:nvSpPr>
          <p:cNvPr id="11" name="Reveal 02 meaning"/>
          <p:cNvSpPr/>
          <p:nvPr/>
        </p:nvSpPr>
        <p:spPr>
          <a:xfrm>
            <a:off x="6720840" y="2555489"/>
            <a:ext cx="4922215" cy="543809"/>
          </a:xfrm>
          <a:prstGeom prst="rect">
            <a:avLst/>
          </a:prstGeom>
          <a:solidFill>
            <a:srgbClr val="FFFFFF"/>
          </a:solidFill>
          <a:ln/>
        </p:spPr>
        <p:txBody>
          <a:bodyPr wrap="square" lIns="109728" tIns="45720" rIns="109728" bIns="45720" rtlCol="0" anchor="ctr"/>
          <a:lstStyle/>
          <a:p>
            <a:pPr indent="0" marL="0">
              <a:buNone/>
            </a:pPr>
            <a:r>
              <a:rPr lang="en-US" sz="1400" dirty="0">
                <a:solidFill>
                  <a:srgbClr val="2B2B2B"/>
                </a:solidFill>
              </a:rPr>
              <a:t>The switch’s management address, in the same subnet as the PCs of that VLAN.</a:t>
            </a:r>
            <a:endParaRPr lang="en-US" sz="1400" dirty="0"/>
          </a:p>
        </p:txBody>
      </p:sp>
      <p:sp>
        <p:nvSpPr>
          <p:cNvPr id="12" name="Command 03"/>
          <p:cNvSpPr/>
          <p:nvPr/>
        </p:nvSpPr>
        <p:spPr>
          <a:xfrm>
            <a:off x="548640" y="3117586"/>
            <a:ext cx="6153912" cy="54380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S1(config-if)# </a:t>
            </a:r>
            <a:r>
              <a:rPr lang="en-US" sz="1200" b="1" dirty="0">
                <a:solidFill>
                  <a:srgbClr val="FFFFFF"/>
                </a:solidFill>
                <a:latin typeface="Courier New" pitchFamily="34" charset="0"/>
                <a:ea typeface="Courier New" pitchFamily="34" charset="-122"/>
                <a:cs typeface="Courier New" pitchFamily="34" charset="-120"/>
              </a:rPr>
              <a:t>no shutdown</a:t>
            </a:r>
            <a:endParaRPr lang="en-US" sz="1200" dirty="0"/>
          </a:p>
        </p:txBody>
      </p:sp>
      <p:sp>
        <p:nvSpPr>
          <p:cNvPr id="13" name="Reveal 03 meaning"/>
          <p:cNvSpPr/>
          <p:nvPr/>
        </p:nvSpPr>
        <p:spPr>
          <a:xfrm>
            <a:off x="6720840" y="3117586"/>
            <a:ext cx="4922215" cy="543809"/>
          </a:xfrm>
          <a:prstGeom prst="rect">
            <a:avLst/>
          </a:prstGeom>
          <a:solidFill>
            <a:srgbClr val="F2F8F3"/>
          </a:solidFill>
          <a:ln/>
        </p:spPr>
        <p:txBody>
          <a:bodyPr wrap="square" lIns="109728" tIns="45720" rIns="109728" bIns="45720" rtlCol="0" anchor="ctr"/>
          <a:lstStyle/>
          <a:p>
            <a:pPr indent="0" marL="0">
              <a:buNone/>
            </a:pPr>
            <a:r>
              <a:rPr lang="en-US" sz="1400" dirty="0">
                <a:solidFill>
                  <a:srgbClr val="2B2B2B"/>
                </a:solidFill>
              </a:rPr>
              <a:t>SVIs start switched off. It turns up/up once a port in that VLAN is up.</a:t>
            </a:r>
            <a:endParaRPr lang="en-US" sz="1400" dirty="0"/>
          </a:p>
        </p:txBody>
      </p:sp>
      <p:sp>
        <p:nvSpPr>
          <p:cNvPr id="14" name="Command 04"/>
          <p:cNvSpPr/>
          <p:nvPr/>
        </p:nvSpPr>
        <p:spPr>
          <a:xfrm>
            <a:off x="548640" y="3679683"/>
            <a:ext cx="6153912" cy="326768"/>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S1(config-if)# </a:t>
            </a:r>
            <a:r>
              <a:rPr lang="en-US" sz="1200" b="1" dirty="0">
                <a:solidFill>
                  <a:srgbClr val="FFFFFF"/>
                </a:solidFill>
                <a:latin typeface="Courier New" pitchFamily="34" charset="0"/>
                <a:ea typeface="Courier New" pitchFamily="34" charset="-122"/>
                <a:cs typeface="Courier New" pitchFamily="34" charset="-120"/>
              </a:rPr>
              <a:t>exit</a:t>
            </a:r>
            <a:endParaRPr lang="en-US" sz="1200" dirty="0"/>
          </a:p>
        </p:txBody>
      </p:sp>
      <p:sp>
        <p:nvSpPr>
          <p:cNvPr id="15" name="Reveal 04 meaning"/>
          <p:cNvSpPr/>
          <p:nvPr/>
        </p:nvSpPr>
        <p:spPr>
          <a:xfrm>
            <a:off x="6720840" y="3679683"/>
            <a:ext cx="4922215" cy="326768"/>
          </a:xfrm>
          <a:prstGeom prst="rect">
            <a:avLst/>
          </a:prstGeom>
          <a:solidFill>
            <a:srgbClr val="FFFFFF"/>
          </a:solidFill>
          <a:ln/>
        </p:spPr>
        <p:txBody>
          <a:bodyPr wrap="square" lIns="109728" tIns="45720" rIns="109728" bIns="45720" rtlCol="0" anchor="ctr"/>
          <a:lstStyle/>
          <a:p>
            <a:pPr indent="0" marL="0">
              <a:buNone/>
            </a:pPr>
            <a:r>
              <a:rPr lang="en-US" sz="1400" dirty="0">
                <a:solidFill>
                  <a:srgbClr val="2B2B2B"/>
                </a:solidFill>
              </a:rPr>
              <a:t>Back to global configuration mode.</a:t>
            </a:r>
            <a:endParaRPr lang="en-US" sz="1400" dirty="0"/>
          </a:p>
        </p:txBody>
      </p:sp>
      <p:sp>
        <p:nvSpPr>
          <p:cNvPr id="16" name="Command 05"/>
          <p:cNvSpPr/>
          <p:nvPr/>
        </p:nvSpPr>
        <p:spPr>
          <a:xfrm>
            <a:off x="548640" y="4024739"/>
            <a:ext cx="6153912" cy="54380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S1(config)# </a:t>
            </a:r>
            <a:r>
              <a:rPr lang="en-US" sz="1200" b="1" dirty="0">
                <a:solidFill>
                  <a:srgbClr val="FFFFFF"/>
                </a:solidFill>
                <a:latin typeface="Courier New" pitchFamily="34" charset="0"/>
                <a:ea typeface="Courier New" pitchFamily="34" charset="-122"/>
                <a:cs typeface="Courier New" pitchFamily="34" charset="-120"/>
              </a:rPr>
              <a:t>ip default-gateway 192.168.1.1</a:t>
            </a:r>
            <a:endParaRPr lang="en-US" sz="1200" dirty="0"/>
          </a:p>
        </p:txBody>
      </p:sp>
      <p:sp>
        <p:nvSpPr>
          <p:cNvPr id="17" name="Reveal 05 meaning"/>
          <p:cNvSpPr/>
          <p:nvPr/>
        </p:nvSpPr>
        <p:spPr>
          <a:xfrm>
            <a:off x="6720840" y="4024739"/>
            <a:ext cx="4922215" cy="543809"/>
          </a:xfrm>
          <a:prstGeom prst="rect">
            <a:avLst/>
          </a:prstGeom>
          <a:solidFill>
            <a:srgbClr val="F2F8F3"/>
          </a:solidFill>
          <a:ln/>
        </p:spPr>
        <p:txBody>
          <a:bodyPr wrap="square" lIns="109728" tIns="45720" rIns="109728" bIns="45720" rtlCol="0" anchor="ctr"/>
          <a:lstStyle/>
          <a:p>
            <a:pPr indent="0" marL="0">
              <a:buNone/>
            </a:pPr>
            <a:r>
              <a:rPr lang="en-US" sz="1400" dirty="0">
                <a:solidFill>
                  <a:srgbClr val="2B2B2B"/>
                </a:solidFill>
              </a:rPr>
              <a:t>Where the switch sends replies for other subnets: R1’s LAN address.</a:t>
            </a:r>
            <a:endParaRPr lang="en-US" sz="1400" dirty="0"/>
          </a:p>
        </p:txBody>
      </p:sp>
      <p:sp>
        <p:nvSpPr>
          <p:cNvPr id="18" name="Reveal 99 check box"/>
          <p:cNvSpPr/>
          <p:nvPr/>
        </p:nvSpPr>
        <p:spPr>
          <a:xfrm>
            <a:off x="548640" y="5504688"/>
            <a:ext cx="5410048" cy="749808"/>
          </a:xfrm>
          <a:prstGeom prst="roundRect">
            <a:avLst>
              <a:gd name="adj" fmla="val 9756"/>
            </a:avLst>
          </a:prstGeom>
          <a:solidFill>
            <a:srgbClr val="E8F1EA"/>
          </a:solidFill>
          <a:ln w="12700">
            <a:solidFill>
              <a:srgbClr val="B7C9BA"/>
            </a:solidFill>
            <a:prstDash val="solid"/>
          </a:ln>
        </p:spPr>
      </p:sp>
      <p:pic>
        <p:nvPicPr>
          <p:cNvPr id="19" name="Reveal 99 check icon" descr="Check it:">    </p:cNvPr>
          <p:cNvPicPr>
            <a:picLocks noChangeAspect="1"/>
          </p:cNvPicPr>
          <p:nvPr/>
        </p:nvPicPr>
        <p:blipFill>
          <a:blip r:embed="rId3"/>
          <a:stretch>
            <a:fillRect/>
          </a:stretch>
        </p:blipFill>
        <p:spPr>
          <a:xfrm>
            <a:off x="694944" y="5733288"/>
            <a:ext cx="292608" cy="292608"/>
          </a:xfrm>
          <a:prstGeom prst="rect">
            <a:avLst/>
          </a:prstGeom>
        </p:spPr>
      </p:pic>
      <p:sp>
        <p:nvSpPr>
          <p:cNvPr id="20" name="Reveal 99 check text"/>
          <p:cNvSpPr txBox="1"/>
          <p:nvPr/>
        </p:nvSpPr>
        <p:spPr>
          <a:xfrm>
            <a:off x="1097280" y="5541264"/>
            <a:ext cx="4751680" cy="676656"/>
          </a:xfrm>
          <a:prstGeom prst="rect">
            <a:avLst/>
          </a:prstGeom>
          <a:noFill/>
          <a:ln/>
        </p:spPr>
        <p:txBody>
          <a:bodyPr wrap="square" lIns="0" tIns="0" rIns="0" bIns="0" rtlCol="0" anchor="ctr"/>
          <a:lstStyle/>
          <a:p>
            <a:pPr indent="0" marL="0">
              <a:buNone/>
            </a:pPr>
            <a:r>
              <a:rPr lang="en-US" sz="1400" b="1" dirty="0">
                <a:solidFill>
                  <a:srgbClr val="1E5631"/>
                </a:solidFill>
              </a:rPr>
              <a:t>Check it:  </a:t>
            </a:r>
            <a:r>
              <a:rPr lang="en-US" sz="1300" b="1" dirty="0">
                <a:solidFill>
                  <a:srgbClr val="1E5631"/>
                </a:solidFill>
                <a:latin typeface="Courier New" pitchFamily="34" charset="0"/>
                <a:ea typeface="Courier New" pitchFamily="34" charset="-122"/>
                <a:cs typeface="Courier New" pitchFamily="34" charset="-120"/>
              </a:rPr>
              <a:t>show ip interface brief</a:t>
            </a:r>
            <a:r>
              <a:rPr lang="en-US" sz="1400" dirty="0">
                <a:solidFill>
                  <a:srgbClr val="2B2B2B"/>
                </a:solidFill>
              </a:rPr>
              <a:t> → Vlan1 192.168.1.2 up up. PC-A: </a:t>
            </a:r>
            <a:r>
              <a:rPr lang="en-US" sz="1300" b="1" dirty="0">
                <a:solidFill>
                  <a:srgbClr val="1E5631"/>
                </a:solidFill>
                <a:latin typeface="Courier New" pitchFamily="34" charset="0"/>
                <a:ea typeface="Courier New" pitchFamily="34" charset="-122"/>
                <a:cs typeface="Courier New" pitchFamily="34" charset="-120"/>
              </a:rPr>
              <a:t>ping 192.168.1.2</a:t>
            </a:r>
            <a:r>
              <a:rPr lang="en-US" sz="1400" dirty="0">
                <a:solidFill>
                  <a:srgbClr val="2B2B2B"/>
                </a:solidFill>
              </a:rPr>
              <a:t> gets replies.</a:t>
            </a:r>
            <a:endParaRPr lang="en-US" sz="1400" dirty="0"/>
          </a:p>
        </p:txBody>
      </p:sp>
      <p:sp>
        <p:nvSpPr>
          <p:cNvPr id="21" name="Reveal 99 watch box"/>
          <p:cNvSpPr/>
          <p:nvPr/>
        </p:nvSpPr>
        <p:spPr>
          <a:xfrm>
            <a:off x="6233008" y="5504688"/>
            <a:ext cx="5410048" cy="749808"/>
          </a:xfrm>
          <a:prstGeom prst="roundRect">
            <a:avLst>
              <a:gd name="adj" fmla="val 9756"/>
            </a:avLst>
          </a:prstGeom>
          <a:solidFill>
            <a:srgbClr val="FBEAEA"/>
          </a:solidFill>
          <a:ln w="12700">
            <a:solidFill>
              <a:srgbClr val="E9B8B5"/>
            </a:solidFill>
            <a:prstDash val="solid"/>
          </a:ln>
        </p:spPr>
      </p:sp>
      <p:pic>
        <p:nvPicPr>
          <p:cNvPr id="22" name="Reveal 99 watch icon" descr="Watch out:">    </p:cNvPr>
          <p:cNvPicPr>
            <a:picLocks noChangeAspect="1"/>
          </p:cNvPicPr>
          <p:nvPr/>
        </p:nvPicPr>
        <p:blipFill>
          <a:blip r:embed="rId4"/>
          <a:stretch>
            <a:fillRect/>
          </a:stretch>
        </p:blipFill>
        <p:spPr>
          <a:xfrm>
            <a:off x="6379312" y="5733288"/>
            <a:ext cx="292608" cy="292608"/>
          </a:xfrm>
          <a:prstGeom prst="rect">
            <a:avLst/>
          </a:prstGeom>
        </p:spPr>
      </p:pic>
      <p:sp>
        <p:nvSpPr>
          <p:cNvPr id="23" name="Reveal 99 watch text"/>
          <p:cNvSpPr txBox="1"/>
          <p:nvPr/>
        </p:nvSpPr>
        <p:spPr>
          <a:xfrm>
            <a:off x="6781648" y="5541264"/>
            <a:ext cx="4751680" cy="676656"/>
          </a:xfrm>
          <a:prstGeom prst="rect">
            <a:avLst/>
          </a:prstGeom>
          <a:noFill/>
          <a:ln/>
        </p:spPr>
        <p:txBody>
          <a:bodyPr wrap="square" lIns="0" tIns="0" rIns="0" bIns="0" rtlCol="0" anchor="ctr"/>
          <a:lstStyle/>
          <a:p>
            <a:pPr indent="0" marL="0">
              <a:buNone/>
            </a:pPr>
            <a:r>
              <a:rPr lang="en-US" sz="1400" b="1" dirty="0">
                <a:solidFill>
                  <a:srgbClr val="8B1A1A"/>
                </a:solidFill>
              </a:rPr>
              <a:t>Watch out:  </a:t>
            </a:r>
            <a:r>
              <a:rPr lang="en-US" sz="1400" dirty="0">
                <a:solidFill>
                  <a:srgbClr val="2B2B2B"/>
                </a:solidFill>
              </a:rPr>
              <a:t>A Layer 2 switch has no routing table: without </a:t>
            </a:r>
            <a:r>
              <a:rPr lang="en-US" sz="1300" b="1" dirty="0">
                <a:solidFill>
                  <a:srgbClr val="1E5631"/>
                </a:solidFill>
                <a:latin typeface="Courier New" pitchFamily="34" charset="0"/>
                <a:ea typeface="Courier New" pitchFamily="34" charset="-122"/>
                <a:cs typeface="Courier New" pitchFamily="34" charset="-120"/>
              </a:rPr>
              <a:t>ip default-gateway</a:t>
            </a:r>
            <a:r>
              <a:rPr lang="en-US" sz="1400" dirty="0">
                <a:solidFill>
                  <a:srgbClr val="2B2B2B"/>
                </a:solidFill>
              </a:rPr>
              <a:t> it can only reply inside its own subnet.</a:t>
            </a:r>
            <a:endParaRPr lang="en-US" sz="1400" dirty="0"/>
          </a:p>
        </p:txBody>
      </p:sp>
      <p:sp>
        <p:nvSpPr>
          <p:cNvPr id="25" name="Slide Number Placeholder 0"/>
          <p:cNvSpPr>
            <a:spLocks noGrp="1"/>
          </p:cNvSpPr>
          <p:nvPr>
            <p:ph type="sldNum" sz="quarter" idx="4294967295"/>
          </p:nvPr>
        </p:nvSpPr>
        <p:spPr>
          <a:xfrm>
            <a:off x="10698480" y="6464808"/>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r"/>
            <a:fld id="{F7021451-1387-4CA6-816F-3879F97B5CBC}" type="slidenum">
              <a:rPr b="0" lang="en-US"/>
              <a:t>21</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4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0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400"/>
                                        <p:tgtEl>
                                          <p:spTgt spid="1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400"/>
                                        <p:tgtEl>
                                          <p:spTgt spid="1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fade">
                                      <p:cBhvr>
                                        <p:cTn id="38" dur="400"/>
                                        <p:tgtEl>
                                          <p:spTgt spid="20"/>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fade">
                                      <p:cBhvr>
                                        <p:cTn id="41" dur="400"/>
                                        <p:tgtEl>
                                          <p:spTgt spid="21"/>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fade">
                                      <p:cBhvr>
                                        <p:cTn id="44" dur="400"/>
                                        <p:tgtEl>
                                          <p:spTgt spid="22"/>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3" grpId="0" animBg="1"/>
      <p:bldP spid="15" grpId="0" animBg="1"/>
      <p:bldP spid="17" grpId="0" animBg="1"/>
      <p:bldP spid="18" grpId="0" animBg="1"/>
      <p:bldP spid="20" grpId="0" animBg="1"/>
      <p:bldP spid="21" grpId="0" animBg="1"/>
      <p:bldP spid="2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2" type="body" hasCustomPrompt="1"/>
          </p:nvPr>
        </p:nvSpPr>
        <p:spPr>
          <a:xfrm>
            <a:off x="548640" y="274320"/>
            <a:ext cx="9966960" cy="256032"/>
          </a:xfrm>
          <a:prstGeom prst="rect">
            <a:avLst/>
          </a:prstGeom>
          <a:noFill/>
          <a:ln/>
        </p:spPr>
        <p:txBody>
          <a:bodyPr wrap="square" lIns="0" tIns="0" rIns="0" bIns="0" rtlCol="0" anchor="ctr"/>
          <a:lstStyle/>
          <a:p>
            <a:pPr algn="l" indent="0" marL="0">
              <a:buNone/>
            </a:pPr>
            <a:r>
              <a:rPr lang="en-US" sz="1100" b="1" spc="100" kern="0" dirty="0">
                <a:solidFill>
                  <a:schemeClr val="accent2"/>
                </a:solidFill>
              </a:rPr>
              <a:t>03  •  BASIC SET-UP &amp; SSH  •  LAB 1</a:t>
            </a:r>
            <a:endParaRPr lang="en-US" sz="1100" dirty="0"/>
          </a:p>
        </p:txBody>
      </p:sp>
      <p:sp>
        <p:nvSpPr>
          <p:cNvPr id="3" name="Text 1"/>
          <p:cNvSpPr/>
          <p:nvPr>
            <p:ph idx="103" type="title" hasCustomPrompt="1"/>
          </p:nvPr>
        </p:nvSpPr>
        <p:spPr>
          <a:xfrm>
            <a:off x="548640" y="548640"/>
            <a:ext cx="10149840" cy="548640"/>
          </a:xfrm>
          <a:prstGeom prst="rect">
            <a:avLst/>
          </a:prstGeom>
          <a:noFill/>
          <a:ln/>
        </p:spPr>
        <p:txBody>
          <a:bodyPr wrap="square" lIns="0" tIns="0" rIns="0" bIns="0" rtlCol="0" anchor="ctr"/>
          <a:lstStyle/>
          <a:p>
            <a:pPr algn="l" indent="0" marL="0">
              <a:buNone/>
            </a:pPr>
            <a:r>
              <a:rPr lang="en-US" sz="2600" b="1" dirty="0">
                <a:solidFill>
                  <a:schemeClr val="accent1"/>
                </a:solidFill>
              </a:rPr>
              <a:t>How to configure many switch ports at once</a:t>
            </a:r>
            <a:endParaRPr lang="en-US" sz="2600" dirty="0"/>
          </a:p>
        </p:txBody>
      </p:sp>
      <p:pic>
        <p:nvPicPr>
          <p:cNvPr id="4" name="Home button" descr="Home: back to the workbook menu">
            <a:hlinkClick r:id="rId2" tooltip="Back to the workbook menu" action="ppaction://hlinksldjump"/>
          </p:cNvPr>
          <p:cNvPicPr>
            <a:picLocks noChangeAspect="1"/>
          </p:cNvPicPr>
          <p:nvPr/>
        </p:nvPicPr>
        <p:blipFill>
          <a:blip r:embed="rId1"/>
          <a:stretch>
            <a:fillRect/>
          </a:stretch>
        </p:blipFill>
        <p:spPr>
          <a:xfrm>
            <a:off x="11365992" y="6336792"/>
            <a:ext cx="365760" cy="365760"/>
          </a:xfrm>
          <a:prstGeom prst="rect">
            <a:avLst/>
          </a:prstGeom>
        </p:spPr>
      </p:pic>
      <p:sp>
        <p:nvSpPr>
          <p:cNvPr id="5" name="Goal"/>
          <p:cNvSpPr txBox="1"/>
          <p:nvPr/>
        </p:nvSpPr>
        <p:spPr>
          <a:xfrm>
            <a:off x="548640" y="1161288"/>
            <a:ext cx="11094415" cy="384048"/>
          </a:xfrm>
          <a:prstGeom prst="rect">
            <a:avLst/>
          </a:prstGeom>
          <a:noFill/>
          <a:ln/>
        </p:spPr>
        <p:txBody>
          <a:bodyPr wrap="square" lIns="0" tIns="0" rIns="0" bIns="0" rtlCol="0" anchor="ctr"/>
          <a:lstStyle/>
          <a:p>
            <a:pPr indent="0" marL="0">
              <a:buNone/>
            </a:pPr>
            <a:r>
              <a:rPr lang="en-US" sz="1400" b="1" dirty="0">
                <a:solidFill>
                  <a:srgbClr val="2B7043"/>
                </a:solidFill>
              </a:rPr>
              <a:t>Goal:  </a:t>
            </a:r>
            <a:r>
              <a:rPr lang="en-US" sz="1400" b="1" dirty="0">
                <a:solidFill>
                  <a:srgbClr val="1E5631"/>
                </a:solidFill>
                <a:latin typeface="Courier New" pitchFamily="34" charset="0"/>
                <a:ea typeface="Courier New" pitchFamily="34" charset="-122"/>
                <a:cs typeface="Courier New" pitchFamily="34" charset="-120"/>
              </a:rPr>
              <a:t>interface range</a:t>
            </a:r>
            <a:r>
              <a:rPr lang="en-US" sz="1400" dirty="0">
                <a:solidFill>
                  <a:srgbClr val="2B2B2B"/>
                </a:solidFill>
              </a:rPr>
              <a:t> applies the same commands to a group of ports — faster, and fewer mistakes.</a:t>
            </a:r>
            <a:endParaRPr lang="en-US" sz="1400" dirty="0"/>
          </a:p>
        </p:txBody>
      </p:sp>
      <p:sp>
        <p:nvSpPr>
          <p:cNvPr id="6" name="Command header"/>
          <p:cNvSpPr/>
          <p:nvPr/>
        </p:nvSpPr>
        <p:spPr>
          <a:xfrm>
            <a:off x="548640" y="1664208"/>
            <a:ext cx="6153912" cy="310896"/>
          </a:xfrm>
          <a:prstGeom prst="rect">
            <a:avLst/>
          </a:prstGeom>
          <a:solidFill>
            <a:srgbClr val="1B2B22"/>
          </a:solidFill>
          <a:ln/>
        </p:spPr>
        <p:txBody>
          <a:bodyPr wrap="square" lIns="109728" tIns="45720" rIns="109728" bIns="45720" rtlCol="0" anchor="ctr"/>
          <a:lstStyle/>
          <a:p>
            <a:pPr indent="0" marL="0">
              <a:buNone/>
            </a:pPr>
            <a:r>
              <a:rPr lang="en-US" sz="1100" dirty="0">
                <a:solidFill>
                  <a:srgbClr val="E0605A"/>
                </a:solidFill>
              </a:rPr>
              <a:t>●  </a:t>
            </a:r>
            <a:r>
              <a:rPr lang="en-US" sz="1100" dirty="0">
                <a:solidFill>
                  <a:srgbClr val="E8B92E"/>
                </a:solidFill>
              </a:rPr>
              <a:t>●  </a:t>
            </a:r>
            <a:r>
              <a:rPr lang="en-US" sz="1100" dirty="0">
                <a:solidFill>
                  <a:srgbClr val="4CAF50"/>
                </a:solidFill>
              </a:rPr>
              <a:t>●   </a:t>
            </a:r>
            <a:r>
              <a:rPr lang="en-US" sz="1100" b="1" dirty="0">
                <a:solidFill>
                  <a:srgbClr val="C9D6CC"/>
                </a:solidFill>
              </a:rPr>
              <a:t>S1  —  type the white text, then press Enter</a:t>
            </a:r>
            <a:endParaRPr lang="en-US" sz="1100" dirty="0"/>
          </a:p>
        </p:txBody>
      </p:sp>
      <p:sp>
        <p:nvSpPr>
          <p:cNvPr id="7" name="Meaning header"/>
          <p:cNvSpPr/>
          <p:nvPr/>
        </p:nvSpPr>
        <p:spPr>
          <a:xfrm>
            <a:off x="6720840" y="1664208"/>
            <a:ext cx="4922215" cy="310896"/>
          </a:xfrm>
          <a:prstGeom prst="rect">
            <a:avLst/>
          </a:prstGeom>
          <a:solidFill>
            <a:srgbClr val="E8F1EA"/>
          </a:solidFill>
          <a:ln/>
        </p:spPr>
        <p:txBody>
          <a:bodyPr wrap="square" lIns="109728" tIns="45720" rIns="109728" bIns="45720" rtlCol="0" anchor="ctr"/>
          <a:lstStyle/>
          <a:p>
            <a:pPr indent="0" marL="0">
              <a:buNone/>
            </a:pPr>
            <a:r>
              <a:rPr lang="en-US" sz="1200" b="1" dirty="0">
                <a:solidFill>
                  <a:srgbClr val="1E5631"/>
                </a:solidFill>
              </a:rPr>
              <a:t>What it does</a:t>
            </a:r>
            <a:endParaRPr lang="en-US" sz="1200" dirty="0"/>
          </a:p>
        </p:txBody>
      </p:sp>
      <p:sp>
        <p:nvSpPr>
          <p:cNvPr id="8" name="Command 01"/>
          <p:cNvSpPr/>
          <p:nvPr/>
        </p:nvSpPr>
        <p:spPr>
          <a:xfrm>
            <a:off x="548640" y="1993392"/>
            <a:ext cx="6153912" cy="54380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S1(config)# </a:t>
            </a:r>
            <a:r>
              <a:rPr lang="en-US" sz="1200" b="1" dirty="0">
                <a:solidFill>
                  <a:srgbClr val="FFFFFF"/>
                </a:solidFill>
                <a:latin typeface="Courier New" pitchFamily="34" charset="0"/>
                <a:ea typeface="Courier New" pitchFamily="34" charset="-122"/>
                <a:cs typeface="Courier New" pitchFamily="34" charset="-120"/>
              </a:rPr>
              <a:t>interface range fa0/1 - 24</a:t>
            </a:r>
            <a:endParaRPr lang="en-US" sz="1200" dirty="0"/>
          </a:p>
        </p:txBody>
      </p:sp>
      <p:sp>
        <p:nvSpPr>
          <p:cNvPr id="9" name="Reveal 01 meaning"/>
          <p:cNvSpPr/>
          <p:nvPr/>
        </p:nvSpPr>
        <p:spPr>
          <a:xfrm>
            <a:off x="6720840" y="1993392"/>
            <a:ext cx="4922215" cy="543809"/>
          </a:xfrm>
          <a:prstGeom prst="rect">
            <a:avLst/>
          </a:prstGeom>
          <a:solidFill>
            <a:srgbClr val="F2F8F3"/>
          </a:solidFill>
          <a:ln/>
        </p:spPr>
        <p:txBody>
          <a:bodyPr wrap="square" lIns="109728" tIns="45720" rIns="109728" bIns="45720" rtlCol="0" anchor="ctr"/>
          <a:lstStyle/>
          <a:p>
            <a:pPr indent="0" marL="0">
              <a:buNone/>
            </a:pPr>
            <a:r>
              <a:rPr lang="en-US" sz="1400" dirty="0">
                <a:solidFill>
                  <a:srgbClr val="2B2B2B"/>
                </a:solidFill>
              </a:rPr>
              <a:t>Select ports Fa0/1 to Fa0/24 together. The prompt becomes </a:t>
            </a:r>
            <a:r>
              <a:rPr lang="en-US" sz="1300" b="1" dirty="0">
                <a:solidFill>
                  <a:srgbClr val="1E5631"/>
                </a:solidFill>
                <a:latin typeface="Courier New" pitchFamily="34" charset="0"/>
                <a:ea typeface="Courier New" pitchFamily="34" charset="-122"/>
                <a:cs typeface="Courier New" pitchFamily="34" charset="-120"/>
              </a:rPr>
              <a:t>(config-if-range)#</a:t>
            </a:r>
            <a:r>
              <a:rPr lang="en-US" sz="1400" dirty="0">
                <a:solidFill>
                  <a:srgbClr val="2B2B2B"/>
                </a:solidFill>
              </a:rPr>
              <a:t>.</a:t>
            </a:r>
            <a:endParaRPr lang="en-US" sz="1400" dirty="0"/>
          </a:p>
        </p:txBody>
      </p:sp>
      <p:sp>
        <p:nvSpPr>
          <p:cNvPr id="10" name="Command 02"/>
          <p:cNvSpPr/>
          <p:nvPr/>
        </p:nvSpPr>
        <p:spPr>
          <a:xfrm>
            <a:off x="548640" y="2555489"/>
            <a:ext cx="6153912" cy="326768"/>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S1(config-if-range)# </a:t>
            </a:r>
            <a:r>
              <a:rPr lang="en-US" sz="1200" b="1" dirty="0">
                <a:solidFill>
                  <a:srgbClr val="FFFFFF"/>
                </a:solidFill>
                <a:latin typeface="Courier New" pitchFamily="34" charset="0"/>
                <a:ea typeface="Courier New" pitchFamily="34" charset="-122"/>
                <a:cs typeface="Courier New" pitchFamily="34" charset="-120"/>
              </a:rPr>
              <a:t>description USER PORT</a:t>
            </a:r>
            <a:endParaRPr lang="en-US" sz="1200" dirty="0"/>
          </a:p>
        </p:txBody>
      </p:sp>
      <p:sp>
        <p:nvSpPr>
          <p:cNvPr id="11" name="Reveal 02 meaning"/>
          <p:cNvSpPr/>
          <p:nvPr/>
        </p:nvSpPr>
        <p:spPr>
          <a:xfrm>
            <a:off x="6720840" y="2555489"/>
            <a:ext cx="4922215" cy="326768"/>
          </a:xfrm>
          <a:prstGeom prst="rect">
            <a:avLst/>
          </a:prstGeom>
          <a:solidFill>
            <a:srgbClr val="FFFFFF"/>
          </a:solidFill>
          <a:ln/>
        </p:spPr>
        <p:txBody>
          <a:bodyPr wrap="square" lIns="109728" tIns="45720" rIns="109728" bIns="45720" rtlCol="0" anchor="ctr"/>
          <a:lstStyle/>
          <a:p>
            <a:pPr indent="0" marL="0">
              <a:buNone/>
            </a:pPr>
            <a:r>
              <a:rPr lang="en-US" sz="1400" dirty="0">
                <a:solidFill>
                  <a:srgbClr val="2B2B2B"/>
                </a:solidFill>
              </a:rPr>
              <a:t>Every selected port gets the same label.</a:t>
            </a:r>
            <a:endParaRPr lang="en-US" sz="1400" dirty="0"/>
          </a:p>
        </p:txBody>
      </p:sp>
      <p:sp>
        <p:nvSpPr>
          <p:cNvPr id="12" name="Command 03"/>
          <p:cNvSpPr/>
          <p:nvPr/>
        </p:nvSpPr>
        <p:spPr>
          <a:xfrm>
            <a:off x="548640" y="2900545"/>
            <a:ext cx="6153912" cy="326768"/>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S1(config-if-range)# </a:t>
            </a:r>
            <a:r>
              <a:rPr lang="en-US" sz="1200" b="1" dirty="0">
                <a:solidFill>
                  <a:srgbClr val="FFFFFF"/>
                </a:solidFill>
                <a:latin typeface="Courier New" pitchFamily="34" charset="0"/>
                <a:ea typeface="Courier New" pitchFamily="34" charset="-122"/>
                <a:cs typeface="Courier New" pitchFamily="34" charset="-120"/>
              </a:rPr>
              <a:t>interface range fa0/1 - 5, fa0/10</a:t>
            </a:r>
            <a:endParaRPr lang="en-US" sz="1200" dirty="0"/>
          </a:p>
        </p:txBody>
      </p:sp>
      <p:sp>
        <p:nvSpPr>
          <p:cNvPr id="13" name="Reveal 03 meaning"/>
          <p:cNvSpPr/>
          <p:nvPr/>
        </p:nvSpPr>
        <p:spPr>
          <a:xfrm>
            <a:off x="6720840" y="2900545"/>
            <a:ext cx="4922215" cy="326768"/>
          </a:xfrm>
          <a:prstGeom prst="rect">
            <a:avLst/>
          </a:prstGeom>
          <a:solidFill>
            <a:srgbClr val="F2F8F3"/>
          </a:solidFill>
          <a:ln/>
        </p:spPr>
        <p:txBody>
          <a:bodyPr wrap="square" lIns="109728" tIns="45720" rIns="109728" bIns="45720" rtlCol="0" anchor="ctr"/>
          <a:lstStyle/>
          <a:p>
            <a:pPr indent="0" marL="0">
              <a:buNone/>
            </a:pPr>
            <a:r>
              <a:rPr lang="en-US" sz="1400" dirty="0">
                <a:solidFill>
                  <a:srgbClr val="2B2B2B"/>
                </a:solidFill>
              </a:rPr>
              <a:t>Mix ranges and single ports, separated by commas.</a:t>
            </a:r>
            <a:endParaRPr lang="en-US" sz="1400" dirty="0"/>
          </a:p>
        </p:txBody>
      </p:sp>
      <p:sp>
        <p:nvSpPr>
          <p:cNvPr id="14" name="Command 04"/>
          <p:cNvSpPr/>
          <p:nvPr/>
        </p:nvSpPr>
        <p:spPr>
          <a:xfrm>
            <a:off x="548640" y="3245602"/>
            <a:ext cx="6153912" cy="54380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S1(config-if-range)# </a:t>
            </a:r>
            <a:r>
              <a:rPr lang="en-US" sz="1200" b="1" dirty="0">
                <a:solidFill>
                  <a:srgbClr val="FFFFFF"/>
                </a:solidFill>
                <a:latin typeface="Courier New" pitchFamily="34" charset="0"/>
                <a:ea typeface="Courier New" pitchFamily="34" charset="-122"/>
                <a:cs typeface="Courier New" pitchFamily="34" charset="-120"/>
              </a:rPr>
              <a:t>interface range fa0/3 - 24, g0/2</a:t>
            </a:r>
            <a:endParaRPr lang="en-US" sz="1200" dirty="0"/>
          </a:p>
          <a:p>
            <a:pPr indent="0" marL="0">
              <a:buNone/>
            </a:pPr>
            <a:r>
              <a:rPr lang="en-US" sz="1200" dirty="0">
                <a:solidFill>
                  <a:srgbClr val="8FC9A0"/>
                </a:solidFill>
                <a:latin typeface="Courier New" pitchFamily="34" charset="0"/>
                <a:ea typeface="Courier New" pitchFamily="34" charset="-122"/>
                <a:cs typeface="Courier New" pitchFamily="34" charset="-120"/>
              </a:rPr>
              <a:t>S1(config-if-range)# </a:t>
            </a:r>
            <a:r>
              <a:rPr lang="en-US" sz="1200" b="1" dirty="0">
                <a:solidFill>
                  <a:srgbClr val="FFFFFF"/>
                </a:solidFill>
                <a:latin typeface="Courier New" pitchFamily="34" charset="0"/>
                <a:ea typeface="Courier New" pitchFamily="34" charset="-122"/>
                <a:cs typeface="Courier New" pitchFamily="34" charset="-120"/>
              </a:rPr>
              <a:t>shutdown</a:t>
            </a:r>
            <a:endParaRPr lang="en-US" sz="1200" dirty="0"/>
          </a:p>
        </p:txBody>
      </p:sp>
      <p:sp>
        <p:nvSpPr>
          <p:cNvPr id="15" name="Reveal 04 meaning"/>
          <p:cNvSpPr/>
          <p:nvPr/>
        </p:nvSpPr>
        <p:spPr>
          <a:xfrm>
            <a:off x="6720840" y="3245602"/>
            <a:ext cx="4922215" cy="543809"/>
          </a:xfrm>
          <a:prstGeom prst="rect">
            <a:avLst/>
          </a:prstGeom>
          <a:solidFill>
            <a:srgbClr val="FFFFFF"/>
          </a:solidFill>
          <a:ln/>
        </p:spPr>
        <p:txBody>
          <a:bodyPr wrap="square" lIns="109728" tIns="45720" rIns="109728" bIns="45720" rtlCol="0" anchor="ctr"/>
          <a:lstStyle/>
          <a:p>
            <a:pPr indent="0" marL="0">
              <a:buNone/>
            </a:pPr>
            <a:r>
              <a:rPr lang="en-US" sz="1400" dirty="0">
                <a:solidFill>
                  <a:srgbClr val="2B2B2B"/>
                </a:solidFill>
              </a:rPr>
              <a:t>Switch off every port you are not using, so nobody can plug in. (Lab 1 uses Fa0/1, Fa0/2 and G0/1.)</a:t>
            </a:r>
            <a:endParaRPr lang="en-US" sz="1400" dirty="0"/>
          </a:p>
        </p:txBody>
      </p:sp>
      <p:sp>
        <p:nvSpPr>
          <p:cNvPr id="16" name="Command 05"/>
          <p:cNvSpPr/>
          <p:nvPr/>
        </p:nvSpPr>
        <p:spPr>
          <a:xfrm>
            <a:off x="548640" y="3807699"/>
            <a:ext cx="6153912" cy="455005"/>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S1(config-if-range)# </a:t>
            </a:r>
            <a:r>
              <a:rPr lang="en-US" sz="1200" b="1" dirty="0">
                <a:solidFill>
                  <a:srgbClr val="FFFFFF"/>
                </a:solidFill>
                <a:latin typeface="Courier New" pitchFamily="34" charset="0"/>
                <a:ea typeface="Courier New" pitchFamily="34" charset="-122"/>
                <a:cs typeface="Courier New" pitchFamily="34" charset="-120"/>
              </a:rPr>
              <a:t>interface fa0/3</a:t>
            </a:r>
            <a:endParaRPr lang="en-US" sz="1200" dirty="0"/>
          </a:p>
          <a:p>
            <a:pPr indent="0" marL="0">
              <a:buNone/>
            </a:pPr>
            <a:r>
              <a:rPr lang="en-US" sz="1200" dirty="0">
                <a:solidFill>
                  <a:srgbClr val="8FC9A0"/>
                </a:solidFill>
                <a:latin typeface="Courier New" pitchFamily="34" charset="0"/>
                <a:ea typeface="Courier New" pitchFamily="34" charset="-122"/>
                <a:cs typeface="Courier New" pitchFamily="34" charset="-120"/>
              </a:rPr>
              <a:t>S1(config-if)# </a:t>
            </a:r>
            <a:r>
              <a:rPr lang="en-US" sz="1200" b="1" dirty="0">
                <a:solidFill>
                  <a:srgbClr val="FFFFFF"/>
                </a:solidFill>
                <a:latin typeface="Courier New" pitchFamily="34" charset="0"/>
                <a:ea typeface="Courier New" pitchFamily="34" charset="-122"/>
                <a:cs typeface="Courier New" pitchFamily="34" charset="-120"/>
              </a:rPr>
              <a:t>no shutdown</a:t>
            </a:r>
            <a:endParaRPr lang="en-US" sz="1200" dirty="0"/>
          </a:p>
        </p:txBody>
      </p:sp>
      <p:sp>
        <p:nvSpPr>
          <p:cNvPr id="17" name="Reveal 05 meaning"/>
          <p:cNvSpPr/>
          <p:nvPr/>
        </p:nvSpPr>
        <p:spPr>
          <a:xfrm>
            <a:off x="6720840" y="3807699"/>
            <a:ext cx="4922215" cy="455005"/>
          </a:xfrm>
          <a:prstGeom prst="rect">
            <a:avLst/>
          </a:prstGeom>
          <a:solidFill>
            <a:srgbClr val="F2F8F3"/>
          </a:solidFill>
          <a:ln/>
        </p:spPr>
        <p:txBody>
          <a:bodyPr wrap="square" lIns="109728" tIns="45720" rIns="109728" bIns="45720" rtlCol="0" anchor="ctr"/>
          <a:lstStyle/>
          <a:p>
            <a:pPr indent="0" marL="0">
              <a:buNone/>
            </a:pPr>
            <a:r>
              <a:rPr lang="en-US" sz="1400" dirty="0">
                <a:solidFill>
                  <a:srgbClr val="2B2B2B"/>
                </a:solidFill>
              </a:rPr>
              <a:t>Re-enable a single port when a new user needs it.</a:t>
            </a:r>
            <a:endParaRPr lang="en-US" sz="1400" dirty="0"/>
          </a:p>
        </p:txBody>
      </p:sp>
      <p:sp>
        <p:nvSpPr>
          <p:cNvPr id="18" name="Reveal 99 check box"/>
          <p:cNvSpPr/>
          <p:nvPr/>
        </p:nvSpPr>
        <p:spPr>
          <a:xfrm>
            <a:off x="548640" y="5504688"/>
            <a:ext cx="5410048" cy="749808"/>
          </a:xfrm>
          <a:prstGeom prst="roundRect">
            <a:avLst>
              <a:gd name="adj" fmla="val 9756"/>
            </a:avLst>
          </a:prstGeom>
          <a:solidFill>
            <a:srgbClr val="E8F1EA"/>
          </a:solidFill>
          <a:ln w="12700">
            <a:solidFill>
              <a:srgbClr val="B7C9BA"/>
            </a:solidFill>
            <a:prstDash val="solid"/>
          </a:ln>
        </p:spPr>
      </p:sp>
      <p:pic>
        <p:nvPicPr>
          <p:cNvPr id="19" name="Reveal 99 check icon" descr="Check it:">    </p:cNvPr>
          <p:cNvPicPr>
            <a:picLocks noChangeAspect="1"/>
          </p:cNvPicPr>
          <p:nvPr/>
        </p:nvPicPr>
        <p:blipFill>
          <a:blip r:embed="rId3"/>
          <a:stretch>
            <a:fillRect/>
          </a:stretch>
        </p:blipFill>
        <p:spPr>
          <a:xfrm>
            <a:off x="694944" y="5733288"/>
            <a:ext cx="292608" cy="292608"/>
          </a:xfrm>
          <a:prstGeom prst="rect">
            <a:avLst/>
          </a:prstGeom>
        </p:spPr>
      </p:pic>
      <p:sp>
        <p:nvSpPr>
          <p:cNvPr id="20" name="Reveal 99 check text"/>
          <p:cNvSpPr txBox="1"/>
          <p:nvPr/>
        </p:nvSpPr>
        <p:spPr>
          <a:xfrm>
            <a:off x="1097280" y="5541264"/>
            <a:ext cx="4751680" cy="676656"/>
          </a:xfrm>
          <a:prstGeom prst="rect">
            <a:avLst/>
          </a:prstGeom>
          <a:noFill/>
          <a:ln/>
        </p:spPr>
        <p:txBody>
          <a:bodyPr wrap="square" lIns="0" tIns="0" rIns="0" bIns="0" rtlCol="0" anchor="ctr"/>
          <a:lstStyle/>
          <a:p>
            <a:pPr indent="0" marL="0">
              <a:buNone/>
            </a:pPr>
            <a:r>
              <a:rPr lang="en-US" sz="1400" b="1" dirty="0">
                <a:solidFill>
                  <a:srgbClr val="1E5631"/>
                </a:solidFill>
              </a:rPr>
              <a:t>Check it:  </a:t>
            </a:r>
            <a:r>
              <a:rPr lang="en-US" sz="1300" b="1" dirty="0">
                <a:solidFill>
                  <a:srgbClr val="1E5631"/>
                </a:solidFill>
                <a:latin typeface="Courier New" pitchFamily="34" charset="0"/>
                <a:ea typeface="Courier New" pitchFamily="34" charset="-122"/>
                <a:cs typeface="Courier New" pitchFamily="34" charset="-120"/>
              </a:rPr>
              <a:t>show ip interface brief</a:t>
            </a:r>
            <a:r>
              <a:rPr lang="en-US" sz="1400" dirty="0">
                <a:solidFill>
                  <a:srgbClr val="2B2B2B"/>
                </a:solidFill>
              </a:rPr>
              <a:t> lists the unused ports as administratively down.</a:t>
            </a:r>
            <a:endParaRPr lang="en-US" sz="1400" dirty="0"/>
          </a:p>
        </p:txBody>
      </p:sp>
      <p:sp>
        <p:nvSpPr>
          <p:cNvPr id="21" name="Reveal 99 watch box"/>
          <p:cNvSpPr/>
          <p:nvPr/>
        </p:nvSpPr>
        <p:spPr>
          <a:xfrm>
            <a:off x="6233008" y="5504688"/>
            <a:ext cx="5410048" cy="749808"/>
          </a:xfrm>
          <a:prstGeom prst="roundRect">
            <a:avLst>
              <a:gd name="adj" fmla="val 9756"/>
            </a:avLst>
          </a:prstGeom>
          <a:solidFill>
            <a:srgbClr val="FBEAEA"/>
          </a:solidFill>
          <a:ln w="12700">
            <a:solidFill>
              <a:srgbClr val="E9B8B5"/>
            </a:solidFill>
            <a:prstDash val="solid"/>
          </a:ln>
        </p:spPr>
      </p:sp>
      <p:pic>
        <p:nvPicPr>
          <p:cNvPr id="22" name="Reveal 99 watch icon" descr="Watch out:">    </p:cNvPr>
          <p:cNvPicPr>
            <a:picLocks noChangeAspect="1"/>
          </p:cNvPicPr>
          <p:nvPr/>
        </p:nvPicPr>
        <p:blipFill>
          <a:blip r:embed="rId4"/>
          <a:stretch>
            <a:fillRect/>
          </a:stretch>
        </p:blipFill>
        <p:spPr>
          <a:xfrm>
            <a:off x="6379312" y="5733288"/>
            <a:ext cx="292608" cy="292608"/>
          </a:xfrm>
          <a:prstGeom prst="rect">
            <a:avLst/>
          </a:prstGeom>
        </p:spPr>
      </p:pic>
      <p:sp>
        <p:nvSpPr>
          <p:cNvPr id="23" name="Reveal 99 watch text"/>
          <p:cNvSpPr txBox="1"/>
          <p:nvPr/>
        </p:nvSpPr>
        <p:spPr>
          <a:xfrm>
            <a:off x="6781648" y="5541264"/>
            <a:ext cx="4751680" cy="676656"/>
          </a:xfrm>
          <a:prstGeom prst="rect">
            <a:avLst/>
          </a:prstGeom>
          <a:noFill/>
          <a:ln/>
        </p:spPr>
        <p:txBody>
          <a:bodyPr wrap="square" lIns="0" tIns="0" rIns="0" bIns="0" rtlCol="0" anchor="ctr"/>
          <a:lstStyle/>
          <a:p>
            <a:pPr indent="0" marL="0">
              <a:buNone/>
            </a:pPr>
            <a:r>
              <a:rPr lang="en-US" sz="1400" b="1" dirty="0">
                <a:solidFill>
                  <a:srgbClr val="8B1A1A"/>
                </a:solidFill>
              </a:rPr>
              <a:t>Watch out:  </a:t>
            </a:r>
            <a:r>
              <a:rPr lang="en-US" sz="1400" dirty="0">
                <a:solidFill>
                  <a:srgbClr val="2B2B2B"/>
                </a:solidFill>
              </a:rPr>
              <a:t>Don’t shut the uplink to the router (G0/1 in Lab 1), or you lose contact with the rest of the network.</a:t>
            </a:r>
            <a:endParaRPr lang="en-US" sz="1400" dirty="0"/>
          </a:p>
        </p:txBody>
      </p:sp>
      <p:sp>
        <p:nvSpPr>
          <p:cNvPr id="25" name="Slide Number Placeholder 0"/>
          <p:cNvSpPr>
            <a:spLocks noGrp="1"/>
          </p:cNvSpPr>
          <p:nvPr>
            <p:ph type="sldNum" sz="quarter" idx="4294967295"/>
          </p:nvPr>
        </p:nvSpPr>
        <p:spPr>
          <a:xfrm>
            <a:off x="10698480" y="6464808"/>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r"/>
            <a:fld id="{F7021451-1387-4CA6-816F-3879F97B5CBC}" type="slidenum">
              <a:rPr b="0" lang="en-US"/>
              <a:t>22</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4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0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400"/>
                                        <p:tgtEl>
                                          <p:spTgt spid="1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400"/>
                                        <p:tgtEl>
                                          <p:spTgt spid="1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fade">
                                      <p:cBhvr>
                                        <p:cTn id="38" dur="400"/>
                                        <p:tgtEl>
                                          <p:spTgt spid="20"/>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fade">
                                      <p:cBhvr>
                                        <p:cTn id="41" dur="400"/>
                                        <p:tgtEl>
                                          <p:spTgt spid="21"/>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fade">
                                      <p:cBhvr>
                                        <p:cTn id="44" dur="400"/>
                                        <p:tgtEl>
                                          <p:spTgt spid="22"/>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3" grpId="0" animBg="1"/>
      <p:bldP spid="15" grpId="0" animBg="1"/>
      <p:bldP spid="17" grpId="0" animBg="1"/>
      <p:bldP spid="18" grpId="0" animBg="1"/>
      <p:bldP spid="20" grpId="0" animBg="1"/>
      <p:bldP spid="21" grpId="0" animBg="1"/>
      <p:bldP spid="23"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2" type="body" hasCustomPrompt="1"/>
          </p:nvPr>
        </p:nvSpPr>
        <p:spPr>
          <a:xfrm>
            <a:off x="548640" y="274320"/>
            <a:ext cx="9966960" cy="256032"/>
          </a:xfrm>
          <a:prstGeom prst="rect">
            <a:avLst/>
          </a:prstGeom>
          <a:noFill/>
          <a:ln/>
        </p:spPr>
        <p:txBody>
          <a:bodyPr wrap="square" lIns="0" tIns="0" rIns="0" bIns="0" rtlCol="0" anchor="ctr"/>
          <a:lstStyle/>
          <a:p>
            <a:pPr algn="l" indent="0" marL="0">
              <a:buNone/>
            </a:pPr>
            <a:r>
              <a:rPr lang="en-US" sz="1100" b="1" spc="100" kern="0" dirty="0">
                <a:solidFill>
                  <a:schemeClr val="accent2"/>
                </a:solidFill>
              </a:rPr>
              <a:t>03  •  BASIC SET-UP &amp; SSH  •  LAB 1</a:t>
            </a:r>
            <a:endParaRPr lang="en-US" sz="1100" dirty="0"/>
          </a:p>
        </p:txBody>
      </p:sp>
      <p:sp>
        <p:nvSpPr>
          <p:cNvPr id="3" name="Text 1"/>
          <p:cNvSpPr/>
          <p:nvPr>
            <p:ph idx="103" type="title" hasCustomPrompt="1"/>
          </p:nvPr>
        </p:nvSpPr>
        <p:spPr>
          <a:xfrm>
            <a:off x="548640" y="548640"/>
            <a:ext cx="10149840" cy="548640"/>
          </a:xfrm>
          <a:prstGeom prst="rect">
            <a:avLst/>
          </a:prstGeom>
          <a:noFill/>
          <a:ln/>
        </p:spPr>
        <p:txBody>
          <a:bodyPr wrap="square" lIns="0" tIns="0" rIns="0" bIns="0" rtlCol="0" anchor="ctr"/>
          <a:lstStyle/>
          <a:p>
            <a:pPr algn="l" indent="0" marL="0">
              <a:buNone/>
            </a:pPr>
            <a:r>
              <a:rPr lang="en-US" sz="2600" b="1" dirty="0">
                <a:solidFill>
                  <a:schemeClr val="accent1"/>
                </a:solidFill>
              </a:rPr>
              <a:t>How to set up SSH for secure remote access (1 of 2)</a:t>
            </a:r>
            <a:endParaRPr lang="en-US" sz="2600" dirty="0"/>
          </a:p>
        </p:txBody>
      </p:sp>
      <p:pic>
        <p:nvPicPr>
          <p:cNvPr id="4" name="Home button" descr="Home: back to the workbook menu">
            <a:hlinkClick r:id="rId2" tooltip="Back to the workbook menu" action="ppaction://hlinksldjump"/>
          </p:cNvPr>
          <p:cNvPicPr>
            <a:picLocks noChangeAspect="1"/>
          </p:cNvPicPr>
          <p:nvPr/>
        </p:nvPicPr>
        <p:blipFill>
          <a:blip r:embed="rId1"/>
          <a:stretch>
            <a:fillRect/>
          </a:stretch>
        </p:blipFill>
        <p:spPr>
          <a:xfrm>
            <a:off x="11365992" y="6336792"/>
            <a:ext cx="365760" cy="365760"/>
          </a:xfrm>
          <a:prstGeom prst="rect">
            <a:avLst/>
          </a:prstGeom>
        </p:spPr>
      </p:pic>
      <p:sp>
        <p:nvSpPr>
          <p:cNvPr id="5" name="Goal"/>
          <p:cNvSpPr txBox="1"/>
          <p:nvPr/>
        </p:nvSpPr>
        <p:spPr>
          <a:xfrm>
            <a:off x="548640" y="1161288"/>
            <a:ext cx="11094415" cy="384048"/>
          </a:xfrm>
          <a:prstGeom prst="rect">
            <a:avLst/>
          </a:prstGeom>
          <a:noFill/>
          <a:ln/>
        </p:spPr>
        <p:txBody>
          <a:bodyPr wrap="square" lIns="0" tIns="0" rIns="0" bIns="0" rtlCol="0" anchor="ctr"/>
          <a:lstStyle/>
          <a:p>
            <a:pPr indent="0" marL="0">
              <a:buNone/>
            </a:pPr>
            <a:r>
              <a:rPr lang="en-US" sz="1400" b="1" dirty="0">
                <a:solidFill>
                  <a:srgbClr val="2B7043"/>
                </a:solidFill>
              </a:rPr>
              <a:t>Goal:  </a:t>
            </a:r>
            <a:r>
              <a:rPr lang="en-US" sz="1400" dirty="0">
                <a:solidFill>
                  <a:srgbClr val="2B2B2B"/>
                </a:solidFill>
              </a:rPr>
              <a:t>SSH lets you manage a device over the network, encrypted. It needs a hostname, a domain name, a user and RSA keys.</a:t>
            </a:r>
            <a:endParaRPr lang="en-US" sz="1400" dirty="0"/>
          </a:p>
        </p:txBody>
      </p:sp>
      <p:sp>
        <p:nvSpPr>
          <p:cNvPr id="6" name="Command header"/>
          <p:cNvSpPr/>
          <p:nvPr/>
        </p:nvSpPr>
        <p:spPr>
          <a:xfrm>
            <a:off x="548640" y="1664208"/>
            <a:ext cx="6153912" cy="310896"/>
          </a:xfrm>
          <a:prstGeom prst="rect">
            <a:avLst/>
          </a:prstGeom>
          <a:solidFill>
            <a:srgbClr val="1B2B22"/>
          </a:solidFill>
          <a:ln/>
        </p:spPr>
        <p:txBody>
          <a:bodyPr wrap="square" lIns="109728" tIns="45720" rIns="109728" bIns="45720" rtlCol="0" anchor="ctr"/>
          <a:lstStyle/>
          <a:p>
            <a:pPr indent="0" marL="0">
              <a:buNone/>
            </a:pPr>
            <a:r>
              <a:rPr lang="en-US" sz="1100" dirty="0">
                <a:solidFill>
                  <a:srgbClr val="E0605A"/>
                </a:solidFill>
              </a:rPr>
              <a:t>●  </a:t>
            </a:r>
            <a:r>
              <a:rPr lang="en-US" sz="1100" dirty="0">
                <a:solidFill>
                  <a:srgbClr val="E8B92E"/>
                </a:solidFill>
              </a:rPr>
              <a:t>●  </a:t>
            </a:r>
            <a:r>
              <a:rPr lang="en-US" sz="1100" dirty="0">
                <a:solidFill>
                  <a:srgbClr val="4CAF50"/>
                </a:solidFill>
              </a:rPr>
              <a:t>●   </a:t>
            </a:r>
            <a:r>
              <a:rPr lang="en-US" sz="1100" b="1" dirty="0">
                <a:solidFill>
                  <a:srgbClr val="C9D6CC"/>
                </a:solidFill>
              </a:rPr>
              <a:t>R1  —  type the white text, then press Enter</a:t>
            </a:r>
            <a:endParaRPr lang="en-US" sz="1100" dirty="0"/>
          </a:p>
        </p:txBody>
      </p:sp>
      <p:sp>
        <p:nvSpPr>
          <p:cNvPr id="7" name="Meaning header"/>
          <p:cNvSpPr/>
          <p:nvPr/>
        </p:nvSpPr>
        <p:spPr>
          <a:xfrm>
            <a:off x="6720840" y="1664208"/>
            <a:ext cx="4922215" cy="310896"/>
          </a:xfrm>
          <a:prstGeom prst="rect">
            <a:avLst/>
          </a:prstGeom>
          <a:solidFill>
            <a:srgbClr val="E8F1EA"/>
          </a:solidFill>
          <a:ln/>
        </p:spPr>
        <p:txBody>
          <a:bodyPr wrap="square" lIns="109728" tIns="45720" rIns="109728" bIns="45720" rtlCol="0" anchor="ctr"/>
          <a:lstStyle/>
          <a:p>
            <a:pPr indent="0" marL="0">
              <a:buNone/>
            </a:pPr>
            <a:r>
              <a:rPr lang="en-US" sz="1200" b="1" dirty="0">
                <a:solidFill>
                  <a:srgbClr val="1E5631"/>
                </a:solidFill>
              </a:rPr>
              <a:t>What it does</a:t>
            </a:r>
            <a:endParaRPr lang="en-US" sz="1200" dirty="0"/>
          </a:p>
        </p:txBody>
      </p:sp>
      <p:sp>
        <p:nvSpPr>
          <p:cNvPr id="8" name="Command 01"/>
          <p:cNvSpPr/>
          <p:nvPr/>
        </p:nvSpPr>
        <p:spPr>
          <a:xfrm>
            <a:off x="548640" y="1993392"/>
            <a:ext cx="6153912" cy="54380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R1(config)# </a:t>
            </a:r>
            <a:r>
              <a:rPr lang="en-US" sz="1200" b="1" dirty="0">
                <a:solidFill>
                  <a:srgbClr val="FFFFFF"/>
                </a:solidFill>
                <a:latin typeface="Courier New" pitchFamily="34" charset="0"/>
                <a:ea typeface="Courier New" pitchFamily="34" charset="-122"/>
                <a:cs typeface="Courier New" pitchFamily="34" charset="-120"/>
              </a:rPr>
              <a:t>ip domain-name knp.ac.ke</a:t>
            </a:r>
            <a:endParaRPr lang="en-US" sz="1200" dirty="0"/>
          </a:p>
        </p:txBody>
      </p:sp>
      <p:sp>
        <p:nvSpPr>
          <p:cNvPr id="9" name="Reveal 01 meaning"/>
          <p:cNvSpPr/>
          <p:nvPr/>
        </p:nvSpPr>
        <p:spPr>
          <a:xfrm>
            <a:off x="6720840" y="1993392"/>
            <a:ext cx="4922215" cy="543809"/>
          </a:xfrm>
          <a:prstGeom prst="rect">
            <a:avLst/>
          </a:prstGeom>
          <a:solidFill>
            <a:srgbClr val="F2F8F3"/>
          </a:solidFill>
          <a:ln/>
        </p:spPr>
        <p:txBody>
          <a:bodyPr wrap="square" lIns="109728" tIns="45720" rIns="109728" bIns="45720" rtlCol="0" anchor="ctr"/>
          <a:lstStyle/>
          <a:p>
            <a:pPr indent="0" marL="0">
              <a:buNone/>
            </a:pPr>
            <a:r>
              <a:rPr lang="en-US" sz="1400" dirty="0">
                <a:solidFill>
                  <a:srgbClr val="2B2B2B"/>
                </a:solidFill>
              </a:rPr>
              <a:t>Needed to name the encryption keys (R1.knp.ac.ke). RSA keys cannot be made without it.</a:t>
            </a:r>
            <a:endParaRPr lang="en-US" sz="1400" dirty="0"/>
          </a:p>
        </p:txBody>
      </p:sp>
      <p:sp>
        <p:nvSpPr>
          <p:cNvPr id="10" name="Command 02"/>
          <p:cNvSpPr/>
          <p:nvPr/>
        </p:nvSpPr>
        <p:spPr>
          <a:xfrm>
            <a:off x="548640" y="2555489"/>
            <a:ext cx="6153912" cy="54380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R1(config)# </a:t>
            </a:r>
            <a:r>
              <a:rPr lang="en-US" sz="1200" b="1" dirty="0">
                <a:solidFill>
                  <a:srgbClr val="FFFFFF"/>
                </a:solidFill>
                <a:latin typeface="Courier New" pitchFamily="34" charset="0"/>
                <a:ea typeface="Courier New" pitchFamily="34" charset="-122"/>
                <a:cs typeface="Courier New" pitchFamily="34" charset="-120"/>
              </a:rPr>
              <a:t>username netadmin privilege 15 secret N3t@dmin26</a:t>
            </a:r>
            <a:endParaRPr lang="en-US" sz="1200" dirty="0"/>
          </a:p>
        </p:txBody>
      </p:sp>
      <p:sp>
        <p:nvSpPr>
          <p:cNvPr id="11" name="Reveal 02 meaning"/>
          <p:cNvSpPr/>
          <p:nvPr/>
        </p:nvSpPr>
        <p:spPr>
          <a:xfrm>
            <a:off x="6720840" y="2555489"/>
            <a:ext cx="4922215" cy="543809"/>
          </a:xfrm>
          <a:prstGeom prst="rect">
            <a:avLst/>
          </a:prstGeom>
          <a:solidFill>
            <a:srgbClr val="FFFFFF"/>
          </a:solidFill>
          <a:ln/>
        </p:spPr>
        <p:txBody>
          <a:bodyPr wrap="square" lIns="109728" tIns="45720" rIns="109728" bIns="45720" rtlCol="0" anchor="ctr"/>
          <a:lstStyle/>
          <a:p>
            <a:pPr indent="0" marL="0">
              <a:buNone/>
            </a:pPr>
            <a:r>
              <a:rPr lang="en-US" sz="1400" dirty="0">
                <a:solidFill>
                  <a:srgbClr val="2B2B2B"/>
                </a:solidFill>
              </a:rPr>
              <a:t>A personal admin account stored on the device. Privilege 15 = full control straight after login.</a:t>
            </a:r>
            <a:endParaRPr lang="en-US" sz="1400" dirty="0"/>
          </a:p>
        </p:txBody>
      </p:sp>
      <p:sp>
        <p:nvSpPr>
          <p:cNvPr id="12" name="Command 03"/>
          <p:cNvSpPr/>
          <p:nvPr/>
        </p:nvSpPr>
        <p:spPr>
          <a:xfrm>
            <a:off x="548640" y="3117586"/>
            <a:ext cx="6153912" cy="54380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R1(config)# </a:t>
            </a:r>
            <a:r>
              <a:rPr lang="en-US" sz="1200" b="1" dirty="0">
                <a:solidFill>
                  <a:srgbClr val="FFFFFF"/>
                </a:solidFill>
                <a:latin typeface="Courier New" pitchFamily="34" charset="0"/>
                <a:ea typeface="Courier New" pitchFamily="34" charset="-122"/>
                <a:cs typeface="Courier New" pitchFamily="34" charset="-120"/>
              </a:rPr>
              <a:t>username helpdesk privilege 1 secret H3lp@desk26</a:t>
            </a:r>
            <a:endParaRPr lang="en-US" sz="1200" dirty="0"/>
          </a:p>
        </p:txBody>
      </p:sp>
      <p:sp>
        <p:nvSpPr>
          <p:cNvPr id="13" name="Reveal 03 meaning"/>
          <p:cNvSpPr/>
          <p:nvPr/>
        </p:nvSpPr>
        <p:spPr>
          <a:xfrm>
            <a:off x="6720840" y="3117586"/>
            <a:ext cx="4922215" cy="543809"/>
          </a:xfrm>
          <a:prstGeom prst="rect">
            <a:avLst/>
          </a:prstGeom>
          <a:solidFill>
            <a:srgbClr val="F2F8F3"/>
          </a:solidFill>
          <a:ln/>
        </p:spPr>
        <p:txBody>
          <a:bodyPr wrap="square" lIns="109728" tIns="45720" rIns="109728" bIns="45720" rtlCol="0" anchor="ctr"/>
          <a:lstStyle/>
          <a:p>
            <a:pPr indent="0" marL="0">
              <a:buNone/>
            </a:pPr>
            <a:r>
              <a:rPr lang="en-US" sz="1400" dirty="0">
                <a:solidFill>
                  <a:srgbClr val="2B2B2B"/>
                </a:solidFill>
              </a:rPr>
              <a:t>A help-desk account: it logs in at </a:t>
            </a:r>
            <a:r>
              <a:rPr lang="en-US" sz="1300" b="1" dirty="0">
                <a:solidFill>
                  <a:srgbClr val="1E5631"/>
                </a:solidFill>
                <a:latin typeface="Courier New" pitchFamily="34" charset="0"/>
                <a:ea typeface="Courier New" pitchFamily="34" charset="-122"/>
                <a:cs typeface="Courier New" pitchFamily="34" charset="-120"/>
              </a:rPr>
              <a:t>R1&gt;</a:t>
            </a:r>
            <a:r>
              <a:rPr lang="en-US" sz="1400" dirty="0">
                <a:solidFill>
                  <a:srgbClr val="2B2B2B"/>
                </a:solidFill>
              </a:rPr>
              <a:t> (look only) and needs the enable secret to go further.</a:t>
            </a:r>
            <a:endParaRPr lang="en-US" sz="1400" dirty="0"/>
          </a:p>
        </p:txBody>
      </p:sp>
      <p:sp>
        <p:nvSpPr>
          <p:cNvPr id="14" name="Command 04"/>
          <p:cNvSpPr/>
          <p:nvPr/>
        </p:nvSpPr>
        <p:spPr>
          <a:xfrm>
            <a:off x="548640" y="3679683"/>
            <a:ext cx="6153912" cy="54380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R1(config)# </a:t>
            </a:r>
            <a:r>
              <a:rPr lang="en-US" sz="1200" b="1" dirty="0">
                <a:solidFill>
                  <a:srgbClr val="FFFFFF"/>
                </a:solidFill>
                <a:latin typeface="Courier New" pitchFamily="34" charset="0"/>
                <a:ea typeface="Courier New" pitchFamily="34" charset="-122"/>
                <a:cs typeface="Courier New" pitchFamily="34" charset="-120"/>
              </a:rPr>
              <a:t>crypto key generate rsa general-keys modulus 1024</a:t>
            </a:r>
            <a:endParaRPr lang="en-US" sz="1200" dirty="0"/>
          </a:p>
        </p:txBody>
      </p:sp>
      <p:sp>
        <p:nvSpPr>
          <p:cNvPr id="15" name="Reveal 04 meaning"/>
          <p:cNvSpPr/>
          <p:nvPr/>
        </p:nvSpPr>
        <p:spPr>
          <a:xfrm>
            <a:off x="6720840" y="3679683"/>
            <a:ext cx="4922215" cy="543809"/>
          </a:xfrm>
          <a:prstGeom prst="rect">
            <a:avLst/>
          </a:prstGeom>
          <a:solidFill>
            <a:srgbClr val="FFFFFF"/>
          </a:solidFill>
          <a:ln/>
        </p:spPr>
        <p:txBody>
          <a:bodyPr wrap="square" lIns="109728" tIns="45720" rIns="109728" bIns="45720" rtlCol="0" anchor="ctr"/>
          <a:lstStyle/>
          <a:p>
            <a:pPr indent="0" marL="0">
              <a:buNone/>
            </a:pPr>
            <a:r>
              <a:rPr lang="en-US" sz="1400" dirty="0">
                <a:solidFill>
                  <a:srgbClr val="2B2B2B"/>
                </a:solidFill>
              </a:rPr>
              <a:t>Create the RSA keys that encrypt SSH; this also turns SSH on. Use at least 1024 bits (2048 on real kit).</a:t>
            </a:r>
            <a:endParaRPr lang="en-US" sz="1400" dirty="0"/>
          </a:p>
        </p:txBody>
      </p:sp>
      <p:sp>
        <p:nvSpPr>
          <p:cNvPr id="16" name="Command 05"/>
          <p:cNvSpPr/>
          <p:nvPr/>
        </p:nvSpPr>
        <p:spPr>
          <a:xfrm>
            <a:off x="548640" y="4241780"/>
            <a:ext cx="6153912" cy="326768"/>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R1(config)# </a:t>
            </a:r>
            <a:r>
              <a:rPr lang="en-US" sz="1200" b="1" dirty="0">
                <a:solidFill>
                  <a:srgbClr val="FFFFFF"/>
                </a:solidFill>
                <a:latin typeface="Courier New" pitchFamily="34" charset="0"/>
                <a:ea typeface="Courier New" pitchFamily="34" charset="-122"/>
                <a:cs typeface="Courier New" pitchFamily="34" charset="-120"/>
              </a:rPr>
              <a:t>ip ssh version 2</a:t>
            </a:r>
            <a:endParaRPr lang="en-US" sz="1200" dirty="0"/>
          </a:p>
        </p:txBody>
      </p:sp>
      <p:sp>
        <p:nvSpPr>
          <p:cNvPr id="17" name="Reveal 05 meaning"/>
          <p:cNvSpPr/>
          <p:nvPr/>
        </p:nvSpPr>
        <p:spPr>
          <a:xfrm>
            <a:off x="6720840" y="4241780"/>
            <a:ext cx="4922215" cy="326768"/>
          </a:xfrm>
          <a:prstGeom prst="rect">
            <a:avLst/>
          </a:prstGeom>
          <a:solidFill>
            <a:srgbClr val="F2F8F3"/>
          </a:solidFill>
          <a:ln/>
        </p:spPr>
        <p:txBody>
          <a:bodyPr wrap="square" lIns="109728" tIns="45720" rIns="109728" bIns="45720" rtlCol="0" anchor="ctr"/>
          <a:lstStyle/>
          <a:p>
            <a:pPr indent="0" marL="0">
              <a:buNone/>
            </a:pPr>
            <a:r>
              <a:rPr lang="en-US" sz="1400" dirty="0">
                <a:solidFill>
                  <a:srgbClr val="2B2B2B"/>
                </a:solidFill>
              </a:rPr>
              <a:t>Allow only SSH version 2 — version 1 has known weaknesses.</a:t>
            </a:r>
            <a:endParaRPr lang="en-US" sz="1400" dirty="0"/>
          </a:p>
        </p:txBody>
      </p:sp>
      <p:sp>
        <p:nvSpPr>
          <p:cNvPr id="18" name="Reveal 99 check box"/>
          <p:cNvSpPr/>
          <p:nvPr/>
        </p:nvSpPr>
        <p:spPr>
          <a:xfrm>
            <a:off x="548640" y="5504688"/>
            <a:ext cx="5410048" cy="749808"/>
          </a:xfrm>
          <a:prstGeom prst="roundRect">
            <a:avLst>
              <a:gd name="adj" fmla="val 9756"/>
            </a:avLst>
          </a:prstGeom>
          <a:solidFill>
            <a:srgbClr val="E8F1EA"/>
          </a:solidFill>
          <a:ln w="12700">
            <a:solidFill>
              <a:srgbClr val="B7C9BA"/>
            </a:solidFill>
            <a:prstDash val="solid"/>
          </a:ln>
        </p:spPr>
      </p:sp>
      <p:pic>
        <p:nvPicPr>
          <p:cNvPr id="19" name="Reveal 99 check icon" descr="Check it:">    </p:cNvPr>
          <p:cNvPicPr>
            <a:picLocks noChangeAspect="1"/>
          </p:cNvPicPr>
          <p:nvPr/>
        </p:nvPicPr>
        <p:blipFill>
          <a:blip r:embed="rId3"/>
          <a:stretch>
            <a:fillRect/>
          </a:stretch>
        </p:blipFill>
        <p:spPr>
          <a:xfrm>
            <a:off x="694944" y="5733288"/>
            <a:ext cx="292608" cy="292608"/>
          </a:xfrm>
          <a:prstGeom prst="rect">
            <a:avLst/>
          </a:prstGeom>
        </p:spPr>
      </p:pic>
      <p:sp>
        <p:nvSpPr>
          <p:cNvPr id="20" name="Reveal 99 check text"/>
          <p:cNvSpPr txBox="1"/>
          <p:nvPr/>
        </p:nvSpPr>
        <p:spPr>
          <a:xfrm>
            <a:off x="1097280" y="5541264"/>
            <a:ext cx="4751680" cy="676656"/>
          </a:xfrm>
          <a:prstGeom prst="rect">
            <a:avLst/>
          </a:prstGeom>
          <a:noFill/>
          <a:ln/>
        </p:spPr>
        <p:txBody>
          <a:bodyPr wrap="square" lIns="0" tIns="0" rIns="0" bIns="0" rtlCol="0" anchor="ctr"/>
          <a:lstStyle/>
          <a:p>
            <a:pPr indent="0" marL="0">
              <a:buNone/>
            </a:pPr>
            <a:r>
              <a:rPr lang="en-US" sz="1400" b="1" dirty="0">
                <a:solidFill>
                  <a:srgbClr val="1E5631"/>
                </a:solidFill>
              </a:rPr>
              <a:t>Check it:  </a:t>
            </a:r>
            <a:r>
              <a:rPr lang="en-US" sz="1300" b="1" dirty="0">
                <a:solidFill>
                  <a:srgbClr val="1E5631"/>
                </a:solidFill>
                <a:latin typeface="Courier New" pitchFamily="34" charset="0"/>
                <a:ea typeface="Courier New" pitchFamily="34" charset="-122"/>
                <a:cs typeface="Courier New" pitchFamily="34" charset="-120"/>
              </a:rPr>
              <a:t>show ip ssh</a:t>
            </a:r>
            <a:r>
              <a:rPr lang="en-US" sz="1400" dirty="0">
                <a:solidFill>
                  <a:srgbClr val="2B2B2B"/>
                </a:solidFill>
              </a:rPr>
              <a:t> → “SSH Enabled - version 2.0”.</a:t>
            </a:r>
            <a:endParaRPr lang="en-US" sz="1400" dirty="0"/>
          </a:p>
        </p:txBody>
      </p:sp>
      <p:sp>
        <p:nvSpPr>
          <p:cNvPr id="21" name="Reveal 99 watch box"/>
          <p:cNvSpPr/>
          <p:nvPr/>
        </p:nvSpPr>
        <p:spPr>
          <a:xfrm>
            <a:off x="6233008" y="5504688"/>
            <a:ext cx="5410048" cy="749808"/>
          </a:xfrm>
          <a:prstGeom prst="roundRect">
            <a:avLst>
              <a:gd name="adj" fmla="val 9756"/>
            </a:avLst>
          </a:prstGeom>
          <a:solidFill>
            <a:srgbClr val="FBEAEA"/>
          </a:solidFill>
          <a:ln w="12700">
            <a:solidFill>
              <a:srgbClr val="E9B8B5"/>
            </a:solidFill>
            <a:prstDash val="solid"/>
          </a:ln>
        </p:spPr>
      </p:sp>
      <p:pic>
        <p:nvPicPr>
          <p:cNvPr id="22" name="Reveal 99 watch icon" descr="Watch out:">    </p:cNvPr>
          <p:cNvPicPr>
            <a:picLocks noChangeAspect="1"/>
          </p:cNvPicPr>
          <p:nvPr/>
        </p:nvPicPr>
        <p:blipFill>
          <a:blip r:embed="rId4"/>
          <a:stretch>
            <a:fillRect/>
          </a:stretch>
        </p:blipFill>
        <p:spPr>
          <a:xfrm>
            <a:off x="6379312" y="5733288"/>
            <a:ext cx="292608" cy="292608"/>
          </a:xfrm>
          <a:prstGeom prst="rect">
            <a:avLst/>
          </a:prstGeom>
        </p:spPr>
      </p:pic>
      <p:sp>
        <p:nvSpPr>
          <p:cNvPr id="23" name="Reveal 99 watch text"/>
          <p:cNvSpPr txBox="1"/>
          <p:nvPr/>
        </p:nvSpPr>
        <p:spPr>
          <a:xfrm>
            <a:off x="6781648" y="5541264"/>
            <a:ext cx="4751680" cy="676656"/>
          </a:xfrm>
          <a:prstGeom prst="rect">
            <a:avLst/>
          </a:prstGeom>
          <a:noFill/>
          <a:ln/>
        </p:spPr>
        <p:txBody>
          <a:bodyPr wrap="square" lIns="0" tIns="0" rIns="0" bIns="0" rtlCol="0" anchor="ctr"/>
          <a:lstStyle/>
          <a:p>
            <a:pPr indent="0" marL="0">
              <a:buNone/>
            </a:pPr>
            <a:r>
              <a:rPr lang="en-US" sz="1400" b="1" dirty="0">
                <a:solidFill>
                  <a:srgbClr val="8B1A1A"/>
                </a:solidFill>
              </a:rPr>
              <a:t>Watch out:  </a:t>
            </a:r>
            <a:r>
              <a:rPr lang="en-US" sz="1400" dirty="0">
                <a:solidFill>
                  <a:srgbClr val="2B2B2B"/>
                </a:solidFill>
              </a:rPr>
              <a:t>“Please define a hostname other than Router” or “…a domain-name first”? Set them, then generate the keys again.</a:t>
            </a:r>
            <a:endParaRPr lang="en-US" sz="1400" dirty="0"/>
          </a:p>
        </p:txBody>
      </p:sp>
      <p:sp>
        <p:nvSpPr>
          <p:cNvPr id="25" name="Slide Number Placeholder 0"/>
          <p:cNvSpPr>
            <a:spLocks noGrp="1"/>
          </p:cNvSpPr>
          <p:nvPr>
            <p:ph type="sldNum" sz="quarter" idx="4294967295"/>
          </p:nvPr>
        </p:nvSpPr>
        <p:spPr>
          <a:xfrm>
            <a:off x="10698480" y="6464808"/>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r"/>
            <a:fld id="{F7021451-1387-4CA6-816F-3879F97B5CBC}" type="slidenum">
              <a:rPr b="0" lang="en-US"/>
              <a:t>23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4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0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400"/>
                                        <p:tgtEl>
                                          <p:spTgt spid="1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400"/>
                                        <p:tgtEl>
                                          <p:spTgt spid="1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fade">
                                      <p:cBhvr>
                                        <p:cTn id="38" dur="400"/>
                                        <p:tgtEl>
                                          <p:spTgt spid="20"/>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fade">
                                      <p:cBhvr>
                                        <p:cTn id="41" dur="400"/>
                                        <p:tgtEl>
                                          <p:spTgt spid="21"/>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fade">
                                      <p:cBhvr>
                                        <p:cTn id="44" dur="400"/>
                                        <p:tgtEl>
                                          <p:spTgt spid="22"/>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3" grpId="0" animBg="1"/>
      <p:bldP spid="15" grpId="0" animBg="1"/>
      <p:bldP spid="17" grpId="0" animBg="1"/>
      <p:bldP spid="18" grpId="0" animBg="1"/>
      <p:bldP spid="20" grpId="0" animBg="1"/>
      <p:bldP spid="21" grpId="0" animBg="1"/>
      <p:bldP spid="23"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2" type="body" hasCustomPrompt="1"/>
          </p:nvPr>
        </p:nvSpPr>
        <p:spPr>
          <a:xfrm>
            <a:off x="548640" y="274320"/>
            <a:ext cx="9966960" cy="256032"/>
          </a:xfrm>
          <a:prstGeom prst="rect">
            <a:avLst/>
          </a:prstGeom>
          <a:noFill/>
          <a:ln/>
        </p:spPr>
        <p:txBody>
          <a:bodyPr wrap="square" lIns="0" tIns="0" rIns="0" bIns="0" rtlCol="0" anchor="ctr"/>
          <a:lstStyle/>
          <a:p>
            <a:pPr algn="l" indent="0" marL="0">
              <a:buNone/>
            </a:pPr>
            <a:r>
              <a:rPr lang="en-US" sz="1100" b="1" spc="100" kern="0" dirty="0">
                <a:solidFill>
                  <a:schemeClr val="accent2"/>
                </a:solidFill>
              </a:rPr>
              <a:t>03  •  BASIC SET-UP &amp; SSH  •  LAB 1</a:t>
            </a:r>
            <a:endParaRPr lang="en-US" sz="1100" dirty="0"/>
          </a:p>
        </p:txBody>
      </p:sp>
      <p:sp>
        <p:nvSpPr>
          <p:cNvPr id="3" name="Text 1"/>
          <p:cNvSpPr/>
          <p:nvPr>
            <p:ph idx="103" type="title" hasCustomPrompt="1"/>
          </p:nvPr>
        </p:nvSpPr>
        <p:spPr>
          <a:xfrm>
            <a:off x="548640" y="548640"/>
            <a:ext cx="10149840" cy="548640"/>
          </a:xfrm>
          <a:prstGeom prst="rect">
            <a:avLst/>
          </a:prstGeom>
          <a:noFill/>
          <a:ln/>
        </p:spPr>
        <p:txBody>
          <a:bodyPr wrap="square" lIns="0" tIns="0" rIns="0" bIns="0" rtlCol="0" anchor="ctr"/>
          <a:lstStyle/>
          <a:p>
            <a:pPr algn="l" indent="0" marL="0">
              <a:buNone/>
            </a:pPr>
            <a:r>
              <a:rPr lang="en-US" sz="2600" b="1" dirty="0">
                <a:solidFill>
                  <a:schemeClr val="accent1"/>
                </a:solidFill>
              </a:rPr>
              <a:t>How to set up SSH for secure remote access (2 of 2)</a:t>
            </a:r>
            <a:endParaRPr lang="en-US" sz="2600" dirty="0"/>
          </a:p>
        </p:txBody>
      </p:sp>
      <p:pic>
        <p:nvPicPr>
          <p:cNvPr id="4" name="Home button" descr="Home: back to the workbook menu">
            <a:hlinkClick r:id="rId2" tooltip="Back to the workbook menu" action="ppaction://hlinksldjump"/>
          </p:cNvPr>
          <p:cNvPicPr>
            <a:picLocks noChangeAspect="1"/>
          </p:cNvPicPr>
          <p:nvPr/>
        </p:nvPicPr>
        <p:blipFill>
          <a:blip r:embed="rId1"/>
          <a:stretch>
            <a:fillRect/>
          </a:stretch>
        </p:blipFill>
        <p:spPr>
          <a:xfrm>
            <a:off x="11365992" y="6336792"/>
            <a:ext cx="365760" cy="365760"/>
          </a:xfrm>
          <a:prstGeom prst="rect">
            <a:avLst/>
          </a:prstGeom>
        </p:spPr>
      </p:pic>
      <p:sp>
        <p:nvSpPr>
          <p:cNvPr id="5" name="Goal"/>
          <p:cNvSpPr txBox="1"/>
          <p:nvPr/>
        </p:nvSpPr>
        <p:spPr>
          <a:xfrm>
            <a:off x="548640" y="1161288"/>
            <a:ext cx="11094415" cy="384048"/>
          </a:xfrm>
          <a:prstGeom prst="rect">
            <a:avLst/>
          </a:prstGeom>
          <a:noFill/>
          <a:ln/>
        </p:spPr>
        <p:txBody>
          <a:bodyPr wrap="square" lIns="0" tIns="0" rIns="0" bIns="0" rtlCol="0" anchor="ctr"/>
          <a:lstStyle/>
          <a:p>
            <a:pPr indent="0" marL="0">
              <a:buNone/>
            </a:pPr>
            <a:r>
              <a:rPr lang="en-US" sz="1400" b="1" dirty="0">
                <a:solidFill>
                  <a:srgbClr val="2B7043"/>
                </a:solidFill>
              </a:rPr>
              <a:t>Goal:  </a:t>
            </a:r>
            <a:r>
              <a:rPr lang="en-US" sz="1400" dirty="0">
                <a:solidFill>
                  <a:srgbClr val="2B2B2B"/>
                </a:solidFill>
              </a:rPr>
              <a:t>Tell the remote-access (VTY) lines to accept SSH only, using the local accounts. Then test from a PC.</a:t>
            </a:r>
            <a:endParaRPr lang="en-US" sz="1400" dirty="0"/>
          </a:p>
        </p:txBody>
      </p:sp>
      <p:sp>
        <p:nvSpPr>
          <p:cNvPr id="6" name="Command header"/>
          <p:cNvSpPr/>
          <p:nvPr/>
        </p:nvSpPr>
        <p:spPr>
          <a:xfrm>
            <a:off x="548640" y="1664208"/>
            <a:ext cx="6153912" cy="310896"/>
          </a:xfrm>
          <a:prstGeom prst="rect">
            <a:avLst/>
          </a:prstGeom>
          <a:solidFill>
            <a:srgbClr val="1B2B22"/>
          </a:solidFill>
          <a:ln/>
        </p:spPr>
        <p:txBody>
          <a:bodyPr wrap="square" lIns="109728" tIns="45720" rIns="109728" bIns="45720" rtlCol="0" anchor="ctr"/>
          <a:lstStyle/>
          <a:p>
            <a:pPr indent="0" marL="0">
              <a:buNone/>
            </a:pPr>
            <a:r>
              <a:rPr lang="en-US" sz="1100" dirty="0">
                <a:solidFill>
                  <a:srgbClr val="E0605A"/>
                </a:solidFill>
              </a:rPr>
              <a:t>●  </a:t>
            </a:r>
            <a:r>
              <a:rPr lang="en-US" sz="1100" dirty="0">
                <a:solidFill>
                  <a:srgbClr val="E8B92E"/>
                </a:solidFill>
              </a:rPr>
              <a:t>●  </a:t>
            </a:r>
            <a:r>
              <a:rPr lang="en-US" sz="1100" dirty="0">
                <a:solidFill>
                  <a:srgbClr val="4CAF50"/>
                </a:solidFill>
              </a:rPr>
              <a:t>●   </a:t>
            </a:r>
            <a:r>
              <a:rPr lang="en-US" sz="1100" b="1" dirty="0">
                <a:solidFill>
                  <a:srgbClr val="C9D6CC"/>
                </a:solidFill>
              </a:rPr>
              <a:t>R1  —  type the white text, then press Enter</a:t>
            </a:r>
            <a:endParaRPr lang="en-US" sz="1100" dirty="0"/>
          </a:p>
        </p:txBody>
      </p:sp>
      <p:sp>
        <p:nvSpPr>
          <p:cNvPr id="7" name="Meaning header"/>
          <p:cNvSpPr/>
          <p:nvPr/>
        </p:nvSpPr>
        <p:spPr>
          <a:xfrm>
            <a:off x="6720840" y="1664208"/>
            <a:ext cx="4922215" cy="310896"/>
          </a:xfrm>
          <a:prstGeom prst="rect">
            <a:avLst/>
          </a:prstGeom>
          <a:solidFill>
            <a:srgbClr val="E8F1EA"/>
          </a:solidFill>
          <a:ln/>
        </p:spPr>
        <p:txBody>
          <a:bodyPr wrap="square" lIns="109728" tIns="45720" rIns="109728" bIns="45720" rtlCol="0" anchor="ctr"/>
          <a:lstStyle/>
          <a:p>
            <a:pPr indent="0" marL="0">
              <a:buNone/>
            </a:pPr>
            <a:r>
              <a:rPr lang="en-US" sz="1200" b="1" dirty="0">
                <a:solidFill>
                  <a:srgbClr val="1E5631"/>
                </a:solidFill>
              </a:rPr>
              <a:t>What it does</a:t>
            </a:r>
            <a:endParaRPr lang="en-US" sz="1200" dirty="0"/>
          </a:p>
        </p:txBody>
      </p:sp>
      <p:sp>
        <p:nvSpPr>
          <p:cNvPr id="8" name="Command 01"/>
          <p:cNvSpPr/>
          <p:nvPr/>
        </p:nvSpPr>
        <p:spPr>
          <a:xfrm>
            <a:off x="548640" y="1993392"/>
            <a:ext cx="6153912" cy="54380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R1(config)# </a:t>
            </a:r>
            <a:r>
              <a:rPr lang="en-US" sz="1200" b="1" dirty="0">
                <a:solidFill>
                  <a:srgbClr val="FFFFFF"/>
                </a:solidFill>
                <a:latin typeface="Courier New" pitchFamily="34" charset="0"/>
                <a:ea typeface="Courier New" pitchFamily="34" charset="-122"/>
                <a:cs typeface="Courier New" pitchFamily="34" charset="-120"/>
              </a:rPr>
              <a:t>line vty 0 4</a:t>
            </a:r>
            <a:endParaRPr lang="en-US" sz="1200" dirty="0"/>
          </a:p>
        </p:txBody>
      </p:sp>
      <p:sp>
        <p:nvSpPr>
          <p:cNvPr id="9" name="Reveal 01 meaning"/>
          <p:cNvSpPr/>
          <p:nvPr/>
        </p:nvSpPr>
        <p:spPr>
          <a:xfrm>
            <a:off x="6720840" y="1993392"/>
            <a:ext cx="4922215" cy="543809"/>
          </a:xfrm>
          <a:prstGeom prst="rect">
            <a:avLst/>
          </a:prstGeom>
          <a:solidFill>
            <a:srgbClr val="F2F8F3"/>
          </a:solidFill>
          <a:ln/>
        </p:spPr>
        <p:txBody>
          <a:bodyPr wrap="square" lIns="109728" tIns="45720" rIns="109728" bIns="45720" rtlCol="0" anchor="ctr"/>
          <a:lstStyle/>
          <a:p>
            <a:pPr indent="0" marL="0">
              <a:buNone/>
            </a:pPr>
            <a:r>
              <a:rPr lang="en-US" sz="1400" dirty="0">
                <a:solidFill>
                  <a:srgbClr val="2B2B2B"/>
                </a:solidFill>
              </a:rPr>
              <a:t>Open the 5 virtual lines used by remote sessions (a 2960 switch has 16: </a:t>
            </a:r>
            <a:r>
              <a:rPr lang="en-US" sz="1300" b="1" dirty="0">
                <a:solidFill>
                  <a:srgbClr val="1E5631"/>
                </a:solidFill>
                <a:latin typeface="Courier New" pitchFamily="34" charset="0"/>
                <a:ea typeface="Courier New" pitchFamily="34" charset="-122"/>
                <a:cs typeface="Courier New" pitchFamily="34" charset="-120"/>
              </a:rPr>
              <a:t>line vty 0 15</a:t>
            </a:r>
            <a:r>
              <a:rPr lang="en-US" sz="1400" dirty="0">
                <a:solidFill>
                  <a:srgbClr val="2B2B2B"/>
                </a:solidFill>
              </a:rPr>
              <a:t>).</a:t>
            </a:r>
            <a:endParaRPr lang="en-US" sz="1400" dirty="0"/>
          </a:p>
        </p:txBody>
      </p:sp>
      <p:sp>
        <p:nvSpPr>
          <p:cNvPr id="10" name="Command 02"/>
          <p:cNvSpPr/>
          <p:nvPr/>
        </p:nvSpPr>
        <p:spPr>
          <a:xfrm>
            <a:off x="548640" y="2555489"/>
            <a:ext cx="6153912" cy="54380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R1(config-line)# </a:t>
            </a:r>
            <a:r>
              <a:rPr lang="en-US" sz="1200" b="1" dirty="0">
                <a:solidFill>
                  <a:srgbClr val="FFFFFF"/>
                </a:solidFill>
                <a:latin typeface="Courier New" pitchFamily="34" charset="0"/>
                <a:ea typeface="Courier New" pitchFamily="34" charset="-122"/>
                <a:cs typeface="Courier New" pitchFamily="34" charset="-120"/>
              </a:rPr>
              <a:t>transport input ssh</a:t>
            </a:r>
            <a:endParaRPr lang="en-US" sz="1200" dirty="0"/>
          </a:p>
        </p:txBody>
      </p:sp>
      <p:sp>
        <p:nvSpPr>
          <p:cNvPr id="11" name="Reveal 02 meaning"/>
          <p:cNvSpPr/>
          <p:nvPr/>
        </p:nvSpPr>
        <p:spPr>
          <a:xfrm>
            <a:off x="6720840" y="2555489"/>
            <a:ext cx="4922215" cy="543809"/>
          </a:xfrm>
          <a:prstGeom prst="rect">
            <a:avLst/>
          </a:prstGeom>
          <a:solidFill>
            <a:srgbClr val="FFFFFF"/>
          </a:solidFill>
          <a:ln/>
        </p:spPr>
        <p:txBody>
          <a:bodyPr wrap="square" lIns="109728" tIns="45720" rIns="109728" bIns="45720" rtlCol="0" anchor="ctr"/>
          <a:lstStyle/>
          <a:p>
            <a:pPr indent="0" marL="0">
              <a:buNone/>
            </a:pPr>
            <a:r>
              <a:rPr lang="en-US" sz="1400" dirty="0">
                <a:solidFill>
                  <a:srgbClr val="2B2B2B"/>
                </a:solidFill>
              </a:rPr>
              <a:t>Accept SSH only. Telnet is refused because it sends passwords as plain text.</a:t>
            </a:r>
            <a:endParaRPr lang="en-US" sz="1400" dirty="0"/>
          </a:p>
        </p:txBody>
      </p:sp>
      <p:sp>
        <p:nvSpPr>
          <p:cNvPr id="12" name="Command 03"/>
          <p:cNvSpPr/>
          <p:nvPr/>
        </p:nvSpPr>
        <p:spPr>
          <a:xfrm>
            <a:off x="548640" y="3117586"/>
            <a:ext cx="6153912" cy="54380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R1(config-line)# </a:t>
            </a:r>
            <a:r>
              <a:rPr lang="en-US" sz="1200" b="1" dirty="0">
                <a:solidFill>
                  <a:srgbClr val="FFFFFF"/>
                </a:solidFill>
                <a:latin typeface="Courier New" pitchFamily="34" charset="0"/>
                <a:ea typeface="Courier New" pitchFamily="34" charset="-122"/>
                <a:cs typeface="Courier New" pitchFamily="34" charset="-120"/>
              </a:rPr>
              <a:t>login local</a:t>
            </a:r>
            <a:endParaRPr lang="en-US" sz="1200" dirty="0"/>
          </a:p>
        </p:txBody>
      </p:sp>
      <p:sp>
        <p:nvSpPr>
          <p:cNvPr id="13" name="Reveal 03 meaning"/>
          <p:cNvSpPr/>
          <p:nvPr/>
        </p:nvSpPr>
        <p:spPr>
          <a:xfrm>
            <a:off x="6720840" y="3117586"/>
            <a:ext cx="4922215" cy="543809"/>
          </a:xfrm>
          <a:prstGeom prst="rect">
            <a:avLst/>
          </a:prstGeom>
          <a:solidFill>
            <a:srgbClr val="F2F8F3"/>
          </a:solidFill>
          <a:ln/>
        </p:spPr>
        <p:txBody>
          <a:bodyPr wrap="square" lIns="109728" tIns="45720" rIns="109728" bIns="45720" rtlCol="0" anchor="ctr"/>
          <a:lstStyle/>
          <a:p>
            <a:pPr indent="0" marL="0">
              <a:buNone/>
            </a:pPr>
            <a:r>
              <a:rPr lang="en-US" sz="1400" dirty="0">
                <a:solidFill>
                  <a:srgbClr val="2B2B2B"/>
                </a:solidFill>
              </a:rPr>
              <a:t>Ask for a username and password from the local accounts (the </a:t>
            </a:r>
            <a:r>
              <a:rPr lang="en-US" sz="1300" b="1" dirty="0">
                <a:solidFill>
                  <a:srgbClr val="1E5631"/>
                </a:solidFill>
                <a:latin typeface="Courier New" pitchFamily="34" charset="0"/>
                <a:ea typeface="Courier New" pitchFamily="34" charset="-122"/>
                <a:cs typeface="Courier New" pitchFamily="34" charset="-120"/>
              </a:rPr>
              <a:t>username</a:t>
            </a:r>
            <a:r>
              <a:rPr lang="en-US" sz="1400" dirty="0">
                <a:solidFill>
                  <a:srgbClr val="2B2B2B"/>
                </a:solidFill>
              </a:rPr>
              <a:t> commands).</a:t>
            </a:r>
            <a:endParaRPr lang="en-US" sz="1400" dirty="0"/>
          </a:p>
        </p:txBody>
      </p:sp>
      <p:sp>
        <p:nvSpPr>
          <p:cNvPr id="14" name="Command 04"/>
          <p:cNvSpPr/>
          <p:nvPr/>
        </p:nvSpPr>
        <p:spPr>
          <a:xfrm>
            <a:off x="548640" y="3679683"/>
            <a:ext cx="6153912" cy="326768"/>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R1(config-line)# </a:t>
            </a:r>
            <a:r>
              <a:rPr lang="en-US" sz="1200" b="1" dirty="0">
                <a:solidFill>
                  <a:srgbClr val="FFFFFF"/>
                </a:solidFill>
                <a:latin typeface="Courier New" pitchFamily="34" charset="0"/>
                <a:ea typeface="Courier New" pitchFamily="34" charset="-122"/>
                <a:cs typeface="Courier New" pitchFamily="34" charset="-120"/>
              </a:rPr>
              <a:t>exec-timeout 5 0</a:t>
            </a:r>
            <a:endParaRPr lang="en-US" sz="1200" dirty="0"/>
          </a:p>
        </p:txBody>
      </p:sp>
      <p:sp>
        <p:nvSpPr>
          <p:cNvPr id="15" name="Reveal 04 meaning"/>
          <p:cNvSpPr/>
          <p:nvPr/>
        </p:nvSpPr>
        <p:spPr>
          <a:xfrm>
            <a:off x="6720840" y="3679683"/>
            <a:ext cx="4922215" cy="326768"/>
          </a:xfrm>
          <a:prstGeom prst="rect">
            <a:avLst/>
          </a:prstGeom>
          <a:solidFill>
            <a:srgbClr val="FFFFFF"/>
          </a:solidFill>
          <a:ln/>
        </p:spPr>
        <p:txBody>
          <a:bodyPr wrap="square" lIns="109728" tIns="45720" rIns="109728" bIns="45720" rtlCol="0" anchor="ctr"/>
          <a:lstStyle/>
          <a:p>
            <a:pPr indent="0" marL="0">
              <a:buNone/>
            </a:pPr>
            <a:r>
              <a:rPr lang="en-US" sz="1400" dirty="0">
                <a:solidFill>
                  <a:srgbClr val="2B2B2B"/>
                </a:solidFill>
              </a:rPr>
              <a:t>Log out remote sessions that are idle for 5 minutes.</a:t>
            </a:r>
            <a:endParaRPr lang="en-US" sz="1400" dirty="0"/>
          </a:p>
        </p:txBody>
      </p:sp>
      <p:sp>
        <p:nvSpPr>
          <p:cNvPr id="16" name="Command 05"/>
          <p:cNvSpPr/>
          <p:nvPr/>
        </p:nvSpPr>
        <p:spPr>
          <a:xfrm>
            <a:off x="548640" y="4024739"/>
            <a:ext cx="6153912" cy="455005"/>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R1(config-line)# </a:t>
            </a:r>
            <a:r>
              <a:rPr lang="en-US" sz="1200" b="1" dirty="0">
                <a:solidFill>
                  <a:srgbClr val="FFFFFF"/>
                </a:solidFill>
                <a:latin typeface="Courier New" pitchFamily="34" charset="0"/>
                <a:ea typeface="Courier New" pitchFamily="34" charset="-122"/>
                <a:cs typeface="Courier New" pitchFamily="34" charset="-120"/>
              </a:rPr>
              <a:t>end</a:t>
            </a:r>
            <a:endParaRPr lang="en-US" sz="1200" dirty="0"/>
          </a:p>
          <a:p>
            <a:pPr indent="0" marL="0">
              <a:buNone/>
            </a:pPr>
            <a:r>
              <a:rPr lang="en-US" sz="1200" dirty="0">
                <a:solidFill>
                  <a:srgbClr val="8FC9A0"/>
                </a:solidFill>
                <a:latin typeface="Courier New" pitchFamily="34" charset="0"/>
                <a:ea typeface="Courier New" pitchFamily="34" charset="-122"/>
                <a:cs typeface="Courier New" pitchFamily="34" charset="-120"/>
              </a:rPr>
              <a:t>R1# </a:t>
            </a:r>
            <a:r>
              <a:rPr lang="en-US" sz="1200" b="1" dirty="0">
                <a:solidFill>
                  <a:srgbClr val="FFFFFF"/>
                </a:solidFill>
                <a:latin typeface="Courier New" pitchFamily="34" charset="0"/>
                <a:ea typeface="Courier New" pitchFamily="34" charset="-122"/>
                <a:cs typeface="Courier New" pitchFamily="34" charset="-120"/>
              </a:rPr>
              <a:t>copy running-config startup-config</a:t>
            </a:r>
            <a:endParaRPr lang="en-US" sz="1200" dirty="0"/>
          </a:p>
        </p:txBody>
      </p:sp>
      <p:sp>
        <p:nvSpPr>
          <p:cNvPr id="17" name="Reveal 05 meaning"/>
          <p:cNvSpPr/>
          <p:nvPr/>
        </p:nvSpPr>
        <p:spPr>
          <a:xfrm>
            <a:off x="6720840" y="4024739"/>
            <a:ext cx="4922215" cy="455005"/>
          </a:xfrm>
          <a:prstGeom prst="rect">
            <a:avLst/>
          </a:prstGeom>
          <a:solidFill>
            <a:srgbClr val="F2F8F3"/>
          </a:solidFill>
          <a:ln/>
        </p:spPr>
        <p:txBody>
          <a:bodyPr wrap="square" lIns="109728" tIns="45720" rIns="109728" bIns="45720" rtlCol="0" anchor="ctr"/>
          <a:lstStyle/>
          <a:p>
            <a:pPr indent="0" marL="0">
              <a:buNone/>
            </a:pPr>
            <a:r>
              <a:rPr lang="en-US" sz="1400" dirty="0">
                <a:solidFill>
                  <a:srgbClr val="2B2B2B"/>
                </a:solidFill>
              </a:rPr>
              <a:t>Back to privileged mode and save.</a:t>
            </a:r>
            <a:endParaRPr lang="en-US" sz="1400" dirty="0"/>
          </a:p>
        </p:txBody>
      </p:sp>
      <p:sp>
        <p:nvSpPr>
          <p:cNvPr id="18" name="Command 06"/>
          <p:cNvSpPr/>
          <p:nvPr/>
        </p:nvSpPr>
        <p:spPr>
          <a:xfrm>
            <a:off x="548640" y="4498033"/>
            <a:ext cx="6153912" cy="54380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C:\&gt; </a:t>
            </a:r>
            <a:r>
              <a:rPr lang="en-US" sz="1200" b="1" dirty="0">
                <a:solidFill>
                  <a:srgbClr val="FFFFFF"/>
                </a:solidFill>
                <a:latin typeface="Courier New" pitchFamily="34" charset="0"/>
                <a:ea typeface="Courier New" pitchFamily="34" charset="-122"/>
                <a:cs typeface="Courier New" pitchFamily="34" charset="-120"/>
              </a:rPr>
              <a:t>ssh -l netadmin 192.168.1.1</a:t>
            </a:r>
            <a:endParaRPr lang="en-US" sz="1200" dirty="0"/>
          </a:p>
          <a:p>
            <a:pPr indent="0" marL="0">
              <a:buNone/>
            </a:pPr>
            <a:r>
              <a:rPr lang="en-US" sz="1200" i="1" dirty="0">
                <a:solidFill>
                  <a:srgbClr val="9FB3A6"/>
                </a:solidFill>
                <a:latin typeface="Courier New" pitchFamily="34" charset="0"/>
                <a:ea typeface="Courier New" pitchFamily="34" charset="-122"/>
                <a:cs typeface="Courier New" pitchFamily="34" charset="-120"/>
              </a:rPr>
              <a:t>! then type the password (it is not shown)</a:t>
            </a:r>
            <a:endParaRPr lang="en-US" sz="1200" dirty="0"/>
          </a:p>
        </p:txBody>
      </p:sp>
      <p:sp>
        <p:nvSpPr>
          <p:cNvPr id="19" name="Reveal 06 meaning"/>
          <p:cNvSpPr/>
          <p:nvPr/>
        </p:nvSpPr>
        <p:spPr>
          <a:xfrm>
            <a:off x="6720840" y="4498033"/>
            <a:ext cx="4922215" cy="543809"/>
          </a:xfrm>
          <a:prstGeom prst="rect">
            <a:avLst/>
          </a:prstGeom>
          <a:solidFill>
            <a:srgbClr val="FFFFFF"/>
          </a:solidFill>
          <a:ln/>
        </p:spPr>
        <p:txBody>
          <a:bodyPr wrap="square" lIns="109728" tIns="45720" rIns="109728" bIns="45720" rtlCol="0" anchor="ctr"/>
          <a:lstStyle/>
          <a:p>
            <a:pPr indent="0" marL="0">
              <a:buNone/>
            </a:pPr>
            <a:r>
              <a:rPr lang="en-US" sz="1400" dirty="0">
                <a:solidFill>
                  <a:srgbClr val="2B2B2B"/>
                </a:solidFill>
              </a:rPr>
              <a:t>Test from PC-A › Command Prompt. netadmin lands at </a:t>
            </a:r>
            <a:r>
              <a:rPr lang="en-US" sz="1300" b="1" dirty="0">
                <a:solidFill>
                  <a:srgbClr val="1E5631"/>
                </a:solidFill>
                <a:latin typeface="Courier New" pitchFamily="34" charset="0"/>
                <a:ea typeface="Courier New" pitchFamily="34" charset="-122"/>
                <a:cs typeface="Courier New" pitchFamily="34" charset="-120"/>
              </a:rPr>
              <a:t>R1#</a:t>
            </a:r>
            <a:r>
              <a:rPr lang="en-US" sz="1400" dirty="0">
                <a:solidFill>
                  <a:srgbClr val="2B2B2B"/>
                </a:solidFill>
              </a:rPr>
              <a:t>; helpdesk lands at </a:t>
            </a:r>
            <a:r>
              <a:rPr lang="en-US" sz="1300" b="1" dirty="0">
                <a:solidFill>
                  <a:srgbClr val="1E5631"/>
                </a:solidFill>
                <a:latin typeface="Courier New" pitchFamily="34" charset="0"/>
                <a:ea typeface="Courier New" pitchFamily="34" charset="-122"/>
                <a:cs typeface="Courier New" pitchFamily="34" charset="-120"/>
              </a:rPr>
              <a:t>R1&gt;</a:t>
            </a:r>
            <a:r>
              <a:rPr lang="en-US" sz="1400" dirty="0">
                <a:solidFill>
                  <a:srgbClr val="2B2B2B"/>
                </a:solidFill>
              </a:rPr>
              <a:t>.</a:t>
            </a:r>
            <a:endParaRPr lang="en-US" sz="1400" dirty="0"/>
          </a:p>
        </p:txBody>
      </p:sp>
      <p:sp>
        <p:nvSpPr>
          <p:cNvPr id="20" name="Reveal 99 check box"/>
          <p:cNvSpPr/>
          <p:nvPr/>
        </p:nvSpPr>
        <p:spPr>
          <a:xfrm>
            <a:off x="548640" y="5504688"/>
            <a:ext cx="5410048" cy="749808"/>
          </a:xfrm>
          <a:prstGeom prst="roundRect">
            <a:avLst>
              <a:gd name="adj" fmla="val 9756"/>
            </a:avLst>
          </a:prstGeom>
          <a:solidFill>
            <a:srgbClr val="E8F1EA"/>
          </a:solidFill>
          <a:ln w="12700">
            <a:solidFill>
              <a:srgbClr val="B7C9BA"/>
            </a:solidFill>
            <a:prstDash val="solid"/>
          </a:ln>
        </p:spPr>
      </p:sp>
      <p:pic>
        <p:nvPicPr>
          <p:cNvPr id="21" name="Reveal 99 check icon" descr="Check it:">    </p:cNvPr>
          <p:cNvPicPr>
            <a:picLocks noChangeAspect="1"/>
          </p:cNvPicPr>
          <p:nvPr/>
        </p:nvPicPr>
        <p:blipFill>
          <a:blip r:embed="rId3"/>
          <a:stretch>
            <a:fillRect/>
          </a:stretch>
        </p:blipFill>
        <p:spPr>
          <a:xfrm>
            <a:off x="694944" y="5733288"/>
            <a:ext cx="292608" cy="292608"/>
          </a:xfrm>
          <a:prstGeom prst="rect">
            <a:avLst/>
          </a:prstGeom>
        </p:spPr>
      </p:pic>
      <p:sp>
        <p:nvSpPr>
          <p:cNvPr id="22" name="Reveal 99 check text"/>
          <p:cNvSpPr txBox="1"/>
          <p:nvPr/>
        </p:nvSpPr>
        <p:spPr>
          <a:xfrm>
            <a:off x="1097280" y="5541264"/>
            <a:ext cx="4751680" cy="676656"/>
          </a:xfrm>
          <a:prstGeom prst="rect">
            <a:avLst/>
          </a:prstGeom>
          <a:noFill/>
          <a:ln/>
        </p:spPr>
        <p:txBody>
          <a:bodyPr wrap="square" lIns="0" tIns="0" rIns="0" bIns="0" rtlCol="0" anchor="ctr"/>
          <a:lstStyle/>
          <a:p>
            <a:pPr indent="0" marL="0">
              <a:buNone/>
            </a:pPr>
            <a:r>
              <a:rPr lang="en-US" sz="1400" b="1" dirty="0">
                <a:solidFill>
                  <a:srgbClr val="1E5631"/>
                </a:solidFill>
              </a:rPr>
              <a:t>Check it:  </a:t>
            </a:r>
            <a:r>
              <a:rPr lang="en-US" sz="1400" dirty="0">
                <a:solidFill>
                  <a:srgbClr val="2B2B2B"/>
                </a:solidFill>
              </a:rPr>
              <a:t>From PC-A, SSH works and </a:t>
            </a:r>
            <a:r>
              <a:rPr lang="en-US" sz="1300" b="1" dirty="0">
                <a:solidFill>
                  <a:srgbClr val="1E5631"/>
                </a:solidFill>
                <a:latin typeface="Courier New" pitchFamily="34" charset="0"/>
                <a:ea typeface="Courier New" pitchFamily="34" charset="-122"/>
                <a:cs typeface="Courier New" pitchFamily="34" charset="-120"/>
              </a:rPr>
              <a:t>telnet 192.168.1.1</a:t>
            </a:r>
            <a:r>
              <a:rPr lang="en-US" sz="1400" dirty="0">
                <a:solidFill>
                  <a:srgbClr val="2B2B2B"/>
                </a:solidFill>
              </a:rPr>
              <a:t> fails. On a switch, secure </a:t>
            </a:r>
            <a:r>
              <a:rPr lang="en-US" sz="1300" b="1" dirty="0">
                <a:solidFill>
                  <a:srgbClr val="1E5631"/>
                </a:solidFill>
                <a:latin typeface="Courier New" pitchFamily="34" charset="0"/>
                <a:ea typeface="Courier New" pitchFamily="34" charset="-122"/>
                <a:cs typeface="Courier New" pitchFamily="34" charset="-120"/>
              </a:rPr>
              <a:t>line vty 0 15</a:t>
            </a:r>
            <a:r>
              <a:rPr lang="en-US" sz="1400" dirty="0">
                <a:solidFill>
                  <a:srgbClr val="2B2B2B"/>
                </a:solidFill>
              </a:rPr>
              <a:t> the same way.</a:t>
            </a:r>
            <a:endParaRPr lang="en-US" sz="1400" dirty="0"/>
          </a:p>
        </p:txBody>
      </p:sp>
      <p:sp>
        <p:nvSpPr>
          <p:cNvPr id="23" name="Reveal 99 watch box"/>
          <p:cNvSpPr/>
          <p:nvPr/>
        </p:nvSpPr>
        <p:spPr>
          <a:xfrm>
            <a:off x="6233008" y="5504688"/>
            <a:ext cx="5410048" cy="749808"/>
          </a:xfrm>
          <a:prstGeom prst="roundRect">
            <a:avLst>
              <a:gd name="adj" fmla="val 9756"/>
            </a:avLst>
          </a:prstGeom>
          <a:solidFill>
            <a:srgbClr val="FBEAEA"/>
          </a:solidFill>
          <a:ln w="12700">
            <a:solidFill>
              <a:srgbClr val="E9B8B5"/>
            </a:solidFill>
            <a:prstDash val="solid"/>
          </a:ln>
        </p:spPr>
      </p:sp>
      <p:pic>
        <p:nvPicPr>
          <p:cNvPr id="24" name="Reveal 99 watch icon" descr="Watch out:">    </p:cNvPr>
          <p:cNvPicPr>
            <a:picLocks noChangeAspect="1"/>
          </p:cNvPicPr>
          <p:nvPr/>
        </p:nvPicPr>
        <p:blipFill>
          <a:blip r:embed="rId4"/>
          <a:stretch>
            <a:fillRect/>
          </a:stretch>
        </p:blipFill>
        <p:spPr>
          <a:xfrm>
            <a:off x="6379312" y="5733288"/>
            <a:ext cx="292608" cy="292608"/>
          </a:xfrm>
          <a:prstGeom prst="rect">
            <a:avLst/>
          </a:prstGeom>
        </p:spPr>
      </p:pic>
      <p:sp>
        <p:nvSpPr>
          <p:cNvPr id="25" name="Reveal 99 watch text"/>
          <p:cNvSpPr txBox="1"/>
          <p:nvPr/>
        </p:nvSpPr>
        <p:spPr>
          <a:xfrm>
            <a:off x="6781648" y="5541264"/>
            <a:ext cx="4751680" cy="676656"/>
          </a:xfrm>
          <a:prstGeom prst="rect">
            <a:avLst/>
          </a:prstGeom>
          <a:noFill/>
          <a:ln/>
        </p:spPr>
        <p:txBody>
          <a:bodyPr wrap="square" lIns="0" tIns="0" rIns="0" bIns="0" rtlCol="0" anchor="ctr"/>
          <a:lstStyle/>
          <a:p>
            <a:pPr indent="0" marL="0">
              <a:buNone/>
            </a:pPr>
            <a:r>
              <a:rPr lang="en-US" sz="1400" b="1" dirty="0">
                <a:solidFill>
                  <a:srgbClr val="8B1A1A"/>
                </a:solidFill>
              </a:rPr>
              <a:t>Watch out:  </a:t>
            </a:r>
            <a:r>
              <a:rPr lang="en-US" sz="1400" dirty="0">
                <a:solidFill>
                  <a:srgbClr val="2B2B2B"/>
                </a:solidFill>
              </a:rPr>
              <a:t>Use </a:t>
            </a:r>
            <a:r>
              <a:rPr lang="en-US" sz="1300" b="1" dirty="0">
                <a:solidFill>
                  <a:srgbClr val="1E5631"/>
                </a:solidFill>
                <a:latin typeface="Courier New" pitchFamily="34" charset="0"/>
                <a:ea typeface="Courier New" pitchFamily="34" charset="-122"/>
                <a:cs typeface="Courier New" pitchFamily="34" charset="-120"/>
              </a:rPr>
              <a:t>login local</a:t>
            </a:r>
            <a:r>
              <a:rPr lang="en-US" sz="1400" dirty="0">
                <a:solidFill>
                  <a:srgbClr val="2B2B2B"/>
                </a:solidFill>
              </a:rPr>
              <a:t>, not </a:t>
            </a:r>
            <a:r>
              <a:rPr lang="en-US" sz="1300" b="1" dirty="0">
                <a:solidFill>
                  <a:srgbClr val="1E5631"/>
                </a:solidFill>
                <a:latin typeface="Courier New" pitchFamily="34" charset="0"/>
                <a:ea typeface="Courier New" pitchFamily="34" charset="-122"/>
                <a:cs typeface="Courier New" pitchFamily="34" charset="-120"/>
              </a:rPr>
              <a:t>login</a:t>
            </a:r>
            <a:r>
              <a:rPr lang="en-US" sz="1400" dirty="0">
                <a:solidFill>
                  <a:srgbClr val="2B2B2B"/>
                </a:solidFill>
              </a:rPr>
              <a:t>: with </a:t>
            </a:r>
            <a:r>
              <a:rPr lang="en-US" sz="1300" b="1" dirty="0">
                <a:solidFill>
                  <a:srgbClr val="1E5631"/>
                </a:solidFill>
                <a:latin typeface="Courier New" pitchFamily="34" charset="0"/>
                <a:ea typeface="Courier New" pitchFamily="34" charset="-122"/>
                <a:cs typeface="Courier New" pitchFamily="34" charset="-120"/>
              </a:rPr>
              <a:t>login</a:t>
            </a:r>
            <a:r>
              <a:rPr lang="en-US" sz="1400" dirty="0">
                <a:solidFill>
                  <a:srgbClr val="2B2B2B"/>
                </a:solidFill>
              </a:rPr>
              <a:t> IOS wants a line password you never set, so every login fails.</a:t>
            </a:r>
            <a:endParaRPr lang="en-US" sz="1400" dirty="0"/>
          </a:p>
        </p:txBody>
      </p:sp>
      <p:sp>
        <p:nvSpPr>
          <p:cNvPr id="26" name="Slide Number Placeholder 0"/>
          <p:cNvSpPr>
            <a:spLocks noGrp="1"/>
          </p:cNvSpPr>
          <p:nvPr>
            <p:ph type="sldNum" sz="quarter" idx="4294967295"/>
          </p:nvPr>
        </p:nvSpPr>
        <p:spPr>
          <a:xfrm>
            <a:off x="10698480" y="6464808"/>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r"/>
            <a:fld id="{F7021451-1387-4CA6-816F-3879F97B5CBC}" type="slidenum">
              <a:rPr b="0" lang="en-US"/>
              <a:t>24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4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0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400"/>
                                        <p:tgtEl>
                                          <p:spTgt spid="1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00"/>
                                        <p:tgtEl>
                                          <p:spTgt spid="20"/>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00"/>
                                        <p:tgtEl>
                                          <p:spTgt spid="21"/>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2"/>
                                        </p:tgtEl>
                                        <p:attrNameLst>
                                          <p:attrName>style.visibility</p:attrName>
                                        </p:attrNameLst>
                                      </p:cBhvr>
                                      <p:to>
                                        <p:strVal val="visible"/>
                                      </p:to>
                                    </p:set>
                                    <p:animEffect transition="in" filter="fade">
                                      <p:cBhvr>
                                        <p:cTn id="43" dur="400"/>
                                        <p:tgtEl>
                                          <p:spTgt spid="22"/>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3"/>
                                        </p:tgtEl>
                                        <p:attrNameLst>
                                          <p:attrName>style.visibility</p:attrName>
                                        </p:attrNameLst>
                                      </p:cBhvr>
                                      <p:to>
                                        <p:strVal val="visible"/>
                                      </p:to>
                                    </p:set>
                                    <p:animEffect transition="in" filter="fade">
                                      <p:cBhvr>
                                        <p:cTn id="46" dur="400"/>
                                        <p:tgtEl>
                                          <p:spTgt spid="23"/>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4"/>
                                        </p:tgtEl>
                                        <p:attrNameLst>
                                          <p:attrName>style.visibility</p:attrName>
                                        </p:attrNameLst>
                                      </p:cBhvr>
                                      <p:to>
                                        <p:strVal val="visible"/>
                                      </p:to>
                                    </p:set>
                                    <p:animEffect transition="in" filter="fade">
                                      <p:cBhvr>
                                        <p:cTn id="49" dur="400"/>
                                        <p:tgtEl>
                                          <p:spTgt spid="24"/>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fade">
                                      <p:cBhvr>
                                        <p:cTn id="52"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3" grpId="0" animBg="1"/>
      <p:bldP spid="15" grpId="0" animBg="1"/>
      <p:bldP spid="17" grpId="0" animBg="1"/>
      <p:bldP spid="19" grpId="0" animBg="1"/>
      <p:bldP spid="20" grpId="0" animBg="1"/>
      <p:bldP spid="22" grpId="0" animBg="1"/>
      <p:bldP spid="23" grpId="0" animBg="1"/>
      <p:bldP spid="25"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2" type="body" hasCustomPrompt="1"/>
          </p:nvPr>
        </p:nvSpPr>
        <p:spPr>
          <a:xfrm>
            <a:off x="548640" y="274320"/>
            <a:ext cx="9966960" cy="256032"/>
          </a:xfrm>
          <a:prstGeom prst="rect">
            <a:avLst/>
          </a:prstGeom>
          <a:noFill/>
          <a:ln/>
        </p:spPr>
        <p:txBody>
          <a:bodyPr wrap="square" lIns="0" tIns="0" rIns="0" bIns="0" rtlCol="0" anchor="ctr"/>
          <a:lstStyle/>
          <a:p>
            <a:pPr algn="l" indent="0" marL="0">
              <a:buNone/>
            </a:pPr>
            <a:r>
              <a:rPr lang="en-US" sz="1100" b="1" spc="100" kern="0" dirty="0">
                <a:solidFill>
                  <a:schemeClr val="accent2"/>
                </a:solidFill>
              </a:rPr>
              <a:t>03  •  BASIC SET-UP &amp; SSH  •  LAB 1</a:t>
            </a:r>
            <a:endParaRPr lang="en-US" sz="1100" dirty="0"/>
          </a:p>
        </p:txBody>
      </p:sp>
      <p:sp>
        <p:nvSpPr>
          <p:cNvPr id="3" name="Text 1"/>
          <p:cNvSpPr/>
          <p:nvPr>
            <p:ph idx="103" type="title" hasCustomPrompt="1"/>
          </p:nvPr>
        </p:nvSpPr>
        <p:spPr>
          <a:xfrm>
            <a:off x="548640" y="548640"/>
            <a:ext cx="10149840" cy="548640"/>
          </a:xfrm>
          <a:prstGeom prst="rect">
            <a:avLst/>
          </a:prstGeom>
          <a:noFill/>
          <a:ln/>
        </p:spPr>
        <p:txBody>
          <a:bodyPr wrap="square" lIns="0" tIns="0" rIns="0" bIns="0" rtlCol="0" anchor="ctr"/>
          <a:lstStyle/>
          <a:p>
            <a:pPr algn="l" indent="0" marL="0">
              <a:buNone/>
            </a:pPr>
            <a:r>
              <a:rPr lang="en-US" sz="2600" b="1" dirty="0">
                <a:solidFill>
                  <a:schemeClr val="accent1"/>
                </a:solidFill>
              </a:rPr>
              <a:t>How to practise: Lab 1 — basic router and switch set-up</a:t>
            </a:r>
            <a:endParaRPr lang="en-US" sz="2600" dirty="0"/>
          </a:p>
        </p:txBody>
      </p:sp>
      <p:pic>
        <p:nvPicPr>
          <p:cNvPr id="4" name="Home button" descr="Home: back to the workbook menu">
            <a:hlinkClick r:id="rId2" tooltip="Back to the workbook menu" action="ppaction://hlinksldjump"/>
          </p:cNvPr>
          <p:cNvPicPr>
            <a:picLocks noChangeAspect="1"/>
          </p:cNvPicPr>
          <p:nvPr/>
        </p:nvPicPr>
        <p:blipFill>
          <a:blip r:embed="rId1"/>
          <a:stretch>
            <a:fillRect/>
          </a:stretch>
        </p:blipFill>
        <p:spPr>
          <a:xfrm>
            <a:off x="11365992" y="6336792"/>
            <a:ext cx="365760" cy="365760"/>
          </a:xfrm>
          <a:prstGeom prst="rect">
            <a:avLst/>
          </a:prstGeom>
        </p:spPr>
      </p:pic>
      <p:sp>
        <p:nvSpPr>
          <p:cNvPr id="5" name="Goal"/>
          <p:cNvSpPr txBox="1"/>
          <p:nvPr/>
        </p:nvSpPr>
        <p:spPr>
          <a:xfrm>
            <a:off x="548640" y="1161288"/>
            <a:ext cx="11094415" cy="384048"/>
          </a:xfrm>
          <a:prstGeom prst="rect">
            <a:avLst/>
          </a:prstGeom>
          <a:noFill/>
          <a:ln/>
        </p:spPr>
        <p:txBody>
          <a:bodyPr wrap="square" lIns="0" tIns="0" rIns="0" bIns="0" rtlCol="0" anchor="ctr"/>
          <a:lstStyle/>
          <a:p>
            <a:pPr indent="0" marL="0">
              <a:buNone/>
            </a:pPr>
            <a:r>
              <a:rPr lang="en-US" sz="1400" b="1" dirty="0">
                <a:solidFill>
                  <a:srgbClr val="2B7043"/>
                </a:solidFill>
              </a:rPr>
              <a:t>Goal:  </a:t>
            </a:r>
            <a:r>
              <a:rPr lang="en-US" sz="1400" dirty="0">
                <a:solidFill>
                  <a:srgbClr val="2B2B2B"/>
                </a:solidFill>
              </a:rPr>
              <a:t>Build this network and apply everything in this part. Then prove it works with the checks at the bottom.</a:t>
            </a:r>
            <a:endParaRPr lang="en-US" sz="1400" dirty="0"/>
          </a:p>
        </p:txBody>
      </p:sp>
      <p:sp>
        <p:nvSpPr>
          <p:cNvPr id="6" name="Shape 3"/>
          <p:cNvSpPr/>
          <p:nvPr/>
        </p:nvSpPr>
        <p:spPr>
          <a:xfrm>
            <a:off x="3017520" y="2240280"/>
            <a:ext cx="914" cy="1143000"/>
          </a:xfrm>
          <a:prstGeom prst="line">
            <a:avLst/>
          </a:prstGeom>
          <a:noFill/>
          <a:ln w="28575">
            <a:solidFill>
              <a:srgbClr val="3A3A3A"/>
            </a:solidFill>
            <a:prstDash val="solid"/>
          </a:ln>
        </p:spPr>
      </p:sp>
      <p:sp>
        <p:nvSpPr>
          <p:cNvPr id="7" name="Shape 4"/>
          <p:cNvSpPr/>
          <p:nvPr/>
        </p:nvSpPr>
        <p:spPr>
          <a:xfrm flipH="1">
            <a:off x="1463040" y="3383280"/>
            <a:ext cx="1554480" cy="1143000"/>
          </a:xfrm>
          <a:prstGeom prst="line">
            <a:avLst/>
          </a:prstGeom>
          <a:noFill/>
          <a:ln w="28575">
            <a:solidFill>
              <a:srgbClr val="3A3A3A"/>
            </a:solidFill>
            <a:prstDash val="solid"/>
          </a:ln>
        </p:spPr>
      </p:sp>
      <p:sp>
        <p:nvSpPr>
          <p:cNvPr id="8" name="Shape 5"/>
          <p:cNvSpPr/>
          <p:nvPr/>
        </p:nvSpPr>
        <p:spPr>
          <a:xfrm>
            <a:off x="3017520" y="3383280"/>
            <a:ext cx="1554480" cy="1143000"/>
          </a:xfrm>
          <a:prstGeom prst="line">
            <a:avLst/>
          </a:prstGeom>
          <a:noFill/>
          <a:ln w="28575">
            <a:solidFill>
              <a:srgbClr val="3A3A3A"/>
            </a:solidFill>
            <a:prstDash val="solid"/>
          </a:ln>
        </p:spPr>
      </p:sp>
      <p:sp>
        <p:nvSpPr>
          <p:cNvPr id="9" name="Shape 6"/>
          <p:cNvSpPr/>
          <p:nvPr/>
        </p:nvSpPr>
        <p:spPr>
          <a:xfrm flipV="1">
            <a:off x="4572000" y="2148840"/>
            <a:ext cx="914" cy="2075688"/>
          </a:xfrm>
          <a:prstGeom prst="line">
            <a:avLst/>
          </a:prstGeom>
          <a:noFill/>
          <a:ln w="25400">
            <a:solidFill>
              <a:srgbClr val="29A8D8"/>
            </a:solidFill>
            <a:prstDash val="dash"/>
          </a:ln>
        </p:spPr>
      </p:sp>
      <p:sp>
        <p:nvSpPr>
          <p:cNvPr id="10" name="Shape 7"/>
          <p:cNvSpPr/>
          <p:nvPr/>
        </p:nvSpPr>
        <p:spPr>
          <a:xfrm flipH="1">
            <a:off x="3319272" y="2148840"/>
            <a:ext cx="1252728" cy="914"/>
          </a:xfrm>
          <a:prstGeom prst="line">
            <a:avLst/>
          </a:prstGeom>
          <a:noFill/>
          <a:ln w="25400">
            <a:solidFill>
              <a:srgbClr val="29A8D8"/>
            </a:solidFill>
            <a:prstDash val="dash"/>
          </a:ln>
        </p:spPr>
      </p:sp>
      <p:pic>
        <p:nvPicPr>
          <p:cNvPr id="11" name="Image 1" descr="R1">    </p:cNvPr>
          <p:cNvPicPr>
            <a:picLocks noChangeAspect="1"/>
          </p:cNvPicPr>
          <p:nvPr/>
        </p:nvPicPr>
        <p:blipFill>
          <a:blip r:embed="rId3"/>
          <a:stretch>
            <a:fillRect/>
          </a:stretch>
        </p:blipFill>
        <p:spPr>
          <a:xfrm>
            <a:off x="2734056" y="1865376"/>
            <a:ext cx="566928" cy="566928"/>
          </a:xfrm>
          <a:prstGeom prst="rect">
            <a:avLst/>
          </a:prstGeom>
        </p:spPr>
      </p:pic>
      <p:sp>
        <p:nvSpPr>
          <p:cNvPr id="12" name="Text 8"/>
          <p:cNvSpPr txBox="1"/>
          <p:nvPr/>
        </p:nvSpPr>
        <p:spPr>
          <a:xfrm>
            <a:off x="1773936" y="1920240"/>
            <a:ext cx="914400" cy="457200"/>
          </a:xfrm>
          <a:prstGeom prst="rect">
            <a:avLst/>
          </a:prstGeom>
          <a:noFill/>
          <a:ln/>
        </p:spPr>
        <p:txBody>
          <a:bodyPr wrap="square" lIns="0" tIns="0" rIns="0" bIns="0" rtlCol="0" anchor="t"/>
          <a:lstStyle/>
          <a:p>
            <a:pPr algn="r" indent="0" marL="0">
              <a:buNone/>
            </a:pPr>
            <a:r>
              <a:rPr lang="en-US" sz="1200" b="1" dirty="0">
                <a:solidFill>
                  <a:srgbClr val="2B2B2B"/>
                </a:solidFill>
              </a:rPr>
              <a:t>R1</a:t>
            </a:r>
            <a:endParaRPr lang="en-US" sz="1200" dirty="0"/>
          </a:p>
          <a:p>
            <a:pPr algn="r" indent="0" marL="0">
              <a:buNone/>
            </a:pPr>
            <a:r>
              <a:rPr lang="en-US" sz="1000" dirty="0">
                <a:solidFill>
                  <a:srgbClr val="6B6B6B"/>
                </a:solidFill>
              </a:rPr>
              <a:t>4331</a:t>
            </a:r>
            <a:endParaRPr lang="en-US" sz="1200" dirty="0"/>
          </a:p>
        </p:txBody>
      </p:sp>
      <p:pic>
        <p:nvPicPr>
          <p:cNvPr id="13" name="Image 2" descr="S1">    </p:cNvPr>
          <p:cNvPicPr>
            <a:picLocks noChangeAspect="1"/>
          </p:cNvPicPr>
          <p:nvPr/>
        </p:nvPicPr>
        <p:blipFill>
          <a:blip r:embed="rId4"/>
          <a:stretch>
            <a:fillRect/>
          </a:stretch>
        </p:blipFill>
        <p:spPr>
          <a:xfrm>
            <a:off x="2697480" y="3063240"/>
            <a:ext cx="640080" cy="640080"/>
          </a:xfrm>
          <a:prstGeom prst="rect">
            <a:avLst/>
          </a:prstGeom>
        </p:spPr>
      </p:pic>
      <p:sp>
        <p:nvSpPr>
          <p:cNvPr id="14" name="Text 9"/>
          <p:cNvSpPr txBox="1"/>
          <p:nvPr/>
        </p:nvSpPr>
        <p:spPr>
          <a:xfrm>
            <a:off x="1737360" y="3154680"/>
            <a:ext cx="914400" cy="457200"/>
          </a:xfrm>
          <a:prstGeom prst="rect">
            <a:avLst/>
          </a:prstGeom>
          <a:noFill/>
          <a:ln/>
        </p:spPr>
        <p:txBody>
          <a:bodyPr wrap="square" lIns="0" tIns="0" rIns="0" bIns="0" rtlCol="0" anchor="t"/>
          <a:lstStyle/>
          <a:p>
            <a:pPr algn="r" indent="0" marL="0">
              <a:buNone/>
            </a:pPr>
            <a:r>
              <a:rPr lang="en-US" sz="1200" b="1" dirty="0">
                <a:solidFill>
                  <a:srgbClr val="2B2B2B"/>
                </a:solidFill>
              </a:rPr>
              <a:t>S1</a:t>
            </a:r>
            <a:endParaRPr lang="en-US" sz="1200" dirty="0"/>
          </a:p>
          <a:p>
            <a:pPr algn="r" indent="0" marL="0">
              <a:buNone/>
            </a:pPr>
            <a:r>
              <a:rPr lang="en-US" sz="1000" dirty="0">
                <a:solidFill>
                  <a:srgbClr val="6B6B6B"/>
                </a:solidFill>
              </a:rPr>
              <a:t>2960</a:t>
            </a:r>
            <a:endParaRPr lang="en-US" sz="1200" dirty="0"/>
          </a:p>
        </p:txBody>
      </p:sp>
      <p:pic>
        <p:nvPicPr>
          <p:cNvPr id="15" name="Image 3" descr="PC-A">    </p:cNvPr>
          <p:cNvPicPr>
            <a:picLocks noChangeAspect="1"/>
          </p:cNvPicPr>
          <p:nvPr/>
        </p:nvPicPr>
        <p:blipFill>
          <a:blip r:embed="rId5"/>
          <a:stretch>
            <a:fillRect/>
          </a:stretch>
        </p:blipFill>
        <p:spPr>
          <a:xfrm>
            <a:off x="1188720" y="4251960"/>
            <a:ext cx="548640" cy="548640"/>
          </a:xfrm>
          <a:prstGeom prst="rect">
            <a:avLst/>
          </a:prstGeom>
        </p:spPr>
      </p:pic>
      <p:sp>
        <p:nvSpPr>
          <p:cNvPr id="16" name="Text 10"/>
          <p:cNvSpPr txBox="1"/>
          <p:nvPr/>
        </p:nvSpPr>
        <p:spPr>
          <a:xfrm>
            <a:off x="731520" y="4782312"/>
            <a:ext cx="1463040" cy="274320"/>
          </a:xfrm>
          <a:prstGeom prst="rect">
            <a:avLst/>
          </a:prstGeom>
          <a:noFill/>
          <a:ln/>
        </p:spPr>
        <p:txBody>
          <a:bodyPr wrap="square" lIns="0" tIns="0" rIns="0" bIns="0" rtlCol="0" anchor="t"/>
          <a:lstStyle/>
          <a:p>
            <a:pPr algn="ctr" indent="0" marL="0">
              <a:buNone/>
            </a:pPr>
            <a:r>
              <a:rPr lang="en-US" sz="1200" b="1" dirty="0">
                <a:solidFill>
                  <a:srgbClr val="2B2B2B"/>
                </a:solidFill>
              </a:rPr>
              <a:t>PC-A</a:t>
            </a:r>
            <a:endParaRPr lang="en-US" sz="1200" dirty="0"/>
          </a:p>
        </p:txBody>
      </p:sp>
      <p:pic>
        <p:nvPicPr>
          <p:cNvPr id="17" name="Image 4" descr="PC-B">    </p:cNvPr>
          <p:cNvPicPr>
            <a:picLocks noChangeAspect="1"/>
          </p:cNvPicPr>
          <p:nvPr/>
        </p:nvPicPr>
        <p:blipFill>
          <a:blip r:embed="rId6"/>
          <a:stretch>
            <a:fillRect/>
          </a:stretch>
        </p:blipFill>
        <p:spPr>
          <a:xfrm>
            <a:off x="4297680" y="4251960"/>
            <a:ext cx="548640" cy="548640"/>
          </a:xfrm>
          <a:prstGeom prst="rect">
            <a:avLst/>
          </a:prstGeom>
        </p:spPr>
      </p:pic>
      <p:sp>
        <p:nvSpPr>
          <p:cNvPr id="18" name="Text 11"/>
          <p:cNvSpPr txBox="1"/>
          <p:nvPr/>
        </p:nvSpPr>
        <p:spPr>
          <a:xfrm>
            <a:off x="3840480" y="4782312"/>
            <a:ext cx="1463040" cy="274320"/>
          </a:xfrm>
          <a:prstGeom prst="rect">
            <a:avLst/>
          </a:prstGeom>
          <a:noFill/>
          <a:ln/>
        </p:spPr>
        <p:txBody>
          <a:bodyPr wrap="square" lIns="0" tIns="0" rIns="0" bIns="0" rtlCol="0" anchor="t"/>
          <a:lstStyle/>
          <a:p>
            <a:pPr algn="ctr" indent="0" marL="0">
              <a:buNone/>
            </a:pPr>
            <a:r>
              <a:rPr lang="en-US" sz="1200" b="1" dirty="0">
                <a:solidFill>
                  <a:srgbClr val="2B2B2B"/>
                </a:solidFill>
              </a:rPr>
              <a:t>PC-B</a:t>
            </a:r>
            <a:endParaRPr lang="en-US" sz="1200" dirty="0"/>
          </a:p>
        </p:txBody>
      </p:sp>
      <p:sp>
        <p:nvSpPr>
          <p:cNvPr id="19" name="Text 12"/>
          <p:cNvSpPr txBox="1"/>
          <p:nvPr/>
        </p:nvSpPr>
        <p:spPr>
          <a:xfrm>
            <a:off x="3063240" y="2514600"/>
            <a:ext cx="685800" cy="237744"/>
          </a:xfrm>
          <a:prstGeom prst="rect">
            <a:avLst/>
          </a:prstGeom>
          <a:noFill/>
          <a:ln/>
        </p:spPr>
        <p:txBody>
          <a:bodyPr wrap="square" lIns="254" tIns="254" rIns="254" bIns="254" rtlCol="0" anchor="ctr"/>
          <a:lstStyle/>
          <a:p>
            <a:pPr algn="l" indent="0" marL="0">
              <a:buNone/>
            </a:pPr>
            <a:r>
              <a:rPr lang="en-US" sz="1000" dirty="0">
                <a:solidFill>
                  <a:srgbClr val="2B2B2B"/>
                </a:solidFill>
              </a:rPr>
              <a:t>G0/0/0</a:t>
            </a:r>
            <a:endParaRPr lang="en-US" sz="1000" dirty="0"/>
          </a:p>
        </p:txBody>
      </p:sp>
      <p:sp>
        <p:nvSpPr>
          <p:cNvPr id="20" name="Text 13"/>
          <p:cNvSpPr txBox="1"/>
          <p:nvPr/>
        </p:nvSpPr>
        <p:spPr>
          <a:xfrm>
            <a:off x="3063240" y="2971800"/>
            <a:ext cx="548640" cy="237744"/>
          </a:xfrm>
          <a:prstGeom prst="rect">
            <a:avLst/>
          </a:prstGeom>
          <a:noFill/>
          <a:ln/>
        </p:spPr>
        <p:txBody>
          <a:bodyPr wrap="square" lIns="254" tIns="254" rIns="254" bIns="254" rtlCol="0" anchor="ctr"/>
          <a:lstStyle/>
          <a:p>
            <a:pPr algn="l" indent="0" marL="0">
              <a:buNone/>
            </a:pPr>
            <a:r>
              <a:rPr lang="en-US" sz="1000" dirty="0">
                <a:solidFill>
                  <a:srgbClr val="2B2B2B"/>
                </a:solidFill>
              </a:rPr>
              <a:t>G0/1</a:t>
            </a:r>
            <a:endParaRPr lang="en-US" sz="1000" dirty="0"/>
          </a:p>
        </p:txBody>
      </p:sp>
      <p:sp>
        <p:nvSpPr>
          <p:cNvPr id="21" name="Text 14"/>
          <p:cNvSpPr txBox="1"/>
          <p:nvPr/>
        </p:nvSpPr>
        <p:spPr>
          <a:xfrm>
            <a:off x="1600200" y="3657600"/>
            <a:ext cx="640080" cy="237744"/>
          </a:xfrm>
          <a:prstGeom prst="rect">
            <a:avLst/>
          </a:prstGeom>
          <a:noFill/>
          <a:ln/>
        </p:spPr>
        <p:txBody>
          <a:bodyPr wrap="square" lIns="254" tIns="254" rIns="254" bIns="254" rtlCol="0" anchor="ctr"/>
          <a:lstStyle/>
          <a:p>
            <a:pPr algn="ctr" indent="0" marL="0">
              <a:buNone/>
            </a:pPr>
            <a:r>
              <a:rPr lang="en-US" sz="1000" dirty="0">
                <a:solidFill>
                  <a:srgbClr val="2B2B2B"/>
                </a:solidFill>
              </a:rPr>
              <a:t>Fa0/1</a:t>
            </a:r>
            <a:endParaRPr lang="en-US" sz="1000" dirty="0"/>
          </a:p>
        </p:txBody>
      </p:sp>
      <p:sp>
        <p:nvSpPr>
          <p:cNvPr id="22" name="Text 15"/>
          <p:cNvSpPr txBox="1"/>
          <p:nvPr/>
        </p:nvSpPr>
        <p:spPr>
          <a:xfrm>
            <a:off x="3703320" y="3657600"/>
            <a:ext cx="640080" cy="237744"/>
          </a:xfrm>
          <a:prstGeom prst="rect">
            <a:avLst/>
          </a:prstGeom>
          <a:noFill/>
          <a:ln/>
        </p:spPr>
        <p:txBody>
          <a:bodyPr wrap="square" lIns="254" tIns="254" rIns="254" bIns="254" rtlCol="0" anchor="ctr"/>
          <a:lstStyle/>
          <a:p>
            <a:pPr algn="ctr" indent="0" marL="0">
              <a:buNone/>
            </a:pPr>
            <a:r>
              <a:rPr lang="en-US" sz="1000" dirty="0">
                <a:solidFill>
                  <a:srgbClr val="2B2B2B"/>
                </a:solidFill>
              </a:rPr>
              <a:t>Fa0/2</a:t>
            </a:r>
            <a:endParaRPr lang="en-US" sz="1000" dirty="0"/>
          </a:p>
        </p:txBody>
      </p:sp>
      <p:sp>
        <p:nvSpPr>
          <p:cNvPr id="23" name="Text 16"/>
          <p:cNvSpPr txBox="1"/>
          <p:nvPr/>
        </p:nvSpPr>
        <p:spPr>
          <a:xfrm>
            <a:off x="4645152" y="2926080"/>
            <a:ext cx="1097280" cy="237744"/>
          </a:xfrm>
          <a:prstGeom prst="rect">
            <a:avLst/>
          </a:prstGeom>
          <a:noFill/>
          <a:ln/>
        </p:spPr>
        <p:txBody>
          <a:bodyPr wrap="square" lIns="254" tIns="254" rIns="254" bIns="254" rtlCol="0" anchor="ctr"/>
          <a:lstStyle/>
          <a:p>
            <a:pPr algn="l" indent="0" marL="0">
              <a:buNone/>
            </a:pPr>
            <a:r>
              <a:rPr lang="en-US" sz="1000" b="1" dirty="0">
                <a:solidFill>
                  <a:srgbClr val="1C7FA6"/>
                </a:solidFill>
              </a:rPr>
              <a:t>console cable</a:t>
            </a:r>
            <a:endParaRPr lang="en-US" sz="1000" dirty="0"/>
          </a:p>
        </p:txBody>
      </p:sp>
      <p:graphicFrame>
        <p:nvGraphicFramePr>
          <p:cNvPr id="26" name="lab1 addressing"/>
          <p:cNvGraphicFramePr>
            <a:graphicFrameLocks noGrp="1"/>
          </p:cNvGraphicFramePr>
          <p:nvPr>
            <p:extLst>
              <p:ext uri="{D42A27DB-BD31-4B8C-83A1-F6EECF244321}">
                <p14:modId xmlns:p14="http://schemas.microsoft.com/office/powerpoint/2010/main" val="1579011935"/>
              </p:ext>
            </p:extLst>
          </p:nvPr>
        </p:nvGraphicFramePr>
        <p:xfrm>
          <a:off x="5669280" y="1691640"/>
          <a:ext cx="5971032" cy="914400"/>
        </p:xfrm>
        <a:graphic>
          <a:graphicData uri="http://schemas.openxmlformats.org/drawingml/2006/table">
            <a:tbl>
              <a:tblPr/>
              <a:tblGrid>
                <a:gridCol w="1143000"/>
                <a:gridCol w="1234440"/>
                <a:gridCol w="1965960"/>
                <a:gridCol w="1627632"/>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Device</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1E563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Interface</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1E563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IP address / mask</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1E563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Gateway</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1E5631"/>
                    </a:solidFill>
                  </a:tcPr>
                </a:tc>
              </a:tr>
              <a:tr h="0">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R1</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G0/0/0</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192.168.1.1 /24</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r>
              <a:tr h="0">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S1</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VLAN 1</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192.168.1.2 /24</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192.168.1.1</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PC-A</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NIC</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192.168.1.10 /24</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192.168.1.1</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r>
              <a:tr h="0">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PC-B</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NIC</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192.168.1.11 /24</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192.168.1.1</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r>
            </a:tbl>
          </a:graphicData>
        </a:graphic>
      </p:graphicFrame>
      <p:sp>
        <p:nvSpPr>
          <p:cNvPr id="25" name="Card"/>
          <p:cNvSpPr/>
          <p:nvPr/>
        </p:nvSpPr>
        <p:spPr>
          <a:xfrm>
            <a:off x="5669280" y="3794760"/>
            <a:ext cx="5971032" cy="2423160"/>
          </a:xfrm>
          <a:prstGeom prst="roundRect">
            <a:avLst>
              <a:gd name="adj" fmla="val 3019"/>
            </a:avLst>
          </a:prstGeom>
          <a:solidFill>
            <a:srgbClr val="F2F8F3"/>
          </a:solidFill>
          <a:ln w="12700">
            <a:solidFill>
              <a:srgbClr val="B7C9BA"/>
            </a:solidFill>
            <a:prstDash val="solid"/>
          </a:ln>
        </p:spPr>
      </p:sp>
      <p:sp>
        <p:nvSpPr>
          <p:cNvPr id="29" name="Text 18"/>
          <p:cNvSpPr txBox="1"/>
          <p:nvPr/>
        </p:nvSpPr>
        <p:spPr>
          <a:xfrm>
            <a:off x="5815584" y="3897173"/>
            <a:ext cx="5678424" cy="2218334"/>
          </a:xfrm>
          <a:prstGeom prst="rect">
            <a:avLst/>
          </a:prstGeom>
          <a:noFill/>
          <a:ln/>
        </p:spPr>
        <p:txBody>
          <a:bodyPr wrap="square" lIns="0" tIns="0" rIns="0" bIns="0" rtlCol="0" anchor="t"/>
          <a:lstStyle/>
          <a:p>
            <a:pPr indent="0" marL="0">
              <a:buNone/>
            </a:pPr>
            <a:r>
              <a:rPr lang="en-US" sz="1400" b="1" dirty="0">
                <a:solidFill>
                  <a:srgbClr val="1E5631"/>
                </a:solidFill>
              </a:rPr>
              <a:t>Tasks</a:t>
            </a:r>
            <a:endParaRPr lang="en-US" sz="1400" dirty="0"/>
          </a:p>
          <a:p>
            <a:pPr marL="228600" indent="-228600">
              <a:spcAft>
                <a:spcPts val="200"/>
              </a:spcAft>
              <a:buSzPct val="100000"/>
              <a:buFont typeface="+mj-lt"/>
              <a:buAutoNum type="arabicPeriod" startAt="1"/>
            </a:pPr>
            <a:r>
              <a:rPr lang="en-US" sz="1400" dirty="0">
                <a:solidFill>
                  <a:srgbClr val="2B2B2B"/>
                </a:solidFill>
              </a:rPr>
              <a:t>Build and cable it (straight-through; console cable PC-B → R1).</a:t>
            </a:r>
            <a:endParaRPr lang="en-US" sz="1400" dirty="0"/>
          </a:p>
          <a:p>
            <a:pPr marL="228600" indent="-228600">
              <a:spcAft>
                <a:spcPts val="200"/>
              </a:spcAft>
              <a:buSzPct val="100000"/>
              <a:buFont typeface="+mj-lt"/>
              <a:buAutoNum type="arabicPeriod" startAt="1"/>
            </a:pPr>
            <a:r>
              <a:rPr lang="en-US" sz="1400" dirty="0">
                <a:solidFill>
                  <a:srgbClr val="2B2B2B"/>
                </a:solidFill>
              </a:rPr>
              <a:t>Basic set-up on R1 and S1: hostname, secret, console, banner.</a:t>
            </a:r>
            <a:endParaRPr lang="en-US" sz="1400" dirty="0"/>
          </a:p>
          <a:p>
            <a:pPr marL="228600" indent="-228600">
              <a:spcAft>
                <a:spcPts val="200"/>
              </a:spcAft>
              <a:buSzPct val="100000"/>
              <a:buFont typeface="+mj-lt"/>
              <a:buAutoNum type="arabicPeriod" startAt="1"/>
            </a:pPr>
            <a:r>
              <a:rPr lang="en-US" sz="1400" dirty="0">
                <a:solidFill>
                  <a:srgbClr val="2B2B2B"/>
                </a:solidFill>
              </a:rPr>
              <a:t>Address R1 G0/0/0, S1 VLAN 1 and both PCs; shut unused ports.</a:t>
            </a:r>
            <a:endParaRPr lang="en-US" sz="1400" dirty="0"/>
          </a:p>
          <a:p>
            <a:pPr marL="228600" indent="-228600">
              <a:spcAft>
                <a:spcPts val="200"/>
              </a:spcAft>
              <a:buSzPct val="100000"/>
              <a:buFont typeface="+mj-lt"/>
              <a:buAutoNum type="arabicPeriod" startAt="1"/>
            </a:pPr>
            <a:r>
              <a:rPr lang="en-US" sz="1400" dirty="0">
                <a:solidFill>
                  <a:srgbClr val="2B2B2B"/>
                </a:solidFill>
              </a:rPr>
              <a:t>SSH on R1 and S1 (user netadmin); save both devices.</a:t>
            </a:r>
            <a:endParaRPr lang="en-US" sz="1400" dirty="0"/>
          </a:p>
          <a:p>
            <a:pPr marL="228600" indent="-228600">
              <a:spcAft>
                <a:spcPts val="200"/>
              </a:spcAft>
              <a:buSzPct val="100000"/>
              <a:buFont typeface="+mj-lt"/>
              <a:buAutoNum type="arabicPeriod" startAt="1"/>
            </a:pPr>
            <a:r>
              <a:rPr lang="en-US" sz="1400" dirty="0">
                <a:solidFill>
                  <a:srgbClr val="2B2B2B"/>
                </a:solidFill>
              </a:rPr>
              <a:t>Prove it: all pings work, SSH works, Telnet is refused.</a:t>
            </a:r>
            <a:endParaRPr lang="en-US" sz="1400" dirty="0"/>
          </a:p>
        </p:txBody>
      </p:sp>
      <p:sp>
        <p:nvSpPr>
          <p:cNvPr id="27" name="Card"/>
          <p:cNvSpPr/>
          <p:nvPr/>
        </p:nvSpPr>
        <p:spPr>
          <a:xfrm>
            <a:off x="548640" y="5257800"/>
            <a:ext cx="4846320" cy="960120"/>
          </a:xfrm>
          <a:prstGeom prst="roundRect">
            <a:avLst>
              <a:gd name="adj" fmla="val 7619"/>
            </a:avLst>
          </a:prstGeom>
          <a:solidFill>
            <a:srgbClr val="E8F1EA"/>
          </a:solidFill>
          <a:ln w="12700">
            <a:solidFill>
              <a:srgbClr val="B7C9BA"/>
            </a:solidFill>
            <a:prstDash val="solid"/>
          </a:ln>
        </p:spPr>
      </p:sp>
      <p:sp>
        <p:nvSpPr>
          <p:cNvPr id="28" name="Text 20"/>
          <p:cNvSpPr txBox="1"/>
          <p:nvPr/>
        </p:nvSpPr>
        <p:spPr>
          <a:xfrm>
            <a:off x="694944" y="5360213"/>
            <a:ext cx="4553712" cy="755294"/>
          </a:xfrm>
          <a:prstGeom prst="rect">
            <a:avLst/>
          </a:prstGeom>
          <a:noFill/>
          <a:ln/>
        </p:spPr>
        <p:txBody>
          <a:bodyPr wrap="square" lIns="0" tIns="0" rIns="0" bIns="0" rtlCol="0" anchor="t"/>
          <a:lstStyle/>
          <a:p>
            <a:pPr indent="0" marL="0">
              <a:buNone/>
            </a:pPr>
            <a:r>
              <a:rPr lang="en-US" sz="1400" dirty="0">
                <a:solidFill>
                  <a:srgbClr val="2B2B2B"/>
                </a:solidFill>
              </a:rPr>
              <a:t>Use the console cable for the first set-up of R1 — the way a brand-new real router is configured.</a:t>
            </a:r>
            <a:endParaRPr lang="en-US" sz="1400" dirty="0"/>
          </a:p>
        </p:txBody>
      </p:sp>
      <p:sp>
        <p:nvSpPr>
          <p:cNvPr id="30" name="Slide Number Placeholder 0"/>
          <p:cNvSpPr>
            <a:spLocks noGrp="1"/>
          </p:cNvSpPr>
          <p:nvPr>
            <p:ph type="sldNum" sz="quarter" idx="4294967295"/>
          </p:nvPr>
        </p:nvSpPr>
        <p:spPr>
          <a:xfrm>
            <a:off x="10698480" y="6464808"/>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body" hasCustomPrompt="1"/>
          </p:nvPr>
        </p:nvSpPr>
        <p:spPr>
          <a:xfrm>
            <a:off x="548640" y="685800"/>
            <a:ext cx="3200400" cy="1143000"/>
          </a:xfrm>
          <a:prstGeom prst="rect">
            <a:avLst/>
          </a:prstGeom>
          <a:noFill/>
          <a:ln/>
        </p:spPr>
        <p:txBody>
          <a:bodyPr wrap="square" lIns="0" tIns="0" rIns="0" bIns="0" rtlCol="0" anchor="b"/>
          <a:lstStyle/>
          <a:p>
            <a:pPr algn="l" indent="0" marL="0">
              <a:buNone/>
            </a:pPr>
            <a:r>
              <a:rPr lang="en-US" sz="7200" b="1" dirty="0">
                <a:solidFill>
                  <a:schemeClr val="accent3"/>
                </a:solidFill>
                <a:latin typeface="Cambria" pitchFamily="34" charset="0"/>
                <a:ea typeface="Cambria" pitchFamily="34" charset="-122"/>
                <a:cs typeface="Cambria" pitchFamily="34" charset="-120"/>
              </a:rPr>
              <a:t>04</a:t>
            </a:r>
            <a:endParaRPr lang="en-US" sz="7200" dirty="0"/>
          </a:p>
        </p:txBody>
      </p:sp>
      <p:sp>
        <p:nvSpPr>
          <p:cNvPr id="3" name="Text 1"/>
          <p:cNvSpPr/>
          <p:nvPr>
            <p:ph idx="102" type="title" hasCustomPrompt="1"/>
          </p:nvPr>
        </p:nvSpPr>
        <p:spPr>
          <a:xfrm>
            <a:off x="548640" y="2011680"/>
            <a:ext cx="6492240" cy="1600200"/>
          </a:xfrm>
          <a:prstGeom prst="rect">
            <a:avLst/>
          </a:prstGeom>
          <a:noFill/>
          <a:ln/>
        </p:spPr>
        <p:txBody>
          <a:bodyPr wrap="square" lIns="0" tIns="0" rIns="0" bIns="0" rtlCol="0" anchor="t"/>
          <a:lstStyle/>
          <a:p>
            <a:pPr algn="l" indent="0" marL="0">
              <a:buNone/>
            </a:pPr>
            <a:r>
              <a:rPr lang="en-US" sz="3400" b="1" dirty="0">
                <a:solidFill>
                  <a:srgbClr val="FFFFFF"/>
                </a:solidFill>
              </a:rPr>
              <a:t>How to separate a network with VLANs</a:t>
            </a:r>
            <a:endParaRPr lang="en-US" sz="3400" dirty="0"/>
          </a:p>
        </p:txBody>
      </p:sp>
      <p:sp>
        <p:nvSpPr>
          <p:cNvPr id="4" name="Text 1"/>
          <p:cNvSpPr/>
          <p:nvPr>
            <p:ph idx="103" type="body" hasCustomPrompt="1"/>
          </p:nvPr>
        </p:nvSpPr>
        <p:spPr>
          <a:xfrm>
            <a:off x="548640" y="3703320"/>
            <a:ext cx="6309360" cy="1188720"/>
          </a:xfrm>
          <a:prstGeom prst="rect">
            <a:avLst/>
          </a:prstGeom>
          <a:noFill/>
          <a:ln/>
        </p:spPr>
        <p:txBody>
          <a:bodyPr wrap="square" lIns="0" tIns="0" rIns="0" bIns="0" rtlCol="0" anchor="t"/>
          <a:lstStyle/>
          <a:p>
            <a:pPr algn="l" indent="0" marL="0">
              <a:buNone/>
            </a:pPr>
            <a:r>
              <a:rPr lang="en-US" sz="1600" dirty="0">
                <a:solidFill>
                  <a:srgbClr val="CFE3D4"/>
                </a:solidFill>
              </a:rPr>
              <a:t>Split one switched network into departments — STAFF, STUDENTS, FINANCE — and carry them all between switches over trunks. (Lab 2)</a:t>
            </a:r>
            <a:endParaRPr lang="en-US" sz="1600" dirty="0"/>
          </a:p>
        </p:txBody>
      </p:sp>
      <p:sp>
        <p:nvSpPr>
          <p:cNvPr id="5" name="Shape 3"/>
          <p:cNvSpPr/>
          <p:nvPr/>
        </p:nvSpPr>
        <p:spPr>
          <a:xfrm>
            <a:off x="7452360" y="1425258"/>
            <a:ext cx="4187952" cy="4007485"/>
          </a:xfrm>
          <a:prstGeom prst="roundRect">
            <a:avLst>
              <a:gd name="adj" fmla="val 2282"/>
            </a:avLst>
          </a:prstGeom>
          <a:solidFill>
            <a:srgbClr val="1B2B22">
              <a:alpha val="75000"/>
            </a:srgbClr>
          </a:solidFill>
          <a:ln w="12700">
            <a:solidFill>
              <a:srgbClr val="24663A"/>
            </a:solidFill>
            <a:prstDash val="solid"/>
          </a:ln>
        </p:spPr>
      </p:sp>
      <p:sp>
        <p:nvSpPr>
          <p:cNvPr id="6" name="Text 4"/>
          <p:cNvSpPr txBox="1"/>
          <p:nvPr/>
        </p:nvSpPr>
        <p:spPr>
          <a:xfrm>
            <a:off x="7726680" y="1681290"/>
            <a:ext cx="3639312" cy="320040"/>
          </a:xfrm>
          <a:prstGeom prst="rect">
            <a:avLst/>
          </a:prstGeom>
          <a:noFill/>
          <a:ln/>
        </p:spPr>
        <p:txBody>
          <a:bodyPr wrap="square" lIns="0" tIns="0" rIns="0" bIns="0" rtlCol="0" anchor="ctr"/>
          <a:lstStyle/>
          <a:p>
            <a:pPr indent="0" marL="0">
              <a:buNone/>
            </a:pPr>
            <a:r>
              <a:rPr lang="en-US" sz="1500" b="1" dirty="0">
                <a:solidFill>
                  <a:srgbClr val="E8B92E"/>
                </a:solidFill>
              </a:rPr>
              <a:t>In this part, learn how to:</a:t>
            </a:r>
            <a:endParaRPr lang="en-US" sz="1500" dirty="0"/>
          </a:p>
        </p:txBody>
      </p:sp>
      <p:sp>
        <p:nvSpPr>
          <p:cNvPr id="7" name="Text 5"/>
          <p:cNvSpPr txBox="1"/>
          <p:nvPr/>
        </p:nvSpPr>
        <p:spPr>
          <a:xfrm>
            <a:off x="7726680" y="2156778"/>
            <a:ext cx="3730752" cy="3093085"/>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FFFFFF"/>
                </a:solidFill>
              </a:rPr>
              <a:t>understand VLANs before you configure</a:t>
            </a:r>
            <a:endParaRPr lang="en-US" sz="1500" dirty="0"/>
          </a:p>
          <a:p>
            <a:pPr marL="203200" indent="-203200">
              <a:spcAft>
                <a:spcPts val="800"/>
              </a:spcAft>
              <a:buSzPct val="100000"/>
              <a:buChar char="•"/>
            </a:pPr>
            <a:r>
              <a:rPr lang="en-US" sz="1500" dirty="0">
                <a:solidFill>
                  <a:srgbClr val="FFFFFF"/>
                </a:solidFill>
              </a:rPr>
              <a:t>plan the VLAN lab</a:t>
            </a:r>
            <a:endParaRPr lang="en-US" sz="1500" dirty="0"/>
          </a:p>
          <a:p>
            <a:pPr marL="203200" indent="-203200">
              <a:spcAft>
                <a:spcPts val="800"/>
              </a:spcAft>
              <a:buSzPct val="100000"/>
              <a:buChar char="•"/>
            </a:pPr>
            <a:r>
              <a:rPr lang="en-US" sz="1500" dirty="0">
                <a:solidFill>
                  <a:srgbClr val="FFFFFF"/>
                </a:solidFill>
              </a:rPr>
              <a:t>create and name VLANs</a:t>
            </a:r>
            <a:endParaRPr lang="en-US" sz="1500" dirty="0"/>
          </a:p>
          <a:p>
            <a:pPr marL="203200" indent="-203200">
              <a:spcAft>
                <a:spcPts val="800"/>
              </a:spcAft>
              <a:buSzPct val="100000"/>
              <a:buChar char="•"/>
            </a:pPr>
            <a:r>
              <a:rPr lang="en-US" sz="1500" dirty="0">
                <a:solidFill>
                  <a:srgbClr val="FFFFFF"/>
                </a:solidFill>
              </a:rPr>
              <a:t>put ports into VLANs</a:t>
            </a:r>
            <a:endParaRPr lang="en-US" sz="1500" dirty="0"/>
          </a:p>
          <a:p>
            <a:pPr marL="203200" indent="-203200">
              <a:spcAft>
                <a:spcPts val="800"/>
              </a:spcAft>
              <a:buSzPct val="100000"/>
              <a:buChar char="•"/>
            </a:pPr>
            <a:r>
              <a:rPr lang="en-US" sz="1500" dirty="0">
                <a:solidFill>
                  <a:srgbClr val="FFFFFF"/>
                </a:solidFill>
              </a:rPr>
              <a:t>configure trunk links</a:t>
            </a:r>
            <a:endParaRPr lang="en-US" sz="1500" dirty="0"/>
          </a:p>
          <a:p>
            <a:pPr marL="203200" indent="-203200">
              <a:spcAft>
                <a:spcPts val="800"/>
              </a:spcAft>
              <a:buSzPct val="100000"/>
              <a:buChar char="•"/>
            </a:pPr>
            <a:r>
              <a:rPr lang="en-US" sz="1500" dirty="0">
                <a:solidFill>
                  <a:srgbClr val="FFFFFF"/>
                </a:solidFill>
              </a:rPr>
              <a:t>manage a switch through VLAN 99</a:t>
            </a:r>
            <a:endParaRPr lang="en-US" sz="1500" dirty="0"/>
          </a:p>
          <a:p>
            <a:pPr marL="203200" indent="-203200">
              <a:spcAft>
                <a:spcPts val="800"/>
              </a:spcAft>
              <a:buSzPct val="100000"/>
              <a:buChar char="•"/>
            </a:pPr>
            <a:r>
              <a:rPr lang="en-US" sz="1500" dirty="0">
                <a:solidFill>
                  <a:srgbClr val="FFFFFF"/>
                </a:solidFill>
              </a:rPr>
              <a:t>check VLANs and trunks</a:t>
            </a:r>
            <a:endParaRPr lang="en-US" sz="1500" dirty="0"/>
          </a:p>
          <a:p>
            <a:pPr marL="203200" indent="-203200">
              <a:spcAft>
                <a:spcPts val="800"/>
              </a:spcAft>
              <a:buSzPct val="100000"/>
              <a:buChar char="•"/>
            </a:pPr>
            <a:r>
              <a:rPr lang="en-US" sz="1500" dirty="0">
                <a:solidFill>
                  <a:srgbClr val="FFFFFF"/>
                </a:solidFill>
              </a:rPr>
              <a:t>change VLANs safely</a:t>
            </a:r>
            <a:endParaRPr lang="en-US" sz="1500" dirty="0"/>
          </a:p>
        </p:txBody>
      </p:sp>
      <p:sp>
        <p:nvSpPr>
          <p:cNvPr id="8" name="Shape 6"/>
          <p:cNvSpPr/>
          <p:nvPr/>
        </p:nvSpPr>
        <p:spPr>
          <a:xfrm>
            <a:off x="548640" y="5989320"/>
            <a:ext cx="914400" cy="566928"/>
          </a:xfrm>
          <a:prstGeom prst="roundRect">
            <a:avLst>
              <a:gd name="adj" fmla="val 9677"/>
            </a:avLst>
          </a:prstGeom>
          <a:solidFill>
            <a:srgbClr val="FFFFFF"/>
          </a:solidFill>
          <a:ln/>
        </p:spPr>
      </p:sp>
      <p:pic>
        <p:nvPicPr>
          <p:cNvPr id="9" name="Image 0" descr="Kabete National Polytechnic logo">    </p:cNvPr>
          <p:cNvPicPr>
            <a:picLocks noChangeAspect="1"/>
          </p:cNvPicPr>
          <p:nvPr/>
        </p:nvPicPr>
        <p:blipFill>
          <a:blip r:embed="rId1"/>
          <a:stretch>
            <a:fillRect/>
          </a:stretch>
        </p:blipFill>
        <p:spPr>
          <a:xfrm>
            <a:off x="594360" y="6022175"/>
            <a:ext cx="822960" cy="501218"/>
          </a:xfrm>
          <a:prstGeom prst="rect">
            <a:avLst/>
          </a:prstGeom>
        </p:spPr>
      </p:pic>
      <p:pic>
        <p:nvPicPr>
          <p:cNvPr id="10" name="Home button" descr="Home: back to the workbook menu">
            <a:hlinkClick r:id="rId3" tooltip="Back to the workbook menu" action="ppaction://hlinksldjump"/>
          </p:cNvPr>
          <p:cNvPicPr>
            <a:picLocks noChangeAspect="1"/>
          </p:cNvPicPr>
          <p:nvPr/>
        </p:nvPicPr>
        <p:blipFill>
          <a:blip r:embed="rId2"/>
          <a:stretch>
            <a:fillRect/>
          </a:stretch>
        </p:blipFill>
        <p:spPr>
          <a:xfrm>
            <a:off x="11365992" y="6336792"/>
            <a:ext cx="365760" cy="365760"/>
          </a:xfrm>
          <a:prstGeom prst="rect">
            <a:avLst/>
          </a:prstGeom>
        </p:spPr>
      </p:pic>
      <p:sp>
        <p:nvSpPr>
          <p:cNvPr id="25" name="Slide Number Placeholder 0"/>
          <p:cNvSpPr>
            <a:spLocks noGrp="1"/>
          </p:cNvSpPr>
          <p:nvPr>
            <p:ph type="sldNum" sz="quarter" idx="4294967295"/>
          </p:nvPr>
        </p:nvSpPr>
        <p:spPr>
          <a:xfrm>
            <a:off x="10698480" y="6464808"/>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CFE3D4"/>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2" type="body" hasCustomPrompt="1"/>
          </p:nvPr>
        </p:nvSpPr>
        <p:spPr>
          <a:xfrm>
            <a:off x="548640" y="274320"/>
            <a:ext cx="9966960" cy="256032"/>
          </a:xfrm>
          <a:prstGeom prst="rect">
            <a:avLst/>
          </a:prstGeom>
          <a:noFill/>
          <a:ln/>
        </p:spPr>
        <p:txBody>
          <a:bodyPr wrap="square" lIns="0" tIns="0" rIns="0" bIns="0" rtlCol="0" anchor="ctr"/>
          <a:lstStyle/>
          <a:p>
            <a:pPr algn="l" indent="0" marL="0">
              <a:buNone/>
            </a:pPr>
            <a:r>
              <a:rPr lang="en-US" sz="1100" b="1" spc="100" kern="0" dirty="0">
                <a:solidFill>
                  <a:schemeClr val="accent2"/>
                </a:solidFill>
              </a:rPr>
              <a:t>04  •  VLANS &amp; TRUNKS</a:t>
            </a:r>
            <a:endParaRPr lang="en-US" sz="1100" dirty="0"/>
          </a:p>
        </p:txBody>
      </p:sp>
      <p:sp>
        <p:nvSpPr>
          <p:cNvPr id="3" name="Text 1"/>
          <p:cNvSpPr/>
          <p:nvPr>
            <p:ph idx="103" type="title" hasCustomPrompt="1"/>
          </p:nvPr>
        </p:nvSpPr>
        <p:spPr>
          <a:xfrm>
            <a:off x="548640" y="548640"/>
            <a:ext cx="10149840" cy="548640"/>
          </a:xfrm>
          <a:prstGeom prst="rect">
            <a:avLst/>
          </a:prstGeom>
          <a:noFill/>
          <a:ln/>
        </p:spPr>
        <p:txBody>
          <a:bodyPr wrap="square" lIns="0" tIns="0" rIns="0" bIns="0" rtlCol="0" anchor="ctr"/>
          <a:lstStyle/>
          <a:p>
            <a:pPr algn="l" indent="0" marL="0">
              <a:buNone/>
            </a:pPr>
            <a:r>
              <a:rPr lang="en-US" sz="2600" b="1" dirty="0">
                <a:solidFill>
                  <a:schemeClr val="accent1"/>
                </a:solidFill>
              </a:rPr>
              <a:t>How to understand VLANs before you configure them</a:t>
            </a:r>
            <a:endParaRPr lang="en-US" sz="2600" dirty="0"/>
          </a:p>
        </p:txBody>
      </p:sp>
      <p:pic>
        <p:nvPicPr>
          <p:cNvPr id="4" name="Home button" descr="Home: back to the workbook menu">
            <a:hlinkClick r:id="rId2" tooltip="Back to the workbook menu" action="ppaction://hlinksldjump"/>
          </p:cNvPr>
          <p:cNvPicPr>
            <a:picLocks noChangeAspect="1"/>
          </p:cNvPicPr>
          <p:nvPr/>
        </p:nvPicPr>
        <p:blipFill>
          <a:blip r:embed="rId1"/>
          <a:stretch>
            <a:fillRect/>
          </a:stretch>
        </p:blipFill>
        <p:spPr>
          <a:xfrm>
            <a:off x="11365992" y="6336792"/>
            <a:ext cx="365760" cy="365760"/>
          </a:xfrm>
          <a:prstGeom prst="rect">
            <a:avLst/>
          </a:prstGeom>
        </p:spPr>
      </p:pic>
      <p:sp>
        <p:nvSpPr>
          <p:cNvPr id="5" name="Goal"/>
          <p:cNvSpPr txBox="1"/>
          <p:nvPr/>
        </p:nvSpPr>
        <p:spPr>
          <a:xfrm>
            <a:off x="548640" y="1161288"/>
            <a:ext cx="11094415" cy="384048"/>
          </a:xfrm>
          <a:prstGeom prst="rect">
            <a:avLst/>
          </a:prstGeom>
          <a:noFill/>
          <a:ln/>
        </p:spPr>
        <p:txBody>
          <a:bodyPr wrap="square" lIns="0" tIns="0" rIns="0" bIns="0" rtlCol="0" anchor="ctr"/>
          <a:lstStyle/>
          <a:p>
            <a:pPr indent="0" marL="0">
              <a:buNone/>
            </a:pPr>
            <a:r>
              <a:rPr lang="en-US" sz="1400" b="1" dirty="0">
                <a:solidFill>
                  <a:srgbClr val="2B7043"/>
                </a:solidFill>
              </a:rPr>
              <a:t>Goal:  </a:t>
            </a:r>
            <a:r>
              <a:rPr lang="en-US" sz="1400" dirty="0">
                <a:solidFill>
                  <a:srgbClr val="2B2B2B"/>
                </a:solidFill>
              </a:rPr>
              <a:t>A VLAN turns one physical switch into several separate “rooms”, each with its own subnet.</a:t>
            </a:r>
            <a:endParaRPr lang="en-US" sz="1400" dirty="0"/>
          </a:p>
        </p:txBody>
      </p:sp>
      <p:sp>
        <p:nvSpPr>
          <p:cNvPr id="6" name="Card"/>
          <p:cNvSpPr/>
          <p:nvPr/>
        </p:nvSpPr>
        <p:spPr>
          <a:xfrm>
            <a:off x="548640" y="1691640"/>
            <a:ext cx="5257800" cy="3429000"/>
          </a:xfrm>
          <a:prstGeom prst="roundRect">
            <a:avLst>
              <a:gd name="adj" fmla="val 2133"/>
            </a:avLst>
          </a:prstGeom>
          <a:solidFill>
            <a:srgbClr val="F2F8F3"/>
          </a:solidFill>
          <a:ln w="12700">
            <a:solidFill>
              <a:srgbClr val="B7C9BA"/>
            </a:solidFill>
            <a:prstDash val="solid"/>
          </a:ln>
        </p:spPr>
      </p:sp>
      <p:sp>
        <p:nvSpPr>
          <p:cNvPr id="7" name="Text 4"/>
          <p:cNvSpPr txBox="1"/>
          <p:nvPr/>
        </p:nvSpPr>
        <p:spPr>
          <a:xfrm>
            <a:off x="694944" y="1794053"/>
            <a:ext cx="4965192" cy="3224174"/>
          </a:xfrm>
          <a:prstGeom prst="rect">
            <a:avLst/>
          </a:prstGeom>
          <a:noFill/>
          <a:ln/>
        </p:spPr>
        <p:txBody>
          <a:bodyPr wrap="square" lIns="0" tIns="0" rIns="0" bIns="0" rtlCol="0" anchor="t"/>
          <a:lstStyle/>
          <a:p>
            <a:pPr indent="0" marL="0">
              <a:spcAft>
                <a:spcPts val="400"/>
              </a:spcAft>
              <a:buNone/>
            </a:pPr>
            <a:r>
              <a:rPr lang="en-US" sz="1400" b="1" dirty="0">
                <a:solidFill>
                  <a:srgbClr val="2B2B2B"/>
                </a:solidFill>
              </a:rPr>
              <a:t>Without VLANs</a:t>
            </a:r>
            <a:r>
              <a:rPr lang="en-US" sz="1400" dirty="0">
                <a:solidFill>
                  <a:srgbClr val="2B2B2B"/>
                </a:solidFill>
              </a:rPr>
              <a:t>, a switch is one big room: a broadcast from any PC reaches every PC.</a:t>
            </a:r>
            <a:endParaRPr lang="en-US" sz="1400" dirty="0"/>
          </a:p>
          <a:p>
            <a:pPr indent="0" marL="0">
              <a:spcAft>
                <a:spcPts val="400"/>
              </a:spcAft>
              <a:buNone/>
            </a:pPr>
            <a:r>
              <a:rPr lang="en-US" sz="1400" b="1" dirty="0">
                <a:solidFill>
                  <a:srgbClr val="2B2B2B"/>
                </a:solidFill>
              </a:rPr>
              <a:t>VLANs make separate rooms.</a:t>
            </a:r>
            <a:r>
              <a:rPr lang="en-US" sz="1400" dirty="0">
                <a:solidFill>
                  <a:srgbClr val="2B2B2B"/>
                </a:solidFill>
              </a:rPr>
              <a:t> A port in VLAN 10 only talks to other VLAN 10 ports.</a:t>
            </a:r>
            <a:endParaRPr lang="en-US" sz="1400" dirty="0"/>
          </a:p>
          <a:p>
            <a:pPr indent="0" marL="0">
              <a:spcAft>
                <a:spcPts val="400"/>
              </a:spcAft>
              <a:buNone/>
            </a:pPr>
            <a:r>
              <a:rPr lang="en-US" sz="1400" b="1" dirty="0">
                <a:solidFill>
                  <a:srgbClr val="2B2B2B"/>
                </a:solidFill>
              </a:rPr>
              <a:t>One VLAN = one subnet.</a:t>
            </a:r>
            <a:r>
              <a:rPr lang="en-US" sz="1400" dirty="0">
                <a:solidFill>
                  <a:srgbClr val="2B2B2B"/>
                </a:solidFill>
              </a:rPr>
              <a:t> STAFF = 192.168.10.0/24, STUDENTS = 192.168.20.0/24.</a:t>
            </a:r>
            <a:endParaRPr lang="en-US" sz="1400" dirty="0"/>
          </a:p>
          <a:p>
            <a:pPr indent="0" marL="0">
              <a:spcAft>
                <a:spcPts val="400"/>
              </a:spcAft>
              <a:buNone/>
            </a:pPr>
            <a:r>
              <a:rPr lang="en-US" sz="1400" b="1" dirty="0">
                <a:solidFill>
                  <a:srgbClr val="2B2B2B"/>
                </a:solidFill>
              </a:rPr>
              <a:t>Access port</a:t>
            </a:r>
            <a:r>
              <a:rPr lang="en-US" sz="1400" dirty="0">
                <a:solidFill>
                  <a:srgbClr val="2B2B2B"/>
                </a:solidFill>
              </a:rPr>
              <a:t> — carries one VLAN; for a PC, printer or access point.</a:t>
            </a:r>
            <a:endParaRPr lang="en-US" sz="1400" dirty="0"/>
          </a:p>
          <a:p>
            <a:pPr indent="0" marL="0">
              <a:spcAft>
                <a:spcPts val="400"/>
              </a:spcAft>
              <a:buNone/>
            </a:pPr>
            <a:r>
              <a:rPr lang="en-US" sz="1400" b="1" dirty="0">
                <a:solidFill>
                  <a:srgbClr val="2B2B2B"/>
                </a:solidFill>
              </a:rPr>
              <a:t>Trunk port</a:t>
            </a:r>
            <a:r>
              <a:rPr lang="en-US" sz="1400" dirty="0">
                <a:solidFill>
                  <a:srgbClr val="2B2B2B"/>
                </a:solidFill>
              </a:rPr>
              <a:t> — carries many VLANs between switches (and to a router); each frame gets an 802.1Q tag with its VLAN number.</a:t>
            </a:r>
            <a:endParaRPr lang="en-US" sz="1400" dirty="0"/>
          </a:p>
          <a:p>
            <a:pPr indent="0" marL="0">
              <a:spcAft>
                <a:spcPts val="400"/>
              </a:spcAft>
              <a:buNone/>
            </a:pPr>
            <a:r>
              <a:rPr lang="en-US" sz="1400" b="1" dirty="0">
                <a:solidFill>
                  <a:srgbClr val="2B2B2B"/>
                </a:solidFill>
              </a:rPr>
              <a:t>Between VLANs you need a router</a:t>
            </a:r>
            <a:r>
              <a:rPr lang="en-US" sz="1400" dirty="0">
                <a:solidFill>
                  <a:srgbClr val="2B2B2B"/>
                </a:solidFill>
              </a:rPr>
              <a:t> or a Layer 3 switch (part 05).</a:t>
            </a:r>
            <a:endParaRPr lang="en-US" sz="1400" dirty="0"/>
          </a:p>
        </p:txBody>
      </p:sp>
      <p:sp>
        <p:nvSpPr>
          <p:cNvPr id="8" name="Card"/>
          <p:cNvSpPr/>
          <p:nvPr/>
        </p:nvSpPr>
        <p:spPr>
          <a:xfrm>
            <a:off x="548640" y="5257800"/>
            <a:ext cx="5257800" cy="960120"/>
          </a:xfrm>
          <a:prstGeom prst="roundRect">
            <a:avLst>
              <a:gd name="adj" fmla="val 7619"/>
            </a:avLst>
          </a:prstGeom>
          <a:solidFill>
            <a:srgbClr val="E6EEF8"/>
          </a:solidFill>
          <a:ln w="12700">
            <a:solidFill>
              <a:srgbClr val="B8C9E0"/>
            </a:solidFill>
            <a:prstDash val="solid"/>
          </a:ln>
        </p:spPr>
      </p:sp>
      <p:sp>
        <p:nvSpPr>
          <p:cNvPr id="9" name="Text 6"/>
          <p:cNvSpPr txBox="1"/>
          <p:nvPr/>
        </p:nvSpPr>
        <p:spPr>
          <a:xfrm>
            <a:off x="694944" y="5360213"/>
            <a:ext cx="4965192" cy="755294"/>
          </a:xfrm>
          <a:prstGeom prst="rect">
            <a:avLst/>
          </a:prstGeom>
          <a:noFill/>
          <a:ln/>
        </p:spPr>
        <p:txBody>
          <a:bodyPr wrap="square" lIns="0" tIns="0" rIns="0" bIns="0" rtlCol="0" anchor="t"/>
          <a:lstStyle/>
          <a:p>
            <a:pPr indent="0" marL="0">
              <a:buNone/>
            </a:pPr>
            <a:r>
              <a:rPr lang="en-US" sz="1400" b="1" dirty="0">
                <a:solidFill>
                  <a:srgbClr val="1F4E8C"/>
                </a:solidFill>
              </a:rPr>
              <a:t>Think of it like this</a:t>
            </a:r>
            <a:endParaRPr lang="en-US" sz="1300" dirty="0"/>
          </a:p>
          <a:p>
            <a:pPr indent="0" marL="0">
              <a:buNone/>
            </a:pPr>
            <a:r>
              <a:rPr lang="en-US" sz="1300" dirty="0">
                <a:solidFill>
                  <a:srgbClr val="2B2B2B"/>
                </a:solidFill>
              </a:rPr>
              <a:t>One building (switch), separate rooms (VLANs), one shared lift (trunk) that keeps everyone’s badge on (the tag).</a:t>
            </a:r>
            <a:endParaRPr lang="en-US" sz="1300" dirty="0"/>
          </a:p>
        </p:txBody>
      </p:sp>
      <p:sp>
        <p:nvSpPr>
          <p:cNvPr id="10" name="Shape 7"/>
          <p:cNvSpPr/>
          <p:nvPr/>
        </p:nvSpPr>
        <p:spPr>
          <a:xfrm>
            <a:off x="6949440" y="2331720"/>
            <a:ext cx="3383280" cy="914"/>
          </a:xfrm>
          <a:prstGeom prst="line">
            <a:avLst/>
          </a:prstGeom>
          <a:noFill/>
          <a:ln w="63500">
            <a:solidFill>
              <a:srgbClr val="1B2B22"/>
            </a:solidFill>
            <a:prstDash val="solid"/>
          </a:ln>
        </p:spPr>
      </p:sp>
      <p:sp>
        <p:nvSpPr>
          <p:cNvPr id="11" name="Text 8"/>
          <p:cNvSpPr txBox="1"/>
          <p:nvPr/>
        </p:nvSpPr>
        <p:spPr>
          <a:xfrm>
            <a:off x="7132320" y="1874520"/>
            <a:ext cx="3017520" cy="274320"/>
          </a:xfrm>
          <a:prstGeom prst="rect">
            <a:avLst/>
          </a:prstGeom>
          <a:noFill/>
          <a:ln/>
        </p:spPr>
        <p:txBody>
          <a:bodyPr wrap="square" lIns="0" tIns="0" rIns="0" bIns="0" rtlCol="0" anchor="ctr"/>
          <a:lstStyle/>
          <a:p>
            <a:pPr algn="ctr" indent="0" marL="0">
              <a:buNone/>
            </a:pPr>
            <a:r>
              <a:rPr lang="en-US" sz="1200" b="1" dirty="0">
                <a:solidFill>
                  <a:srgbClr val="1B2B22"/>
                </a:solidFill>
              </a:rPr>
              <a:t>TRUNK — carries VLAN 10, 20 and 30 (tagged)</a:t>
            </a:r>
            <a:endParaRPr lang="en-US" sz="1200" dirty="0"/>
          </a:p>
        </p:txBody>
      </p:sp>
      <p:sp>
        <p:nvSpPr>
          <p:cNvPr id="12" name="Shape 9"/>
          <p:cNvSpPr/>
          <p:nvPr/>
        </p:nvSpPr>
        <p:spPr>
          <a:xfrm flipH="1">
            <a:off x="6035040" y="2514600"/>
            <a:ext cx="914400" cy="1097280"/>
          </a:xfrm>
          <a:prstGeom prst="line">
            <a:avLst/>
          </a:prstGeom>
          <a:noFill/>
          <a:ln w="31750">
            <a:solidFill>
              <a:srgbClr val="2F855A"/>
            </a:solidFill>
            <a:prstDash val="solid"/>
          </a:ln>
        </p:spPr>
      </p:sp>
      <p:sp>
        <p:nvSpPr>
          <p:cNvPr id="13" name="Shape 10"/>
          <p:cNvSpPr/>
          <p:nvPr/>
        </p:nvSpPr>
        <p:spPr>
          <a:xfrm>
            <a:off x="6949440" y="2514600"/>
            <a:ext cx="914" cy="1097280"/>
          </a:xfrm>
          <a:prstGeom prst="line">
            <a:avLst/>
          </a:prstGeom>
          <a:noFill/>
          <a:ln w="31750">
            <a:solidFill>
              <a:srgbClr val="2B6CB0"/>
            </a:solidFill>
            <a:prstDash val="solid"/>
          </a:ln>
        </p:spPr>
      </p:sp>
      <p:sp>
        <p:nvSpPr>
          <p:cNvPr id="14" name="Shape 11"/>
          <p:cNvSpPr/>
          <p:nvPr/>
        </p:nvSpPr>
        <p:spPr>
          <a:xfrm>
            <a:off x="6949440" y="2514600"/>
            <a:ext cx="914400" cy="1097280"/>
          </a:xfrm>
          <a:prstGeom prst="line">
            <a:avLst/>
          </a:prstGeom>
          <a:noFill/>
          <a:ln w="31750">
            <a:solidFill>
              <a:srgbClr val="C05621"/>
            </a:solidFill>
            <a:prstDash val="solid"/>
          </a:ln>
        </p:spPr>
      </p:sp>
      <p:pic>
        <p:nvPicPr>
          <p:cNvPr id="15" name="Image 1" descr="S1">    </p:cNvPr>
          <p:cNvPicPr>
            <a:picLocks noChangeAspect="1"/>
          </p:cNvPicPr>
          <p:nvPr/>
        </p:nvPicPr>
        <p:blipFill>
          <a:blip r:embed="rId3"/>
          <a:stretch>
            <a:fillRect/>
          </a:stretch>
        </p:blipFill>
        <p:spPr>
          <a:xfrm>
            <a:off x="6592824" y="1975104"/>
            <a:ext cx="713232" cy="713232"/>
          </a:xfrm>
          <a:prstGeom prst="rect">
            <a:avLst/>
          </a:prstGeom>
        </p:spPr>
      </p:pic>
      <p:sp>
        <p:nvSpPr>
          <p:cNvPr id="16" name="Text 12"/>
          <p:cNvSpPr txBox="1"/>
          <p:nvPr/>
        </p:nvSpPr>
        <p:spPr>
          <a:xfrm>
            <a:off x="6217920" y="1792224"/>
            <a:ext cx="1463040" cy="274320"/>
          </a:xfrm>
          <a:prstGeom prst="rect">
            <a:avLst/>
          </a:prstGeom>
          <a:noFill/>
          <a:ln/>
        </p:spPr>
        <p:txBody>
          <a:bodyPr wrap="square" lIns="0" tIns="0" rIns="0" bIns="0" rtlCol="0" anchor="t"/>
          <a:lstStyle/>
          <a:p>
            <a:pPr algn="ctr" indent="0" marL="0">
              <a:buNone/>
            </a:pPr>
            <a:r>
              <a:rPr lang="en-US" sz="1200" b="1" dirty="0">
                <a:solidFill>
                  <a:srgbClr val="2B2B2B"/>
                </a:solidFill>
              </a:rPr>
              <a:t>S1</a:t>
            </a:r>
            <a:endParaRPr lang="en-US" sz="1200" dirty="0"/>
          </a:p>
        </p:txBody>
      </p:sp>
      <p:pic>
        <p:nvPicPr>
          <p:cNvPr id="17" name="Image 2" descr="VLAN 10">    </p:cNvPr>
          <p:cNvPicPr>
            <a:picLocks noChangeAspect="1"/>
          </p:cNvPicPr>
          <p:nvPr/>
        </p:nvPicPr>
        <p:blipFill>
          <a:blip r:embed="rId4"/>
          <a:stretch>
            <a:fillRect/>
          </a:stretch>
        </p:blipFill>
        <p:spPr>
          <a:xfrm>
            <a:off x="5783580" y="3634740"/>
            <a:ext cx="502920" cy="502920"/>
          </a:xfrm>
          <a:prstGeom prst="rect">
            <a:avLst/>
          </a:prstGeom>
        </p:spPr>
      </p:pic>
      <p:sp>
        <p:nvSpPr>
          <p:cNvPr id="18" name="Text 13"/>
          <p:cNvSpPr txBox="1"/>
          <p:nvPr/>
        </p:nvSpPr>
        <p:spPr>
          <a:xfrm>
            <a:off x="5577840" y="4119372"/>
            <a:ext cx="914400" cy="274320"/>
          </a:xfrm>
          <a:prstGeom prst="rect">
            <a:avLst/>
          </a:prstGeom>
          <a:noFill/>
          <a:ln/>
        </p:spPr>
        <p:txBody>
          <a:bodyPr wrap="square" lIns="0" tIns="0" rIns="0" bIns="0" rtlCol="0" anchor="t"/>
          <a:lstStyle/>
          <a:p>
            <a:pPr algn="ctr" indent="0" marL="0">
              <a:buNone/>
            </a:pPr>
            <a:r>
              <a:rPr lang="en-US" sz="1100" b="1" dirty="0">
                <a:solidFill>
                  <a:srgbClr val="2F855A"/>
                </a:solidFill>
              </a:rPr>
              <a:t>VLAN 10</a:t>
            </a:r>
            <a:endParaRPr lang="en-US" sz="1100" dirty="0"/>
          </a:p>
        </p:txBody>
      </p:sp>
      <p:pic>
        <p:nvPicPr>
          <p:cNvPr id="19" name="Image 3" descr="VLAN 20">    </p:cNvPr>
          <p:cNvPicPr>
            <a:picLocks noChangeAspect="1"/>
          </p:cNvPicPr>
          <p:nvPr/>
        </p:nvPicPr>
        <p:blipFill>
          <a:blip r:embed="rId5"/>
          <a:stretch>
            <a:fillRect/>
          </a:stretch>
        </p:blipFill>
        <p:spPr>
          <a:xfrm>
            <a:off x="6697980" y="3634740"/>
            <a:ext cx="502920" cy="502920"/>
          </a:xfrm>
          <a:prstGeom prst="rect">
            <a:avLst/>
          </a:prstGeom>
        </p:spPr>
      </p:pic>
      <p:sp>
        <p:nvSpPr>
          <p:cNvPr id="20" name="Text 14"/>
          <p:cNvSpPr txBox="1"/>
          <p:nvPr/>
        </p:nvSpPr>
        <p:spPr>
          <a:xfrm>
            <a:off x="6492240" y="4119372"/>
            <a:ext cx="914400" cy="274320"/>
          </a:xfrm>
          <a:prstGeom prst="rect">
            <a:avLst/>
          </a:prstGeom>
          <a:noFill/>
          <a:ln/>
        </p:spPr>
        <p:txBody>
          <a:bodyPr wrap="square" lIns="0" tIns="0" rIns="0" bIns="0" rtlCol="0" anchor="t"/>
          <a:lstStyle/>
          <a:p>
            <a:pPr algn="ctr" indent="0" marL="0">
              <a:buNone/>
            </a:pPr>
            <a:r>
              <a:rPr lang="en-US" sz="1100" b="1" dirty="0">
                <a:solidFill>
                  <a:srgbClr val="2B6CB0"/>
                </a:solidFill>
              </a:rPr>
              <a:t>VLAN 20</a:t>
            </a:r>
            <a:endParaRPr lang="en-US" sz="1100" dirty="0"/>
          </a:p>
        </p:txBody>
      </p:sp>
      <p:pic>
        <p:nvPicPr>
          <p:cNvPr id="21" name="Image 4" descr="VLAN 30">    </p:cNvPr>
          <p:cNvPicPr>
            <a:picLocks noChangeAspect="1"/>
          </p:cNvPicPr>
          <p:nvPr/>
        </p:nvPicPr>
        <p:blipFill>
          <a:blip r:embed="rId6"/>
          <a:stretch>
            <a:fillRect/>
          </a:stretch>
        </p:blipFill>
        <p:spPr>
          <a:xfrm>
            <a:off x="7612380" y="3634740"/>
            <a:ext cx="502920" cy="502920"/>
          </a:xfrm>
          <a:prstGeom prst="rect">
            <a:avLst/>
          </a:prstGeom>
        </p:spPr>
      </p:pic>
      <p:sp>
        <p:nvSpPr>
          <p:cNvPr id="22" name="Text 15"/>
          <p:cNvSpPr txBox="1"/>
          <p:nvPr/>
        </p:nvSpPr>
        <p:spPr>
          <a:xfrm>
            <a:off x="7406640" y="4119372"/>
            <a:ext cx="914400" cy="274320"/>
          </a:xfrm>
          <a:prstGeom prst="rect">
            <a:avLst/>
          </a:prstGeom>
          <a:noFill/>
          <a:ln/>
        </p:spPr>
        <p:txBody>
          <a:bodyPr wrap="square" lIns="0" tIns="0" rIns="0" bIns="0" rtlCol="0" anchor="t"/>
          <a:lstStyle/>
          <a:p>
            <a:pPr algn="ctr" indent="0" marL="0">
              <a:buNone/>
            </a:pPr>
            <a:r>
              <a:rPr lang="en-US" sz="1100" b="1" dirty="0">
                <a:solidFill>
                  <a:srgbClr val="C05621"/>
                </a:solidFill>
              </a:rPr>
              <a:t>VLAN 30</a:t>
            </a:r>
            <a:endParaRPr lang="en-US" sz="1100" dirty="0"/>
          </a:p>
        </p:txBody>
      </p:sp>
      <p:sp>
        <p:nvSpPr>
          <p:cNvPr id="23" name="Shape 16"/>
          <p:cNvSpPr/>
          <p:nvPr/>
        </p:nvSpPr>
        <p:spPr>
          <a:xfrm flipH="1">
            <a:off x="9418320" y="2514600"/>
            <a:ext cx="914400" cy="1097280"/>
          </a:xfrm>
          <a:prstGeom prst="line">
            <a:avLst/>
          </a:prstGeom>
          <a:noFill/>
          <a:ln w="31750">
            <a:solidFill>
              <a:srgbClr val="2F855A"/>
            </a:solidFill>
            <a:prstDash val="solid"/>
          </a:ln>
        </p:spPr>
      </p:sp>
      <p:sp>
        <p:nvSpPr>
          <p:cNvPr id="24" name="Shape 17"/>
          <p:cNvSpPr/>
          <p:nvPr/>
        </p:nvSpPr>
        <p:spPr>
          <a:xfrm>
            <a:off x="10332720" y="2514600"/>
            <a:ext cx="914" cy="1097280"/>
          </a:xfrm>
          <a:prstGeom prst="line">
            <a:avLst/>
          </a:prstGeom>
          <a:noFill/>
          <a:ln w="31750">
            <a:solidFill>
              <a:srgbClr val="2B6CB0"/>
            </a:solidFill>
            <a:prstDash val="solid"/>
          </a:ln>
        </p:spPr>
      </p:sp>
      <p:sp>
        <p:nvSpPr>
          <p:cNvPr id="25" name="Shape 18"/>
          <p:cNvSpPr/>
          <p:nvPr/>
        </p:nvSpPr>
        <p:spPr>
          <a:xfrm>
            <a:off x="10332720" y="2514600"/>
            <a:ext cx="914400" cy="1097280"/>
          </a:xfrm>
          <a:prstGeom prst="line">
            <a:avLst/>
          </a:prstGeom>
          <a:noFill/>
          <a:ln w="31750">
            <a:solidFill>
              <a:srgbClr val="C05621"/>
            </a:solidFill>
            <a:prstDash val="solid"/>
          </a:ln>
        </p:spPr>
      </p:sp>
      <p:pic>
        <p:nvPicPr>
          <p:cNvPr id="26" name="Image 5" descr="S2">    </p:cNvPr>
          <p:cNvPicPr>
            <a:picLocks noChangeAspect="1"/>
          </p:cNvPicPr>
          <p:nvPr/>
        </p:nvPicPr>
        <p:blipFill>
          <a:blip r:embed="rId7"/>
          <a:stretch>
            <a:fillRect/>
          </a:stretch>
        </p:blipFill>
        <p:spPr>
          <a:xfrm>
            <a:off x="9976104" y="1975104"/>
            <a:ext cx="713232" cy="713232"/>
          </a:xfrm>
          <a:prstGeom prst="rect">
            <a:avLst/>
          </a:prstGeom>
        </p:spPr>
      </p:pic>
      <p:sp>
        <p:nvSpPr>
          <p:cNvPr id="27" name="Text 19"/>
          <p:cNvSpPr txBox="1"/>
          <p:nvPr/>
        </p:nvSpPr>
        <p:spPr>
          <a:xfrm>
            <a:off x="9601200" y="1792224"/>
            <a:ext cx="1463040" cy="274320"/>
          </a:xfrm>
          <a:prstGeom prst="rect">
            <a:avLst/>
          </a:prstGeom>
          <a:noFill/>
          <a:ln/>
        </p:spPr>
        <p:txBody>
          <a:bodyPr wrap="square" lIns="0" tIns="0" rIns="0" bIns="0" rtlCol="0" anchor="t"/>
          <a:lstStyle/>
          <a:p>
            <a:pPr algn="ctr" indent="0" marL="0">
              <a:buNone/>
            </a:pPr>
            <a:r>
              <a:rPr lang="en-US" sz="1200" b="1" dirty="0">
                <a:solidFill>
                  <a:srgbClr val="2B2B2B"/>
                </a:solidFill>
              </a:rPr>
              <a:t>S2</a:t>
            </a:r>
            <a:endParaRPr lang="en-US" sz="1200" dirty="0"/>
          </a:p>
        </p:txBody>
      </p:sp>
      <p:pic>
        <p:nvPicPr>
          <p:cNvPr id="28" name="Image 6" descr="VLAN 10">    </p:cNvPr>
          <p:cNvPicPr>
            <a:picLocks noChangeAspect="1"/>
          </p:cNvPicPr>
          <p:nvPr/>
        </p:nvPicPr>
        <p:blipFill>
          <a:blip r:embed="rId8"/>
          <a:stretch>
            <a:fillRect/>
          </a:stretch>
        </p:blipFill>
        <p:spPr>
          <a:xfrm>
            <a:off x="9166860" y="3634740"/>
            <a:ext cx="502920" cy="502920"/>
          </a:xfrm>
          <a:prstGeom prst="rect">
            <a:avLst/>
          </a:prstGeom>
        </p:spPr>
      </p:pic>
      <p:sp>
        <p:nvSpPr>
          <p:cNvPr id="29" name="Text 20"/>
          <p:cNvSpPr txBox="1"/>
          <p:nvPr/>
        </p:nvSpPr>
        <p:spPr>
          <a:xfrm>
            <a:off x="8961120" y="4119372"/>
            <a:ext cx="914400" cy="274320"/>
          </a:xfrm>
          <a:prstGeom prst="rect">
            <a:avLst/>
          </a:prstGeom>
          <a:noFill/>
          <a:ln/>
        </p:spPr>
        <p:txBody>
          <a:bodyPr wrap="square" lIns="0" tIns="0" rIns="0" bIns="0" rtlCol="0" anchor="t"/>
          <a:lstStyle/>
          <a:p>
            <a:pPr algn="ctr" indent="0" marL="0">
              <a:buNone/>
            </a:pPr>
            <a:r>
              <a:rPr lang="en-US" sz="1100" b="1" dirty="0">
                <a:solidFill>
                  <a:srgbClr val="2F855A"/>
                </a:solidFill>
              </a:rPr>
              <a:t>VLAN 10</a:t>
            </a:r>
            <a:endParaRPr lang="en-US" sz="1100" dirty="0"/>
          </a:p>
        </p:txBody>
      </p:sp>
      <p:pic>
        <p:nvPicPr>
          <p:cNvPr id="30" name="Image 7" descr="VLAN 20">    </p:cNvPr>
          <p:cNvPicPr>
            <a:picLocks noChangeAspect="1"/>
          </p:cNvPicPr>
          <p:nvPr/>
        </p:nvPicPr>
        <p:blipFill>
          <a:blip r:embed="rId9"/>
          <a:stretch>
            <a:fillRect/>
          </a:stretch>
        </p:blipFill>
        <p:spPr>
          <a:xfrm>
            <a:off x="10081260" y="3634740"/>
            <a:ext cx="502920" cy="502920"/>
          </a:xfrm>
          <a:prstGeom prst="rect">
            <a:avLst/>
          </a:prstGeom>
        </p:spPr>
      </p:pic>
      <p:sp>
        <p:nvSpPr>
          <p:cNvPr id="31" name="Text 21"/>
          <p:cNvSpPr txBox="1"/>
          <p:nvPr/>
        </p:nvSpPr>
        <p:spPr>
          <a:xfrm>
            <a:off x="9875520" y="4119372"/>
            <a:ext cx="914400" cy="274320"/>
          </a:xfrm>
          <a:prstGeom prst="rect">
            <a:avLst/>
          </a:prstGeom>
          <a:noFill/>
          <a:ln/>
        </p:spPr>
        <p:txBody>
          <a:bodyPr wrap="square" lIns="0" tIns="0" rIns="0" bIns="0" rtlCol="0" anchor="t"/>
          <a:lstStyle/>
          <a:p>
            <a:pPr algn="ctr" indent="0" marL="0">
              <a:buNone/>
            </a:pPr>
            <a:r>
              <a:rPr lang="en-US" sz="1100" b="1" dirty="0">
                <a:solidFill>
                  <a:srgbClr val="2B6CB0"/>
                </a:solidFill>
              </a:rPr>
              <a:t>VLAN 20</a:t>
            </a:r>
            <a:endParaRPr lang="en-US" sz="1100" dirty="0"/>
          </a:p>
        </p:txBody>
      </p:sp>
      <p:pic>
        <p:nvPicPr>
          <p:cNvPr id="32" name="Image 8" descr="VLAN 30">    </p:cNvPr>
          <p:cNvPicPr>
            <a:picLocks noChangeAspect="1"/>
          </p:cNvPicPr>
          <p:nvPr/>
        </p:nvPicPr>
        <p:blipFill>
          <a:blip r:embed="rId10"/>
          <a:stretch>
            <a:fillRect/>
          </a:stretch>
        </p:blipFill>
        <p:spPr>
          <a:xfrm>
            <a:off x="10995660" y="3634740"/>
            <a:ext cx="502920" cy="502920"/>
          </a:xfrm>
          <a:prstGeom prst="rect">
            <a:avLst/>
          </a:prstGeom>
        </p:spPr>
      </p:pic>
      <p:sp>
        <p:nvSpPr>
          <p:cNvPr id="33" name="Text 22"/>
          <p:cNvSpPr txBox="1"/>
          <p:nvPr/>
        </p:nvSpPr>
        <p:spPr>
          <a:xfrm>
            <a:off x="10789920" y="4119372"/>
            <a:ext cx="914400" cy="274320"/>
          </a:xfrm>
          <a:prstGeom prst="rect">
            <a:avLst/>
          </a:prstGeom>
          <a:noFill/>
          <a:ln/>
        </p:spPr>
        <p:txBody>
          <a:bodyPr wrap="square" lIns="0" tIns="0" rIns="0" bIns="0" rtlCol="0" anchor="t"/>
          <a:lstStyle/>
          <a:p>
            <a:pPr algn="ctr" indent="0" marL="0">
              <a:buNone/>
            </a:pPr>
            <a:r>
              <a:rPr lang="en-US" sz="1100" b="1" dirty="0">
                <a:solidFill>
                  <a:srgbClr val="C05621"/>
                </a:solidFill>
              </a:rPr>
              <a:t>VLAN 30</a:t>
            </a:r>
            <a:endParaRPr lang="en-US" sz="1100" dirty="0"/>
          </a:p>
        </p:txBody>
      </p:sp>
      <p:sp>
        <p:nvSpPr>
          <p:cNvPr id="34" name="Text 23"/>
          <p:cNvSpPr txBox="1"/>
          <p:nvPr/>
        </p:nvSpPr>
        <p:spPr>
          <a:xfrm>
            <a:off x="6400800" y="4800600"/>
            <a:ext cx="2743200" cy="274320"/>
          </a:xfrm>
          <a:prstGeom prst="rect">
            <a:avLst/>
          </a:prstGeom>
          <a:noFill/>
          <a:ln/>
        </p:spPr>
        <p:txBody>
          <a:bodyPr wrap="square" lIns="0" tIns="0" rIns="0" bIns="0" rtlCol="0" anchor="ctr"/>
          <a:lstStyle/>
          <a:p>
            <a:pPr indent="0" marL="0">
              <a:buNone/>
            </a:pPr>
            <a:r>
              <a:rPr lang="en-US" sz="1200" b="1" dirty="0">
                <a:solidFill>
                  <a:srgbClr val="2B2B2B"/>
                </a:solidFill>
              </a:rPr>
              <a:t>A frame on the trunk:</a:t>
            </a:r>
            <a:endParaRPr lang="en-US" sz="1200" dirty="0"/>
          </a:p>
        </p:txBody>
      </p:sp>
      <p:sp>
        <p:nvSpPr>
          <p:cNvPr id="35" name="Shape 24"/>
          <p:cNvSpPr/>
          <p:nvPr/>
        </p:nvSpPr>
        <p:spPr>
          <a:xfrm>
            <a:off x="6400800" y="5120640"/>
            <a:ext cx="960120" cy="411480"/>
          </a:xfrm>
          <a:prstGeom prst="rect">
            <a:avLst/>
          </a:prstGeom>
          <a:solidFill>
            <a:srgbClr val="E8F1EA"/>
          </a:solidFill>
          <a:ln w="12700">
            <a:solidFill>
              <a:srgbClr val="B7C9BA"/>
            </a:solidFill>
            <a:prstDash val="solid"/>
          </a:ln>
        </p:spPr>
      </p:sp>
      <p:sp>
        <p:nvSpPr>
          <p:cNvPr id="36" name="Text 25"/>
          <p:cNvSpPr txBox="1"/>
          <p:nvPr/>
        </p:nvSpPr>
        <p:spPr>
          <a:xfrm>
            <a:off x="6400800" y="5120640"/>
            <a:ext cx="960120" cy="411480"/>
          </a:xfrm>
          <a:prstGeom prst="rect">
            <a:avLst/>
          </a:prstGeom>
          <a:noFill/>
          <a:ln/>
        </p:spPr>
        <p:txBody>
          <a:bodyPr wrap="square" lIns="0" tIns="0" rIns="0" bIns="0" rtlCol="0" anchor="ctr"/>
          <a:lstStyle/>
          <a:p>
            <a:pPr algn="ctr" indent="0" marL="0">
              <a:buNone/>
            </a:pPr>
            <a:r>
              <a:rPr lang="en-US" sz="1100" dirty="0">
                <a:solidFill>
                  <a:srgbClr val="1B2B22"/>
                </a:solidFill>
              </a:rPr>
              <a:t>Dest MAC</a:t>
            </a:r>
            <a:endParaRPr lang="en-US" sz="1100" dirty="0"/>
          </a:p>
        </p:txBody>
      </p:sp>
      <p:sp>
        <p:nvSpPr>
          <p:cNvPr id="37" name="Shape 26"/>
          <p:cNvSpPr/>
          <p:nvPr/>
        </p:nvSpPr>
        <p:spPr>
          <a:xfrm>
            <a:off x="7360920" y="5120640"/>
            <a:ext cx="914400" cy="411480"/>
          </a:xfrm>
          <a:prstGeom prst="rect">
            <a:avLst/>
          </a:prstGeom>
          <a:solidFill>
            <a:srgbClr val="E8F1EA"/>
          </a:solidFill>
          <a:ln w="12700">
            <a:solidFill>
              <a:srgbClr val="B7C9BA"/>
            </a:solidFill>
            <a:prstDash val="solid"/>
          </a:ln>
        </p:spPr>
      </p:sp>
      <p:sp>
        <p:nvSpPr>
          <p:cNvPr id="38" name="Text 27"/>
          <p:cNvSpPr txBox="1"/>
          <p:nvPr/>
        </p:nvSpPr>
        <p:spPr>
          <a:xfrm>
            <a:off x="7360920" y="5120640"/>
            <a:ext cx="914400" cy="411480"/>
          </a:xfrm>
          <a:prstGeom prst="rect">
            <a:avLst/>
          </a:prstGeom>
          <a:noFill/>
          <a:ln/>
        </p:spPr>
        <p:txBody>
          <a:bodyPr wrap="square" lIns="0" tIns="0" rIns="0" bIns="0" rtlCol="0" anchor="ctr"/>
          <a:lstStyle/>
          <a:p>
            <a:pPr algn="ctr" indent="0" marL="0">
              <a:buNone/>
            </a:pPr>
            <a:r>
              <a:rPr lang="en-US" sz="1100" dirty="0">
                <a:solidFill>
                  <a:srgbClr val="1B2B22"/>
                </a:solidFill>
              </a:rPr>
              <a:t>Src MAC</a:t>
            </a:r>
            <a:endParaRPr lang="en-US" sz="1100" dirty="0"/>
          </a:p>
        </p:txBody>
      </p:sp>
      <p:sp>
        <p:nvSpPr>
          <p:cNvPr id="39" name="Shape 28"/>
          <p:cNvSpPr/>
          <p:nvPr/>
        </p:nvSpPr>
        <p:spPr>
          <a:xfrm>
            <a:off x="8275320" y="5120640"/>
            <a:ext cx="1691640" cy="411480"/>
          </a:xfrm>
          <a:prstGeom prst="rect">
            <a:avLst/>
          </a:prstGeom>
          <a:solidFill>
            <a:srgbClr val="E8B92E"/>
          </a:solidFill>
          <a:ln w="12700">
            <a:solidFill>
              <a:srgbClr val="B7C9BA"/>
            </a:solidFill>
            <a:prstDash val="solid"/>
          </a:ln>
        </p:spPr>
      </p:sp>
      <p:sp>
        <p:nvSpPr>
          <p:cNvPr id="40" name="Text 29"/>
          <p:cNvSpPr txBox="1"/>
          <p:nvPr/>
        </p:nvSpPr>
        <p:spPr>
          <a:xfrm>
            <a:off x="8275320" y="5120640"/>
            <a:ext cx="1691640" cy="411480"/>
          </a:xfrm>
          <a:prstGeom prst="rect">
            <a:avLst/>
          </a:prstGeom>
          <a:noFill/>
          <a:ln/>
        </p:spPr>
        <p:txBody>
          <a:bodyPr wrap="square" lIns="0" tIns="0" rIns="0" bIns="0" rtlCol="0" anchor="ctr"/>
          <a:lstStyle/>
          <a:p>
            <a:pPr algn="ctr" indent="0" marL="0">
              <a:buNone/>
            </a:pPr>
            <a:r>
              <a:rPr lang="en-US" sz="1100" b="1" dirty="0">
                <a:solidFill>
                  <a:srgbClr val="1B2B22"/>
                </a:solidFill>
              </a:rPr>
              <a:t>802.1Q tag: VLAN 10</a:t>
            </a:r>
            <a:endParaRPr lang="en-US" sz="1100" dirty="0"/>
          </a:p>
        </p:txBody>
      </p:sp>
      <p:sp>
        <p:nvSpPr>
          <p:cNvPr id="41" name="Shape 30"/>
          <p:cNvSpPr/>
          <p:nvPr/>
        </p:nvSpPr>
        <p:spPr>
          <a:xfrm>
            <a:off x="9966960" y="5120640"/>
            <a:ext cx="914400" cy="411480"/>
          </a:xfrm>
          <a:prstGeom prst="rect">
            <a:avLst/>
          </a:prstGeom>
          <a:solidFill>
            <a:srgbClr val="E8F1EA"/>
          </a:solidFill>
          <a:ln w="12700">
            <a:solidFill>
              <a:srgbClr val="B7C9BA"/>
            </a:solidFill>
            <a:prstDash val="solid"/>
          </a:ln>
        </p:spPr>
      </p:sp>
      <p:sp>
        <p:nvSpPr>
          <p:cNvPr id="42" name="Text 31"/>
          <p:cNvSpPr txBox="1"/>
          <p:nvPr/>
        </p:nvSpPr>
        <p:spPr>
          <a:xfrm>
            <a:off x="9966960" y="5120640"/>
            <a:ext cx="914400" cy="411480"/>
          </a:xfrm>
          <a:prstGeom prst="rect">
            <a:avLst/>
          </a:prstGeom>
          <a:noFill/>
          <a:ln/>
        </p:spPr>
        <p:txBody>
          <a:bodyPr wrap="square" lIns="0" tIns="0" rIns="0" bIns="0" rtlCol="0" anchor="ctr"/>
          <a:lstStyle/>
          <a:p>
            <a:pPr algn="ctr" indent="0" marL="0">
              <a:buNone/>
            </a:pPr>
            <a:r>
              <a:rPr lang="en-US" sz="1100" dirty="0">
                <a:solidFill>
                  <a:srgbClr val="1B2B22"/>
                </a:solidFill>
              </a:rPr>
              <a:t>Data</a:t>
            </a:r>
            <a:endParaRPr lang="en-US" sz="1100" dirty="0"/>
          </a:p>
        </p:txBody>
      </p:sp>
      <p:sp>
        <p:nvSpPr>
          <p:cNvPr id="43" name="Text 32"/>
          <p:cNvSpPr txBox="1"/>
          <p:nvPr/>
        </p:nvSpPr>
        <p:spPr>
          <a:xfrm>
            <a:off x="6400800" y="5577840"/>
            <a:ext cx="5257800" cy="502920"/>
          </a:xfrm>
          <a:prstGeom prst="rect">
            <a:avLst/>
          </a:prstGeom>
          <a:noFill/>
          <a:ln/>
        </p:spPr>
        <p:txBody>
          <a:bodyPr wrap="square" lIns="0" tIns="0" rIns="0" bIns="0" rtlCol="0" anchor="t"/>
          <a:lstStyle/>
          <a:p>
            <a:pPr indent="0" marL="0">
              <a:buNone/>
            </a:pPr>
            <a:r>
              <a:rPr lang="en-US" sz="1200" dirty="0">
                <a:solidFill>
                  <a:srgbClr val="6B6B6B"/>
                </a:solidFill>
              </a:rPr>
              <a:t>The receiving switch reads the tag, removes it and delivers the frame only to VLAN 10 ports.</a:t>
            </a:r>
            <a:endParaRPr lang="en-US" sz="1200" dirty="0"/>
          </a:p>
        </p:txBody>
      </p:sp>
      <p:sp>
        <p:nvSpPr>
          <p:cNvPr id="44" name="Slide Number Placeholder 0"/>
          <p:cNvSpPr>
            <a:spLocks noGrp="1"/>
          </p:cNvSpPr>
          <p:nvPr>
            <p:ph type="sldNum" sz="quarter" idx="4294967295"/>
          </p:nvPr>
        </p:nvSpPr>
        <p:spPr>
          <a:xfrm>
            <a:off x="10698480" y="6464808"/>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2" type="body" hasCustomPrompt="1"/>
          </p:nvPr>
        </p:nvSpPr>
        <p:spPr>
          <a:xfrm>
            <a:off x="548640" y="274320"/>
            <a:ext cx="9966960" cy="256032"/>
          </a:xfrm>
          <a:prstGeom prst="rect">
            <a:avLst/>
          </a:prstGeom>
          <a:noFill/>
          <a:ln/>
        </p:spPr>
        <p:txBody>
          <a:bodyPr wrap="square" lIns="0" tIns="0" rIns="0" bIns="0" rtlCol="0" anchor="ctr"/>
          <a:lstStyle/>
          <a:p>
            <a:pPr algn="l" indent="0" marL="0">
              <a:buNone/>
            </a:pPr>
            <a:r>
              <a:rPr lang="en-US" sz="1100" b="1" spc="100" kern="0" dirty="0">
                <a:solidFill>
                  <a:schemeClr val="accent2"/>
                </a:solidFill>
              </a:rPr>
              <a:t>04  •  VLANS &amp; TRUNKS  •  LAB 2</a:t>
            </a:r>
            <a:endParaRPr lang="en-US" sz="1100" dirty="0"/>
          </a:p>
        </p:txBody>
      </p:sp>
      <p:sp>
        <p:nvSpPr>
          <p:cNvPr id="3" name="Text 1"/>
          <p:cNvSpPr/>
          <p:nvPr>
            <p:ph idx="103" type="title" hasCustomPrompt="1"/>
          </p:nvPr>
        </p:nvSpPr>
        <p:spPr>
          <a:xfrm>
            <a:off x="548640" y="548640"/>
            <a:ext cx="10149840" cy="548640"/>
          </a:xfrm>
          <a:prstGeom prst="rect">
            <a:avLst/>
          </a:prstGeom>
          <a:noFill/>
          <a:ln/>
        </p:spPr>
        <p:txBody>
          <a:bodyPr wrap="square" lIns="0" tIns="0" rIns="0" bIns="0" rtlCol="0" anchor="ctr"/>
          <a:lstStyle/>
          <a:p>
            <a:pPr algn="l" indent="0" marL="0">
              <a:buNone/>
            </a:pPr>
            <a:r>
              <a:rPr lang="en-US" sz="2600" b="1" dirty="0">
                <a:solidFill>
                  <a:schemeClr val="accent1"/>
                </a:solidFill>
              </a:rPr>
              <a:t>How to plan the VLAN lab (Lab 2 topology)</a:t>
            </a:r>
            <a:endParaRPr lang="en-US" sz="2600" dirty="0"/>
          </a:p>
        </p:txBody>
      </p:sp>
      <p:pic>
        <p:nvPicPr>
          <p:cNvPr id="4" name="Home button" descr="Home: back to the workbook menu">
            <a:hlinkClick r:id="rId2" tooltip="Back to the workbook menu" action="ppaction://hlinksldjump"/>
          </p:cNvPr>
          <p:cNvPicPr>
            <a:picLocks noChangeAspect="1"/>
          </p:cNvPicPr>
          <p:nvPr/>
        </p:nvPicPr>
        <p:blipFill>
          <a:blip r:embed="rId1"/>
          <a:stretch>
            <a:fillRect/>
          </a:stretch>
        </p:blipFill>
        <p:spPr>
          <a:xfrm>
            <a:off x="11365992" y="6336792"/>
            <a:ext cx="365760" cy="365760"/>
          </a:xfrm>
          <a:prstGeom prst="rect">
            <a:avLst/>
          </a:prstGeom>
        </p:spPr>
      </p:pic>
      <p:sp>
        <p:nvSpPr>
          <p:cNvPr id="5" name="Goal"/>
          <p:cNvSpPr txBox="1"/>
          <p:nvPr/>
        </p:nvSpPr>
        <p:spPr>
          <a:xfrm>
            <a:off x="548640" y="1161288"/>
            <a:ext cx="11094415" cy="384048"/>
          </a:xfrm>
          <a:prstGeom prst="rect">
            <a:avLst/>
          </a:prstGeom>
          <a:noFill/>
          <a:ln/>
        </p:spPr>
        <p:txBody>
          <a:bodyPr wrap="square" lIns="0" tIns="0" rIns="0" bIns="0" rtlCol="0" anchor="ctr"/>
          <a:lstStyle/>
          <a:p>
            <a:pPr indent="0" marL="0">
              <a:buNone/>
            </a:pPr>
            <a:r>
              <a:rPr lang="en-US" sz="1400" b="1" dirty="0">
                <a:solidFill>
                  <a:srgbClr val="2B7043"/>
                </a:solidFill>
              </a:rPr>
              <a:t>Goal:  </a:t>
            </a:r>
            <a:r>
              <a:rPr lang="en-US" sz="1400" dirty="0">
                <a:solidFill>
                  <a:srgbClr val="2B2B2B"/>
                </a:solidFill>
              </a:rPr>
              <a:t>Plan before you type: every VLAN gets a number, a name, a set of ports and its own subnet.</a:t>
            </a:r>
            <a:endParaRPr lang="en-US" sz="1400" dirty="0"/>
          </a:p>
        </p:txBody>
      </p:sp>
      <p:sp>
        <p:nvSpPr>
          <p:cNvPr id="6" name="Shape 3"/>
          <p:cNvSpPr/>
          <p:nvPr/>
        </p:nvSpPr>
        <p:spPr>
          <a:xfrm flipH="1">
            <a:off x="1783080" y="1965960"/>
            <a:ext cx="1325880" cy="1325880"/>
          </a:xfrm>
          <a:prstGeom prst="line">
            <a:avLst/>
          </a:prstGeom>
          <a:noFill/>
          <a:ln w="50800">
            <a:solidFill>
              <a:srgbClr val="1B2B22"/>
            </a:solidFill>
            <a:prstDash val="solid"/>
          </a:ln>
        </p:spPr>
      </p:sp>
      <p:sp>
        <p:nvSpPr>
          <p:cNvPr id="7" name="Shape 4"/>
          <p:cNvSpPr/>
          <p:nvPr/>
        </p:nvSpPr>
        <p:spPr>
          <a:xfrm>
            <a:off x="1783080" y="3291840"/>
            <a:ext cx="2651760" cy="914"/>
          </a:xfrm>
          <a:prstGeom prst="line">
            <a:avLst/>
          </a:prstGeom>
          <a:noFill/>
          <a:ln w="50800">
            <a:solidFill>
              <a:srgbClr val="1B2B22"/>
            </a:solidFill>
            <a:prstDash val="solid"/>
          </a:ln>
        </p:spPr>
      </p:sp>
      <p:sp>
        <p:nvSpPr>
          <p:cNvPr id="8" name="Shape 5"/>
          <p:cNvSpPr/>
          <p:nvPr/>
        </p:nvSpPr>
        <p:spPr>
          <a:xfrm flipH="1">
            <a:off x="914400" y="3474720"/>
            <a:ext cx="868680" cy="914400"/>
          </a:xfrm>
          <a:prstGeom prst="line">
            <a:avLst/>
          </a:prstGeom>
          <a:noFill/>
          <a:ln w="31750">
            <a:solidFill>
              <a:srgbClr val="2F855A"/>
            </a:solidFill>
            <a:prstDash val="solid"/>
          </a:ln>
        </p:spPr>
      </p:sp>
      <p:sp>
        <p:nvSpPr>
          <p:cNvPr id="9" name="Shape 6"/>
          <p:cNvSpPr/>
          <p:nvPr/>
        </p:nvSpPr>
        <p:spPr>
          <a:xfrm>
            <a:off x="1783080" y="3474720"/>
            <a:ext cx="914" cy="914400"/>
          </a:xfrm>
          <a:prstGeom prst="line">
            <a:avLst/>
          </a:prstGeom>
          <a:noFill/>
          <a:ln w="31750">
            <a:solidFill>
              <a:srgbClr val="2B6CB0"/>
            </a:solidFill>
            <a:prstDash val="solid"/>
          </a:ln>
        </p:spPr>
      </p:sp>
      <p:sp>
        <p:nvSpPr>
          <p:cNvPr id="10" name="Shape 7"/>
          <p:cNvSpPr/>
          <p:nvPr/>
        </p:nvSpPr>
        <p:spPr>
          <a:xfrm>
            <a:off x="1783080" y="3474720"/>
            <a:ext cx="868680" cy="914400"/>
          </a:xfrm>
          <a:prstGeom prst="line">
            <a:avLst/>
          </a:prstGeom>
          <a:noFill/>
          <a:ln w="31750">
            <a:solidFill>
              <a:srgbClr val="C05621"/>
            </a:solidFill>
            <a:prstDash val="solid"/>
          </a:ln>
        </p:spPr>
      </p:sp>
      <p:sp>
        <p:nvSpPr>
          <p:cNvPr id="11" name="Shape 8"/>
          <p:cNvSpPr/>
          <p:nvPr/>
        </p:nvSpPr>
        <p:spPr>
          <a:xfrm flipH="1">
            <a:off x="3566160" y="3474720"/>
            <a:ext cx="868680" cy="914400"/>
          </a:xfrm>
          <a:prstGeom prst="line">
            <a:avLst/>
          </a:prstGeom>
          <a:noFill/>
          <a:ln w="31750">
            <a:solidFill>
              <a:srgbClr val="2F855A"/>
            </a:solidFill>
            <a:prstDash val="solid"/>
          </a:ln>
        </p:spPr>
      </p:sp>
      <p:sp>
        <p:nvSpPr>
          <p:cNvPr id="12" name="Shape 9"/>
          <p:cNvSpPr/>
          <p:nvPr/>
        </p:nvSpPr>
        <p:spPr>
          <a:xfrm>
            <a:off x="4434840" y="3474720"/>
            <a:ext cx="914" cy="914400"/>
          </a:xfrm>
          <a:prstGeom prst="line">
            <a:avLst/>
          </a:prstGeom>
          <a:noFill/>
          <a:ln w="31750">
            <a:solidFill>
              <a:srgbClr val="2B6CB0"/>
            </a:solidFill>
            <a:prstDash val="solid"/>
          </a:ln>
        </p:spPr>
      </p:sp>
      <p:sp>
        <p:nvSpPr>
          <p:cNvPr id="13" name="Shape 10"/>
          <p:cNvSpPr/>
          <p:nvPr/>
        </p:nvSpPr>
        <p:spPr>
          <a:xfrm>
            <a:off x="4434840" y="3474720"/>
            <a:ext cx="868680" cy="914400"/>
          </a:xfrm>
          <a:prstGeom prst="line">
            <a:avLst/>
          </a:prstGeom>
          <a:noFill/>
          <a:ln w="31750">
            <a:solidFill>
              <a:srgbClr val="C05621"/>
            </a:solidFill>
            <a:prstDash val="solid"/>
          </a:ln>
        </p:spPr>
      </p:sp>
      <p:pic>
        <p:nvPicPr>
          <p:cNvPr id="14" name="Image 1" descr="R1">    </p:cNvPr>
          <p:cNvPicPr>
            <a:picLocks noChangeAspect="1"/>
          </p:cNvPicPr>
          <p:nvPr/>
        </p:nvPicPr>
        <p:blipFill>
          <a:blip r:embed="rId3"/>
          <a:stretch>
            <a:fillRect/>
          </a:stretch>
        </p:blipFill>
        <p:spPr>
          <a:xfrm>
            <a:off x="2825496" y="1682496"/>
            <a:ext cx="566928" cy="566928"/>
          </a:xfrm>
          <a:prstGeom prst="rect">
            <a:avLst/>
          </a:prstGeom>
        </p:spPr>
      </p:pic>
      <p:sp>
        <p:nvSpPr>
          <p:cNvPr id="15" name="Text 11"/>
          <p:cNvSpPr txBox="1"/>
          <p:nvPr/>
        </p:nvSpPr>
        <p:spPr>
          <a:xfrm>
            <a:off x="3438144" y="1737360"/>
            <a:ext cx="822960" cy="457200"/>
          </a:xfrm>
          <a:prstGeom prst="rect">
            <a:avLst/>
          </a:prstGeom>
          <a:noFill/>
          <a:ln/>
        </p:spPr>
        <p:txBody>
          <a:bodyPr wrap="square" lIns="0" tIns="0" rIns="0" bIns="0" rtlCol="0" anchor="t"/>
          <a:lstStyle/>
          <a:p>
            <a:pPr algn="l" indent="0" marL="0">
              <a:buNone/>
            </a:pPr>
            <a:r>
              <a:rPr lang="en-US" sz="1200" b="1" dirty="0">
                <a:solidFill>
                  <a:srgbClr val="2B2B2B"/>
                </a:solidFill>
              </a:rPr>
              <a:t>R1</a:t>
            </a:r>
            <a:endParaRPr lang="en-US" sz="1200" dirty="0"/>
          </a:p>
          <a:p>
            <a:pPr algn="l" indent="0" marL="0">
              <a:buNone/>
            </a:pPr>
            <a:r>
              <a:rPr lang="en-US" sz="1000" dirty="0">
                <a:solidFill>
                  <a:srgbClr val="6B6B6B"/>
                </a:solidFill>
              </a:rPr>
              <a:t>4331</a:t>
            </a:r>
            <a:endParaRPr lang="en-US" sz="1200" dirty="0"/>
          </a:p>
        </p:txBody>
      </p:sp>
      <p:pic>
        <p:nvPicPr>
          <p:cNvPr id="16" name="Image 2" descr="S1">    </p:cNvPr>
          <p:cNvPicPr>
            <a:picLocks noChangeAspect="1"/>
          </p:cNvPicPr>
          <p:nvPr/>
        </p:nvPicPr>
        <p:blipFill>
          <a:blip r:embed="rId4"/>
          <a:stretch>
            <a:fillRect/>
          </a:stretch>
        </p:blipFill>
        <p:spPr>
          <a:xfrm>
            <a:off x="1453896" y="2962656"/>
            <a:ext cx="658368" cy="658368"/>
          </a:xfrm>
          <a:prstGeom prst="rect">
            <a:avLst/>
          </a:prstGeom>
        </p:spPr>
      </p:pic>
      <p:sp>
        <p:nvSpPr>
          <p:cNvPr id="17" name="Text 12"/>
          <p:cNvSpPr txBox="1"/>
          <p:nvPr/>
        </p:nvSpPr>
        <p:spPr>
          <a:xfrm>
            <a:off x="859536" y="3154680"/>
            <a:ext cx="548640" cy="274320"/>
          </a:xfrm>
          <a:prstGeom prst="rect">
            <a:avLst/>
          </a:prstGeom>
          <a:noFill/>
          <a:ln/>
        </p:spPr>
        <p:txBody>
          <a:bodyPr wrap="square" lIns="0" tIns="0" rIns="0" bIns="0" rtlCol="0" anchor="t"/>
          <a:lstStyle/>
          <a:p>
            <a:pPr algn="r" indent="0" marL="0">
              <a:buNone/>
            </a:pPr>
            <a:r>
              <a:rPr lang="en-US" sz="1200" b="1" dirty="0">
                <a:solidFill>
                  <a:srgbClr val="2B2B2B"/>
                </a:solidFill>
              </a:rPr>
              <a:t>S1</a:t>
            </a:r>
            <a:endParaRPr lang="en-US" sz="1200" dirty="0"/>
          </a:p>
        </p:txBody>
      </p:sp>
      <p:pic>
        <p:nvPicPr>
          <p:cNvPr id="18" name="Image 3" descr="S2">    </p:cNvPr>
          <p:cNvPicPr>
            <a:picLocks noChangeAspect="1"/>
          </p:cNvPicPr>
          <p:nvPr/>
        </p:nvPicPr>
        <p:blipFill>
          <a:blip r:embed="rId5"/>
          <a:stretch>
            <a:fillRect/>
          </a:stretch>
        </p:blipFill>
        <p:spPr>
          <a:xfrm>
            <a:off x="4105656" y="2962656"/>
            <a:ext cx="658368" cy="658368"/>
          </a:xfrm>
          <a:prstGeom prst="rect">
            <a:avLst/>
          </a:prstGeom>
        </p:spPr>
      </p:pic>
      <p:sp>
        <p:nvSpPr>
          <p:cNvPr id="19" name="Text 13"/>
          <p:cNvSpPr txBox="1"/>
          <p:nvPr/>
        </p:nvSpPr>
        <p:spPr>
          <a:xfrm>
            <a:off x="4809744" y="3154680"/>
            <a:ext cx="548640" cy="274320"/>
          </a:xfrm>
          <a:prstGeom prst="rect">
            <a:avLst/>
          </a:prstGeom>
          <a:noFill/>
          <a:ln/>
        </p:spPr>
        <p:txBody>
          <a:bodyPr wrap="square" lIns="0" tIns="0" rIns="0" bIns="0" rtlCol="0" anchor="t"/>
          <a:lstStyle/>
          <a:p>
            <a:pPr algn="l" indent="0" marL="0">
              <a:buNone/>
            </a:pPr>
            <a:r>
              <a:rPr lang="en-US" sz="1200" b="1" dirty="0">
                <a:solidFill>
                  <a:srgbClr val="2B2B2B"/>
                </a:solidFill>
              </a:rPr>
              <a:t>S2</a:t>
            </a:r>
            <a:endParaRPr lang="en-US" sz="1200" dirty="0"/>
          </a:p>
        </p:txBody>
      </p:sp>
      <p:pic>
        <p:nvPicPr>
          <p:cNvPr id="20" name="Image 4" descr="PC1">    </p:cNvPr>
          <p:cNvPicPr>
            <a:picLocks noChangeAspect="1"/>
          </p:cNvPicPr>
          <p:nvPr/>
        </p:nvPicPr>
        <p:blipFill>
          <a:blip r:embed="rId6"/>
          <a:stretch>
            <a:fillRect/>
          </a:stretch>
        </p:blipFill>
        <p:spPr>
          <a:xfrm>
            <a:off x="685800" y="4434840"/>
            <a:ext cx="457200" cy="457200"/>
          </a:xfrm>
          <a:prstGeom prst="rect">
            <a:avLst/>
          </a:prstGeom>
        </p:spPr>
      </p:pic>
      <p:sp>
        <p:nvSpPr>
          <p:cNvPr id="21" name="Text 14"/>
          <p:cNvSpPr txBox="1"/>
          <p:nvPr/>
        </p:nvSpPr>
        <p:spPr>
          <a:xfrm>
            <a:off x="480060" y="4873752"/>
            <a:ext cx="868680" cy="457200"/>
          </a:xfrm>
          <a:prstGeom prst="rect">
            <a:avLst/>
          </a:prstGeom>
          <a:noFill/>
          <a:ln/>
        </p:spPr>
        <p:txBody>
          <a:bodyPr wrap="square" lIns="0" tIns="0" rIns="0" bIns="0" rtlCol="0" anchor="t"/>
          <a:lstStyle/>
          <a:p>
            <a:pPr algn="ctr" indent="0" marL="0">
              <a:buNone/>
            </a:pPr>
            <a:r>
              <a:rPr lang="en-US" sz="1100" b="1" dirty="0">
                <a:solidFill>
                  <a:srgbClr val="2B2B2B"/>
                </a:solidFill>
              </a:rPr>
              <a:t>PC1</a:t>
            </a:r>
            <a:endParaRPr lang="en-US" sz="1100" dirty="0"/>
          </a:p>
          <a:p>
            <a:pPr algn="ctr" indent="0" marL="0">
              <a:buNone/>
            </a:pPr>
            <a:r>
              <a:rPr lang="en-US" sz="1000" dirty="0">
                <a:solidFill>
                  <a:srgbClr val="6B6B6B"/>
                </a:solidFill>
              </a:rPr>
              <a:t>.10.11</a:t>
            </a:r>
            <a:endParaRPr lang="en-US" sz="1100" dirty="0"/>
          </a:p>
        </p:txBody>
      </p:sp>
      <p:pic>
        <p:nvPicPr>
          <p:cNvPr id="22" name="Image 5" descr="PC2">    </p:cNvPr>
          <p:cNvPicPr>
            <a:picLocks noChangeAspect="1"/>
          </p:cNvPicPr>
          <p:nvPr/>
        </p:nvPicPr>
        <p:blipFill>
          <a:blip r:embed="rId7"/>
          <a:stretch>
            <a:fillRect/>
          </a:stretch>
        </p:blipFill>
        <p:spPr>
          <a:xfrm>
            <a:off x="1554480" y="4434840"/>
            <a:ext cx="457200" cy="457200"/>
          </a:xfrm>
          <a:prstGeom prst="rect">
            <a:avLst/>
          </a:prstGeom>
        </p:spPr>
      </p:pic>
      <p:sp>
        <p:nvSpPr>
          <p:cNvPr id="23" name="Text 15"/>
          <p:cNvSpPr txBox="1"/>
          <p:nvPr/>
        </p:nvSpPr>
        <p:spPr>
          <a:xfrm>
            <a:off x="1348740" y="4873752"/>
            <a:ext cx="868680" cy="457200"/>
          </a:xfrm>
          <a:prstGeom prst="rect">
            <a:avLst/>
          </a:prstGeom>
          <a:noFill/>
          <a:ln/>
        </p:spPr>
        <p:txBody>
          <a:bodyPr wrap="square" lIns="0" tIns="0" rIns="0" bIns="0" rtlCol="0" anchor="t"/>
          <a:lstStyle/>
          <a:p>
            <a:pPr algn="ctr" indent="0" marL="0">
              <a:buNone/>
            </a:pPr>
            <a:r>
              <a:rPr lang="en-US" sz="1100" b="1" dirty="0">
                <a:solidFill>
                  <a:srgbClr val="2B2B2B"/>
                </a:solidFill>
              </a:rPr>
              <a:t>PC2</a:t>
            </a:r>
            <a:endParaRPr lang="en-US" sz="1100" dirty="0"/>
          </a:p>
          <a:p>
            <a:pPr algn="ctr" indent="0" marL="0">
              <a:buNone/>
            </a:pPr>
            <a:r>
              <a:rPr lang="en-US" sz="1000" dirty="0">
                <a:solidFill>
                  <a:srgbClr val="6B6B6B"/>
                </a:solidFill>
              </a:rPr>
              <a:t>.20.11</a:t>
            </a:r>
            <a:endParaRPr lang="en-US" sz="1100" dirty="0"/>
          </a:p>
        </p:txBody>
      </p:sp>
      <p:pic>
        <p:nvPicPr>
          <p:cNvPr id="24" name="Image 6" descr="PC3">    </p:cNvPr>
          <p:cNvPicPr>
            <a:picLocks noChangeAspect="1"/>
          </p:cNvPicPr>
          <p:nvPr/>
        </p:nvPicPr>
        <p:blipFill>
          <a:blip r:embed="rId8"/>
          <a:stretch>
            <a:fillRect/>
          </a:stretch>
        </p:blipFill>
        <p:spPr>
          <a:xfrm>
            <a:off x="2423160" y="4434840"/>
            <a:ext cx="457200" cy="457200"/>
          </a:xfrm>
          <a:prstGeom prst="rect">
            <a:avLst/>
          </a:prstGeom>
        </p:spPr>
      </p:pic>
      <p:sp>
        <p:nvSpPr>
          <p:cNvPr id="25" name="Text 16"/>
          <p:cNvSpPr txBox="1"/>
          <p:nvPr/>
        </p:nvSpPr>
        <p:spPr>
          <a:xfrm>
            <a:off x="2217420" y="4873752"/>
            <a:ext cx="868680" cy="457200"/>
          </a:xfrm>
          <a:prstGeom prst="rect">
            <a:avLst/>
          </a:prstGeom>
          <a:noFill/>
          <a:ln/>
        </p:spPr>
        <p:txBody>
          <a:bodyPr wrap="square" lIns="0" tIns="0" rIns="0" bIns="0" rtlCol="0" anchor="t"/>
          <a:lstStyle/>
          <a:p>
            <a:pPr algn="ctr" indent="0" marL="0">
              <a:buNone/>
            </a:pPr>
            <a:r>
              <a:rPr lang="en-US" sz="1100" b="1" dirty="0">
                <a:solidFill>
                  <a:srgbClr val="2B2B2B"/>
                </a:solidFill>
              </a:rPr>
              <a:t>PC3</a:t>
            </a:r>
            <a:endParaRPr lang="en-US" sz="1100" dirty="0"/>
          </a:p>
          <a:p>
            <a:pPr algn="ctr" indent="0" marL="0">
              <a:buNone/>
            </a:pPr>
            <a:r>
              <a:rPr lang="en-US" sz="1000" dirty="0">
                <a:solidFill>
                  <a:srgbClr val="6B6B6B"/>
                </a:solidFill>
              </a:rPr>
              <a:t>.30.11</a:t>
            </a:r>
            <a:endParaRPr lang="en-US" sz="1100" dirty="0"/>
          </a:p>
        </p:txBody>
      </p:sp>
      <p:pic>
        <p:nvPicPr>
          <p:cNvPr id="26" name="Image 7" descr="PC4">    </p:cNvPr>
          <p:cNvPicPr>
            <a:picLocks noChangeAspect="1"/>
          </p:cNvPicPr>
          <p:nvPr/>
        </p:nvPicPr>
        <p:blipFill>
          <a:blip r:embed="rId9"/>
          <a:stretch>
            <a:fillRect/>
          </a:stretch>
        </p:blipFill>
        <p:spPr>
          <a:xfrm>
            <a:off x="3337560" y="4434840"/>
            <a:ext cx="457200" cy="457200"/>
          </a:xfrm>
          <a:prstGeom prst="rect">
            <a:avLst/>
          </a:prstGeom>
        </p:spPr>
      </p:pic>
      <p:sp>
        <p:nvSpPr>
          <p:cNvPr id="27" name="Text 17"/>
          <p:cNvSpPr txBox="1"/>
          <p:nvPr/>
        </p:nvSpPr>
        <p:spPr>
          <a:xfrm>
            <a:off x="3131820" y="4873752"/>
            <a:ext cx="868680" cy="457200"/>
          </a:xfrm>
          <a:prstGeom prst="rect">
            <a:avLst/>
          </a:prstGeom>
          <a:noFill/>
          <a:ln/>
        </p:spPr>
        <p:txBody>
          <a:bodyPr wrap="square" lIns="0" tIns="0" rIns="0" bIns="0" rtlCol="0" anchor="t"/>
          <a:lstStyle/>
          <a:p>
            <a:pPr algn="ctr" indent="0" marL="0">
              <a:buNone/>
            </a:pPr>
            <a:r>
              <a:rPr lang="en-US" sz="1100" b="1" dirty="0">
                <a:solidFill>
                  <a:srgbClr val="2B2B2B"/>
                </a:solidFill>
              </a:rPr>
              <a:t>PC4</a:t>
            </a:r>
            <a:endParaRPr lang="en-US" sz="1100" dirty="0"/>
          </a:p>
          <a:p>
            <a:pPr algn="ctr" indent="0" marL="0">
              <a:buNone/>
            </a:pPr>
            <a:r>
              <a:rPr lang="en-US" sz="1000" dirty="0">
                <a:solidFill>
                  <a:srgbClr val="6B6B6B"/>
                </a:solidFill>
              </a:rPr>
              <a:t>.10.12</a:t>
            </a:r>
            <a:endParaRPr lang="en-US" sz="1100" dirty="0"/>
          </a:p>
        </p:txBody>
      </p:sp>
      <p:pic>
        <p:nvPicPr>
          <p:cNvPr id="28" name="Image 8" descr="PC5">    </p:cNvPr>
          <p:cNvPicPr>
            <a:picLocks noChangeAspect="1"/>
          </p:cNvPicPr>
          <p:nvPr/>
        </p:nvPicPr>
        <p:blipFill>
          <a:blip r:embed="rId10"/>
          <a:stretch>
            <a:fillRect/>
          </a:stretch>
        </p:blipFill>
        <p:spPr>
          <a:xfrm>
            <a:off x="4206240" y="4434840"/>
            <a:ext cx="457200" cy="457200"/>
          </a:xfrm>
          <a:prstGeom prst="rect">
            <a:avLst/>
          </a:prstGeom>
        </p:spPr>
      </p:pic>
      <p:sp>
        <p:nvSpPr>
          <p:cNvPr id="29" name="Text 18"/>
          <p:cNvSpPr txBox="1"/>
          <p:nvPr/>
        </p:nvSpPr>
        <p:spPr>
          <a:xfrm>
            <a:off x="4000500" y="4873752"/>
            <a:ext cx="868680" cy="457200"/>
          </a:xfrm>
          <a:prstGeom prst="rect">
            <a:avLst/>
          </a:prstGeom>
          <a:noFill/>
          <a:ln/>
        </p:spPr>
        <p:txBody>
          <a:bodyPr wrap="square" lIns="0" tIns="0" rIns="0" bIns="0" rtlCol="0" anchor="t"/>
          <a:lstStyle/>
          <a:p>
            <a:pPr algn="ctr" indent="0" marL="0">
              <a:buNone/>
            </a:pPr>
            <a:r>
              <a:rPr lang="en-US" sz="1100" b="1" dirty="0">
                <a:solidFill>
                  <a:srgbClr val="2B2B2B"/>
                </a:solidFill>
              </a:rPr>
              <a:t>PC5</a:t>
            </a:r>
            <a:endParaRPr lang="en-US" sz="1100" dirty="0"/>
          </a:p>
          <a:p>
            <a:pPr algn="ctr" indent="0" marL="0">
              <a:buNone/>
            </a:pPr>
            <a:r>
              <a:rPr lang="en-US" sz="1000" dirty="0">
                <a:solidFill>
                  <a:srgbClr val="6B6B6B"/>
                </a:solidFill>
              </a:rPr>
              <a:t>.20.12</a:t>
            </a:r>
            <a:endParaRPr lang="en-US" sz="1100" dirty="0"/>
          </a:p>
        </p:txBody>
      </p:sp>
      <p:pic>
        <p:nvPicPr>
          <p:cNvPr id="30" name="Image 9" descr="PC6">    </p:cNvPr>
          <p:cNvPicPr>
            <a:picLocks noChangeAspect="1"/>
          </p:cNvPicPr>
          <p:nvPr/>
        </p:nvPicPr>
        <p:blipFill>
          <a:blip r:embed="rId11"/>
          <a:stretch>
            <a:fillRect/>
          </a:stretch>
        </p:blipFill>
        <p:spPr>
          <a:xfrm>
            <a:off x="5074920" y="4434840"/>
            <a:ext cx="457200" cy="457200"/>
          </a:xfrm>
          <a:prstGeom prst="rect">
            <a:avLst/>
          </a:prstGeom>
        </p:spPr>
      </p:pic>
      <p:sp>
        <p:nvSpPr>
          <p:cNvPr id="31" name="Text 19"/>
          <p:cNvSpPr txBox="1"/>
          <p:nvPr/>
        </p:nvSpPr>
        <p:spPr>
          <a:xfrm>
            <a:off x="4869180" y="4873752"/>
            <a:ext cx="868680" cy="457200"/>
          </a:xfrm>
          <a:prstGeom prst="rect">
            <a:avLst/>
          </a:prstGeom>
          <a:noFill/>
          <a:ln/>
        </p:spPr>
        <p:txBody>
          <a:bodyPr wrap="square" lIns="0" tIns="0" rIns="0" bIns="0" rtlCol="0" anchor="t"/>
          <a:lstStyle/>
          <a:p>
            <a:pPr algn="ctr" indent="0" marL="0">
              <a:buNone/>
            </a:pPr>
            <a:r>
              <a:rPr lang="en-US" sz="1100" b="1" dirty="0">
                <a:solidFill>
                  <a:srgbClr val="2B2B2B"/>
                </a:solidFill>
              </a:rPr>
              <a:t>PC6</a:t>
            </a:r>
            <a:endParaRPr lang="en-US" sz="1100" dirty="0"/>
          </a:p>
          <a:p>
            <a:pPr algn="ctr" indent="0" marL="0">
              <a:buNone/>
            </a:pPr>
            <a:r>
              <a:rPr lang="en-US" sz="1000" dirty="0">
                <a:solidFill>
                  <a:srgbClr val="6B6B6B"/>
                </a:solidFill>
              </a:rPr>
              <a:t>.30.12</a:t>
            </a:r>
            <a:endParaRPr lang="en-US" sz="1100" dirty="0"/>
          </a:p>
        </p:txBody>
      </p:sp>
      <p:sp>
        <p:nvSpPr>
          <p:cNvPr id="32" name="Text 20"/>
          <p:cNvSpPr txBox="1"/>
          <p:nvPr/>
        </p:nvSpPr>
        <p:spPr>
          <a:xfrm>
            <a:off x="1965960" y="2148840"/>
            <a:ext cx="685800" cy="237744"/>
          </a:xfrm>
          <a:prstGeom prst="rect">
            <a:avLst/>
          </a:prstGeom>
          <a:noFill/>
          <a:ln/>
        </p:spPr>
        <p:txBody>
          <a:bodyPr wrap="square" lIns="254" tIns="254" rIns="254" bIns="254" rtlCol="0" anchor="ctr"/>
          <a:lstStyle/>
          <a:p>
            <a:pPr algn="ctr" indent="0" marL="0">
              <a:buNone/>
            </a:pPr>
            <a:r>
              <a:rPr lang="en-US" sz="1000" dirty="0">
                <a:solidFill>
                  <a:srgbClr val="2B2B2B"/>
                </a:solidFill>
              </a:rPr>
              <a:t>G0/0/1</a:t>
            </a:r>
            <a:endParaRPr lang="en-US" sz="1000" dirty="0"/>
          </a:p>
        </p:txBody>
      </p:sp>
      <p:sp>
        <p:nvSpPr>
          <p:cNvPr id="33" name="Text 21"/>
          <p:cNvSpPr txBox="1"/>
          <p:nvPr/>
        </p:nvSpPr>
        <p:spPr>
          <a:xfrm>
            <a:off x="1417320" y="2697480"/>
            <a:ext cx="548640" cy="237744"/>
          </a:xfrm>
          <a:prstGeom prst="rect">
            <a:avLst/>
          </a:prstGeom>
          <a:noFill/>
          <a:ln/>
        </p:spPr>
        <p:txBody>
          <a:bodyPr wrap="square" lIns="254" tIns="254" rIns="254" bIns="254" rtlCol="0" anchor="ctr"/>
          <a:lstStyle/>
          <a:p>
            <a:pPr algn="ctr" indent="0" marL="0">
              <a:buNone/>
            </a:pPr>
            <a:r>
              <a:rPr lang="en-US" sz="1000" dirty="0">
                <a:solidFill>
                  <a:srgbClr val="2B2B2B"/>
                </a:solidFill>
              </a:rPr>
              <a:t>G0/2</a:t>
            </a:r>
            <a:endParaRPr lang="en-US" sz="1000" dirty="0"/>
          </a:p>
        </p:txBody>
      </p:sp>
      <p:sp>
        <p:nvSpPr>
          <p:cNvPr id="34" name="Text 22"/>
          <p:cNvSpPr txBox="1"/>
          <p:nvPr/>
        </p:nvSpPr>
        <p:spPr>
          <a:xfrm>
            <a:off x="2240280" y="3017520"/>
            <a:ext cx="548640" cy="237744"/>
          </a:xfrm>
          <a:prstGeom prst="rect">
            <a:avLst/>
          </a:prstGeom>
          <a:noFill/>
          <a:ln/>
        </p:spPr>
        <p:txBody>
          <a:bodyPr wrap="square" lIns="254" tIns="254" rIns="254" bIns="254" rtlCol="0" anchor="ctr"/>
          <a:lstStyle/>
          <a:p>
            <a:pPr algn="ctr" indent="0" marL="0">
              <a:buNone/>
            </a:pPr>
            <a:r>
              <a:rPr lang="en-US" sz="1000" dirty="0">
                <a:solidFill>
                  <a:srgbClr val="2B2B2B"/>
                </a:solidFill>
              </a:rPr>
              <a:t>G0/1</a:t>
            </a:r>
            <a:endParaRPr lang="en-US" sz="1000" dirty="0"/>
          </a:p>
        </p:txBody>
      </p:sp>
      <p:sp>
        <p:nvSpPr>
          <p:cNvPr id="35" name="Text 23"/>
          <p:cNvSpPr txBox="1"/>
          <p:nvPr/>
        </p:nvSpPr>
        <p:spPr>
          <a:xfrm>
            <a:off x="3657600" y="3017520"/>
            <a:ext cx="548640" cy="237744"/>
          </a:xfrm>
          <a:prstGeom prst="rect">
            <a:avLst/>
          </a:prstGeom>
          <a:noFill/>
          <a:ln/>
        </p:spPr>
        <p:txBody>
          <a:bodyPr wrap="square" lIns="254" tIns="254" rIns="254" bIns="254" rtlCol="0" anchor="ctr"/>
          <a:lstStyle/>
          <a:p>
            <a:pPr algn="ctr" indent="0" marL="0">
              <a:buNone/>
            </a:pPr>
            <a:r>
              <a:rPr lang="en-US" sz="1000" dirty="0">
                <a:solidFill>
                  <a:srgbClr val="2B2B2B"/>
                </a:solidFill>
              </a:rPr>
              <a:t>G0/1</a:t>
            </a:r>
            <a:endParaRPr lang="en-US" sz="1000" dirty="0"/>
          </a:p>
        </p:txBody>
      </p:sp>
      <p:sp>
        <p:nvSpPr>
          <p:cNvPr id="36" name="Text 24"/>
          <p:cNvSpPr txBox="1"/>
          <p:nvPr/>
        </p:nvSpPr>
        <p:spPr>
          <a:xfrm>
            <a:off x="2651760" y="2542032"/>
            <a:ext cx="2103120" cy="237744"/>
          </a:xfrm>
          <a:prstGeom prst="rect">
            <a:avLst/>
          </a:prstGeom>
          <a:noFill/>
          <a:ln/>
        </p:spPr>
        <p:txBody>
          <a:bodyPr wrap="square" lIns="254" tIns="254" rIns="254" bIns="254" rtlCol="0" anchor="ctr"/>
          <a:lstStyle/>
          <a:p>
            <a:pPr algn="l" indent="0" marL="0">
              <a:buNone/>
            </a:pPr>
            <a:r>
              <a:rPr lang="en-US" sz="1100" b="1" dirty="0">
                <a:solidFill>
                  <a:srgbClr val="1B2B22"/>
                </a:solidFill>
              </a:rPr>
              <a:t>trunks</a:t>
            </a:r>
            <a:r>
              <a:rPr lang="en-US" sz="1100" dirty="0">
                <a:solidFill>
                  <a:srgbClr val="1B2B22"/>
                </a:solidFill>
              </a:rPr>
              <a:t> (native VLAN 99)</a:t>
            </a:r>
            <a:endParaRPr lang="en-US" sz="1100" dirty="0"/>
          </a:p>
        </p:txBody>
      </p:sp>
      <p:sp>
        <p:nvSpPr>
          <p:cNvPr id="37" name="Text 25"/>
          <p:cNvSpPr txBox="1"/>
          <p:nvPr/>
        </p:nvSpPr>
        <p:spPr>
          <a:xfrm>
            <a:off x="548640" y="5577840"/>
            <a:ext cx="5120640" cy="237744"/>
          </a:xfrm>
          <a:prstGeom prst="rect">
            <a:avLst/>
          </a:prstGeom>
          <a:noFill/>
          <a:ln/>
        </p:spPr>
        <p:txBody>
          <a:bodyPr wrap="square" lIns="254" tIns="254" rIns="254" bIns="254" rtlCol="0" anchor="ctr"/>
          <a:lstStyle/>
          <a:p>
            <a:pPr algn="ctr" indent="0" marL="0">
              <a:buNone/>
            </a:pPr>
            <a:r>
              <a:rPr lang="en-US" sz="1100" dirty="0">
                <a:solidFill>
                  <a:srgbClr val="6B6B6B"/>
                </a:solidFill>
              </a:rPr>
              <a:t>PC labels show the end of the address: .10.11 = 192.168.10.11 /24</a:t>
            </a:r>
            <a:endParaRPr lang="en-US" sz="1100" dirty="0"/>
          </a:p>
        </p:txBody>
      </p:sp>
      <p:graphicFrame>
        <p:nvGraphicFramePr>
          <p:cNvPr id="41" name="vlan plan"/>
          <p:cNvGraphicFramePr>
            <a:graphicFrameLocks noGrp="1"/>
          </p:cNvGraphicFramePr>
          <p:nvPr>
            <p:extLst>
              <p:ext uri="{D42A27DB-BD31-4B8C-83A1-F6EECF244321}">
                <p14:modId xmlns:p14="http://schemas.microsoft.com/office/powerpoint/2010/main" val="1579011935"/>
              </p:ext>
            </p:extLst>
          </p:nvPr>
        </p:nvGraphicFramePr>
        <p:xfrm>
          <a:off x="5897880" y="1691640"/>
          <a:ext cx="5742432" cy="914400"/>
        </p:xfrm>
        <a:graphic>
          <a:graphicData uri="http://schemas.openxmlformats.org/drawingml/2006/table">
            <a:tbl>
              <a:tblPr/>
              <a:tblGrid>
                <a:gridCol w="640080"/>
                <a:gridCol w="1325880"/>
                <a:gridCol w="1188720"/>
                <a:gridCol w="1417320"/>
                <a:gridCol w="1170432"/>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VLAN</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1E563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Name</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1E563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Access ports</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1E563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Subnet</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1E563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Gateway</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1E5631"/>
                    </a:solidFill>
                  </a:tcPr>
                </a:tc>
              </a:tr>
              <a:tr h="0">
                <a:tc>
                  <a:txBody>
                    <a:bodyPr/>
                    <a:lstStyle/>
                    <a:p>
                      <a:pPr indent="0" marL="0">
                        <a:buNone/>
                      </a:pPr>
                      <a:r>
                        <a:rPr lang="en-US" sz="1200" b="1" dirty="0">
                          <a:solidFill>
                            <a:srgbClr val="2F855A"/>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STAFF</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Fa0/1 – 10</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192.168.10.0 /24</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192.168.10.1</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r>
              <a:tr h="0">
                <a:tc>
                  <a:txBody>
                    <a:bodyPr/>
                    <a:lstStyle/>
                    <a:p>
                      <a:pPr indent="0" marL="0">
                        <a:buNone/>
                      </a:pPr>
                      <a:r>
                        <a:rPr lang="en-US" sz="1200" b="1" dirty="0">
                          <a:solidFill>
                            <a:srgbClr val="2B6CB0"/>
                          </a:solidFill>
                          <a:latin typeface="Calibri" pitchFamily="34" charset="0"/>
                          <a:ea typeface="Calibri" pitchFamily="34" charset="-122"/>
                          <a:cs typeface="Calibri" pitchFamily="34" charset="-120"/>
                        </a:rPr>
                        <a:t>20</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STUDENTS</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Fa0/11 – 20</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192.168.20.0 /24</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192.168.20.1</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C05621"/>
                          </a:solidFill>
                          <a:latin typeface="Calibri" pitchFamily="34" charset="0"/>
                          <a:ea typeface="Calibri" pitchFamily="34" charset="-122"/>
                          <a:cs typeface="Calibri" pitchFamily="34" charset="-120"/>
                        </a:rPr>
                        <a:t>30</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FINANCE</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Fa0/21 – 24</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192.168.30.0 /24</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192.168.30.1</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r>
              <a:tr h="0">
                <a:tc>
                  <a:txBody>
                    <a:bodyPr/>
                    <a:lstStyle/>
                    <a:p>
                      <a:pPr indent="0" marL="0">
                        <a:buNone/>
                      </a:pPr>
                      <a:r>
                        <a:rPr lang="en-US" sz="1200" b="1" dirty="0">
                          <a:solidFill>
                            <a:srgbClr val="718096"/>
                          </a:solidFill>
                          <a:latin typeface="Calibri" pitchFamily="34" charset="0"/>
                          <a:ea typeface="Calibri" pitchFamily="34" charset="-122"/>
                          <a:cs typeface="Calibri" pitchFamily="34" charset="-120"/>
                        </a:rPr>
                        <a:t>99</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MGMT (native)</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none — trunks only</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192.168.99.0 /24</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192.168.99.1</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r>
            </a:tbl>
          </a:graphicData>
        </a:graphic>
      </p:graphicFrame>
      <p:sp>
        <p:nvSpPr>
          <p:cNvPr id="39" name="Card"/>
          <p:cNvSpPr/>
          <p:nvPr/>
        </p:nvSpPr>
        <p:spPr>
          <a:xfrm>
            <a:off x="5897880" y="4343400"/>
            <a:ext cx="5742432" cy="1874520"/>
          </a:xfrm>
          <a:prstGeom prst="roundRect">
            <a:avLst>
              <a:gd name="adj" fmla="val 3902"/>
            </a:avLst>
          </a:prstGeom>
          <a:solidFill>
            <a:srgbClr val="F2F8F3"/>
          </a:solidFill>
          <a:ln w="12700">
            <a:solidFill>
              <a:srgbClr val="B7C9BA"/>
            </a:solidFill>
            <a:prstDash val="solid"/>
          </a:ln>
        </p:spPr>
      </p:sp>
      <p:sp>
        <p:nvSpPr>
          <p:cNvPr id="40" name="Text 27"/>
          <p:cNvSpPr txBox="1"/>
          <p:nvPr/>
        </p:nvSpPr>
        <p:spPr>
          <a:xfrm>
            <a:off x="6044184" y="4445813"/>
            <a:ext cx="5449824" cy="1669694"/>
          </a:xfrm>
          <a:prstGeom prst="rect">
            <a:avLst/>
          </a:prstGeom>
          <a:noFill/>
          <a:ln/>
        </p:spPr>
        <p:txBody>
          <a:bodyPr wrap="square" lIns="0" tIns="0" rIns="0" bIns="0" rtlCol="0" anchor="t"/>
          <a:lstStyle/>
          <a:p>
            <a:pPr indent="0" marL="0">
              <a:buNone/>
            </a:pPr>
            <a:r>
              <a:rPr lang="en-US" sz="1400" b="1" dirty="0">
                <a:solidFill>
                  <a:srgbClr val="1E5631"/>
                </a:solidFill>
              </a:rPr>
              <a:t>Good to know</a:t>
            </a:r>
            <a:endParaRPr lang="en-US" sz="1300" dirty="0"/>
          </a:p>
          <a:p>
            <a:pPr marL="203200" indent="-203200">
              <a:spcAft>
                <a:spcPts val="200"/>
              </a:spcAft>
              <a:buSzPct val="100000"/>
              <a:buChar char="•"/>
            </a:pPr>
            <a:r>
              <a:rPr lang="en-US" sz="1300" dirty="0">
                <a:solidFill>
                  <a:srgbClr val="2B2B2B"/>
                </a:solidFill>
              </a:rPr>
              <a:t>Switch management addresses: S1 = 192.168.99.2, S2 = 192.168.99.3.</a:t>
            </a:r>
            <a:endParaRPr lang="en-US" sz="1300" dirty="0"/>
          </a:p>
          <a:p>
            <a:pPr marL="203200" indent="-203200">
              <a:spcAft>
                <a:spcPts val="200"/>
              </a:spcAft>
              <a:buSzPct val="100000"/>
              <a:buChar char="•"/>
            </a:pPr>
            <a:r>
              <a:rPr lang="en-US" sz="1300" dirty="0">
                <a:solidFill>
                  <a:srgbClr val="2B2B2B"/>
                </a:solidFill>
              </a:rPr>
              <a:t>Gateways are R1 sub-interfaces (part 05) — the .1 of each VLAN.</a:t>
            </a:r>
            <a:endParaRPr lang="en-US" sz="1300" dirty="0"/>
          </a:p>
          <a:p>
            <a:pPr marL="203200" indent="-203200">
              <a:spcAft>
                <a:spcPts val="200"/>
              </a:spcAft>
              <a:buSzPct val="100000"/>
              <a:buChar char="•"/>
            </a:pPr>
            <a:r>
              <a:rPr lang="en-US" sz="1300" dirty="0">
                <a:solidFill>
                  <a:srgbClr val="2B2B2B"/>
                </a:solidFill>
              </a:rPr>
              <a:t>The same VLANs must exist on S1 and S2.</a:t>
            </a:r>
            <a:endParaRPr lang="en-US" sz="1300" dirty="0"/>
          </a:p>
          <a:p>
            <a:pPr marL="203200" indent="-203200">
              <a:spcAft>
                <a:spcPts val="200"/>
              </a:spcAft>
              <a:buSzPct val="100000"/>
              <a:buChar char="•"/>
            </a:pPr>
            <a:r>
              <a:rPr lang="en-US" sz="1300" dirty="0">
                <a:solidFill>
                  <a:srgbClr val="2B2B2B"/>
                </a:solidFill>
              </a:rPr>
              <a:t>Cables: switch–switch cross-over; switch–router straight-through.</a:t>
            </a:r>
            <a:endParaRPr lang="en-US" sz="1300" dirty="0"/>
          </a:p>
        </p:txBody>
      </p:sp>
      <p:sp>
        <p:nvSpPr>
          <p:cNvPr id="42" name="Slide Number Placeholder 0"/>
          <p:cNvSpPr>
            <a:spLocks noGrp="1"/>
          </p:cNvSpPr>
          <p:nvPr>
            <p:ph type="sldNum" sz="quarter" idx="4294967295"/>
          </p:nvPr>
        </p:nvSpPr>
        <p:spPr>
          <a:xfrm>
            <a:off x="10698480" y="6464808"/>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p:nvPr>
            <p:ph idx="102" type="body" hasCustomPrompt="1"/>
          </p:nvPr>
        </p:nvSpPr>
        <p:spPr>
          <a:xfrm>
            <a:off x="548640" y="274320"/>
            <a:ext cx="9966960" cy="256032"/>
          </a:xfrm>
          <a:prstGeom prst="rect">
            <a:avLst/>
          </a:prstGeom>
          <a:noFill/>
          <a:ln/>
        </p:spPr>
        <p:txBody>
          <a:bodyPr wrap="square" lIns="0" tIns="0" rIns="0" bIns="0" rtlCol="0" anchor="ctr"/>
          <a:lstStyle/>
          <a:p>
            <a:pPr algn="l" indent="0" marL="0">
              <a:buNone/>
            </a:pPr>
            <a:r>
              <a:rPr lang="en-US" sz="1100" b="1" spc="100" kern="0" dirty="0">
                <a:solidFill>
                  <a:schemeClr val="accent2"/>
                </a:solidFill>
              </a:rPr>
              <a:t>04  •  VLANS &amp; TRUNKS  •  LAB 2</a:t>
            </a:r>
            <a:endParaRPr lang="en-US" sz="1100" dirty="0"/>
          </a:p>
        </p:txBody>
      </p:sp>
      <p:sp>
        <p:nvSpPr>
          <p:cNvPr id="3" name="Text 1"/>
          <p:cNvSpPr/>
          <p:nvPr>
            <p:ph idx="103" type="title" hasCustomPrompt="1"/>
          </p:nvPr>
        </p:nvSpPr>
        <p:spPr>
          <a:xfrm>
            <a:off x="548640" y="548640"/>
            <a:ext cx="10149840" cy="548640"/>
          </a:xfrm>
          <a:prstGeom prst="rect">
            <a:avLst/>
          </a:prstGeom>
          <a:noFill/>
          <a:ln/>
        </p:spPr>
        <p:txBody>
          <a:bodyPr wrap="square" lIns="0" tIns="0" rIns="0" bIns="0" rtlCol="0" anchor="ctr"/>
          <a:lstStyle/>
          <a:p>
            <a:pPr algn="l" indent="0" marL="0">
              <a:buNone/>
            </a:pPr>
            <a:r>
              <a:rPr lang="en-US" sz="2600" b="1" dirty="0">
                <a:solidFill>
                  <a:schemeClr val="accent1"/>
                </a:solidFill>
              </a:rPr>
              <a:t>How to create and name VLANs</a:t>
            </a:r>
            <a:endParaRPr lang="en-US" sz="2600" dirty="0"/>
          </a:p>
        </p:txBody>
      </p:sp>
      <p:pic>
        <p:nvPicPr>
          <p:cNvPr id="4" name="Home button" descr="Home: back to the workbook menu">
            <a:hlinkClick r:id="rId2" tooltip="Back to the workbook menu" action="ppaction://hlinksldjump"/>
          </p:cNvPr>
          <p:cNvPicPr>
            <a:picLocks noChangeAspect="1"/>
          </p:cNvPicPr>
          <p:nvPr/>
        </p:nvPicPr>
        <p:blipFill>
          <a:blip r:embed="rId1"/>
          <a:stretch>
            <a:fillRect/>
          </a:stretch>
        </p:blipFill>
        <p:spPr>
          <a:xfrm>
            <a:off x="11365992" y="6336792"/>
            <a:ext cx="365760" cy="365760"/>
          </a:xfrm>
          <a:prstGeom prst="rect">
            <a:avLst/>
          </a:prstGeom>
        </p:spPr>
      </p:pic>
      <p:sp>
        <p:nvSpPr>
          <p:cNvPr id="5" name="Goal"/>
          <p:cNvSpPr txBox="1"/>
          <p:nvPr/>
        </p:nvSpPr>
        <p:spPr>
          <a:xfrm>
            <a:off x="548640" y="1161288"/>
            <a:ext cx="11094415" cy="384048"/>
          </a:xfrm>
          <a:prstGeom prst="rect">
            <a:avLst/>
          </a:prstGeom>
          <a:noFill/>
          <a:ln/>
        </p:spPr>
        <p:txBody>
          <a:bodyPr wrap="square" lIns="0" tIns="0" rIns="0" bIns="0" rtlCol="0" anchor="ctr"/>
          <a:lstStyle/>
          <a:p>
            <a:pPr indent="0" marL="0">
              <a:buNone/>
            </a:pPr>
            <a:r>
              <a:rPr lang="en-US" sz="1400" b="1" dirty="0">
                <a:solidFill>
                  <a:srgbClr val="2B7043"/>
                </a:solidFill>
              </a:rPr>
              <a:t>Goal:  </a:t>
            </a:r>
            <a:r>
              <a:rPr lang="en-US" sz="1400" dirty="0">
                <a:solidFill>
                  <a:srgbClr val="2B2B2B"/>
                </a:solidFill>
              </a:rPr>
              <a:t>Create the four VLANs of the plan on S1 — then do exactly the same on S2.</a:t>
            </a:r>
            <a:endParaRPr lang="en-US" sz="1400" dirty="0"/>
          </a:p>
        </p:txBody>
      </p:sp>
      <p:sp>
        <p:nvSpPr>
          <p:cNvPr id="6" name="Command header"/>
          <p:cNvSpPr/>
          <p:nvPr/>
        </p:nvSpPr>
        <p:spPr>
          <a:xfrm>
            <a:off x="548640" y="1664208"/>
            <a:ext cx="6153912" cy="310896"/>
          </a:xfrm>
          <a:prstGeom prst="rect">
            <a:avLst/>
          </a:prstGeom>
          <a:solidFill>
            <a:srgbClr val="1B2B22"/>
          </a:solidFill>
          <a:ln/>
        </p:spPr>
        <p:txBody>
          <a:bodyPr wrap="square" lIns="109728" tIns="45720" rIns="109728" bIns="45720" rtlCol="0" anchor="ctr"/>
          <a:lstStyle/>
          <a:p>
            <a:pPr indent="0" marL="0">
              <a:buNone/>
            </a:pPr>
            <a:r>
              <a:rPr lang="en-US" sz="1100" dirty="0">
                <a:solidFill>
                  <a:srgbClr val="E0605A"/>
                </a:solidFill>
              </a:rPr>
              <a:t>●  </a:t>
            </a:r>
            <a:r>
              <a:rPr lang="en-US" sz="1100" dirty="0">
                <a:solidFill>
                  <a:srgbClr val="E8B92E"/>
                </a:solidFill>
              </a:rPr>
              <a:t>●  </a:t>
            </a:r>
            <a:r>
              <a:rPr lang="en-US" sz="1100" dirty="0">
                <a:solidFill>
                  <a:srgbClr val="4CAF50"/>
                </a:solidFill>
              </a:rPr>
              <a:t>●   </a:t>
            </a:r>
            <a:r>
              <a:rPr lang="en-US" sz="1100" b="1" dirty="0">
                <a:solidFill>
                  <a:srgbClr val="C9D6CC"/>
                </a:solidFill>
              </a:rPr>
              <a:t>S1  —  type the white text, then press Enter</a:t>
            </a:r>
            <a:endParaRPr lang="en-US" sz="1100" dirty="0"/>
          </a:p>
        </p:txBody>
      </p:sp>
      <p:sp>
        <p:nvSpPr>
          <p:cNvPr id="7" name="Meaning header"/>
          <p:cNvSpPr/>
          <p:nvPr/>
        </p:nvSpPr>
        <p:spPr>
          <a:xfrm>
            <a:off x="6720840" y="1664208"/>
            <a:ext cx="4922215" cy="310896"/>
          </a:xfrm>
          <a:prstGeom prst="rect">
            <a:avLst/>
          </a:prstGeom>
          <a:solidFill>
            <a:srgbClr val="E8F1EA"/>
          </a:solidFill>
          <a:ln/>
        </p:spPr>
        <p:txBody>
          <a:bodyPr wrap="square" lIns="109728" tIns="45720" rIns="109728" bIns="45720" rtlCol="0" anchor="ctr"/>
          <a:lstStyle/>
          <a:p>
            <a:pPr indent="0" marL="0">
              <a:buNone/>
            </a:pPr>
            <a:r>
              <a:rPr lang="en-US" sz="1200" b="1" dirty="0">
                <a:solidFill>
                  <a:srgbClr val="1E5631"/>
                </a:solidFill>
              </a:rPr>
              <a:t>What it does</a:t>
            </a:r>
            <a:endParaRPr lang="en-US" sz="1200" dirty="0"/>
          </a:p>
        </p:txBody>
      </p:sp>
      <p:sp>
        <p:nvSpPr>
          <p:cNvPr id="8" name="Command 01"/>
          <p:cNvSpPr/>
          <p:nvPr/>
        </p:nvSpPr>
        <p:spPr>
          <a:xfrm>
            <a:off x="548640" y="1993392"/>
            <a:ext cx="6153912" cy="54380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S1(config)# </a:t>
            </a:r>
            <a:r>
              <a:rPr lang="en-US" sz="1200" b="1" dirty="0">
                <a:solidFill>
                  <a:srgbClr val="FFFFFF"/>
                </a:solidFill>
                <a:latin typeface="Courier New" pitchFamily="34" charset="0"/>
                <a:ea typeface="Courier New" pitchFamily="34" charset="-122"/>
                <a:cs typeface="Courier New" pitchFamily="34" charset="-120"/>
              </a:rPr>
              <a:t>vlan 10</a:t>
            </a:r>
            <a:endParaRPr lang="en-US" sz="1200" dirty="0"/>
          </a:p>
          <a:p>
            <a:pPr indent="0" marL="0">
              <a:buNone/>
            </a:pPr>
            <a:r>
              <a:rPr lang="en-US" sz="1200" dirty="0">
                <a:solidFill>
                  <a:srgbClr val="8FC9A0"/>
                </a:solidFill>
                <a:latin typeface="Courier New" pitchFamily="34" charset="0"/>
                <a:ea typeface="Courier New" pitchFamily="34" charset="-122"/>
                <a:cs typeface="Courier New" pitchFamily="34" charset="-120"/>
              </a:rPr>
              <a:t>S1(config-vlan)# </a:t>
            </a:r>
            <a:r>
              <a:rPr lang="en-US" sz="1200" b="1" dirty="0">
                <a:solidFill>
                  <a:srgbClr val="FFFFFF"/>
                </a:solidFill>
                <a:latin typeface="Courier New" pitchFamily="34" charset="0"/>
                <a:ea typeface="Courier New" pitchFamily="34" charset="-122"/>
                <a:cs typeface="Courier New" pitchFamily="34" charset="-120"/>
              </a:rPr>
              <a:t>name STAFF</a:t>
            </a:r>
            <a:endParaRPr lang="en-US" sz="1200" dirty="0"/>
          </a:p>
        </p:txBody>
      </p:sp>
      <p:sp>
        <p:nvSpPr>
          <p:cNvPr id="9" name="Reveal 01 meaning"/>
          <p:cNvSpPr/>
          <p:nvPr/>
        </p:nvSpPr>
        <p:spPr>
          <a:xfrm>
            <a:off x="6720840" y="1993392"/>
            <a:ext cx="4922215" cy="543809"/>
          </a:xfrm>
          <a:prstGeom prst="rect">
            <a:avLst/>
          </a:prstGeom>
          <a:solidFill>
            <a:srgbClr val="F2F8F3"/>
          </a:solidFill>
          <a:ln/>
        </p:spPr>
        <p:txBody>
          <a:bodyPr wrap="square" lIns="109728" tIns="45720" rIns="109728" bIns="45720" rtlCol="0" anchor="ctr"/>
          <a:lstStyle/>
          <a:p>
            <a:pPr indent="0" marL="0">
              <a:buNone/>
            </a:pPr>
            <a:r>
              <a:rPr lang="en-US" sz="1400" dirty="0">
                <a:solidFill>
                  <a:srgbClr val="2B2B2B"/>
                </a:solidFill>
              </a:rPr>
              <a:t>Create VLAN 10, enter VLAN mode, and give it a name people understand. Names show in </a:t>
            </a:r>
            <a:r>
              <a:rPr lang="en-US" sz="1300" b="1" dirty="0">
                <a:solidFill>
                  <a:srgbClr val="1E5631"/>
                </a:solidFill>
                <a:latin typeface="Courier New" pitchFamily="34" charset="0"/>
                <a:ea typeface="Courier New" pitchFamily="34" charset="-122"/>
                <a:cs typeface="Courier New" pitchFamily="34" charset="-120"/>
              </a:rPr>
              <a:t>show vlan brief</a:t>
            </a:r>
            <a:r>
              <a:rPr lang="en-US" sz="1400" dirty="0">
                <a:solidFill>
                  <a:srgbClr val="2B2B2B"/>
                </a:solidFill>
              </a:rPr>
              <a:t>.</a:t>
            </a:r>
            <a:endParaRPr lang="en-US" sz="1400" dirty="0"/>
          </a:p>
        </p:txBody>
      </p:sp>
      <p:sp>
        <p:nvSpPr>
          <p:cNvPr id="10" name="Command 02"/>
          <p:cNvSpPr/>
          <p:nvPr/>
        </p:nvSpPr>
        <p:spPr>
          <a:xfrm>
            <a:off x="548640" y="2555489"/>
            <a:ext cx="6153912" cy="54380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S1(config-vlan)# </a:t>
            </a:r>
            <a:r>
              <a:rPr lang="en-US" sz="1200" b="1" dirty="0">
                <a:solidFill>
                  <a:srgbClr val="FFFFFF"/>
                </a:solidFill>
                <a:latin typeface="Courier New" pitchFamily="34" charset="0"/>
                <a:ea typeface="Courier New" pitchFamily="34" charset="-122"/>
                <a:cs typeface="Courier New" pitchFamily="34" charset="-120"/>
              </a:rPr>
              <a:t>vlan 20</a:t>
            </a:r>
            <a:endParaRPr lang="en-US" sz="1200" dirty="0"/>
          </a:p>
          <a:p>
            <a:pPr indent="0" marL="0">
              <a:buNone/>
            </a:pPr>
            <a:r>
              <a:rPr lang="en-US" sz="1200" dirty="0">
                <a:solidFill>
                  <a:srgbClr val="8FC9A0"/>
                </a:solidFill>
                <a:latin typeface="Courier New" pitchFamily="34" charset="0"/>
                <a:ea typeface="Courier New" pitchFamily="34" charset="-122"/>
                <a:cs typeface="Courier New" pitchFamily="34" charset="-120"/>
              </a:rPr>
              <a:t>S1(config-vlan)# </a:t>
            </a:r>
            <a:r>
              <a:rPr lang="en-US" sz="1200" b="1" dirty="0">
                <a:solidFill>
                  <a:srgbClr val="FFFFFF"/>
                </a:solidFill>
                <a:latin typeface="Courier New" pitchFamily="34" charset="0"/>
                <a:ea typeface="Courier New" pitchFamily="34" charset="-122"/>
                <a:cs typeface="Courier New" pitchFamily="34" charset="-120"/>
              </a:rPr>
              <a:t>name STUDENTS</a:t>
            </a:r>
            <a:endParaRPr lang="en-US" sz="1200" dirty="0"/>
          </a:p>
        </p:txBody>
      </p:sp>
      <p:sp>
        <p:nvSpPr>
          <p:cNvPr id="11" name="Reveal 02 meaning"/>
          <p:cNvSpPr/>
          <p:nvPr/>
        </p:nvSpPr>
        <p:spPr>
          <a:xfrm>
            <a:off x="6720840" y="2555489"/>
            <a:ext cx="4922215" cy="543809"/>
          </a:xfrm>
          <a:prstGeom prst="rect">
            <a:avLst/>
          </a:prstGeom>
          <a:solidFill>
            <a:srgbClr val="FFFFFF"/>
          </a:solidFill>
          <a:ln/>
        </p:spPr>
        <p:txBody>
          <a:bodyPr wrap="square" lIns="109728" tIns="45720" rIns="109728" bIns="45720" rtlCol="0" anchor="ctr"/>
          <a:lstStyle/>
          <a:p>
            <a:pPr indent="0" marL="0">
              <a:buNone/>
            </a:pPr>
            <a:r>
              <a:rPr lang="en-US" sz="1400" dirty="0">
                <a:solidFill>
                  <a:srgbClr val="2B2B2B"/>
                </a:solidFill>
              </a:rPr>
              <a:t>Create the next VLAN straight from VLAN mode — no need to exit first.</a:t>
            </a:r>
            <a:endParaRPr lang="en-US" sz="1400" dirty="0"/>
          </a:p>
        </p:txBody>
      </p:sp>
      <p:sp>
        <p:nvSpPr>
          <p:cNvPr id="12" name="Command 03"/>
          <p:cNvSpPr/>
          <p:nvPr/>
        </p:nvSpPr>
        <p:spPr>
          <a:xfrm>
            <a:off x="548640" y="3117586"/>
            <a:ext cx="6153912" cy="455005"/>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S1(config-vlan)# </a:t>
            </a:r>
            <a:r>
              <a:rPr lang="en-US" sz="1200" b="1" dirty="0">
                <a:solidFill>
                  <a:srgbClr val="FFFFFF"/>
                </a:solidFill>
                <a:latin typeface="Courier New" pitchFamily="34" charset="0"/>
                <a:ea typeface="Courier New" pitchFamily="34" charset="-122"/>
                <a:cs typeface="Courier New" pitchFamily="34" charset="-120"/>
              </a:rPr>
              <a:t>vlan 30</a:t>
            </a:r>
            <a:endParaRPr lang="en-US" sz="1200" dirty="0"/>
          </a:p>
          <a:p>
            <a:pPr indent="0" marL="0">
              <a:buNone/>
            </a:pPr>
            <a:r>
              <a:rPr lang="en-US" sz="1200" dirty="0">
                <a:solidFill>
                  <a:srgbClr val="8FC9A0"/>
                </a:solidFill>
                <a:latin typeface="Courier New" pitchFamily="34" charset="0"/>
                <a:ea typeface="Courier New" pitchFamily="34" charset="-122"/>
                <a:cs typeface="Courier New" pitchFamily="34" charset="-120"/>
              </a:rPr>
              <a:t>S1(config-vlan)# </a:t>
            </a:r>
            <a:r>
              <a:rPr lang="en-US" sz="1200" b="1" dirty="0">
                <a:solidFill>
                  <a:srgbClr val="FFFFFF"/>
                </a:solidFill>
                <a:latin typeface="Courier New" pitchFamily="34" charset="0"/>
                <a:ea typeface="Courier New" pitchFamily="34" charset="-122"/>
                <a:cs typeface="Courier New" pitchFamily="34" charset="-120"/>
              </a:rPr>
              <a:t>name FINANCE</a:t>
            </a:r>
            <a:endParaRPr lang="en-US" sz="1200" dirty="0"/>
          </a:p>
        </p:txBody>
      </p:sp>
      <p:sp>
        <p:nvSpPr>
          <p:cNvPr id="13" name="Reveal 03 meaning"/>
          <p:cNvSpPr/>
          <p:nvPr/>
        </p:nvSpPr>
        <p:spPr>
          <a:xfrm>
            <a:off x="6720840" y="3117586"/>
            <a:ext cx="4922215" cy="455005"/>
          </a:xfrm>
          <a:prstGeom prst="rect">
            <a:avLst/>
          </a:prstGeom>
          <a:solidFill>
            <a:srgbClr val="F2F8F3"/>
          </a:solidFill>
          <a:ln/>
        </p:spPr>
        <p:txBody>
          <a:bodyPr wrap="square" lIns="109728" tIns="45720" rIns="109728" bIns="45720" rtlCol="0" anchor="ctr"/>
          <a:lstStyle/>
          <a:p>
            <a:pPr indent="0" marL="0">
              <a:buNone/>
            </a:pPr>
            <a:r>
              <a:rPr lang="en-US" sz="1400" dirty="0">
                <a:solidFill>
                  <a:srgbClr val="2B2B2B"/>
                </a:solidFill>
              </a:rPr>
              <a:t>VLAN 30 for the finance office.</a:t>
            </a:r>
            <a:endParaRPr lang="en-US" sz="1400" dirty="0"/>
          </a:p>
        </p:txBody>
      </p:sp>
      <p:sp>
        <p:nvSpPr>
          <p:cNvPr id="14" name="Command 04"/>
          <p:cNvSpPr/>
          <p:nvPr/>
        </p:nvSpPr>
        <p:spPr>
          <a:xfrm>
            <a:off x="548640" y="3590879"/>
            <a:ext cx="6153912" cy="54380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S1(config-vlan)# </a:t>
            </a:r>
            <a:r>
              <a:rPr lang="en-US" sz="1200" b="1" dirty="0">
                <a:solidFill>
                  <a:srgbClr val="FFFFFF"/>
                </a:solidFill>
                <a:latin typeface="Courier New" pitchFamily="34" charset="0"/>
                <a:ea typeface="Courier New" pitchFamily="34" charset="-122"/>
                <a:cs typeface="Courier New" pitchFamily="34" charset="-120"/>
              </a:rPr>
              <a:t>vlan 99</a:t>
            </a:r>
            <a:endParaRPr lang="en-US" sz="1200" dirty="0"/>
          </a:p>
          <a:p>
            <a:pPr indent="0" marL="0">
              <a:buNone/>
            </a:pPr>
            <a:r>
              <a:rPr lang="en-US" sz="1200" dirty="0">
                <a:solidFill>
                  <a:srgbClr val="8FC9A0"/>
                </a:solidFill>
                <a:latin typeface="Courier New" pitchFamily="34" charset="0"/>
                <a:ea typeface="Courier New" pitchFamily="34" charset="-122"/>
                <a:cs typeface="Courier New" pitchFamily="34" charset="-120"/>
              </a:rPr>
              <a:t>S1(config-vlan)# </a:t>
            </a:r>
            <a:r>
              <a:rPr lang="en-US" sz="1200" b="1" dirty="0">
                <a:solidFill>
                  <a:srgbClr val="FFFFFF"/>
                </a:solidFill>
                <a:latin typeface="Courier New" pitchFamily="34" charset="0"/>
                <a:ea typeface="Courier New" pitchFamily="34" charset="-122"/>
                <a:cs typeface="Courier New" pitchFamily="34" charset="-120"/>
              </a:rPr>
              <a:t>name MGMT</a:t>
            </a:r>
            <a:endParaRPr lang="en-US" sz="1200" dirty="0"/>
          </a:p>
        </p:txBody>
      </p:sp>
      <p:sp>
        <p:nvSpPr>
          <p:cNvPr id="15" name="Reveal 04 meaning"/>
          <p:cNvSpPr/>
          <p:nvPr/>
        </p:nvSpPr>
        <p:spPr>
          <a:xfrm>
            <a:off x="6720840" y="3590879"/>
            <a:ext cx="4922215" cy="543809"/>
          </a:xfrm>
          <a:prstGeom prst="rect">
            <a:avLst/>
          </a:prstGeom>
          <a:solidFill>
            <a:srgbClr val="FFFFFF"/>
          </a:solidFill>
          <a:ln/>
        </p:spPr>
        <p:txBody>
          <a:bodyPr wrap="square" lIns="109728" tIns="45720" rIns="109728" bIns="45720" rtlCol="0" anchor="ctr"/>
          <a:lstStyle/>
          <a:p>
            <a:pPr indent="0" marL="0">
              <a:buNone/>
            </a:pPr>
            <a:r>
              <a:rPr lang="en-US" sz="1400" dirty="0">
                <a:solidFill>
                  <a:srgbClr val="2B2B2B"/>
                </a:solidFill>
              </a:rPr>
              <a:t>VLAN 99 for managing the switches; it will also be the trunks’ native VLAN.</a:t>
            </a:r>
            <a:endParaRPr lang="en-US" sz="1400" dirty="0"/>
          </a:p>
        </p:txBody>
      </p:sp>
      <p:sp>
        <p:nvSpPr>
          <p:cNvPr id="16" name="Command 05"/>
          <p:cNvSpPr/>
          <p:nvPr/>
        </p:nvSpPr>
        <p:spPr>
          <a:xfrm>
            <a:off x="548640" y="4152976"/>
            <a:ext cx="6153912" cy="54380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S1(config-vlan)# </a:t>
            </a:r>
            <a:r>
              <a:rPr lang="en-US" sz="1200" b="1" dirty="0">
                <a:solidFill>
                  <a:srgbClr val="FFFFFF"/>
                </a:solidFill>
                <a:latin typeface="Courier New" pitchFamily="34" charset="0"/>
                <a:ea typeface="Courier New" pitchFamily="34" charset="-122"/>
                <a:cs typeface="Courier New" pitchFamily="34" charset="-120"/>
              </a:rPr>
              <a:t>end</a:t>
            </a:r>
            <a:endParaRPr lang="en-US" sz="1200" dirty="0"/>
          </a:p>
        </p:txBody>
      </p:sp>
      <p:sp>
        <p:nvSpPr>
          <p:cNvPr id="17" name="Reveal 05 meaning"/>
          <p:cNvSpPr/>
          <p:nvPr/>
        </p:nvSpPr>
        <p:spPr>
          <a:xfrm>
            <a:off x="6720840" y="4152976"/>
            <a:ext cx="4922215" cy="543809"/>
          </a:xfrm>
          <a:prstGeom prst="rect">
            <a:avLst/>
          </a:prstGeom>
          <a:solidFill>
            <a:srgbClr val="F2F8F3"/>
          </a:solidFill>
          <a:ln/>
        </p:spPr>
        <p:txBody>
          <a:bodyPr wrap="square" lIns="109728" tIns="45720" rIns="109728" bIns="45720" rtlCol="0" anchor="ctr"/>
          <a:lstStyle/>
          <a:p>
            <a:pPr indent="0" marL="0">
              <a:buNone/>
            </a:pPr>
            <a:r>
              <a:rPr lang="en-US" sz="1400" dirty="0">
                <a:solidFill>
                  <a:srgbClr val="2B2B2B"/>
                </a:solidFill>
              </a:rPr>
              <a:t>Back to privileged mode. The VLANs are applied when you leave VLAN mode.</a:t>
            </a:r>
            <a:endParaRPr lang="en-US" sz="1400" dirty="0"/>
          </a:p>
        </p:txBody>
      </p:sp>
      <p:sp>
        <p:nvSpPr>
          <p:cNvPr id="18" name="Reveal 99 check box"/>
          <p:cNvSpPr/>
          <p:nvPr/>
        </p:nvSpPr>
        <p:spPr>
          <a:xfrm>
            <a:off x="548640" y="5504688"/>
            <a:ext cx="5410048" cy="749808"/>
          </a:xfrm>
          <a:prstGeom prst="roundRect">
            <a:avLst>
              <a:gd name="adj" fmla="val 9756"/>
            </a:avLst>
          </a:prstGeom>
          <a:solidFill>
            <a:srgbClr val="E8F1EA"/>
          </a:solidFill>
          <a:ln w="12700">
            <a:solidFill>
              <a:srgbClr val="B7C9BA"/>
            </a:solidFill>
            <a:prstDash val="solid"/>
          </a:ln>
        </p:spPr>
      </p:sp>
      <p:pic>
        <p:nvPicPr>
          <p:cNvPr id="19" name="Reveal 99 check icon" descr="Check it:">    </p:cNvPr>
          <p:cNvPicPr>
            <a:picLocks noChangeAspect="1"/>
          </p:cNvPicPr>
          <p:nvPr/>
        </p:nvPicPr>
        <p:blipFill>
          <a:blip r:embed="rId3"/>
          <a:stretch>
            <a:fillRect/>
          </a:stretch>
        </p:blipFill>
        <p:spPr>
          <a:xfrm>
            <a:off x="694944" y="5733288"/>
            <a:ext cx="292608" cy="292608"/>
          </a:xfrm>
          <a:prstGeom prst="rect">
            <a:avLst/>
          </a:prstGeom>
        </p:spPr>
      </p:pic>
      <p:sp>
        <p:nvSpPr>
          <p:cNvPr id="20" name="Reveal 99 check text"/>
          <p:cNvSpPr txBox="1"/>
          <p:nvPr/>
        </p:nvSpPr>
        <p:spPr>
          <a:xfrm>
            <a:off x="1097280" y="5541264"/>
            <a:ext cx="4751680" cy="676656"/>
          </a:xfrm>
          <a:prstGeom prst="rect">
            <a:avLst/>
          </a:prstGeom>
          <a:noFill/>
          <a:ln/>
        </p:spPr>
        <p:txBody>
          <a:bodyPr wrap="square" lIns="0" tIns="0" rIns="0" bIns="0" rtlCol="0" anchor="ctr"/>
          <a:lstStyle/>
          <a:p>
            <a:pPr indent="0" marL="0">
              <a:buNone/>
            </a:pPr>
            <a:r>
              <a:rPr lang="en-US" sz="1400" b="1" dirty="0">
                <a:solidFill>
                  <a:srgbClr val="1E5631"/>
                </a:solidFill>
              </a:rPr>
              <a:t>Check it:  </a:t>
            </a:r>
            <a:r>
              <a:rPr lang="en-US" sz="1300" b="1" dirty="0">
                <a:solidFill>
                  <a:srgbClr val="1E5631"/>
                </a:solidFill>
                <a:latin typeface="Courier New" pitchFamily="34" charset="0"/>
                <a:ea typeface="Courier New" pitchFamily="34" charset="-122"/>
                <a:cs typeface="Courier New" pitchFamily="34" charset="-120"/>
              </a:rPr>
              <a:t>show vlan brief</a:t>
            </a:r>
            <a:r>
              <a:rPr lang="en-US" sz="1400" dirty="0">
                <a:solidFill>
                  <a:srgbClr val="2B2B2B"/>
                </a:solidFill>
              </a:rPr>
              <a:t> lists 10 STAFF, 20 STUDENTS, 30 FINANCE and 99 MGMT (no ports yet).</a:t>
            </a:r>
            <a:endParaRPr lang="en-US" sz="1400" dirty="0"/>
          </a:p>
        </p:txBody>
      </p:sp>
      <p:sp>
        <p:nvSpPr>
          <p:cNvPr id="21" name="Reveal 99 watch box"/>
          <p:cNvSpPr/>
          <p:nvPr/>
        </p:nvSpPr>
        <p:spPr>
          <a:xfrm>
            <a:off x="6233008" y="5504688"/>
            <a:ext cx="5410048" cy="749808"/>
          </a:xfrm>
          <a:prstGeom prst="roundRect">
            <a:avLst>
              <a:gd name="adj" fmla="val 9756"/>
            </a:avLst>
          </a:prstGeom>
          <a:solidFill>
            <a:srgbClr val="FBEAEA"/>
          </a:solidFill>
          <a:ln w="12700">
            <a:solidFill>
              <a:srgbClr val="E9B8B5"/>
            </a:solidFill>
            <a:prstDash val="solid"/>
          </a:ln>
        </p:spPr>
      </p:sp>
      <p:pic>
        <p:nvPicPr>
          <p:cNvPr id="22" name="Reveal 99 watch icon" descr="Watch out:">    </p:cNvPr>
          <p:cNvPicPr>
            <a:picLocks noChangeAspect="1"/>
          </p:cNvPicPr>
          <p:nvPr/>
        </p:nvPicPr>
        <p:blipFill>
          <a:blip r:embed="rId4"/>
          <a:stretch>
            <a:fillRect/>
          </a:stretch>
        </p:blipFill>
        <p:spPr>
          <a:xfrm>
            <a:off x="6379312" y="5733288"/>
            <a:ext cx="292608" cy="292608"/>
          </a:xfrm>
          <a:prstGeom prst="rect">
            <a:avLst/>
          </a:prstGeom>
        </p:spPr>
      </p:pic>
      <p:sp>
        <p:nvSpPr>
          <p:cNvPr id="23" name="Reveal 99 watch text"/>
          <p:cNvSpPr txBox="1"/>
          <p:nvPr/>
        </p:nvSpPr>
        <p:spPr>
          <a:xfrm>
            <a:off x="6781648" y="5541264"/>
            <a:ext cx="4751680" cy="676656"/>
          </a:xfrm>
          <a:prstGeom prst="rect">
            <a:avLst/>
          </a:prstGeom>
          <a:noFill/>
          <a:ln/>
        </p:spPr>
        <p:txBody>
          <a:bodyPr wrap="square" lIns="0" tIns="0" rIns="0" bIns="0" rtlCol="0" anchor="ctr"/>
          <a:lstStyle/>
          <a:p>
            <a:pPr indent="0" marL="0">
              <a:buNone/>
            </a:pPr>
            <a:r>
              <a:rPr lang="en-US" sz="1400" b="1" dirty="0">
                <a:solidFill>
                  <a:srgbClr val="8B1A1A"/>
                </a:solidFill>
              </a:rPr>
              <a:t>Watch out:  </a:t>
            </a:r>
            <a:r>
              <a:rPr lang="en-US" sz="1400" dirty="0">
                <a:solidFill>
                  <a:srgbClr val="2B2B2B"/>
                </a:solidFill>
              </a:rPr>
              <a:t>VLAN 1 is the default: it cannot be renamed or deleted. Repeat these commands on S2!</a:t>
            </a:r>
            <a:endParaRPr lang="en-US" sz="1400" dirty="0"/>
          </a:p>
        </p:txBody>
      </p:sp>
      <p:sp>
        <p:nvSpPr>
          <p:cNvPr id="25" name="Slide Number Placeholder 0"/>
          <p:cNvSpPr>
            <a:spLocks noGrp="1"/>
          </p:cNvSpPr>
          <p:nvPr>
            <p:ph type="sldNum" sz="quarter" idx="4294967295"/>
          </p:nvPr>
        </p:nvSpPr>
        <p:spPr>
          <a:xfrm>
            <a:off x="10698480" y="6464808"/>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r"/>
            <a:fld id="{F7021451-1387-4CA6-816F-3879F97B5CBC}" type="slidenum">
              <a:rPr b="0" lang="en-US"/>
              <a:t>29</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4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0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400"/>
                                        <p:tgtEl>
                                          <p:spTgt spid="1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400"/>
                                        <p:tgtEl>
                                          <p:spTgt spid="1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fade">
                                      <p:cBhvr>
                                        <p:cTn id="38" dur="400"/>
                                        <p:tgtEl>
                                          <p:spTgt spid="20"/>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fade">
                                      <p:cBhvr>
                                        <p:cTn id="41" dur="400"/>
                                        <p:tgtEl>
                                          <p:spTgt spid="21"/>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fade">
                                      <p:cBhvr>
                                        <p:cTn id="44" dur="400"/>
                                        <p:tgtEl>
                                          <p:spTgt spid="22"/>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3" grpId="0" animBg="1"/>
      <p:bldP spid="15" grpId="0" animBg="1"/>
      <p:bldP spid="17" grpId="0" animBg="1"/>
      <p:bldP spid="18" grpId="0" animBg="1"/>
      <p:bldP spid="20" grpId="0" animBg="1"/>
      <p:bldP spid="21" grpId="0" animBg="1"/>
      <p:bldP spid="23"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1"/>
          <p:cNvSpPr/>
          <p:nvPr>
            <p:ph idx="102" type="body" hasCustomPrompt="1"/>
          </p:nvPr>
        </p:nvSpPr>
        <p:spPr>
          <a:xfrm>
            <a:off x="548640" y="274320"/>
            <a:ext cx="9966960" cy="256032"/>
          </a:xfrm>
          <a:prstGeom prst="rect">
            <a:avLst/>
          </a:prstGeom>
          <a:noFill/>
          <a:ln/>
        </p:spPr>
        <p:txBody>
          <a:bodyPr wrap="square" lIns="0" tIns="0" rIns="0" bIns="0" rtlCol="0" anchor="ctr"/>
          <a:lstStyle/>
          <a:p>
            <a:pPr algn="l" indent="0" marL="0">
              <a:buNone/>
            </a:pPr>
            <a:r>
              <a:rPr lang="en-US" sz="1100" b="1" spc="100" kern="0" dirty="0">
                <a:solidFill>
                  <a:schemeClr val="accent2"/>
                </a:solidFill>
              </a:rPr>
              <a:t>04  •  VLANS &amp; TRUNKS  •  LAB 2</a:t>
            </a:r>
            <a:endParaRPr lang="en-US" sz="1100" dirty="0"/>
          </a:p>
        </p:txBody>
      </p:sp>
      <p:sp>
        <p:nvSpPr>
          <p:cNvPr id="3" name="Text 1"/>
          <p:cNvSpPr/>
          <p:nvPr>
            <p:ph idx="103" type="title" hasCustomPrompt="1"/>
          </p:nvPr>
        </p:nvSpPr>
        <p:spPr>
          <a:xfrm>
            <a:off x="548640" y="548640"/>
            <a:ext cx="10149840" cy="548640"/>
          </a:xfrm>
          <a:prstGeom prst="rect">
            <a:avLst/>
          </a:prstGeom>
          <a:noFill/>
          <a:ln/>
        </p:spPr>
        <p:txBody>
          <a:bodyPr wrap="square" lIns="0" tIns="0" rIns="0" bIns="0" rtlCol="0" anchor="ctr"/>
          <a:lstStyle/>
          <a:p>
            <a:pPr algn="l" indent="0" marL="0">
              <a:buNone/>
            </a:pPr>
            <a:r>
              <a:rPr lang="en-US" sz="2600" b="1" dirty="0">
                <a:solidFill>
                  <a:schemeClr val="accent1"/>
                </a:solidFill>
              </a:rPr>
              <a:t>How to put switch ports into a VLAN (access ports)</a:t>
            </a:r>
            <a:endParaRPr lang="en-US" sz="2600" dirty="0"/>
          </a:p>
        </p:txBody>
      </p:sp>
      <p:pic>
        <p:nvPicPr>
          <p:cNvPr id="4" name="Home button" descr="Home: back to the workbook menu">
            <a:hlinkClick r:id="rId2" tooltip="Back to the workbook menu" action="ppaction://hlinksldjump"/>
          </p:cNvPr>
          <p:cNvPicPr>
            <a:picLocks noChangeAspect="1"/>
          </p:cNvPicPr>
          <p:nvPr/>
        </p:nvPicPr>
        <p:blipFill>
          <a:blip r:embed="rId1"/>
          <a:stretch>
            <a:fillRect/>
          </a:stretch>
        </p:blipFill>
        <p:spPr>
          <a:xfrm>
            <a:off x="11365992" y="6336792"/>
            <a:ext cx="365760" cy="365760"/>
          </a:xfrm>
          <a:prstGeom prst="rect">
            <a:avLst/>
          </a:prstGeom>
        </p:spPr>
      </p:pic>
      <p:sp>
        <p:nvSpPr>
          <p:cNvPr id="5" name="Goal"/>
          <p:cNvSpPr txBox="1"/>
          <p:nvPr/>
        </p:nvSpPr>
        <p:spPr>
          <a:xfrm>
            <a:off x="548640" y="1161288"/>
            <a:ext cx="11094415" cy="384048"/>
          </a:xfrm>
          <a:prstGeom prst="rect">
            <a:avLst/>
          </a:prstGeom>
          <a:noFill/>
          <a:ln/>
        </p:spPr>
        <p:txBody>
          <a:bodyPr wrap="square" lIns="0" tIns="0" rIns="0" bIns="0" rtlCol="0" anchor="ctr"/>
          <a:lstStyle/>
          <a:p>
            <a:pPr indent="0" marL="0">
              <a:buNone/>
            </a:pPr>
            <a:r>
              <a:rPr lang="en-US" sz="1400" b="1" dirty="0">
                <a:solidFill>
                  <a:srgbClr val="2B7043"/>
                </a:solidFill>
              </a:rPr>
              <a:t>Goal:  </a:t>
            </a:r>
            <a:r>
              <a:rPr lang="en-US" sz="1400" dirty="0">
                <a:solidFill>
                  <a:srgbClr val="2B2B2B"/>
                </a:solidFill>
              </a:rPr>
              <a:t>Place each user port in its department’s VLAN. A PC plugged into that port joins that VLAN’s subnet.</a:t>
            </a:r>
            <a:endParaRPr lang="en-US" sz="1400" dirty="0"/>
          </a:p>
        </p:txBody>
      </p:sp>
      <p:sp>
        <p:nvSpPr>
          <p:cNvPr id="6" name="Command header"/>
          <p:cNvSpPr/>
          <p:nvPr/>
        </p:nvSpPr>
        <p:spPr>
          <a:xfrm>
            <a:off x="548640" y="1664208"/>
            <a:ext cx="6153912" cy="310896"/>
          </a:xfrm>
          <a:prstGeom prst="rect">
            <a:avLst/>
          </a:prstGeom>
          <a:solidFill>
            <a:srgbClr val="1B2B22"/>
          </a:solidFill>
          <a:ln/>
        </p:spPr>
        <p:txBody>
          <a:bodyPr wrap="square" lIns="109728" tIns="45720" rIns="109728" bIns="45720" rtlCol="0" anchor="ctr"/>
          <a:lstStyle/>
          <a:p>
            <a:pPr indent="0" marL="0">
              <a:buNone/>
            </a:pPr>
            <a:r>
              <a:rPr lang="en-US" sz="1100" dirty="0">
                <a:solidFill>
                  <a:srgbClr val="E0605A"/>
                </a:solidFill>
              </a:rPr>
              <a:t>●  </a:t>
            </a:r>
            <a:r>
              <a:rPr lang="en-US" sz="1100" dirty="0">
                <a:solidFill>
                  <a:srgbClr val="E8B92E"/>
                </a:solidFill>
              </a:rPr>
              <a:t>●  </a:t>
            </a:r>
            <a:r>
              <a:rPr lang="en-US" sz="1100" dirty="0">
                <a:solidFill>
                  <a:srgbClr val="4CAF50"/>
                </a:solidFill>
              </a:rPr>
              <a:t>●   </a:t>
            </a:r>
            <a:r>
              <a:rPr lang="en-US" sz="1100" b="1" dirty="0">
                <a:solidFill>
                  <a:srgbClr val="C9D6CC"/>
                </a:solidFill>
              </a:rPr>
              <a:t>S1  —  type the white text, then press Enter</a:t>
            </a:r>
            <a:endParaRPr lang="en-US" sz="1100" dirty="0"/>
          </a:p>
        </p:txBody>
      </p:sp>
      <p:sp>
        <p:nvSpPr>
          <p:cNvPr id="7" name="Meaning header"/>
          <p:cNvSpPr/>
          <p:nvPr/>
        </p:nvSpPr>
        <p:spPr>
          <a:xfrm>
            <a:off x="6720840" y="1664208"/>
            <a:ext cx="4922215" cy="310896"/>
          </a:xfrm>
          <a:prstGeom prst="rect">
            <a:avLst/>
          </a:prstGeom>
          <a:solidFill>
            <a:srgbClr val="E8F1EA"/>
          </a:solidFill>
          <a:ln/>
        </p:spPr>
        <p:txBody>
          <a:bodyPr wrap="square" lIns="109728" tIns="45720" rIns="109728" bIns="45720" rtlCol="0" anchor="ctr"/>
          <a:lstStyle/>
          <a:p>
            <a:pPr indent="0" marL="0">
              <a:buNone/>
            </a:pPr>
            <a:r>
              <a:rPr lang="en-US" sz="1200" b="1" dirty="0">
                <a:solidFill>
                  <a:srgbClr val="1E5631"/>
                </a:solidFill>
              </a:rPr>
              <a:t>What it does</a:t>
            </a:r>
            <a:endParaRPr lang="en-US" sz="1200" dirty="0"/>
          </a:p>
        </p:txBody>
      </p:sp>
      <p:sp>
        <p:nvSpPr>
          <p:cNvPr id="8" name="Command 01"/>
          <p:cNvSpPr/>
          <p:nvPr/>
        </p:nvSpPr>
        <p:spPr>
          <a:xfrm>
            <a:off x="548640" y="1993392"/>
            <a:ext cx="6153912" cy="326768"/>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S1(config)# </a:t>
            </a:r>
            <a:r>
              <a:rPr lang="en-US" sz="1200" b="1" dirty="0">
                <a:solidFill>
                  <a:srgbClr val="FFFFFF"/>
                </a:solidFill>
                <a:latin typeface="Courier New" pitchFamily="34" charset="0"/>
                <a:ea typeface="Courier New" pitchFamily="34" charset="-122"/>
                <a:cs typeface="Courier New" pitchFamily="34" charset="-120"/>
              </a:rPr>
              <a:t>interface range fa0/1 - 10</a:t>
            </a:r>
            <a:endParaRPr lang="en-US" sz="1200" dirty="0"/>
          </a:p>
        </p:txBody>
      </p:sp>
      <p:sp>
        <p:nvSpPr>
          <p:cNvPr id="9" name="Reveal 01 meaning"/>
          <p:cNvSpPr/>
          <p:nvPr/>
        </p:nvSpPr>
        <p:spPr>
          <a:xfrm>
            <a:off x="6720840" y="1993392"/>
            <a:ext cx="4922215" cy="326768"/>
          </a:xfrm>
          <a:prstGeom prst="rect">
            <a:avLst/>
          </a:prstGeom>
          <a:solidFill>
            <a:srgbClr val="F2F8F3"/>
          </a:solidFill>
          <a:ln/>
        </p:spPr>
        <p:txBody>
          <a:bodyPr wrap="square" lIns="109728" tIns="45720" rIns="109728" bIns="45720" rtlCol="0" anchor="ctr"/>
          <a:lstStyle/>
          <a:p>
            <a:pPr indent="0" marL="0">
              <a:buNone/>
            </a:pPr>
            <a:r>
              <a:rPr lang="en-US" sz="1400" dirty="0">
                <a:solidFill>
                  <a:srgbClr val="2B2B2B"/>
                </a:solidFill>
              </a:rPr>
              <a:t>Select the ten STAFF ports.</a:t>
            </a:r>
            <a:endParaRPr lang="en-US" sz="1400" dirty="0"/>
          </a:p>
        </p:txBody>
      </p:sp>
      <p:sp>
        <p:nvSpPr>
          <p:cNvPr id="10" name="Command 02"/>
          <p:cNvSpPr/>
          <p:nvPr/>
        </p:nvSpPr>
        <p:spPr>
          <a:xfrm>
            <a:off x="548640" y="2338448"/>
            <a:ext cx="6153912" cy="54380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S1(config-if-range)# </a:t>
            </a:r>
            <a:r>
              <a:rPr lang="en-US" sz="1200" b="1" dirty="0">
                <a:solidFill>
                  <a:srgbClr val="FFFFFF"/>
                </a:solidFill>
                <a:latin typeface="Courier New" pitchFamily="34" charset="0"/>
                <a:ea typeface="Courier New" pitchFamily="34" charset="-122"/>
                <a:cs typeface="Courier New" pitchFamily="34" charset="-120"/>
              </a:rPr>
              <a:t>switchport mode access</a:t>
            </a:r>
            <a:endParaRPr lang="en-US" sz="1200" dirty="0"/>
          </a:p>
        </p:txBody>
      </p:sp>
      <p:sp>
        <p:nvSpPr>
          <p:cNvPr id="11" name="Reveal 02 meaning"/>
          <p:cNvSpPr/>
          <p:nvPr/>
        </p:nvSpPr>
        <p:spPr>
          <a:xfrm>
            <a:off x="6720840" y="2338448"/>
            <a:ext cx="4922215" cy="543809"/>
          </a:xfrm>
          <a:prstGeom prst="rect">
            <a:avLst/>
          </a:prstGeom>
          <a:solidFill>
            <a:srgbClr val="FFFFFF"/>
          </a:solidFill>
          <a:ln/>
        </p:spPr>
        <p:txBody>
          <a:bodyPr wrap="square" lIns="109728" tIns="45720" rIns="109728" bIns="45720" rtlCol="0" anchor="ctr"/>
          <a:lstStyle/>
          <a:p>
            <a:pPr indent="0" marL="0">
              <a:buNone/>
            </a:pPr>
            <a:r>
              <a:rPr lang="en-US" sz="1400" dirty="0">
                <a:solidFill>
                  <a:srgbClr val="2B2B2B"/>
                </a:solidFill>
              </a:rPr>
              <a:t>Fix them as access ports: one VLAN, for end devices. They can no longer turn themselves into trunks.</a:t>
            </a:r>
            <a:endParaRPr lang="en-US" sz="1400" dirty="0"/>
          </a:p>
        </p:txBody>
      </p:sp>
      <p:sp>
        <p:nvSpPr>
          <p:cNvPr id="12" name="Command 03"/>
          <p:cNvSpPr/>
          <p:nvPr/>
        </p:nvSpPr>
        <p:spPr>
          <a:xfrm>
            <a:off x="548640" y="2900545"/>
            <a:ext cx="6153912" cy="326768"/>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S1(config-if-range)# </a:t>
            </a:r>
            <a:r>
              <a:rPr lang="en-US" sz="1200" b="1" dirty="0">
                <a:solidFill>
                  <a:srgbClr val="FFFFFF"/>
                </a:solidFill>
                <a:latin typeface="Courier New" pitchFamily="34" charset="0"/>
                <a:ea typeface="Courier New" pitchFamily="34" charset="-122"/>
                <a:cs typeface="Courier New" pitchFamily="34" charset="-120"/>
              </a:rPr>
              <a:t>switchport access vlan 10</a:t>
            </a:r>
            <a:endParaRPr lang="en-US" sz="1200" dirty="0"/>
          </a:p>
        </p:txBody>
      </p:sp>
      <p:sp>
        <p:nvSpPr>
          <p:cNvPr id="13" name="Reveal 03 meaning"/>
          <p:cNvSpPr/>
          <p:nvPr/>
        </p:nvSpPr>
        <p:spPr>
          <a:xfrm>
            <a:off x="6720840" y="2900545"/>
            <a:ext cx="4922215" cy="326768"/>
          </a:xfrm>
          <a:prstGeom prst="rect">
            <a:avLst/>
          </a:prstGeom>
          <a:solidFill>
            <a:srgbClr val="F2F8F3"/>
          </a:solidFill>
          <a:ln/>
        </p:spPr>
        <p:txBody>
          <a:bodyPr wrap="square" lIns="109728" tIns="45720" rIns="109728" bIns="45720" rtlCol="0" anchor="ctr"/>
          <a:lstStyle/>
          <a:p>
            <a:pPr indent="0" marL="0">
              <a:buNone/>
            </a:pPr>
            <a:r>
              <a:rPr lang="en-US" sz="1400" dirty="0">
                <a:solidFill>
                  <a:srgbClr val="2B2B2B"/>
                </a:solidFill>
              </a:rPr>
              <a:t>Put the ports in VLAN 10 (STAFF).</a:t>
            </a:r>
            <a:endParaRPr lang="en-US" sz="1400" dirty="0"/>
          </a:p>
        </p:txBody>
      </p:sp>
      <p:sp>
        <p:nvSpPr>
          <p:cNvPr id="14" name="Command 04"/>
          <p:cNvSpPr/>
          <p:nvPr/>
        </p:nvSpPr>
        <p:spPr>
          <a:xfrm>
            <a:off x="548640" y="3245602"/>
            <a:ext cx="6153912" cy="627644"/>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S1(config-if-range)# </a:t>
            </a:r>
            <a:r>
              <a:rPr lang="en-US" sz="1200" b="1" dirty="0">
                <a:solidFill>
                  <a:srgbClr val="FFFFFF"/>
                </a:solidFill>
                <a:latin typeface="Courier New" pitchFamily="34" charset="0"/>
                <a:ea typeface="Courier New" pitchFamily="34" charset="-122"/>
                <a:cs typeface="Courier New" pitchFamily="34" charset="-120"/>
              </a:rPr>
              <a:t>interface range fa0/11 - 20</a:t>
            </a:r>
            <a:endParaRPr lang="en-US" sz="1200" dirty="0"/>
          </a:p>
          <a:p>
            <a:pPr indent="0" marL="0">
              <a:buNone/>
            </a:pPr>
            <a:r>
              <a:rPr lang="en-US" sz="1200" dirty="0">
                <a:solidFill>
                  <a:srgbClr val="8FC9A0"/>
                </a:solidFill>
                <a:latin typeface="Courier New" pitchFamily="34" charset="0"/>
                <a:ea typeface="Courier New" pitchFamily="34" charset="-122"/>
                <a:cs typeface="Courier New" pitchFamily="34" charset="-120"/>
              </a:rPr>
              <a:t>S1(config-if-range)# </a:t>
            </a:r>
            <a:r>
              <a:rPr lang="en-US" sz="1200" b="1" dirty="0">
                <a:solidFill>
                  <a:srgbClr val="FFFFFF"/>
                </a:solidFill>
                <a:latin typeface="Courier New" pitchFamily="34" charset="0"/>
                <a:ea typeface="Courier New" pitchFamily="34" charset="-122"/>
                <a:cs typeface="Courier New" pitchFamily="34" charset="-120"/>
              </a:rPr>
              <a:t>switchport mode access</a:t>
            </a:r>
            <a:endParaRPr lang="en-US" sz="1200" dirty="0"/>
          </a:p>
          <a:p>
            <a:pPr indent="0" marL="0">
              <a:buNone/>
            </a:pPr>
            <a:r>
              <a:rPr lang="en-US" sz="1200" dirty="0">
                <a:solidFill>
                  <a:srgbClr val="8FC9A0"/>
                </a:solidFill>
                <a:latin typeface="Courier New" pitchFamily="34" charset="0"/>
                <a:ea typeface="Courier New" pitchFamily="34" charset="-122"/>
                <a:cs typeface="Courier New" pitchFamily="34" charset="-120"/>
              </a:rPr>
              <a:t>S1(config-if-range)# </a:t>
            </a:r>
            <a:r>
              <a:rPr lang="en-US" sz="1200" b="1" dirty="0">
                <a:solidFill>
                  <a:srgbClr val="FFFFFF"/>
                </a:solidFill>
                <a:latin typeface="Courier New" pitchFamily="34" charset="0"/>
                <a:ea typeface="Courier New" pitchFamily="34" charset="-122"/>
                <a:cs typeface="Courier New" pitchFamily="34" charset="-120"/>
              </a:rPr>
              <a:t>switchport access vlan 20</a:t>
            </a:r>
            <a:endParaRPr lang="en-US" sz="1200" dirty="0"/>
          </a:p>
        </p:txBody>
      </p:sp>
      <p:sp>
        <p:nvSpPr>
          <p:cNvPr id="15" name="Reveal 04 meaning"/>
          <p:cNvSpPr/>
          <p:nvPr/>
        </p:nvSpPr>
        <p:spPr>
          <a:xfrm>
            <a:off x="6720840" y="3245602"/>
            <a:ext cx="4922215" cy="627644"/>
          </a:xfrm>
          <a:prstGeom prst="rect">
            <a:avLst/>
          </a:prstGeom>
          <a:solidFill>
            <a:srgbClr val="FFFFFF"/>
          </a:solidFill>
          <a:ln/>
        </p:spPr>
        <p:txBody>
          <a:bodyPr wrap="square" lIns="109728" tIns="45720" rIns="109728" bIns="45720" rtlCol="0" anchor="ctr"/>
          <a:lstStyle/>
          <a:p>
            <a:pPr indent="0" marL="0">
              <a:buNone/>
            </a:pPr>
            <a:r>
              <a:rPr lang="en-US" sz="1400" dirty="0">
                <a:solidFill>
                  <a:srgbClr val="2B2B2B"/>
                </a:solidFill>
              </a:rPr>
              <a:t>The same three steps for the STUDENTS ports.</a:t>
            </a:r>
            <a:endParaRPr lang="en-US" sz="1400" dirty="0"/>
          </a:p>
        </p:txBody>
      </p:sp>
      <p:sp>
        <p:nvSpPr>
          <p:cNvPr id="16" name="Command 05"/>
          <p:cNvSpPr/>
          <p:nvPr/>
        </p:nvSpPr>
        <p:spPr>
          <a:xfrm>
            <a:off x="548640" y="3891534"/>
            <a:ext cx="6153912" cy="627644"/>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S1(config-if-range)# </a:t>
            </a:r>
            <a:r>
              <a:rPr lang="en-US" sz="1200" b="1" dirty="0">
                <a:solidFill>
                  <a:srgbClr val="FFFFFF"/>
                </a:solidFill>
                <a:latin typeface="Courier New" pitchFamily="34" charset="0"/>
                <a:ea typeface="Courier New" pitchFamily="34" charset="-122"/>
                <a:cs typeface="Courier New" pitchFamily="34" charset="-120"/>
              </a:rPr>
              <a:t>interface range fa0/21 - 24</a:t>
            </a:r>
            <a:endParaRPr lang="en-US" sz="1200" dirty="0"/>
          </a:p>
          <a:p>
            <a:pPr indent="0" marL="0">
              <a:buNone/>
            </a:pPr>
            <a:r>
              <a:rPr lang="en-US" sz="1200" dirty="0">
                <a:solidFill>
                  <a:srgbClr val="8FC9A0"/>
                </a:solidFill>
                <a:latin typeface="Courier New" pitchFamily="34" charset="0"/>
                <a:ea typeface="Courier New" pitchFamily="34" charset="-122"/>
                <a:cs typeface="Courier New" pitchFamily="34" charset="-120"/>
              </a:rPr>
              <a:t>S1(config-if-range)# </a:t>
            </a:r>
            <a:r>
              <a:rPr lang="en-US" sz="1200" b="1" dirty="0">
                <a:solidFill>
                  <a:srgbClr val="FFFFFF"/>
                </a:solidFill>
                <a:latin typeface="Courier New" pitchFamily="34" charset="0"/>
                <a:ea typeface="Courier New" pitchFamily="34" charset="-122"/>
                <a:cs typeface="Courier New" pitchFamily="34" charset="-120"/>
              </a:rPr>
              <a:t>switchport mode access</a:t>
            </a:r>
            <a:endParaRPr lang="en-US" sz="1200" dirty="0"/>
          </a:p>
          <a:p>
            <a:pPr indent="0" marL="0">
              <a:buNone/>
            </a:pPr>
            <a:r>
              <a:rPr lang="en-US" sz="1200" dirty="0">
                <a:solidFill>
                  <a:srgbClr val="8FC9A0"/>
                </a:solidFill>
                <a:latin typeface="Courier New" pitchFamily="34" charset="0"/>
                <a:ea typeface="Courier New" pitchFamily="34" charset="-122"/>
                <a:cs typeface="Courier New" pitchFamily="34" charset="-120"/>
              </a:rPr>
              <a:t>S1(config-if-range)# </a:t>
            </a:r>
            <a:r>
              <a:rPr lang="en-US" sz="1200" b="1" dirty="0">
                <a:solidFill>
                  <a:srgbClr val="FFFFFF"/>
                </a:solidFill>
                <a:latin typeface="Courier New" pitchFamily="34" charset="0"/>
                <a:ea typeface="Courier New" pitchFamily="34" charset="-122"/>
                <a:cs typeface="Courier New" pitchFamily="34" charset="-120"/>
              </a:rPr>
              <a:t>switchport access vlan 30</a:t>
            </a:r>
            <a:endParaRPr lang="en-US" sz="1200" dirty="0"/>
          </a:p>
        </p:txBody>
      </p:sp>
      <p:sp>
        <p:nvSpPr>
          <p:cNvPr id="17" name="Reveal 05 meaning"/>
          <p:cNvSpPr/>
          <p:nvPr/>
        </p:nvSpPr>
        <p:spPr>
          <a:xfrm>
            <a:off x="6720840" y="3891534"/>
            <a:ext cx="4922215" cy="627644"/>
          </a:xfrm>
          <a:prstGeom prst="rect">
            <a:avLst/>
          </a:prstGeom>
          <a:solidFill>
            <a:srgbClr val="F2F8F3"/>
          </a:solidFill>
          <a:ln/>
        </p:spPr>
        <p:txBody>
          <a:bodyPr wrap="square" lIns="109728" tIns="45720" rIns="109728" bIns="45720" rtlCol="0" anchor="ctr"/>
          <a:lstStyle/>
          <a:p>
            <a:pPr indent="0" marL="0">
              <a:buNone/>
            </a:pPr>
            <a:r>
              <a:rPr lang="en-US" sz="1400" dirty="0">
                <a:solidFill>
                  <a:srgbClr val="2B2B2B"/>
                </a:solidFill>
              </a:rPr>
              <a:t>And for the FINANCE ports. Then do the same on S2.</a:t>
            </a:r>
            <a:endParaRPr lang="en-US" sz="1400" dirty="0"/>
          </a:p>
        </p:txBody>
      </p:sp>
      <p:sp>
        <p:nvSpPr>
          <p:cNvPr id="18" name="Reveal 99 check box"/>
          <p:cNvSpPr/>
          <p:nvPr/>
        </p:nvSpPr>
        <p:spPr>
          <a:xfrm>
            <a:off x="548640" y="5504688"/>
            <a:ext cx="5410048" cy="749808"/>
          </a:xfrm>
          <a:prstGeom prst="roundRect">
            <a:avLst>
              <a:gd name="adj" fmla="val 9756"/>
            </a:avLst>
          </a:prstGeom>
          <a:solidFill>
            <a:srgbClr val="E8F1EA"/>
          </a:solidFill>
          <a:ln w="12700">
            <a:solidFill>
              <a:srgbClr val="B7C9BA"/>
            </a:solidFill>
            <a:prstDash val="solid"/>
          </a:ln>
        </p:spPr>
      </p:sp>
      <p:pic>
        <p:nvPicPr>
          <p:cNvPr id="19" name="Reveal 99 check icon" descr="Check it:">    </p:cNvPr>
          <p:cNvPicPr>
            <a:picLocks noChangeAspect="1"/>
          </p:cNvPicPr>
          <p:nvPr/>
        </p:nvPicPr>
        <p:blipFill>
          <a:blip r:embed="rId3"/>
          <a:stretch>
            <a:fillRect/>
          </a:stretch>
        </p:blipFill>
        <p:spPr>
          <a:xfrm>
            <a:off x="694944" y="5733288"/>
            <a:ext cx="292608" cy="292608"/>
          </a:xfrm>
          <a:prstGeom prst="rect">
            <a:avLst/>
          </a:prstGeom>
        </p:spPr>
      </p:pic>
      <p:sp>
        <p:nvSpPr>
          <p:cNvPr id="20" name="Reveal 99 check text"/>
          <p:cNvSpPr txBox="1"/>
          <p:nvPr/>
        </p:nvSpPr>
        <p:spPr>
          <a:xfrm>
            <a:off x="1097280" y="5541264"/>
            <a:ext cx="4751680" cy="676656"/>
          </a:xfrm>
          <a:prstGeom prst="rect">
            <a:avLst/>
          </a:prstGeom>
          <a:noFill/>
          <a:ln/>
        </p:spPr>
        <p:txBody>
          <a:bodyPr wrap="square" lIns="0" tIns="0" rIns="0" bIns="0" rtlCol="0" anchor="ctr"/>
          <a:lstStyle/>
          <a:p>
            <a:pPr indent="0" marL="0">
              <a:buNone/>
            </a:pPr>
            <a:r>
              <a:rPr lang="en-US" sz="1400" b="1" dirty="0">
                <a:solidFill>
                  <a:srgbClr val="1E5631"/>
                </a:solidFill>
              </a:rPr>
              <a:t>Check it:  </a:t>
            </a:r>
            <a:r>
              <a:rPr lang="en-US" sz="1300" b="1" dirty="0">
                <a:solidFill>
                  <a:srgbClr val="1E5631"/>
                </a:solidFill>
                <a:latin typeface="Courier New" pitchFamily="34" charset="0"/>
                <a:ea typeface="Courier New" pitchFamily="34" charset="-122"/>
                <a:cs typeface="Courier New" pitchFamily="34" charset="-120"/>
              </a:rPr>
              <a:t>show vlan brief</a:t>
            </a:r>
            <a:r>
              <a:rPr lang="en-US" sz="1400" dirty="0">
                <a:solidFill>
                  <a:srgbClr val="2B2B2B"/>
                </a:solidFill>
              </a:rPr>
              <a:t> → Fa0/1–10 beside VLAN 10, Fa0/11–20 beside 20, Fa0/21–24 beside 30.</a:t>
            </a:r>
            <a:endParaRPr lang="en-US" sz="1400" dirty="0"/>
          </a:p>
        </p:txBody>
      </p:sp>
      <p:sp>
        <p:nvSpPr>
          <p:cNvPr id="21" name="Reveal 99 watch box"/>
          <p:cNvSpPr/>
          <p:nvPr/>
        </p:nvSpPr>
        <p:spPr>
          <a:xfrm>
            <a:off x="6233008" y="5504688"/>
            <a:ext cx="5410048" cy="749808"/>
          </a:xfrm>
          <a:prstGeom prst="roundRect">
            <a:avLst>
              <a:gd name="adj" fmla="val 9756"/>
            </a:avLst>
          </a:prstGeom>
          <a:solidFill>
            <a:srgbClr val="FBEAEA"/>
          </a:solidFill>
          <a:ln w="12700">
            <a:solidFill>
              <a:srgbClr val="E9B8B5"/>
            </a:solidFill>
            <a:prstDash val="solid"/>
          </a:ln>
        </p:spPr>
      </p:sp>
      <p:pic>
        <p:nvPicPr>
          <p:cNvPr id="22" name="Reveal 99 watch icon" descr="Watch out:">    </p:cNvPr>
          <p:cNvPicPr>
            <a:picLocks noChangeAspect="1"/>
          </p:cNvPicPr>
          <p:nvPr/>
        </p:nvPicPr>
        <p:blipFill>
          <a:blip r:embed="rId4"/>
          <a:stretch>
            <a:fillRect/>
          </a:stretch>
        </p:blipFill>
        <p:spPr>
          <a:xfrm>
            <a:off x="6379312" y="5733288"/>
            <a:ext cx="292608" cy="292608"/>
          </a:xfrm>
          <a:prstGeom prst="rect">
            <a:avLst/>
          </a:prstGeom>
        </p:spPr>
      </p:pic>
      <p:sp>
        <p:nvSpPr>
          <p:cNvPr id="23" name="Reveal 99 watch text"/>
          <p:cNvSpPr txBox="1"/>
          <p:nvPr/>
        </p:nvSpPr>
        <p:spPr>
          <a:xfrm>
            <a:off x="6781648" y="5541264"/>
            <a:ext cx="4751680" cy="676656"/>
          </a:xfrm>
          <a:prstGeom prst="rect">
            <a:avLst/>
          </a:prstGeom>
          <a:noFill/>
          <a:ln/>
        </p:spPr>
        <p:txBody>
          <a:bodyPr wrap="square" lIns="0" tIns="0" rIns="0" bIns="0" rtlCol="0" anchor="ctr"/>
          <a:lstStyle/>
          <a:p>
            <a:pPr indent="0" marL="0">
              <a:buNone/>
            </a:pPr>
            <a:r>
              <a:rPr lang="en-US" sz="1400" b="1" dirty="0">
                <a:solidFill>
                  <a:srgbClr val="8B1A1A"/>
                </a:solidFill>
              </a:rPr>
              <a:t>Watch out:  </a:t>
            </a:r>
            <a:r>
              <a:rPr lang="en-US" sz="1400" dirty="0">
                <a:solidFill>
                  <a:srgbClr val="2B2B2B"/>
                </a:solidFill>
              </a:rPr>
              <a:t>A missing VLAN is created for you (“% Access VLAN does not exist. Creating vlan 10”) — but with no name.</a:t>
            </a:r>
            <a:endParaRPr lang="en-US" sz="1400" dirty="0"/>
          </a:p>
        </p:txBody>
      </p:sp>
      <p:sp>
        <p:nvSpPr>
          <p:cNvPr id="25" name="Slide Number Placeholder 0"/>
          <p:cNvSpPr>
            <a:spLocks noGrp="1"/>
          </p:cNvSpPr>
          <p:nvPr>
            <p:ph type="sldNum" sz="quarter" idx="4294967295"/>
          </p:nvPr>
        </p:nvSpPr>
        <p:spPr>
          <a:xfrm>
            <a:off x="10698480" y="6464808"/>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r"/>
            <a:fld id="{F7021451-1387-4CA6-816F-3879F97B5CBC}" type="slidenum">
              <a:rPr b="0" lang="en-US"/>
              <a:t>30</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4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0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400"/>
                                        <p:tgtEl>
                                          <p:spTgt spid="1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400"/>
                                        <p:tgtEl>
                                          <p:spTgt spid="1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fade">
                                      <p:cBhvr>
                                        <p:cTn id="38" dur="400"/>
                                        <p:tgtEl>
                                          <p:spTgt spid="20"/>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fade">
                                      <p:cBhvr>
                                        <p:cTn id="41" dur="400"/>
                                        <p:tgtEl>
                                          <p:spTgt spid="21"/>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fade">
                                      <p:cBhvr>
                                        <p:cTn id="44" dur="400"/>
                                        <p:tgtEl>
                                          <p:spTgt spid="22"/>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3" grpId="0" animBg="1"/>
      <p:bldP spid="15" grpId="0" animBg="1"/>
      <p:bldP spid="17" grpId="0" animBg="1"/>
      <p:bldP spid="18" grpId="0" animBg="1"/>
      <p:bldP spid="20" grpId="0" animBg="1"/>
      <p:bldP spid="21" grpId="0" animBg="1"/>
      <p:bldP spid="23"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1"/>
          <p:cNvSpPr/>
          <p:nvPr>
            <p:ph idx="102" type="body" hasCustomPrompt="1"/>
          </p:nvPr>
        </p:nvSpPr>
        <p:spPr>
          <a:xfrm>
            <a:off x="548640" y="274320"/>
            <a:ext cx="9966960" cy="256032"/>
          </a:xfrm>
          <a:prstGeom prst="rect">
            <a:avLst/>
          </a:prstGeom>
          <a:noFill/>
          <a:ln/>
        </p:spPr>
        <p:txBody>
          <a:bodyPr wrap="square" lIns="0" tIns="0" rIns="0" bIns="0" rtlCol="0" anchor="ctr"/>
          <a:lstStyle/>
          <a:p>
            <a:pPr algn="l" indent="0" marL="0">
              <a:buNone/>
            </a:pPr>
            <a:r>
              <a:rPr lang="en-US" sz="1100" b="1" spc="100" kern="0" dirty="0">
                <a:solidFill>
                  <a:schemeClr val="accent2"/>
                </a:solidFill>
              </a:rPr>
              <a:t>04  •  VLANS &amp; TRUNKS  •  LAB 2</a:t>
            </a:r>
            <a:endParaRPr lang="en-US" sz="1100" dirty="0"/>
          </a:p>
        </p:txBody>
      </p:sp>
      <p:sp>
        <p:nvSpPr>
          <p:cNvPr id="3" name="Text 1"/>
          <p:cNvSpPr/>
          <p:nvPr>
            <p:ph idx="103" type="title" hasCustomPrompt="1"/>
          </p:nvPr>
        </p:nvSpPr>
        <p:spPr>
          <a:xfrm>
            <a:off x="548640" y="548640"/>
            <a:ext cx="10149840" cy="548640"/>
          </a:xfrm>
          <a:prstGeom prst="rect">
            <a:avLst/>
          </a:prstGeom>
          <a:noFill/>
          <a:ln/>
        </p:spPr>
        <p:txBody>
          <a:bodyPr wrap="square" lIns="0" tIns="0" rIns="0" bIns="0" rtlCol="0" anchor="ctr"/>
          <a:lstStyle/>
          <a:p>
            <a:pPr algn="l" indent="0" marL="0">
              <a:buNone/>
            </a:pPr>
            <a:r>
              <a:rPr lang="en-US" sz="2600" b="1" dirty="0">
                <a:solidFill>
                  <a:schemeClr val="accent1"/>
                </a:solidFill>
              </a:rPr>
              <a:t>How to configure a trunk link</a:t>
            </a:r>
            <a:endParaRPr lang="en-US" sz="2600" dirty="0"/>
          </a:p>
        </p:txBody>
      </p:sp>
      <p:pic>
        <p:nvPicPr>
          <p:cNvPr id="4" name="Home button" descr="Home: back to the workbook menu">
            <a:hlinkClick r:id="rId2" tooltip="Back to the workbook menu" action="ppaction://hlinksldjump"/>
          </p:cNvPr>
          <p:cNvPicPr>
            <a:picLocks noChangeAspect="1"/>
          </p:cNvPicPr>
          <p:nvPr/>
        </p:nvPicPr>
        <p:blipFill>
          <a:blip r:embed="rId1"/>
          <a:stretch>
            <a:fillRect/>
          </a:stretch>
        </p:blipFill>
        <p:spPr>
          <a:xfrm>
            <a:off x="11365992" y="6336792"/>
            <a:ext cx="365760" cy="365760"/>
          </a:xfrm>
          <a:prstGeom prst="rect">
            <a:avLst/>
          </a:prstGeom>
        </p:spPr>
      </p:pic>
      <p:sp>
        <p:nvSpPr>
          <p:cNvPr id="5" name="Goal"/>
          <p:cNvSpPr txBox="1"/>
          <p:nvPr/>
        </p:nvSpPr>
        <p:spPr>
          <a:xfrm>
            <a:off x="548640" y="1161288"/>
            <a:ext cx="11094415" cy="384048"/>
          </a:xfrm>
          <a:prstGeom prst="rect">
            <a:avLst/>
          </a:prstGeom>
          <a:noFill/>
          <a:ln/>
        </p:spPr>
        <p:txBody>
          <a:bodyPr wrap="square" lIns="0" tIns="0" rIns="0" bIns="0" rtlCol="0" anchor="ctr"/>
          <a:lstStyle/>
          <a:p>
            <a:pPr indent="0" marL="0">
              <a:buNone/>
            </a:pPr>
            <a:r>
              <a:rPr lang="en-US" sz="1400" b="1" dirty="0">
                <a:solidFill>
                  <a:srgbClr val="2B7043"/>
                </a:solidFill>
              </a:rPr>
              <a:t>Goal:  </a:t>
            </a:r>
            <a:r>
              <a:rPr lang="en-US" sz="1400" dirty="0">
                <a:solidFill>
                  <a:srgbClr val="2B2B2B"/>
                </a:solidFill>
              </a:rPr>
              <a:t>Links between switches, and to the router, must carry every VLAN. Make them 802.1Q trunks — at both ends.</a:t>
            </a:r>
            <a:endParaRPr lang="en-US" sz="1400" dirty="0"/>
          </a:p>
        </p:txBody>
      </p:sp>
      <p:sp>
        <p:nvSpPr>
          <p:cNvPr id="6" name="Command header"/>
          <p:cNvSpPr/>
          <p:nvPr/>
        </p:nvSpPr>
        <p:spPr>
          <a:xfrm>
            <a:off x="548640" y="1664208"/>
            <a:ext cx="6153912" cy="310896"/>
          </a:xfrm>
          <a:prstGeom prst="rect">
            <a:avLst/>
          </a:prstGeom>
          <a:solidFill>
            <a:srgbClr val="1B2B22"/>
          </a:solidFill>
          <a:ln/>
        </p:spPr>
        <p:txBody>
          <a:bodyPr wrap="square" lIns="109728" tIns="45720" rIns="109728" bIns="45720" rtlCol="0" anchor="ctr"/>
          <a:lstStyle/>
          <a:p>
            <a:pPr indent="0" marL="0">
              <a:buNone/>
            </a:pPr>
            <a:r>
              <a:rPr lang="en-US" sz="1100" dirty="0">
                <a:solidFill>
                  <a:srgbClr val="E0605A"/>
                </a:solidFill>
              </a:rPr>
              <a:t>●  </a:t>
            </a:r>
            <a:r>
              <a:rPr lang="en-US" sz="1100" dirty="0">
                <a:solidFill>
                  <a:srgbClr val="E8B92E"/>
                </a:solidFill>
              </a:rPr>
              <a:t>●  </a:t>
            </a:r>
            <a:r>
              <a:rPr lang="en-US" sz="1100" dirty="0">
                <a:solidFill>
                  <a:srgbClr val="4CAF50"/>
                </a:solidFill>
              </a:rPr>
              <a:t>●   </a:t>
            </a:r>
            <a:r>
              <a:rPr lang="en-US" sz="1100" b="1" dirty="0">
                <a:solidFill>
                  <a:srgbClr val="C9D6CC"/>
                </a:solidFill>
              </a:rPr>
              <a:t>S1  —  type the white text, then press Enter</a:t>
            </a:r>
            <a:endParaRPr lang="en-US" sz="1100" dirty="0"/>
          </a:p>
        </p:txBody>
      </p:sp>
      <p:sp>
        <p:nvSpPr>
          <p:cNvPr id="7" name="Meaning header"/>
          <p:cNvSpPr/>
          <p:nvPr/>
        </p:nvSpPr>
        <p:spPr>
          <a:xfrm>
            <a:off x="6720840" y="1664208"/>
            <a:ext cx="4922215" cy="310896"/>
          </a:xfrm>
          <a:prstGeom prst="rect">
            <a:avLst/>
          </a:prstGeom>
          <a:solidFill>
            <a:srgbClr val="E8F1EA"/>
          </a:solidFill>
          <a:ln/>
        </p:spPr>
        <p:txBody>
          <a:bodyPr wrap="square" lIns="109728" tIns="45720" rIns="109728" bIns="45720" rtlCol="0" anchor="ctr"/>
          <a:lstStyle/>
          <a:p>
            <a:pPr indent="0" marL="0">
              <a:buNone/>
            </a:pPr>
            <a:r>
              <a:rPr lang="en-US" sz="1200" b="1" dirty="0">
                <a:solidFill>
                  <a:srgbClr val="1E5631"/>
                </a:solidFill>
              </a:rPr>
              <a:t>What it does</a:t>
            </a:r>
            <a:endParaRPr lang="en-US" sz="1200" dirty="0"/>
          </a:p>
        </p:txBody>
      </p:sp>
      <p:sp>
        <p:nvSpPr>
          <p:cNvPr id="8" name="Command 01"/>
          <p:cNvSpPr/>
          <p:nvPr/>
        </p:nvSpPr>
        <p:spPr>
          <a:xfrm>
            <a:off x="548640" y="1993392"/>
            <a:ext cx="6153912" cy="326768"/>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S1(config)# </a:t>
            </a:r>
            <a:r>
              <a:rPr lang="en-US" sz="1200" b="1" dirty="0">
                <a:solidFill>
                  <a:srgbClr val="FFFFFF"/>
                </a:solidFill>
                <a:latin typeface="Courier New" pitchFamily="34" charset="0"/>
                <a:ea typeface="Courier New" pitchFamily="34" charset="-122"/>
                <a:cs typeface="Courier New" pitchFamily="34" charset="-120"/>
              </a:rPr>
              <a:t>interface range g0/1 - 2</a:t>
            </a:r>
            <a:endParaRPr lang="en-US" sz="1200" dirty="0"/>
          </a:p>
        </p:txBody>
      </p:sp>
      <p:sp>
        <p:nvSpPr>
          <p:cNvPr id="9" name="Reveal 01 meaning"/>
          <p:cNvSpPr/>
          <p:nvPr/>
        </p:nvSpPr>
        <p:spPr>
          <a:xfrm>
            <a:off x="6720840" y="1993392"/>
            <a:ext cx="4922215" cy="326768"/>
          </a:xfrm>
          <a:prstGeom prst="rect">
            <a:avLst/>
          </a:prstGeom>
          <a:solidFill>
            <a:srgbClr val="F2F8F3"/>
          </a:solidFill>
          <a:ln/>
        </p:spPr>
        <p:txBody>
          <a:bodyPr wrap="square" lIns="109728" tIns="45720" rIns="109728" bIns="45720" rtlCol="0" anchor="ctr"/>
          <a:lstStyle/>
          <a:p>
            <a:pPr indent="0" marL="0">
              <a:buNone/>
            </a:pPr>
            <a:r>
              <a:rPr lang="en-US" sz="1400" dirty="0">
                <a:solidFill>
                  <a:srgbClr val="2B2B2B"/>
                </a:solidFill>
              </a:rPr>
              <a:t>Select both uplinks: G0/1 goes to S2, G0/2 goes to R1.</a:t>
            </a:r>
            <a:endParaRPr lang="en-US" sz="1400" dirty="0"/>
          </a:p>
        </p:txBody>
      </p:sp>
      <p:sp>
        <p:nvSpPr>
          <p:cNvPr id="10" name="Command 02"/>
          <p:cNvSpPr/>
          <p:nvPr/>
        </p:nvSpPr>
        <p:spPr>
          <a:xfrm>
            <a:off x="548640" y="2338448"/>
            <a:ext cx="6153912" cy="54380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S1(config-if-range)# </a:t>
            </a:r>
            <a:r>
              <a:rPr lang="en-US" sz="1200" b="1" dirty="0">
                <a:solidFill>
                  <a:srgbClr val="FFFFFF"/>
                </a:solidFill>
                <a:latin typeface="Courier New" pitchFamily="34" charset="0"/>
                <a:ea typeface="Courier New" pitchFamily="34" charset="-122"/>
                <a:cs typeface="Courier New" pitchFamily="34" charset="-120"/>
              </a:rPr>
              <a:t>switchport mode trunk</a:t>
            </a:r>
            <a:endParaRPr lang="en-US" sz="1200" dirty="0"/>
          </a:p>
        </p:txBody>
      </p:sp>
      <p:sp>
        <p:nvSpPr>
          <p:cNvPr id="11" name="Reveal 02 meaning"/>
          <p:cNvSpPr/>
          <p:nvPr/>
        </p:nvSpPr>
        <p:spPr>
          <a:xfrm>
            <a:off x="6720840" y="2338448"/>
            <a:ext cx="4922215" cy="543809"/>
          </a:xfrm>
          <a:prstGeom prst="rect">
            <a:avLst/>
          </a:prstGeom>
          <a:solidFill>
            <a:srgbClr val="FFFFFF"/>
          </a:solidFill>
          <a:ln/>
        </p:spPr>
        <p:txBody>
          <a:bodyPr wrap="square" lIns="109728" tIns="45720" rIns="109728" bIns="45720" rtlCol="0" anchor="ctr"/>
          <a:lstStyle/>
          <a:p>
            <a:pPr indent="0" marL="0">
              <a:buNone/>
            </a:pPr>
            <a:r>
              <a:rPr lang="en-US" sz="1400" dirty="0">
                <a:solidFill>
                  <a:srgbClr val="2B2B2B"/>
                </a:solidFill>
              </a:rPr>
              <a:t>Make them trunks: they carry all VLANs, tagging each frame with its VLAN number (802.1Q).</a:t>
            </a:r>
            <a:endParaRPr lang="en-US" sz="1400" dirty="0"/>
          </a:p>
        </p:txBody>
      </p:sp>
      <p:sp>
        <p:nvSpPr>
          <p:cNvPr id="12" name="Command 03"/>
          <p:cNvSpPr/>
          <p:nvPr/>
        </p:nvSpPr>
        <p:spPr>
          <a:xfrm>
            <a:off x="548640" y="2900545"/>
            <a:ext cx="6153912" cy="54380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S1(config-if-range)# </a:t>
            </a:r>
            <a:r>
              <a:rPr lang="en-US" sz="1200" b="1" dirty="0">
                <a:solidFill>
                  <a:srgbClr val="FFFFFF"/>
                </a:solidFill>
                <a:latin typeface="Courier New" pitchFamily="34" charset="0"/>
                <a:ea typeface="Courier New" pitchFamily="34" charset="-122"/>
                <a:cs typeface="Courier New" pitchFamily="34" charset="-120"/>
              </a:rPr>
              <a:t>switchport trunk native vlan 99</a:t>
            </a:r>
            <a:endParaRPr lang="en-US" sz="1200" dirty="0"/>
          </a:p>
        </p:txBody>
      </p:sp>
      <p:sp>
        <p:nvSpPr>
          <p:cNvPr id="13" name="Reveal 03 meaning"/>
          <p:cNvSpPr/>
          <p:nvPr/>
        </p:nvSpPr>
        <p:spPr>
          <a:xfrm>
            <a:off x="6720840" y="2900545"/>
            <a:ext cx="4922215" cy="543809"/>
          </a:xfrm>
          <a:prstGeom prst="rect">
            <a:avLst/>
          </a:prstGeom>
          <a:solidFill>
            <a:srgbClr val="F2F8F3"/>
          </a:solidFill>
          <a:ln/>
        </p:spPr>
        <p:txBody>
          <a:bodyPr wrap="square" lIns="109728" tIns="45720" rIns="109728" bIns="45720" rtlCol="0" anchor="ctr"/>
          <a:lstStyle/>
          <a:p>
            <a:pPr indent="0" marL="0">
              <a:buNone/>
            </a:pPr>
            <a:r>
              <a:rPr lang="en-US" sz="1400" dirty="0">
                <a:solidFill>
                  <a:srgbClr val="2B2B2B"/>
                </a:solidFill>
              </a:rPr>
              <a:t>Untagged frames now belong to VLAN 99 instead of VLAN 1 — safer. Both ends of a link must agree.</a:t>
            </a:r>
            <a:endParaRPr lang="en-US" sz="1400" dirty="0"/>
          </a:p>
        </p:txBody>
      </p:sp>
      <p:sp>
        <p:nvSpPr>
          <p:cNvPr id="14" name="Command 04"/>
          <p:cNvSpPr/>
          <p:nvPr/>
        </p:nvSpPr>
        <p:spPr>
          <a:xfrm>
            <a:off x="548640" y="3462642"/>
            <a:ext cx="6153912" cy="326768"/>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S1(config-if-range)# </a:t>
            </a:r>
            <a:r>
              <a:rPr lang="en-US" sz="1200" b="1" dirty="0">
                <a:solidFill>
                  <a:srgbClr val="FFFFFF"/>
                </a:solidFill>
                <a:latin typeface="Courier New" pitchFamily="34" charset="0"/>
                <a:ea typeface="Courier New" pitchFamily="34" charset="-122"/>
                <a:cs typeface="Courier New" pitchFamily="34" charset="-120"/>
              </a:rPr>
              <a:t>switchport trunk allowed vlan 10,20,30,99</a:t>
            </a:r>
            <a:endParaRPr lang="en-US" sz="1200" dirty="0"/>
          </a:p>
        </p:txBody>
      </p:sp>
      <p:sp>
        <p:nvSpPr>
          <p:cNvPr id="15" name="Reveal 04 meaning"/>
          <p:cNvSpPr/>
          <p:nvPr/>
        </p:nvSpPr>
        <p:spPr>
          <a:xfrm>
            <a:off x="6720840" y="3462642"/>
            <a:ext cx="4922215" cy="326768"/>
          </a:xfrm>
          <a:prstGeom prst="rect">
            <a:avLst/>
          </a:prstGeom>
          <a:solidFill>
            <a:srgbClr val="FFFFFF"/>
          </a:solidFill>
          <a:ln/>
        </p:spPr>
        <p:txBody>
          <a:bodyPr wrap="square" lIns="109728" tIns="45720" rIns="109728" bIns="45720" rtlCol="0" anchor="ctr"/>
          <a:lstStyle/>
          <a:p>
            <a:pPr indent="0" marL="0">
              <a:buNone/>
            </a:pPr>
            <a:r>
              <a:rPr lang="en-US" sz="1400" dirty="0">
                <a:solidFill>
                  <a:srgbClr val="2B2B2B"/>
                </a:solidFill>
              </a:rPr>
              <a:t>Only these VLANs may cross the trunk.</a:t>
            </a:r>
            <a:endParaRPr lang="en-US" sz="1400" dirty="0"/>
          </a:p>
        </p:txBody>
      </p:sp>
      <p:sp>
        <p:nvSpPr>
          <p:cNvPr id="16" name="Command 05"/>
          <p:cNvSpPr/>
          <p:nvPr/>
        </p:nvSpPr>
        <p:spPr>
          <a:xfrm>
            <a:off x="548640" y="3807699"/>
            <a:ext cx="6153912" cy="800283"/>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S2(config)# </a:t>
            </a:r>
            <a:r>
              <a:rPr lang="en-US" sz="1200" b="1" dirty="0">
                <a:solidFill>
                  <a:srgbClr val="FFFFFF"/>
                </a:solidFill>
                <a:latin typeface="Courier New" pitchFamily="34" charset="0"/>
                <a:ea typeface="Courier New" pitchFamily="34" charset="-122"/>
                <a:cs typeface="Courier New" pitchFamily="34" charset="-120"/>
              </a:rPr>
              <a:t>interface g0/1</a:t>
            </a:r>
            <a:endParaRPr lang="en-US" sz="1200" dirty="0"/>
          </a:p>
          <a:p>
            <a:pPr indent="0" marL="0">
              <a:buNone/>
            </a:pPr>
            <a:r>
              <a:rPr lang="en-US" sz="1200" dirty="0">
                <a:solidFill>
                  <a:srgbClr val="8FC9A0"/>
                </a:solidFill>
                <a:latin typeface="Courier New" pitchFamily="34" charset="0"/>
                <a:ea typeface="Courier New" pitchFamily="34" charset="-122"/>
                <a:cs typeface="Courier New" pitchFamily="34" charset="-120"/>
              </a:rPr>
              <a:t>S2(config-if)# </a:t>
            </a:r>
            <a:r>
              <a:rPr lang="en-US" sz="1200" b="1" dirty="0">
                <a:solidFill>
                  <a:srgbClr val="FFFFFF"/>
                </a:solidFill>
                <a:latin typeface="Courier New" pitchFamily="34" charset="0"/>
                <a:ea typeface="Courier New" pitchFamily="34" charset="-122"/>
                <a:cs typeface="Courier New" pitchFamily="34" charset="-120"/>
              </a:rPr>
              <a:t>switchport mode trunk</a:t>
            </a:r>
            <a:endParaRPr lang="en-US" sz="1200" dirty="0"/>
          </a:p>
          <a:p>
            <a:pPr indent="0" marL="0">
              <a:buNone/>
            </a:pPr>
            <a:r>
              <a:rPr lang="en-US" sz="1200" dirty="0">
                <a:solidFill>
                  <a:srgbClr val="8FC9A0"/>
                </a:solidFill>
                <a:latin typeface="Courier New" pitchFamily="34" charset="0"/>
                <a:ea typeface="Courier New" pitchFamily="34" charset="-122"/>
                <a:cs typeface="Courier New" pitchFamily="34" charset="-120"/>
              </a:rPr>
              <a:t>S2(config-if)# </a:t>
            </a:r>
            <a:r>
              <a:rPr lang="en-US" sz="1200" b="1" dirty="0">
                <a:solidFill>
                  <a:srgbClr val="FFFFFF"/>
                </a:solidFill>
                <a:latin typeface="Courier New" pitchFamily="34" charset="0"/>
                <a:ea typeface="Courier New" pitchFamily="34" charset="-122"/>
                <a:cs typeface="Courier New" pitchFamily="34" charset="-120"/>
              </a:rPr>
              <a:t>switchport trunk native vlan 99</a:t>
            </a:r>
            <a:endParaRPr lang="en-US" sz="1200" dirty="0"/>
          </a:p>
          <a:p>
            <a:pPr indent="0" marL="0">
              <a:buNone/>
            </a:pPr>
            <a:r>
              <a:rPr lang="en-US" sz="1200" dirty="0">
                <a:solidFill>
                  <a:srgbClr val="8FC9A0"/>
                </a:solidFill>
                <a:latin typeface="Courier New" pitchFamily="34" charset="0"/>
                <a:ea typeface="Courier New" pitchFamily="34" charset="-122"/>
                <a:cs typeface="Courier New" pitchFamily="34" charset="-120"/>
              </a:rPr>
              <a:t>S2(config-if)# </a:t>
            </a:r>
            <a:r>
              <a:rPr lang="en-US" sz="1200" b="1" dirty="0">
                <a:solidFill>
                  <a:srgbClr val="FFFFFF"/>
                </a:solidFill>
                <a:latin typeface="Courier New" pitchFamily="34" charset="0"/>
                <a:ea typeface="Courier New" pitchFamily="34" charset="-122"/>
                <a:cs typeface="Courier New" pitchFamily="34" charset="-120"/>
              </a:rPr>
              <a:t>switchport trunk allowed vlan 10,20,30,99</a:t>
            </a:r>
            <a:endParaRPr lang="en-US" sz="1200" dirty="0"/>
          </a:p>
        </p:txBody>
      </p:sp>
      <p:sp>
        <p:nvSpPr>
          <p:cNvPr id="17" name="Reveal 05 meaning"/>
          <p:cNvSpPr/>
          <p:nvPr/>
        </p:nvSpPr>
        <p:spPr>
          <a:xfrm>
            <a:off x="6720840" y="3807699"/>
            <a:ext cx="4922215" cy="800283"/>
          </a:xfrm>
          <a:prstGeom prst="rect">
            <a:avLst/>
          </a:prstGeom>
          <a:solidFill>
            <a:srgbClr val="F2F8F3"/>
          </a:solidFill>
          <a:ln/>
        </p:spPr>
        <p:txBody>
          <a:bodyPr wrap="square" lIns="109728" tIns="45720" rIns="109728" bIns="45720" rtlCol="0" anchor="ctr"/>
          <a:lstStyle/>
          <a:p>
            <a:pPr indent="0" marL="0">
              <a:buNone/>
            </a:pPr>
            <a:r>
              <a:rPr lang="en-US" sz="1400" dirty="0">
                <a:solidFill>
                  <a:srgbClr val="2B2B2B"/>
                </a:solidFill>
              </a:rPr>
              <a:t>The same on S2’s uplink to S1 — a trunk has two ends!</a:t>
            </a:r>
            <a:endParaRPr lang="en-US" sz="1400" dirty="0"/>
          </a:p>
        </p:txBody>
      </p:sp>
      <p:sp>
        <p:nvSpPr>
          <p:cNvPr id="18" name="Reveal 99 check box"/>
          <p:cNvSpPr/>
          <p:nvPr/>
        </p:nvSpPr>
        <p:spPr>
          <a:xfrm>
            <a:off x="548640" y="5504688"/>
            <a:ext cx="5410048" cy="749808"/>
          </a:xfrm>
          <a:prstGeom prst="roundRect">
            <a:avLst>
              <a:gd name="adj" fmla="val 9756"/>
            </a:avLst>
          </a:prstGeom>
          <a:solidFill>
            <a:srgbClr val="E8F1EA"/>
          </a:solidFill>
          <a:ln w="12700">
            <a:solidFill>
              <a:srgbClr val="B7C9BA"/>
            </a:solidFill>
            <a:prstDash val="solid"/>
          </a:ln>
        </p:spPr>
      </p:sp>
      <p:pic>
        <p:nvPicPr>
          <p:cNvPr id="19" name="Reveal 99 check icon" descr="Check it:">    </p:cNvPr>
          <p:cNvPicPr>
            <a:picLocks noChangeAspect="1"/>
          </p:cNvPicPr>
          <p:nvPr/>
        </p:nvPicPr>
        <p:blipFill>
          <a:blip r:embed="rId3"/>
          <a:stretch>
            <a:fillRect/>
          </a:stretch>
        </p:blipFill>
        <p:spPr>
          <a:xfrm>
            <a:off x="694944" y="5733288"/>
            <a:ext cx="292608" cy="292608"/>
          </a:xfrm>
          <a:prstGeom prst="rect">
            <a:avLst/>
          </a:prstGeom>
        </p:spPr>
      </p:pic>
      <p:sp>
        <p:nvSpPr>
          <p:cNvPr id="20" name="Reveal 99 check text"/>
          <p:cNvSpPr txBox="1"/>
          <p:nvPr/>
        </p:nvSpPr>
        <p:spPr>
          <a:xfrm>
            <a:off x="1097280" y="5541264"/>
            <a:ext cx="4751680" cy="676656"/>
          </a:xfrm>
          <a:prstGeom prst="rect">
            <a:avLst/>
          </a:prstGeom>
          <a:noFill/>
          <a:ln/>
        </p:spPr>
        <p:txBody>
          <a:bodyPr wrap="square" lIns="0" tIns="0" rIns="0" bIns="0" rtlCol="0" anchor="ctr"/>
          <a:lstStyle/>
          <a:p>
            <a:pPr indent="0" marL="0">
              <a:buNone/>
            </a:pPr>
            <a:r>
              <a:rPr lang="en-US" sz="1400" b="1" dirty="0">
                <a:solidFill>
                  <a:srgbClr val="1E5631"/>
                </a:solidFill>
              </a:rPr>
              <a:t>Check it:  </a:t>
            </a:r>
            <a:r>
              <a:rPr lang="en-US" sz="1300" b="1" dirty="0">
                <a:solidFill>
                  <a:srgbClr val="1E5631"/>
                </a:solidFill>
                <a:latin typeface="Courier New" pitchFamily="34" charset="0"/>
                <a:ea typeface="Courier New" pitchFamily="34" charset="-122"/>
                <a:cs typeface="Courier New" pitchFamily="34" charset="-120"/>
              </a:rPr>
              <a:t>show interfaces trunk</a:t>
            </a:r>
            <a:r>
              <a:rPr lang="en-US" sz="1400" dirty="0">
                <a:solidFill>
                  <a:srgbClr val="2B2B2B"/>
                </a:solidFill>
              </a:rPr>
              <a:t> → G0/1 and G0/2: mode on, status trunking, native vlan 99.</a:t>
            </a:r>
            <a:endParaRPr lang="en-US" sz="1400" dirty="0"/>
          </a:p>
        </p:txBody>
      </p:sp>
      <p:sp>
        <p:nvSpPr>
          <p:cNvPr id="21" name="Reveal 99 watch box"/>
          <p:cNvSpPr/>
          <p:nvPr/>
        </p:nvSpPr>
        <p:spPr>
          <a:xfrm>
            <a:off x="6233008" y="5504688"/>
            <a:ext cx="5410048" cy="749808"/>
          </a:xfrm>
          <a:prstGeom prst="roundRect">
            <a:avLst>
              <a:gd name="adj" fmla="val 9756"/>
            </a:avLst>
          </a:prstGeom>
          <a:solidFill>
            <a:srgbClr val="FBEAEA"/>
          </a:solidFill>
          <a:ln w="12700">
            <a:solidFill>
              <a:srgbClr val="E9B8B5"/>
            </a:solidFill>
            <a:prstDash val="solid"/>
          </a:ln>
        </p:spPr>
      </p:sp>
      <p:pic>
        <p:nvPicPr>
          <p:cNvPr id="22" name="Reveal 99 watch icon" descr="Watch out:">    </p:cNvPr>
          <p:cNvPicPr>
            <a:picLocks noChangeAspect="1"/>
          </p:cNvPicPr>
          <p:nvPr/>
        </p:nvPicPr>
        <p:blipFill>
          <a:blip r:embed="rId4"/>
          <a:stretch>
            <a:fillRect/>
          </a:stretch>
        </p:blipFill>
        <p:spPr>
          <a:xfrm>
            <a:off x="6379312" y="5733288"/>
            <a:ext cx="292608" cy="292608"/>
          </a:xfrm>
          <a:prstGeom prst="rect">
            <a:avLst/>
          </a:prstGeom>
        </p:spPr>
      </p:pic>
      <p:sp>
        <p:nvSpPr>
          <p:cNvPr id="23" name="Reveal 99 watch text"/>
          <p:cNvSpPr txBox="1"/>
          <p:nvPr/>
        </p:nvSpPr>
        <p:spPr>
          <a:xfrm>
            <a:off x="6781648" y="5541264"/>
            <a:ext cx="4751680" cy="676656"/>
          </a:xfrm>
          <a:prstGeom prst="rect">
            <a:avLst/>
          </a:prstGeom>
          <a:noFill/>
          <a:ln/>
        </p:spPr>
        <p:txBody>
          <a:bodyPr wrap="square" lIns="0" tIns="0" rIns="0" bIns="0" rtlCol="0" anchor="ctr"/>
          <a:lstStyle/>
          <a:p>
            <a:pPr indent="0" marL="0">
              <a:buNone/>
            </a:pPr>
            <a:r>
              <a:rPr lang="en-US" sz="1400" b="1" dirty="0">
                <a:solidFill>
                  <a:srgbClr val="8B1A1A"/>
                </a:solidFill>
              </a:rPr>
              <a:t>Watch out:  </a:t>
            </a:r>
            <a:r>
              <a:rPr lang="en-US" sz="1400" dirty="0">
                <a:solidFill>
                  <a:srgbClr val="2B2B2B"/>
                </a:solidFill>
              </a:rPr>
              <a:t>On a 3560, type </a:t>
            </a:r>
            <a:r>
              <a:rPr lang="en-US" sz="1300" b="1" dirty="0">
                <a:solidFill>
                  <a:srgbClr val="1E5631"/>
                </a:solidFill>
                <a:latin typeface="Courier New" pitchFamily="34" charset="0"/>
                <a:ea typeface="Courier New" pitchFamily="34" charset="-122"/>
                <a:cs typeface="Courier New" pitchFamily="34" charset="-120"/>
              </a:rPr>
              <a:t>switchport trunk encapsulation dot1q</a:t>
            </a:r>
            <a:r>
              <a:rPr lang="en-US" sz="1400" dirty="0">
                <a:solidFill>
                  <a:srgbClr val="2B2B2B"/>
                </a:solidFill>
              </a:rPr>
              <a:t> before </a:t>
            </a:r>
            <a:r>
              <a:rPr lang="en-US" sz="1300" b="1" dirty="0">
                <a:solidFill>
                  <a:srgbClr val="1E5631"/>
                </a:solidFill>
                <a:latin typeface="Courier New" pitchFamily="34" charset="0"/>
                <a:ea typeface="Courier New" pitchFamily="34" charset="-122"/>
                <a:cs typeface="Courier New" pitchFamily="34" charset="-120"/>
              </a:rPr>
              <a:t>switchport mode trunk</a:t>
            </a:r>
            <a:r>
              <a:rPr lang="en-US" sz="1400" dirty="0">
                <a:solidFill>
                  <a:srgbClr val="2B2B2B"/>
                </a:solidFill>
              </a:rPr>
              <a:t>.</a:t>
            </a:r>
            <a:endParaRPr lang="en-US" sz="1400" dirty="0"/>
          </a:p>
        </p:txBody>
      </p:sp>
      <p:sp>
        <p:nvSpPr>
          <p:cNvPr id="25" name="Slide Number Placeholder 0"/>
          <p:cNvSpPr>
            <a:spLocks noGrp="1"/>
          </p:cNvSpPr>
          <p:nvPr>
            <p:ph type="sldNum" sz="quarter" idx="4294967295"/>
          </p:nvPr>
        </p:nvSpPr>
        <p:spPr>
          <a:xfrm>
            <a:off x="10698480" y="6464808"/>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r"/>
            <a:fld id="{F7021451-1387-4CA6-816F-3879F97B5CBC}" type="slidenum">
              <a:rPr b="0" lang="en-US"/>
              <a:t>31</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4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0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400"/>
                                        <p:tgtEl>
                                          <p:spTgt spid="1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400"/>
                                        <p:tgtEl>
                                          <p:spTgt spid="1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fade">
                                      <p:cBhvr>
                                        <p:cTn id="38" dur="400"/>
                                        <p:tgtEl>
                                          <p:spTgt spid="20"/>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fade">
                                      <p:cBhvr>
                                        <p:cTn id="41" dur="400"/>
                                        <p:tgtEl>
                                          <p:spTgt spid="21"/>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fade">
                                      <p:cBhvr>
                                        <p:cTn id="44" dur="400"/>
                                        <p:tgtEl>
                                          <p:spTgt spid="22"/>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3" grpId="0" animBg="1"/>
      <p:bldP spid="15" grpId="0" animBg="1"/>
      <p:bldP spid="17" grpId="0" animBg="1"/>
      <p:bldP spid="18" grpId="0" animBg="1"/>
      <p:bldP spid="20" grpId="0" animBg="1"/>
      <p:bldP spid="21" grpId="0" animBg="1"/>
      <p:bldP spid="23"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1"/>
          <p:cNvSpPr/>
          <p:nvPr>
            <p:ph idx="102" type="body" hasCustomPrompt="1"/>
          </p:nvPr>
        </p:nvSpPr>
        <p:spPr>
          <a:xfrm>
            <a:off x="548640" y="274320"/>
            <a:ext cx="9966960" cy="256032"/>
          </a:xfrm>
          <a:prstGeom prst="rect">
            <a:avLst/>
          </a:prstGeom>
          <a:noFill/>
          <a:ln/>
        </p:spPr>
        <p:txBody>
          <a:bodyPr wrap="square" lIns="0" tIns="0" rIns="0" bIns="0" rtlCol="0" anchor="ctr"/>
          <a:lstStyle/>
          <a:p>
            <a:pPr algn="l" indent="0" marL="0">
              <a:buNone/>
            </a:pPr>
            <a:r>
              <a:rPr lang="en-US" sz="1100" b="1" spc="100" kern="0" dirty="0">
                <a:solidFill>
                  <a:schemeClr val="accent2"/>
                </a:solidFill>
              </a:rPr>
              <a:t>04  •  VLANS &amp; TRUNKS  •  LAB 2</a:t>
            </a:r>
            <a:endParaRPr lang="en-US" sz="1100" dirty="0"/>
          </a:p>
        </p:txBody>
      </p:sp>
      <p:sp>
        <p:nvSpPr>
          <p:cNvPr id="3" name="Text 1"/>
          <p:cNvSpPr/>
          <p:nvPr>
            <p:ph idx="103" type="title" hasCustomPrompt="1"/>
          </p:nvPr>
        </p:nvSpPr>
        <p:spPr>
          <a:xfrm>
            <a:off x="548640" y="548640"/>
            <a:ext cx="10149840" cy="548640"/>
          </a:xfrm>
          <a:prstGeom prst="rect">
            <a:avLst/>
          </a:prstGeom>
          <a:noFill/>
          <a:ln/>
        </p:spPr>
        <p:txBody>
          <a:bodyPr wrap="square" lIns="0" tIns="0" rIns="0" bIns="0" rtlCol="0" anchor="ctr"/>
          <a:lstStyle/>
          <a:p>
            <a:pPr algn="l" indent="0" marL="0">
              <a:buNone/>
            </a:pPr>
            <a:r>
              <a:rPr lang="en-US" sz="2600" b="1" dirty="0">
                <a:solidFill>
                  <a:schemeClr val="accent1"/>
                </a:solidFill>
              </a:rPr>
              <a:t>How to manage a switch through VLAN 99</a:t>
            </a:r>
            <a:endParaRPr lang="en-US" sz="2600" dirty="0"/>
          </a:p>
        </p:txBody>
      </p:sp>
      <p:pic>
        <p:nvPicPr>
          <p:cNvPr id="4" name="Home button" descr="Home: back to the workbook menu">
            <a:hlinkClick r:id="rId2" tooltip="Back to the workbook menu" action="ppaction://hlinksldjump"/>
          </p:cNvPr>
          <p:cNvPicPr>
            <a:picLocks noChangeAspect="1"/>
          </p:cNvPicPr>
          <p:nvPr/>
        </p:nvPicPr>
        <p:blipFill>
          <a:blip r:embed="rId1"/>
          <a:stretch>
            <a:fillRect/>
          </a:stretch>
        </p:blipFill>
        <p:spPr>
          <a:xfrm>
            <a:off x="11365992" y="6336792"/>
            <a:ext cx="365760" cy="365760"/>
          </a:xfrm>
          <a:prstGeom prst="rect">
            <a:avLst/>
          </a:prstGeom>
        </p:spPr>
      </p:pic>
      <p:sp>
        <p:nvSpPr>
          <p:cNvPr id="5" name="Goal"/>
          <p:cNvSpPr txBox="1"/>
          <p:nvPr/>
        </p:nvSpPr>
        <p:spPr>
          <a:xfrm>
            <a:off x="548640" y="1161288"/>
            <a:ext cx="11094415" cy="384048"/>
          </a:xfrm>
          <a:prstGeom prst="rect">
            <a:avLst/>
          </a:prstGeom>
          <a:noFill/>
          <a:ln/>
        </p:spPr>
        <p:txBody>
          <a:bodyPr wrap="square" lIns="0" tIns="0" rIns="0" bIns="0" rtlCol="0" anchor="ctr"/>
          <a:lstStyle/>
          <a:p>
            <a:pPr indent="0" marL="0">
              <a:buNone/>
            </a:pPr>
            <a:r>
              <a:rPr lang="en-US" sz="1400" b="1" dirty="0">
                <a:solidFill>
                  <a:srgbClr val="2B7043"/>
                </a:solidFill>
              </a:rPr>
              <a:t>Goal:  </a:t>
            </a:r>
            <a:r>
              <a:rPr lang="en-US" sz="1400" dirty="0">
                <a:solidFill>
                  <a:srgbClr val="2B2B2B"/>
                </a:solidFill>
              </a:rPr>
              <a:t>Move each switch’s management address out of VLAN 1 into the MGMT VLAN, away from user traffic.</a:t>
            </a:r>
            <a:endParaRPr lang="en-US" sz="1400" dirty="0"/>
          </a:p>
        </p:txBody>
      </p:sp>
      <p:sp>
        <p:nvSpPr>
          <p:cNvPr id="6" name="Command header"/>
          <p:cNvSpPr/>
          <p:nvPr/>
        </p:nvSpPr>
        <p:spPr>
          <a:xfrm>
            <a:off x="548640" y="1664208"/>
            <a:ext cx="6153912" cy="310896"/>
          </a:xfrm>
          <a:prstGeom prst="rect">
            <a:avLst/>
          </a:prstGeom>
          <a:solidFill>
            <a:srgbClr val="1B2B22"/>
          </a:solidFill>
          <a:ln/>
        </p:spPr>
        <p:txBody>
          <a:bodyPr wrap="square" lIns="109728" tIns="45720" rIns="109728" bIns="45720" rtlCol="0" anchor="ctr"/>
          <a:lstStyle/>
          <a:p>
            <a:pPr indent="0" marL="0">
              <a:buNone/>
            </a:pPr>
            <a:r>
              <a:rPr lang="en-US" sz="1100" dirty="0">
                <a:solidFill>
                  <a:srgbClr val="E0605A"/>
                </a:solidFill>
              </a:rPr>
              <a:t>●  </a:t>
            </a:r>
            <a:r>
              <a:rPr lang="en-US" sz="1100" dirty="0">
                <a:solidFill>
                  <a:srgbClr val="E8B92E"/>
                </a:solidFill>
              </a:rPr>
              <a:t>●  </a:t>
            </a:r>
            <a:r>
              <a:rPr lang="en-US" sz="1100" dirty="0">
                <a:solidFill>
                  <a:srgbClr val="4CAF50"/>
                </a:solidFill>
              </a:rPr>
              <a:t>●   </a:t>
            </a:r>
            <a:r>
              <a:rPr lang="en-US" sz="1100" b="1" dirty="0">
                <a:solidFill>
                  <a:srgbClr val="C9D6CC"/>
                </a:solidFill>
              </a:rPr>
              <a:t>S1  —  type the white text, then press Enter</a:t>
            </a:r>
            <a:endParaRPr lang="en-US" sz="1100" dirty="0"/>
          </a:p>
        </p:txBody>
      </p:sp>
      <p:sp>
        <p:nvSpPr>
          <p:cNvPr id="7" name="Meaning header"/>
          <p:cNvSpPr/>
          <p:nvPr/>
        </p:nvSpPr>
        <p:spPr>
          <a:xfrm>
            <a:off x="6720840" y="1664208"/>
            <a:ext cx="4922215" cy="310896"/>
          </a:xfrm>
          <a:prstGeom prst="rect">
            <a:avLst/>
          </a:prstGeom>
          <a:solidFill>
            <a:srgbClr val="E8F1EA"/>
          </a:solidFill>
          <a:ln/>
        </p:spPr>
        <p:txBody>
          <a:bodyPr wrap="square" lIns="109728" tIns="45720" rIns="109728" bIns="45720" rtlCol="0" anchor="ctr"/>
          <a:lstStyle/>
          <a:p>
            <a:pPr indent="0" marL="0">
              <a:buNone/>
            </a:pPr>
            <a:r>
              <a:rPr lang="en-US" sz="1200" b="1" dirty="0">
                <a:solidFill>
                  <a:srgbClr val="1E5631"/>
                </a:solidFill>
              </a:rPr>
              <a:t>What it does</a:t>
            </a:r>
            <a:endParaRPr lang="en-US" sz="1200" dirty="0"/>
          </a:p>
        </p:txBody>
      </p:sp>
      <p:sp>
        <p:nvSpPr>
          <p:cNvPr id="8" name="Command 01"/>
          <p:cNvSpPr/>
          <p:nvPr/>
        </p:nvSpPr>
        <p:spPr>
          <a:xfrm>
            <a:off x="548640" y="1993392"/>
            <a:ext cx="6153912" cy="326768"/>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S1(config)# </a:t>
            </a:r>
            <a:r>
              <a:rPr lang="en-US" sz="1200" b="1" dirty="0">
                <a:solidFill>
                  <a:srgbClr val="FFFFFF"/>
                </a:solidFill>
                <a:latin typeface="Courier New" pitchFamily="34" charset="0"/>
                <a:ea typeface="Courier New" pitchFamily="34" charset="-122"/>
                <a:cs typeface="Courier New" pitchFamily="34" charset="-120"/>
              </a:rPr>
              <a:t>interface vlan 99</a:t>
            </a:r>
            <a:endParaRPr lang="en-US" sz="1200" dirty="0"/>
          </a:p>
        </p:txBody>
      </p:sp>
      <p:sp>
        <p:nvSpPr>
          <p:cNvPr id="9" name="Reveal 01 meaning"/>
          <p:cNvSpPr/>
          <p:nvPr/>
        </p:nvSpPr>
        <p:spPr>
          <a:xfrm>
            <a:off x="6720840" y="1993392"/>
            <a:ext cx="4922215" cy="326768"/>
          </a:xfrm>
          <a:prstGeom prst="rect">
            <a:avLst/>
          </a:prstGeom>
          <a:solidFill>
            <a:srgbClr val="F2F8F3"/>
          </a:solidFill>
          <a:ln/>
        </p:spPr>
        <p:txBody>
          <a:bodyPr wrap="square" lIns="109728" tIns="45720" rIns="109728" bIns="45720" rtlCol="0" anchor="ctr"/>
          <a:lstStyle/>
          <a:p>
            <a:pPr indent="0" marL="0">
              <a:buNone/>
            </a:pPr>
            <a:r>
              <a:rPr lang="en-US" sz="1400" dirty="0">
                <a:solidFill>
                  <a:srgbClr val="2B2B2B"/>
                </a:solidFill>
              </a:rPr>
              <a:t>Open the SVI of the management VLAN.</a:t>
            </a:r>
            <a:endParaRPr lang="en-US" sz="1400" dirty="0"/>
          </a:p>
        </p:txBody>
      </p:sp>
      <p:sp>
        <p:nvSpPr>
          <p:cNvPr id="10" name="Command 02"/>
          <p:cNvSpPr/>
          <p:nvPr/>
        </p:nvSpPr>
        <p:spPr>
          <a:xfrm>
            <a:off x="548640" y="2338448"/>
            <a:ext cx="6153912" cy="326768"/>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S1(config-if)# </a:t>
            </a:r>
            <a:r>
              <a:rPr lang="en-US" sz="1200" b="1" dirty="0">
                <a:solidFill>
                  <a:srgbClr val="FFFFFF"/>
                </a:solidFill>
                <a:latin typeface="Courier New" pitchFamily="34" charset="0"/>
                <a:ea typeface="Courier New" pitchFamily="34" charset="-122"/>
                <a:cs typeface="Courier New" pitchFamily="34" charset="-120"/>
              </a:rPr>
              <a:t>ip address 192.168.99.2 255.255.255.0</a:t>
            </a:r>
            <a:endParaRPr lang="en-US" sz="1200" dirty="0"/>
          </a:p>
        </p:txBody>
      </p:sp>
      <p:sp>
        <p:nvSpPr>
          <p:cNvPr id="11" name="Reveal 02 meaning"/>
          <p:cNvSpPr/>
          <p:nvPr/>
        </p:nvSpPr>
        <p:spPr>
          <a:xfrm>
            <a:off x="6720840" y="2338448"/>
            <a:ext cx="4922215" cy="326768"/>
          </a:xfrm>
          <a:prstGeom prst="rect">
            <a:avLst/>
          </a:prstGeom>
          <a:solidFill>
            <a:srgbClr val="FFFFFF"/>
          </a:solidFill>
          <a:ln/>
        </p:spPr>
        <p:txBody>
          <a:bodyPr wrap="square" lIns="109728" tIns="45720" rIns="109728" bIns="45720" rtlCol="0" anchor="ctr"/>
          <a:lstStyle/>
          <a:p>
            <a:pPr indent="0" marL="0">
              <a:buNone/>
            </a:pPr>
            <a:r>
              <a:rPr lang="en-US" sz="1400" dirty="0">
                <a:solidFill>
                  <a:srgbClr val="2B2B2B"/>
                </a:solidFill>
              </a:rPr>
              <a:t>S1’s management address (S2 uses 192.168.99.3).</a:t>
            </a:r>
            <a:endParaRPr lang="en-US" sz="1400" dirty="0"/>
          </a:p>
        </p:txBody>
      </p:sp>
      <p:sp>
        <p:nvSpPr>
          <p:cNvPr id="12" name="Command 03"/>
          <p:cNvSpPr/>
          <p:nvPr/>
        </p:nvSpPr>
        <p:spPr>
          <a:xfrm>
            <a:off x="548640" y="2683505"/>
            <a:ext cx="6153912" cy="326768"/>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S1(config-if)# </a:t>
            </a:r>
            <a:r>
              <a:rPr lang="en-US" sz="1200" b="1" dirty="0">
                <a:solidFill>
                  <a:srgbClr val="FFFFFF"/>
                </a:solidFill>
                <a:latin typeface="Courier New" pitchFamily="34" charset="0"/>
                <a:ea typeface="Courier New" pitchFamily="34" charset="-122"/>
                <a:cs typeface="Courier New" pitchFamily="34" charset="-120"/>
              </a:rPr>
              <a:t>no shutdown</a:t>
            </a:r>
            <a:endParaRPr lang="en-US" sz="1200" dirty="0"/>
          </a:p>
        </p:txBody>
      </p:sp>
      <p:sp>
        <p:nvSpPr>
          <p:cNvPr id="13" name="Reveal 03 meaning"/>
          <p:cNvSpPr/>
          <p:nvPr/>
        </p:nvSpPr>
        <p:spPr>
          <a:xfrm>
            <a:off x="6720840" y="2683505"/>
            <a:ext cx="4922215" cy="326768"/>
          </a:xfrm>
          <a:prstGeom prst="rect">
            <a:avLst/>
          </a:prstGeom>
          <a:solidFill>
            <a:srgbClr val="F2F8F3"/>
          </a:solidFill>
          <a:ln/>
        </p:spPr>
        <p:txBody>
          <a:bodyPr wrap="square" lIns="109728" tIns="45720" rIns="109728" bIns="45720" rtlCol="0" anchor="ctr"/>
          <a:lstStyle/>
          <a:p>
            <a:pPr indent="0" marL="0">
              <a:buNone/>
            </a:pPr>
            <a:r>
              <a:rPr lang="en-US" sz="1400" dirty="0">
                <a:solidFill>
                  <a:srgbClr val="2B2B2B"/>
                </a:solidFill>
              </a:rPr>
              <a:t>Switch the SVI on.</a:t>
            </a:r>
            <a:endParaRPr lang="en-US" sz="1400" dirty="0"/>
          </a:p>
        </p:txBody>
      </p:sp>
      <p:sp>
        <p:nvSpPr>
          <p:cNvPr id="14" name="Command 04"/>
          <p:cNvSpPr/>
          <p:nvPr/>
        </p:nvSpPr>
        <p:spPr>
          <a:xfrm>
            <a:off x="548640" y="3028561"/>
            <a:ext cx="6153912" cy="54380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S1(config-if)# </a:t>
            </a:r>
            <a:r>
              <a:rPr lang="en-US" sz="1200" b="1" dirty="0">
                <a:solidFill>
                  <a:srgbClr val="FFFFFF"/>
                </a:solidFill>
                <a:latin typeface="Courier New" pitchFamily="34" charset="0"/>
                <a:ea typeface="Courier New" pitchFamily="34" charset="-122"/>
                <a:cs typeface="Courier New" pitchFamily="34" charset="-120"/>
              </a:rPr>
              <a:t>exit</a:t>
            </a:r>
            <a:endParaRPr lang="en-US" sz="1200" dirty="0"/>
          </a:p>
          <a:p>
            <a:pPr indent="0" marL="0">
              <a:buNone/>
            </a:pPr>
            <a:r>
              <a:rPr lang="en-US" sz="1200" dirty="0">
                <a:solidFill>
                  <a:srgbClr val="8FC9A0"/>
                </a:solidFill>
                <a:latin typeface="Courier New" pitchFamily="34" charset="0"/>
                <a:ea typeface="Courier New" pitchFamily="34" charset="-122"/>
                <a:cs typeface="Courier New" pitchFamily="34" charset="-120"/>
              </a:rPr>
              <a:t>S1(config)# </a:t>
            </a:r>
            <a:r>
              <a:rPr lang="en-US" sz="1200" b="1" dirty="0">
                <a:solidFill>
                  <a:srgbClr val="FFFFFF"/>
                </a:solidFill>
                <a:latin typeface="Courier New" pitchFamily="34" charset="0"/>
                <a:ea typeface="Courier New" pitchFamily="34" charset="-122"/>
                <a:cs typeface="Courier New" pitchFamily="34" charset="-120"/>
              </a:rPr>
              <a:t>ip default-gateway 192.168.99.1</a:t>
            </a:r>
            <a:endParaRPr lang="en-US" sz="1200" dirty="0"/>
          </a:p>
        </p:txBody>
      </p:sp>
      <p:sp>
        <p:nvSpPr>
          <p:cNvPr id="15" name="Reveal 04 meaning"/>
          <p:cNvSpPr/>
          <p:nvPr/>
        </p:nvSpPr>
        <p:spPr>
          <a:xfrm>
            <a:off x="6720840" y="3028561"/>
            <a:ext cx="4922215" cy="543809"/>
          </a:xfrm>
          <a:prstGeom prst="rect">
            <a:avLst/>
          </a:prstGeom>
          <a:solidFill>
            <a:srgbClr val="FFFFFF"/>
          </a:solidFill>
          <a:ln/>
        </p:spPr>
        <p:txBody>
          <a:bodyPr wrap="square" lIns="109728" tIns="45720" rIns="109728" bIns="45720" rtlCol="0" anchor="ctr"/>
          <a:lstStyle/>
          <a:p>
            <a:pPr indent="0" marL="0">
              <a:buNone/>
            </a:pPr>
            <a:r>
              <a:rPr lang="en-US" sz="1400" dirty="0">
                <a:solidFill>
                  <a:srgbClr val="2B2B2B"/>
                </a:solidFill>
              </a:rPr>
              <a:t>R1’s VLAN 99 sub-interface (part 05) is the way out for management traffic.</a:t>
            </a:r>
            <a:endParaRPr lang="en-US" sz="1400" dirty="0"/>
          </a:p>
        </p:txBody>
      </p:sp>
      <p:sp>
        <p:nvSpPr>
          <p:cNvPr id="16" name="Command 05"/>
          <p:cNvSpPr/>
          <p:nvPr/>
        </p:nvSpPr>
        <p:spPr>
          <a:xfrm>
            <a:off x="548640" y="3590658"/>
            <a:ext cx="6153912" cy="54380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S1(config)# </a:t>
            </a:r>
            <a:r>
              <a:rPr lang="en-US" sz="1200" b="1" dirty="0">
                <a:solidFill>
                  <a:srgbClr val="FFFFFF"/>
                </a:solidFill>
                <a:latin typeface="Courier New" pitchFamily="34" charset="0"/>
                <a:ea typeface="Courier New" pitchFamily="34" charset="-122"/>
                <a:cs typeface="Courier New" pitchFamily="34" charset="-120"/>
              </a:rPr>
              <a:t>interface vlan 1</a:t>
            </a:r>
            <a:endParaRPr lang="en-US" sz="1200" dirty="0"/>
          </a:p>
          <a:p>
            <a:pPr indent="0" marL="0">
              <a:buNone/>
            </a:pPr>
            <a:r>
              <a:rPr lang="en-US" sz="1200" dirty="0">
                <a:solidFill>
                  <a:srgbClr val="8FC9A0"/>
                </a:solidFill>
                <a:latin typeface="Courier New" pitchFamily="34" charset="0"/>
                <a:ea typeface="Courier New" pitchFamily="34" charset="-122"/>
                <a:cs typeface="Courier New" pitchFamily="34" charset="-120"/>
              </a:rPr>
              <a:t>S1(config-if)# </a:t>
            </a:r>
            <a:r>
              <a:rPr lang="en-US" sz="1200" b="1" dirty="0">
                <a:solidFill>
                  <a:srgbClr val="FFFFFF"/>
                </a:solidFill>
                <a:latin typeface="Courier New" pitchFamily="34" charset="0"/>
                <a:ea typeface="Courier New" pitchFamily="34" charset="-122"/>
                <a:cs typeface="Courier New" pitchFamily="34" charset="-120"/>
              </a:rPr>
              <a:t>shutdown</a:t>
            </a:r>
            <a:endParaRPr lang="en-US" sz="1200" dirty="0"/>
          </a:p>
        </p:txBody>
      </p:sp>
      <p:sp>
        <p:nvSpPr>
          <p:cNvPr id="17" name="Reveal 05 meaning"/>
          <p:cNvSpPr/>
          <p:nvPr/>
        </p:nvSpPr>
        <p:spPr>
          <a:xfrm>
            <a:off x="6720840" y="3590658"/>
            <a:ext cx="4922215" cy="543809"/>
          </a:xfrm>
          <a:prstGeom prst="rect">
            <a:avLst/>
          </a:prstGeom>
          <a:solidFill>
            <a:srgbClr val="F2F8F3"/>
          </a:solidFill>
          <a:ln/>
        </p:spPr>
        <p:txBody>
          <a:bodyPr wrap="square" lIns="109728" tIns="45720" rIns="109728" bIns="45720" rtlCol="0" anchor="ctr"/>
          <a:lstStyle/>
          <a:p>
            <a:pPr indent="0" marL="0">
              <a:buNone/>
            </a:pPr>
            <a:r>
              <a:rPr lang="en-US" sz="1400" dirty="0">
                <a:solidFill>
                  <a:srgbClr val="2B2B2B"/>
                </a:solidFill>
              </a:rPr>
              <a:t>Optional: switch off the unused VLAN 1 interface so it is not used by mistake.</a:t>
            </a:r>
            <a:endParaRPr lang="en-US" sz="1400" dirty="0"/>
          </a:p>
        </p:txBody>
      </p:sp>
      <p:sp>
        <p:nvSpPr>
          <p:cNvPr id="18" name="Reveal 99 check box"/>
          <p:cNvSpPr/>
          <p:nvPr/>
        </p:nvSpPr>
        <p:spPr>
          <a:xfrm>
            <a:off x="548640" y="5504688"/>
            <a:ext cx="5410048" cy="749808"/>
          </a:xfrm>
          <a:prstGeom prst="roundRect">
            <a:avLst>
              <a:gd name="adj" fmla="val 9756"/>
            </a:avLst>
          </a:prstGeom>
          <a:solidFill>
            <a:srgbClr val="E8F1EA"/>
          </a:solidFill>
          <a:ln w="12700">
            <a:solidFill>
              <a:srgbClr val="B7C9BA"/>
            </a:solidFill>
            <a:prstDash val="solid"/>
          </a:ln>
        </p:spPr>
      </p:sp>
      <p:pic>
        <p:nvPicPr>
          <p:cNvPr id="19" name="Reveal 99 check icon" descr="Check it:">    </p:cNvPr>
          <p:cNvPicPr>
            <a:picLocks noChangeAspect="1"/>
          </p:cNvPicPr>
          <p:nvPr/>
        </p:nvPicPr>
        <p:blipFill>
          <a:blip r:embed="rId3"/>
          <a:stretch>
            <a:fillRect/>
          </a:stretch>
        </p:blipFill>
        <p:spPr>
          <a:xfrm>
            <a:off x="694944" y="5733288"/>
            <a:ext cx="292608" cy="292608"/>
          </a:xfrm>
          <a:prstGeom prst="rect">
            <a:avLst/>
          </a:prstGeom>
        </p:spPr>
      </p:pic>
      <p:sp>
        <p:nvSpPr>
          <p:cNvPr id="20" name="Reveal 99 check text"/>
          <p:cNvSpPr txBox="1"/>
          <p:nvPr/>
        </p:nvSpPr>
        <p:spPr>
          <a:xfrm>
            <a:off x="1097280" y="5541264"/>
            <a:ext cx="4751680" cy="676656"/>
          </a:xfrm>
          <a:prstGeom prst="rect">
            <a:avLst/>
          </a:prstGeom>
          <a:noFill/>
          <a:ln/>
        </p:spPr>
        <p:txBody>
          <a:bodyPr wrap="square" lIns="0" tIns="0" rIns="0" bIns="0" rtlCol="0" anchor="ctr"/>
          <a:lstStyle/>
          <a:p>
            <a:pPr indent="0" marL="0">
              <a:buNone/>
            </a:pPr>
            <a:r>
              <a:rPr lang="en-US" sz="1400" b="1" dirty="0">
                <a:solidFill>
                  <a:srgbClr val="1E5631"/>
                </a:solidFill>
              </a:rPr>
              <a:t>Check it:  </a:t>
            </a:r>
            <a:r>
              <a:rPr lang="en-US" sz="1300" b="1" dirty="0">
                <a:solidFill>
                  <a:srgbClr val="1E5631"/>
                </a:solidFill>
                <a:latin typeface="Courier New" pitchFamily="34" charset="0"/>
                <a:ea typeface="Courier New" pitchFamily="34" charset="-122"/>
                <a:cs typeface="Courier New" pitchFamily="34" charset="-120"/>
              </a:rPr>
              <a:t>show ip interface brief</a:t>
            </a:r>
            <a:r>
              <a:rPr lang="en-US" sz="1400" dirty="0">
                <a:solidFill>
                  <a:srgbClr val="2B2B2B"/>
                </a:solidFill>
              </a:rPr>
              <a:t> → Vlan99 192.168.99.2 up up (once a trunk carrying VLAN 99 is up).</a:t>
            </a:r>
            <a:endParaRPr lang="en-US" sz="1400" dirty="0"/>
          </a:p>
        </p:txBody>
      </p:sp>
      <p:sp>
        <p:nvSpPr>
          <p:cNvPr id="21" name="Reveal 99 watch box"/>
          <p:cNvSpPr/>
          <p:nvPr/>
        </p:nvSpPr>
        <p:spPr>
          <a:xfrm>
            <a:off x="6233008" y="5504688"/>
            <a:ext cx="5410048" cy="749808"/>
          </a:xfrm>
          <a:prstGeom prst="roundRect">
            <a:avLst>
              <a:gd name="adj" fmla="val 9756"/>
            </a:avLst>
          </a:prstGeom>
          <a:solidFill>
            <a:srgbClr val="FBEAEA"/>
          </a:solidFill>
          <a:ln w="12700">
            <a:solidFill>
              <a:srgbClr val="E9B8B5"/>
            </a:solidFill>
            <a:prstDash val="solid"/>
          </a:ln>
        </p:spPr>
      </p:sp>
      <p:pic>
        <p:nvPicPr>
          <p:cNvPr id="22" name="Reveal 99 watch icon" descr="Watch out:">    </p:cNvPr>
          <p:cNvPicPr>
            <a:picLocks noChangeAspect="1"/>
          </p:cNvPicPr>
          <p:nvPr/>
        </p:nvPicPr>
        <p:blipFill>
          <a:blip r:embed="rId4"/>
          <a:stretch>
            <a:fillRect/>
          </a:stretch>
        </p:blipFill>
        <p:spPr>
          <a:xfrm>
            <a:off x="6379312" y="5733288"/>
            <a:ext cx="292608" cy="292608"/>
          </a:xfrm>
          <a:prstGeom prst="rect">
            <a:avLst/>
          </a:prstGeom>
        </p:spPr>
      </p:pic>
      <p:sp>
        <p:nvSpPr>
          <p:cNvPr id="23" name="Reveal 99 watch text"/>
          <p:cNvSpPr txBox="1"/>
          <p:nvPr/>
        </p:nvSpPr>
        <p:spPr>
          <a:xfrm>
            <a:off x="6781648" y="5541264"/>
            <a:ext cx="4751680" cy="676656"/>
          </a:xfrm>
          <a:prstGeom prst="rect">
            <a:avLst/>
          </a:prstGeom>
          <a:noFill/>
          <a:ln/>
        </p:spPr>
        <p:txBody>
          <a:bodyPr wrap="square" lIns="0" tIns="0" rIns="0" bIns="0" rtlCol="0" anchor="ctr"/>
          <a:lstStyle/>
          <a:p>
            <a:pPr indent="0" marL="0">
              <a:buNone/>
            </a:pPr>
            <a:r>
              <a:rPr lang="en-US" sz="1400" b="1" dirty="0">
                <a:solidFill>
                  <a:srgbClr val="8B1A1A"/>
                </a:solidFill>
              </a:rPr>
              <a:t>Watch out:  </a:t>
            </a:r>
            <a:r>
              <a:rPr lang="en-US" sz="1400" dirty="0">
                <a:solidFill>
                  <a:srgbClr val="2B2B2B"/>
                </a:solidFill>
              </a:rPr>
              <a:t>Vlan99 stays down until VLAN 99 exists on the switch and a port or trunk carrying it is up.</a:t>
            </a:r>
            <a:endParaRPr lang="en-US" sz="1400" dirty="0"/>
          </a:p>
        </p:txBody>
      </p:sp>
      <p:sp>
        <p:nvSpPr>
          <p:cNvPr id="25" name="Slide Number Placeholder 0"/>
          <p:cNvSpPr>
            <a:spLocks noGrp="1"/>
          </p:cNvSpPr>
          <p:nvPr>
            <p:ph type="sldNum" sz="quarter" idx="4294967295"/>
          </p:nvPr>
        </p:nvSpPr>
        <p:spPr>
          <a:xfrm>
            <a:off x="10698480" y="6464808"/>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r"/>
            <a:fld id="{F7021451-1387-4CA6-816F-3879F97B5CBC}" type="slidenum">
              <a:rPr b="0" lang="en-US"/>
              <a:t>32</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4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0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400"/>
                                        <p:tgtEl>
                                          <p:spTgt spid="1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400"/>
                                        <p:tgtEl>
                                          <p:spTgt spid="1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fade">
                                      <p:cBhvr>
                                        <p:cTn id="38" dur="400"/>
                                        <p:tgtEl>
                                          <p:spTgt spid="20"/>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fade">
                                      <p:cBhvr>
                                        <p:cTn id="41" dur="400"/>
                                        <p:tgtEl>
                                          <p:spTgt spid="21"/>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fade">
                                      <p:cBhvr>
                                        <p:cTn id="44" dur="400"/>
                                        <p:tgtEl>
                                          <p:spTgt spid="22"/>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3" grpId="0" animBg="1"/>
      <p:bldP spid="15" grpId="0" animBg="1"/>
      <p:bldP spid="17" grpId="0" animBg="1"/>
      <p:bldP spid="18" grpId="0" animBg="1"/>
      <p:bldP spid="20" grpId="0" animBg="1"/>
      <p:bldP spid="21" grpId="0" animBg="1"/>
      <p:bldP spid="23"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1"/>
          <p:cNvSpPr/>
          <p:nvPr>
            <p:ph idx="102" type="body" hasCustomPrompt="1"/>
          </p:nvPr>
        </p:nvSpPr>
        <p:spPr>
          <a:xfrm>
            <a:off x="548640" y="274320"/>
            <a:ext cx="9966960" cy="256032"/>
          </a:xfrm>
          <a:prstGeom prst="rect">
            <a:avLst/>
          </a:prstGeom>
          <a:noFill/>
          <a:ln/>
        </p:spPr>
        <p:txBody>
          <a:bodyPr wrap="square" lIns="0" tIns="0" rIns="0" bIns="0" rtlCol="0" anchor="ctr"/>
          <a:lstStyle/>
          <a:p>
            <a:pPr algn="l" indent="0" marL="0">
              <a:buNone/>
            </a:pPr>
            <a:r>
              <a:rPr lang="en-US" sz="1100" b="1" spc="100" kern="0" dirty="0">
                <a:solidFill>
                  <a:schemeClr val="accent2"/>
                </a:solidFill>
              </a:rPr>
              <a:t>04  •  VLANS &amp; TRUNKS  •  LAB 2</a:t>
            </a:r>
            <a:endParaRPr lang="en-US" sz="1100" dirty="0"/>
          </a:p>
        </p:txBody>
      </p:sp>
      <p:sp>
        <p:nvSpPr>
          <p:cNvPr id="3" name="Text 1"/>
          <p:cNvSpPr/>
          <p:nvPr>
            <p:ph idx="103" type="title" hasCustomPrompt="1"/>
          </p:nvPr>
        </p:nvSpPr>
        <p:spPr>
          <a:xfrm>
            <a:off x="548640" y="548640"/>
            <a:ext cx="10149840" cy="548640"/>
          </a:xfrm>
          <a:prstGeom prst="rect">
            <a:avLst/>
          </a:prstGeom>
          <a:noFill/>
          <a:ln/>
        </p:spPr>
        <p:txBody>
          <a:bodyPr wrap="square" lIns="0" tIns="0" rIns="0" bIns="0" rtlCol="0" anchor="ctr"/>
          <a:lstStyle/>
          <a:p>
            <a:pPr algn="l" indent="0" marL="0">
              <a:buNone/>
            </a:pPr>
            <a:r>
              <a:rPr lang="en-US" sz="2600" b="1" dirty="0">
                <a:solidFill>
                  <a:schemeClr val="accent1"/>
                </a:solidFill>
              </a:rPr>
              <a:t>How to check VLANs and trunks</a:t>
            </a:r>
            <a:endParaRPr lang="en-US" sz="2600" dirty="0"/>
          </a:p>
        </p:txBody>
      </p:sp>
      <p:pic>
        <p:nvPicPr>
          <p:cNvPr id="4" name="Home button" descr="Home: back to the workbook menu">
            <a:hlinkClick r:id="rId2" tooltip="Back to the workbook menu" action="ppaction://hlinksldjump"/>
          </p:cNvPr>
          <p:cNvPicPr>
            <a:picLocks noChangeAspect="1"/>
          </p:cNvPicPr>
          <p:nvPr/>
        </p:nvPicPr>
        <p:blipFill>
          <a:blip r:embed="rId1"/>
          <a:stretch>
            <a:fillRect/>
          </a:stretch>
        </p:blipFill>
        <p:spPr>
          <a:xfrm>
            <a:off x="11365992" y="6336792"/>
            <a:ext cx="365760" cy="365760"/>
          </a:xfrm>
          <a:prstGeom prst="rect">
            <a:avLst/>
          </a:prstGeom>
        </p:spPr>
      </p:pic>
      <p:sp>
        <p:nvSpPr>
          <p:cNvPr id="5" name="Goal"/>
          <p:cNvSpPr txBox="1"/>
          <p:nvPr/>
        </p:nvSpPr>
        <p:spPr>
          <a:xfrm>
            <a:off x="548640" y="1161288"/>
            <a:ext cx="11094415" cy="384048"/>
          </a:xfrm>
          <a:prstGeom prst="rect">
            <a:avLst/>
          </a:prstGeom>
          <a:noFill/>
          <a:ln/>
        </p:spPr>
        <p:txBody>
          <a:bodyPr wrap="square" lIns="0" tIns="0" rIns="0" bIns="0" rtlCol="0" anchor="ctr"/>
          <a:lstStyle/>
          <a:p>
            <a:pPr indent="0" marL="0">
              <a:buNone/>
            </a:pPr>
            <a:r>
              <a:rPr lang="en-US" sz="1400" b="1" dirty="0">
                <a:solidFill>
                  <a:srgbClr val="2B7043"/>
                </a:solidFill>
              </a:rPr>
              <a:t>Goal:  </a:t>
            </a:r>
            <a:r>
              <a:rPr lang="en-US" sz="1400" dirty="0">
                <a:solidFill>
                  <a:srgbClr val="2B2B2B"/>
                </a:solidFill>
              </a:rPr>
              <a:t>Two show commands prove the VLAN design is built correctly. Learn to read them line by line.</a:t>
            </a:r>
            <a:endParaRPr lang="en-US" sz="1400" dirty="0"/>
          </a:p>
        </p:txBody>
      </p:sp>
      <p:sp>
        <p:nvSpPr>
          <p:cNvPr id="6" name="Terminal window"/>
          <p:cNvSpPr/>
          <p:nvPr/>
        </p:nvSpPr>
        <p:spPr>
          <a:xfrm>
            <a:off x="548640" y="1664208"/>
            <a:ext cx="6629400" cy="4553712"/>
          </a:xfrm>
          <a:prstGeom prst="roundRect">
            <a:avLst>
              <a:gd name="adj" fmla="val 1606"/>
            </a:avLst>
          </a:prstGeom>
          <a:solidFill>
            <a:srgbClr val="1B2B22"/>
          </a:solidFill>
          <a:ln w="6350">
            <a:solidFill>
              <a:srgbClr val="1B2B22"/>
            </a:solidFill>
            <a:prstDash val="solid"/>
          </a:ln>
        </p:spPr>
      </p:sp>
      <p:sp>
        <p:nvSpPr>
          <p:cNvPr id="7" name="Shape 4"/>
          <p:cNvSpPr/>
          <p:nvPr/>
        </p:nvSpPr>
        <p:spPr>
          <a:xfrm>
            <a:off x="713232" y="1783080"/>
            <a:ext cx="109728" cy="109728"/>
          </a:xfrm>
          <a:prstGeom prst="ellipse">
            <a:avLst/>
          </a:prstGeom>
          <a:solidFill>
            <a:srgbClr val="E0605A"/>
          </a:solidFill>
          <a:ln/>
        </p:spPr>
      </p:sp>
      <p:sp>
        <p:nvSpPr>
          <p:cNvPr id="8" name="Shape 5"/>
          <p:cNvSpPr/>
          <p:nvPr/>
        </p:nvSpPr>
        <p:spPr>
          <a:xfrm>
            <a:off x="896112" y="1783080"/>
            <a:ext cx="109728" cy="109728"/>
          </a:xfrm>
          <a:prstGeom prst="ellipse">
            <a:avLst/>
          </a:prstGeom>
          <a:solidFill>
            <a:srgbClr val="E8B92E"/>
          </a:solidFill>
          <a:ln/>
        </p:spPr>
      </p:sp>
      <p:sp>
        <p:nvSpPr>
          <p:cNvPr id="9" name="Shape 6"/>
          <p:cNvSpPr/>
          <p:nvPr/>
        </p:nvSpPr>
        <p:spPr>
          <a:xfrm>
            <a:off x="1078992" y="1783080"/>
            <a:ext cx="109728" cy="109728"/>
          </a:xfrm>
          <a:prstGeom prst="ellipse">
            <a:avLst/>
          </a:prstGeom>
          <a:solidFill>
            <a:srgbClr val="4CAF50"/>
          </a:solidFill>
          <a:ln/>
        </p:spPr>
      </p:sp>
      <p:sp>
        <p:nvSpPr>
          <p:cNvPr id="10" name="Text 7"/>
          <p:cNvSpPr txBox="1"/>
          <p:nvPr/>
        </p:nvSpPr>
        <p:spPr>
          <a:xfrm>
            <a:off x="1325880" y="1709928"/>
            <a:ext cx="5715000" cy="256032"/>
          </a:xfrm>
          <a:prstGeom prst="rect">
            <a:avLst/>
          </a:prstGeom>
          <a:noFill/>
          <a:ln/>
        </p:spPr>
        <p:txBody>
          <a:bodyPr wrap="square" lIns="0" tIns="0" rIns="0" bIns="0" rtlCol="0" anchor="ctr"/>
          <a:lstStyle/>
          <a:p>
            <a:pPr indent="0" marL="0">
              <a:buNone/>
            </a:pPr>
            <a:r>
              <a:rPr lang="en-US" sz="1100" b="1" dirty="0">
                <a:solidFill>
                  <a:srgbClr val="C9D6CC"/>
                </a:solidFill>
              </a:rPr>
              <a:t>S1  ›  CLI  (columns shortened)</a:t>
            </a:r>
            <a:endParaRPr lang="en-US" sz="1100" dirty="0"/>
          </a:p>
        </p:txBody>
      </p:sp>
      <p:sp>
        <p:nvSpPr>
          <p:cNvPr id="11" name="Terminal text"/>
          <p:cNvSpPr txBox="1"/>
          <p:nvPr/>
        </p:nvSpPr>
        <p:spPr>
          <a:xfrm>
            <a:off x="731520" y="2048256"/>
            <a:ext cx="6309360" cy="4078224"/>
          </a:xfrm>
          <a:prstGeom prst="rect">
            <a:avLst/>
          </a:prstGeom>
          <a:noFill/>
          <a:ln/>
        </p:spPr>
        <p:txBody>
          <a:bodyPr wrap="square" lIns="0" tIns="0" rIns="0" bIns="0" rtlCol="0" anchor="t"/>
          <a:lstStyle/>
          <a:p>
            <a:pPr indent="0" marL="0">
              <a:lnSpc>
                <a:spcPct val="100000"/>
              </a:lnSpc>
              <a:buNone/>
            </a:pPr>
            <a:r>
              <a:rPr lang="en-US" sz="1100" dirty="0">
                <a:solidFill>
                  <a:srgbClr val="8FC9A0"/>
                </a:solidFill>
                <a:latin typeface="Courier New" pitchFamily="34" charset="0"/>
                <a:ea typeface="Courier New" pitchFamily="34" charset="-122"/>
                <a:cs typeface="Courier New" pitchFamily="34" charset="-120"/>
              </a:rPr>
              <a:t>S1# </a:t>
            </a:r>
            <a:r>
              <a:rPr lang="en-US" sz="1100" b="1" dirty="0">
                <a:solidFill>
                  <a:srgbClr val="FFFFFF"/>
                </a:solidFill>
                <a:latin typeface="Courier New" pitchFamily="34" charset="0"/>
                <a:ea typeface="Courier New" pitchFamily="34" charset="-122"/>
                <a:cs typeface="Courier New" pitchFamily="34" charset="-120"/>
              </a:rPr>
              <a:t>show vlan brief</a:t>
            </a:r>
            <a:endParaRPr lang="en-US" sz="1100" dirty="0"/>
          </a:p>
          <a:p>
            <a:pPr indent="0" marL="0">
              <a:lnSpc>
                <a:spcPct val="100000"/>
              </a:lnSpc>
              <a:buNone/>
            </a:pPr>
            <a:r>
              <a:rPr lang="en-US" sz="1100" dirty="0">
                <a:solidFill>
                  <a:srgbClr val="D5E2D8"/>
                </a:solidFill>
                <a:latin typeface="Courier New" pitchFamily="34" charset="0"/>
                <a:ea typeface="Courier New" pitchFamily="34" charset="-122"/>
                <a:cs typeface="Courier New" pitchFamily="34" charset="-120"/>
              </a:rPr>
              <a:t>VLAN Name           Status    Ports</a:t>
            </a:r>
            <a:endParaRPr lang="en-US" sz="1100" dirty="0"/>
          </a:p>
          <a:p>
            <a:pPr indent="0" marL="0">
              <a:lnSpc>
                <a:spcPct val="100000"/>
              </a:lnSpc>
              <a:buNone/>
            </a:pPr>
            <a:r>
              <a:rPr lang="en-US" sz="1100" dirty="0">
                <a:solidFill>
                  <a:srgbClr val="D5E2D8"/>
                </a:solidFill>
                <a:latin typeface="Courier New" pitchFamily="34" charset="0"/>
                <a:ea typeface="Courier New" pitchFamily="34" charset="-122"/>
                <a:cs typeface="Courier New" pitchFamily="34" charset="-120"/>
              </a:rPr>
              <a:t>---- -------------- --------- -------------------------</a:t>
            </a:r>
            <a:endParaRPr lang="en-US" sz="1100" dirty="0"/>
          </a:p>
          <a:p>
            <a:pPr indent="0" marL="0">
              <a:lnSpc>
                <a:spcPct val="100000"/>
              </a:lnSpc>
              <a:buNone/>
            </a:pPr>
            <a:r>
              <a:rPr lang="en-US" sz="1100" dirty="0">
                <a:solidFill>
                  <a:srgbClr val="D5E2D8"/>
                </a:solidFill>
                <a:latin typeface="Courier New" pitchFamily="34" charset="0"/>
                <a:ea typeface="Courier New" pitchFamily="34" charset="-122"/>
                <a:cs typeface="Courier New" pitchFamily="34" charset="-120"/>
              </a:rPr>
              <a:t>1    default        active</a:t>
            </a:r>
            <a:endParaRPr lang="en-US" sz="1100" dirty="0"/>
          </a:p>
          <a:p>
            <a:pPr indent="0" marL="0">
              <a:lnSpc>
                <a:spcPct val="100000"/>
              </a:lnSpc>
              <a:buNone/>
            </a:pPr>
            <a:r>
              <a:rPr lang="en-US" sz="1100" dirty="0">
                <a:solidFill>
                  <a:srgbClr val="D5E2D8"/>
                </a:solidFill>
                <a:latin typeface="Courier New" pitchFamily="34" charset="0"/>
                <a:ea typeface="Courier New" pitchFamily="34" charset="-122"/>
                <a:cs typeface="Courier New" pitchFamily="34" charset="-120"/>
              </a:rPr>
              <a:t>10   STAFF          active    </a:t>
            </a:r>
            <a:r>
              <a:rPr lang="en-US" sz="1100" b="1" dirty="0">
                <a:solidFill>
                  <a:srgbClr val="E8B92E"/>
                </a:solidFill>
                <a:latin typeface="Courier New" pitchFamily="34" charset="0"/>
                <a:ea typeface="Courier New" pitchFamily="34" charset="-122"/>
                <a:cs typeface="Courier New" pitchFamily="34" charset="-120"/>
              </a:rPr>
              <a:t>Fa0/1, Fa0/2, Fa0/3 ...</a:t>
            </a:r>
            <a:endParaRPr lang="en-US" sz="1100" dirty="0"/>
          </a:p>
          <a:p>
            <a:pPr indent="0" marL="0">
              <a:lnSpc>
                <a:spcPct val="100000"/>
              </a:lnSpc>
              <a:buNone/>
            </a:pPr>
            <a:r>
              <a:rPr lang="en-US" sz="1100" dirty="0">
                <a:solidFill>
                  <a:srgbClr val="D5E2D8"/>
                </a:solidFill>
                <a:latin typeface="Courier New" pitchFamily="34" charset="0"/>
                <a:ea typeface="Courier New" pitchFamily="34" charset="-122"/>
                <a:cs typeface="Courier New" pitchFamily="34" charset="-120"/>
              </a:rPr>
              <a:t>20   STUDENTS       active    Fa0/11, Fa0/12 ...</a:t>
            </a:r>
            <a:endParaRPr lang="en-US" sz="1100" dirty="0"/>
          </a:p>
          <a:p>
            <a:pPr indent="0" marL="0">
              <a:lnSpc>
                <a:spcPct val="100000"/>
              </a:lnSpc>
              <a:buNone/>
            </a:pPr>
            <a:r>
              <a:rPr lang="en-US" sz="1100" dirty="0">
                <a:solidFill>
                  <a:srgbClr val="D5E2D8"/>
                </a:solidFill>
                <a:latin typeface="Courier New" pitchFamily="34" charset="0"/>
                <a:ea typeface="Courier New" pitchFamily="34" charset="-122"/>
                <a:cs typeface="Courier New" pitchFamily="34" charset="-120"/>
              </a:rPr>
              <a:t>30   FINANCE        active    Fa0/21, Fa0/22, Fa0/23, Fa0/24</a:t>
            </a:r>
            <a:endParaRPr lang="en-US" sz="1100" dirty="0"/>
          </a:p>
          <a:p>
            <a:pPr indent="0" marL="0">
              <a:lnSpc>
                <a:spcPct val="100000"/>
              </a:lnSpc>
              <a:buNone/>
            </a:pPr>
            <a:r>
              <a:rPr lang="en-US" sz="1100" dirty="0">
                <a:solidFill>
                  <a:srgbClr val="D5E2D8"/>
                </a:solidFill>
                <a:latin typeface="Courier New" pitchFamily="34" charset="0"/>
                <a:ea typeface="Courier New" pitchFamily="34" charset="-122"/>
                <a:cs typeface="Courier New" pitchFamily="34" charset="-120"/>
              </a:rPr>
              <a:t>99   MGMT           active</a:t>
            </a:r>
            <a:endParaRPr lang="en-US" sz="1100" dirty="0"/>
          </a:p>
          <a:p>
            <a:pPr indent="0" marL="0">
              <a:lnSpc>
                <a:spcPct val="100000"/>
              </a:lnSpc>
              <a:buNone/>
            </a:pPr>
            <a:r>
              <a:rPr lang="en-US" sz="1100" dirty="0">
                <a:solidFill>
                  <a:srgbClr val="D5E2D8"/>
                </a:solidFill>
                <a:latin typeface="Courier New" pitchFamily="34" charset="0"/>
                <a:ea typeface="Courier New" pitchFamily="34" charset="-122"/>
                <a:cs typeface="Courier New" pitchFamily="34" charset="-120"/>
              </a:rPr>
              <a:t> </a:t>
            </a:r>
            <a:endParaRPr lang="en-US" sz="1100" dirty="0"/>
          </a:p>
          <a:p>
            <a:pPr indent="0" marL="0">
              <a:lnSpc>
                <a:spcPct val="100000"/>
              </a:lnSpc>
              <a:buNone/>
            </a:pPr>
            <a:r>
              <a:rPr lang="en-US" sz="1100" dirty="0">
                <a:solidFill>
                  <a:srgbClr val="8FC9A0"/>
                </a:solidFill>
                <a:latin typeface="Courier New" pitchFamily="34" charset="0"/>
                <a:ea typeface="Courier New" pitchFamily="34" charset="-122"/>
                <a:cs typeface="Courier New" pitchFamily="34" charset="-120"/>
              </a:rPr>
              <a:t>S1# </a:t>
            </a:r>
            <a:r>
              <a:rPr lang="en-US" sz="1100" b="1" dirty="0">
                <a:solidFill>
                  <a:srgbClr val="FFFFFF"/>
                </a:solidFill>
                <a:latin typeface="Courier New" pitchFamily="34" charset="0"/>
                <a:ea typeface="Courier New" pitchFamily="34" charset="-122"/>
                <a:cs typeface="Courier New" pitchFamily="34" charset="-120"/>
              </a:rPr>
              <a:t>show interfaces trunk</a:t>
            </a:r>
            <a:endParaRPr lang="en-US" sz="1100" dirty="0"/>
          </a:p>
          <a:p>
            <a:pPr indent="0" marL="0">
              <a:lnSpc>
                <a:spcPct val="100000"/>
              </a:lnSpc>
              <a:buNone/>
            </a:pPr>
            <a:r>
              <a:rPr lang="en-US" sz="1100" dirty="0">
                <a:solidFill>
                  <a:srgbClr val="D5E2D8"/>
                </a:solidFill>
                <a:latin typeface="Courier New" pitchFamily="34" charset="0"/>
                <a:ea typeface="Courier New" pitchFamily="34" charset="-122"/>
                <a:cs typeface="Courier New" pitchFamily="34" charset="-120"/>
              </a:rPr>
              <a:t>Port    Mode  Encapsulation  Status     Native vlan</a:t>
            </a:r>
            <a:endParaRPr lang="en-US" sz="1100" dirty="0"/>
          </a:p>
          <a:p>
            <a:pPr indent="0" marL="0">
              <a:lnSpc>
                <a:spcPct val="100000"/>
              </a:lnSpc>
              <a:buNone/>
            </a:pPr>
            <a:r>
              <a:rPr lang="en-US" sz="1100" dirty="0">
                <a:solidFill>
                  <a:srgbClr val="D5E2D8"/>
                </a:solidFill>
                <a:latin typeface="Courier New" pitchFamily="34" charset="0"/>
                <a:ea typeface="Courier New" pitchFamily="34" charset="-122"/>
                <a:cs typeface="Courier New" pitchFamily="34" charset="-120"/>
              </a:rPr>
              <a:t>Gig0/1  on    802.1q         </a:t>
            </a:r>
            <a:r>
              <a:rPr lang="en-US" sz="1100" b="1" dirty="0">
                <a:solidFill>
                  <a:srgbClr val="E8B92E"/>
                </a:solidFill>
                <a:latin typeface="Courier New" pitchFamily="34" charset="0"/>
                <a:ea typeface="Courier New" pitchFamily="34" charset="-122"/>
                <a:cs typeface="Courier New" pitchFamily="34" charset="-120"/>
              </a:rPr>
              <a:t>trunking</a:t>
            </a:r>
            <a:r>
              <a:rPr lang="en-US" sz="1100" dirty="0">
                <a:solidFill>
                  <a:srgbClr val="D5E2D8"/>
                </a:solidFill>
                <a:latin typeface="Courier New" pitchFamily="34" charset="0"/>
                <a:ea typeface="Courier New" pitchFamily="34" charset="-122"/>
                <a:cs typeface="Courier New" pitchFamily="34" charset="-120"/>
              </a:rPr>
              <a:t>   </a:t>
            </a:r>
            <a:r>
              <a:rPr lang="en-US" sz="1100" b="1" dirty="0">
                <a:solidFill>
                  <a:srgbClr val="E8B92E"/>
                </a:solidFill>
                <a:latin typeface="Courier New" pitchFamily="34" charset="0"/>
                <a:ea typeface="Courier New" pitchFamily="34" charset="-122"/>
                <a:cs typeface="Courier New" pitchFamily="34" charset="-120"/>
              </a:rPr>
              <a:t>99</a:t>
            </a:r>
            <a:endParaRPr lang="en-US" sz="1100" dirty="0"/>
          </a:p>
          <a:p>
            <a:pPr indent="0" marL="0">
              <a:lnSpc>
                <a:spcPct val="100000"/>
              </a:lnSpc>
              <a:buNone/>
            </a:pPr>
            <a:r>
              <a:rPr lang="en-US" sz="1100" dirty="0">
                <a:solidFill>
                  <a:srgbClr val="D5E2D8"/>
                </a:solidFill>
                <a:latin typeface="Courier New" pitchFamily="34" charset="0"/>
                <a:ea typeface="Courier New" pitchFamily="34" charset="-122"/>
                <a:cs typeface="Courier New" pitchFamily="34" charset="-120"/>
              </a:rPr>
              <a:t>Gig0/2  on    802.1q         trunking   99</a:t>
            </a:r>
            <a:endParaRPr lang="en-US" sz="1100" dirty="0"/>
          </a:p>
          <a:p>
            <a:pPr indent="0" marL="0">
              <a:lnSpc>
                <a:spcPct val="100000"/>
              </a:lnSpc>
              <a:buNone/>
            </a:pPr>
            <a:r>
              <a:rPr lang="en-US" sz="1100" dirty="0">
                <a:solidFill>
                  <a:srgbClr val="D5E2D8"/>
                </a:solidFill>
                <a:latin typeface="Courier New" pitchFamily="34" charset="0"/>
                <a:ea typeface="Courier New" pitchFamily="34" charset="-122"/>
                <a:cs typeface="Courier New" pitchFamily="34" charset="-120"/>
              </a:rPr>
              <a:t> </a:t>
            </a:r>
            <a:endParaRPr lang="en-US" sz="1100" dirty="0"/>
          </a:p>
          <a:p>
            <a:pPr indent="0" marL="0">
              <a:lnSpc>
                <a:spcPct val="100000"/>
              </a:lnSpc>
              <a:buNone/>
            </a:pPr>
            <a:r>
              <a:rPr lang="en-US" sz="1100" dirty="0">
                <a:solidFill>
                  <a:srgbClr val="D5E2D8"/>
                </a:solidFill>
                <a:latin typeface="Courier New" pitchFamily="34" charset="0"/>
                <a:ea typeface="Courier New" pitchFamily="34" charset="-122"/>
                <a:cs typeface="Courier New" pitchFamily="34" charset="-120"/>
              </a:rPr>
              <a:t>Port    Vlans allowed on trunk</a:t>
            </a:r>
            <a:endParaRPr lang="en-US" sz="1100" dirty="0"/>
          </a:p>
          <a:p>
            <a:pPr indent="0" marL="0">
              <a:lnSpc>
                <a:spcPct val="100000"/>
              </a:lnSpc>
              <a:buNone/>
            </a:pPr>
            <a:r>
              <a:rPr lang="en-US" sz="1100" dirty="0">
                <a:solidFill>
                  <a:srgbClr val="D5E2D8"/>
                </a:solidFill>
                <a:latin typeface="Courier New" pitchFamily="34" charset="0"/>
                <a:ea typeface="Courier New" pitchFamily="34" charset="-122"/>
                <a:cs typeface="Courier New" pitchFamily="34" charset="-120"/>
              </a:rPr>
              <a:t>Gig0/1  </a:t>
            </a:r>
            <a:r>
              <a:rPr lang="en-US" sz="1100" b="1" dirty="0">
                <a:solidFill>
                  <a:srgbClr val="E8B92E"/>
                </a:solidFill>
                <a:latin typeface="Courier New" pitchFamily="34" charset="0"/>
                <a:ea typeface="Courier New" pitchFamily="34" charset="-122"/>
                <a:cs typeface="Courier New" pitchFamily="34" charset="-120"/>
              </a:rPr>
              <a:t>10,20,30,99</a:t>
            </a:r>
            <a:endParaRPr lang="en-US" sz="1100" dirty="0"/>
          </a:p>
          <a:p>
            <a:pPr indent="0" marL="0">
              <a:lnSpc>
                <a:spcPct val="100000"/>
              </a:lnSpc>
              <a:buNone/>
            </a:pPr>
            <a:r>
              <a:rPr lang="en-US" sz="1100" dirty="0">
                <a:solidFill>
                  <a:srgbClr val="D5E2D8"/>
                </a:solidFill>
                <a:latin typeface="Courier New" pitchFamily="34" charset="0"/>
                <a:ea typeface="Courier New" pitchFamily="34" charset="-122"/>
                <a:cs typeface="Courier New" pitchFamily="34" charset="-120"/>
              </a:rPr>
              <a:t>Gig0/2  10,20,30,99</a:t>
            </a:r>
            <a:endParaRPr lang="en-US" sz="1100" dirty="0"/>
          </a:p>
        </p:txBody>
      </p:sp>
      <p:sp>
        <p:nvSpPr>
          <p:cNvPr id="12" name="Card"/>
          <p:cNvSpPr/>
          <p:nvPr/>
        </p:nvSpPr>
        <p:spPr>
          <a:xfrm>
            <a:off x="7406640" y="1664208"/>
            <a:ext cx="4233672" cy="1188720"/>
          </a:xfrm>
          <a:prstGeom prst="roundRect">
            <a:avLst>
              <a:gd name="adj" fmla="val 6154"/>
            </a:avLst>
          </a:prstGeom>
          <a:solidFill>
            <a:srgbClr val="F2F8F3"/>
          </a:solidFill>
          <a:ln w="12700">
            <a:solidFill>
              <a:srgbClr val="B7C9BA"/>
            </a:solidFill>
            <a:prstDash val="solid"/>
          </a:ln>
        </p:spPr>
      </p:sp>
      <p:sp>
        <p:nvSpPr>
          <p:cNvPr id="13" name="Text 10"/>
          <p:cNvSpPr txBox="1"/>
          <p:nvPr/>
        </p:nvSpPr>
        <p:spPr>
          <a:xfrm>
            <a:off x="7552944" y="1766621"/>
            <a:ext cx="3941064" cy="983894"/>
          </a:xfrm>
          <a:prstGeom prst="rect">
            <a:avLst/>
          </a:prstGeom>
          <a:noFill/>
          <a:ln/>
        </p:spPr>
        <p:txBody>
          <a:bodyPr wrap="square" lIns="0" tIns="0" rIns="0" bIns="0" rtlCol="0" anchor="t"/>
          <a:lstStyle/>
          <a:p>
            <a:pPr indent="0" marL="0">
              <a:buNone/>
            </a:pPr>
            <a:r>
              <a:rPr lang="en-US" sz="1400" b="1" dirty="0">
                <a:solidFill>
                  <a:srgbClr val="1E5631"/>
                </a:solidFill>
              </a:rPr>
              <a:t>Ports beside the right VLAN</a:t>
            </a:r>
            <a:endParaRPr lang="en-US" sz="1300" dirty="0"/>
          </a:p>
          <a:p>
            <a:pPr indent="0" marL="0">
              <a:buNone/>
            </a:pPr>
            <a:r>
              <a:rPr lang="en-US" sz="1300" dirty="0">
                <a:solidFill>
                  <a:srgbClr val="2B2B2B"/>
                </a:solidFill>
              </a:rPr>
              <a:t>The access ports are correct. Trunk ports never appear in this list — that is normal.</a:t>
            </a:r>
            <a:endParaRPr lang="en-US" sz="1300" dirty="0"/>
          </a:p>
        </p:txBody>
      </p:sp>
      <p:sp>
        <p:nvSpPr>
          <p:cNvPr id="14" name="Card"/>
          <p:cNvSpPr/>
          <p:nvPr/>
        </p:nvSpPr>
        <p:spPr>
          <a:xfrm>
            <a:off x="7406640" y="2962656"/>
            <a:ext cx="4233672" cy="1188720"/>
          </a:xfrm>
          <a:prstGeom prst="roundRect">
            <a:avLst>
              <a:gd name="adj" fmla="val 6154"/>
            </a:avLst>
          </a:prstGeom>
          <a:solidFill>
            <a:srgbClr val="F2F8F3"/>
          </a:solidFill>
          <a:ln w="12700">
            <a:solidFill>
              <a:srgbClr val="B7C9BA"/>
            </a:solidFill>
            <a:prstDash val="solid"/>
          </a:ln>
        </p:spPr>
      </p:sp>
      <p:sp>
        <p:nvSpPr>
          <p:cNvPr id="15" name="Text 12"/>
          <p:cNvSpPr txBox="1"/>
          <p:nvPr/>
        </p:nvSpPr>
        <p:spPr>
          <a:xfrm>
            <a:off x="7552944" y="3065069"/>
            <a:ext cx="3941064" cy="983894"/>
          </a:xfrm>
          <a:prstGeom prst="rect">
            <a:avLst/>
          </a:prstGeom>
          <a:noFill/>
          <a:ln/>
        </p:spPr>
        <p:txBody>
          <a:bodyPr wrap="square" lIns="0" tIns="0" rIns="0" bIns="0" rtlCol="0" anchor="t"/>
          <a:lstStyle/>
          <a:p>
            <a:pPr indent="0" marL="0">
              <a:buNone/>
            </a:pPr>
            <a:r>
              <a:rPr lang="en-US" sz="1400" b="1" dirty="0">
                <a:solidFill>
                  <a:srgbClr val="1E5631"/>
                </a:solidFill>
              </a:rPr>
              <a:t>trunking + native vlan 99</a:t>
            </a:r>
            <a:endParaRPr lang="en-US" sz="1300" dirty="0"/>
          </a:p>
          <a:p>
            <a:pPr indent="0" marL="0">
              <a:buNone/>
            </a:pPr>
            <a:r>
              <a:rPr lang="en-US" sz="1300" dirty="0">
                <a:solidFill>
                  <a:srgbClr val="2B2B2B"/>
                </a:solidFill>
              </a:rPr>
              <a:t>The trunk is up and both ends agree on the native VLAN.</a:t>
            </a:r>
            <a:endParaRPr lang="en-US" sz="1300" dirty="0"/>
          </a:p>
        </p:txBody>
      </p:sp>
      <p:sp>
        <p:nvSpPr>
          <p:cNvPr id="16" name="Card"/>
          <p:cNvSpPr/>
          <p:nvPr/>
        </p:nvSpPr>
        <p:spPr>
          <a:xfrm>
            <a:off x="7406640" y="4261104"/>
            <a:ext cx="4233672" cy="1188720"/>
          </a:xfrm>
          <a:prstGeom prst="roundRect">
            <a:avLst>
              <a:gd name="adj" fmla="val 6154"/>
            </a:avLst>
          </a:prstGeom>
          <a:solidFill>
            <a:srgbClr val="F2F8F3"/>
          </a:solidFill>
          <a:ln w="12700">
            <a:solidFill>
              <a:srgbClr val="B7C9BA"/>
            </a:solidFill>
            <a:prstDash val="solid"/>
          </a:ln>
        </p:spPr>
      </p:sp>
      <p:sp>
        <p:nvSpPr>
          <p:cNvPr id="17" name="Text 14"/>
          <p:cNvSpPr txBox="1"/>
          <p:nvPr/>
        </p:nvSpPr>
        <p:spPr>
          <a:xfrm>
            <a:off x="7552944" y="4363517"/>
            <a:ext cx="3941064" cy="983894"/>
          </a:xfrm>
          <a:prstGeom prst="rect">
            <a:avLst/>
          </a:prstGeom>
          <a:noFill/>
          <a:ln/>
        </p:spPr>
        <p:txBody>
          <a:bodyPr wrap="square" lIns="0" tIns="0" rIns="0" bIns="0" rtlCol="0" anchor="t"/>
          <a:lstStyle/>
          <a:p>
            <a:pPr indent="0" marL="0">
              <a:buNone/>
            </a:pPr>
            <a:r>
              <a:rPr lang="en-US" sz="1400" b="1" dirty="0">
                <a:solidFill>
                  <a:srgbClr val="1E5631"/>
                </a:solidFill>
              </a:rPr>
              <a:t>Vlans allowed on trunk</a:t>
            </a:r>
            <a:endParaRPr lang="en-US" sz="1300" dirty="0"/>
          </a:p>
          <a:p>
            <a:pPr indent="0" marL="0">
              <a:buNone/>
            </a:pPr>
            <a:r>
              <a:rPr lang="en-US" sz="1300" dirty="0">
                <a:solidFill>
                  <a:srgbClr val="2B2B2B"/>
                </a:solidFill>
              </a:rPr>
              <a:t>Only these VLANs can cross. A missing VLAN here means its PCs can’t reach the other switch.</a:t>
            </a:r>
            <a:endParaRPr lang="en-US" sz="1300" dirty="0"/>
          </a:p>
        </p:txBody>
      </p:sp>
      <p:sp>
        <p:nvSpPr>
          <p:cNvPr id="18" name="Card"/>
          <p:cNvSpPr/>
          <p:nvPr/>
        </p:nvSpPr>
        <p:spPr>
          <a:xfrm>
            <a:off x="7406640" y="5559552"/>
            <a:ext cx="4233672" cy="658368"/>
          </a:xfrm>
          <a:prstGeom prst="roundRect">
            <a:avLst>
              <a:gd name="adj" fmla="val 11111"/>
            </a:avLst>
          </a:prstGeom>
          <a:solidFill>
            <a:srgbClr val="FBEAEA"/>
          </a:solidFill>
          <a:ln w="12700">
            <a:solidFill>
              <a:srgbClr val="E9B8B5"/>
            </a:solidFill>
            <a:prstDash val="solid"/>
          </a:ln>
        </p:spPr>
      </p:sp>
      <p:sp>
        <p:nvSpPr>
          <p:cNvPr id="19" name="Text 16"/>
          <p:cNvSpPr txBox="1"/>
          <p:nvPr/>
        </p:nvSpPr>
        <p:spPr>
          <a:xfrm>
            <a:off x="7552944" y="5661965"/>
            <a:ext cx="3941064" cy="453542"/>
          </a:xfrm>
          <a:prstGeom prst="rect">
            <a:avLst/>
          </a:prstGeom>
          <a:noFill/>
          <a:ln/>
        </p:spPr>
        <p:txBody>
          <a:bodyPr wrap="square" lIns="0" tIns="0" rIns="0" bIns="0" rtlCol="0" anchor="t"/>
          <a:lstStyle/>
          <a:p>
            <a:pPr indent="0" marL="0">
              <a:buNone/>
            </a:pPr>
            <a:r>
              <a:rPr lang="en-US" sz="1300" b="1" dirty="0">
                <a:solidFill>
                  <a:srgbClr val="2B2B2B"/>
                </a:solidFill>
              </a:rPr>
              <a:t>Same-VLAN ping fails?</a:t>
            </a:r>
            <a:r>
              <a:rPr lang="en-US" sz="1300" dirty="0">
                <a:solidFill>
                  <a:srgbClr val="2B2B2B"/>
                </a:solidFill>
              </a:rPr>
              <a:t> Check the VLAN exists on both switches.</a:t>
            </a:r>
            <a:endParaRPr lang="en-US" sz="1300" dirty="0"/>
          </a:p>
        </p:txBody>
      </p:sp>
      <p:sp>
        <p:nvSpPr>
          <p:cNvPr id="25" name="Slide Number Placeholder 0"/>
          <p:cNvSpPr>
            <a:spLocks noGrp="1"/>
          </p:cNvSpPr>
          <p:nvPr>
            <p:ph type="sldNum" sz="quarter" idx="4294967295"/>
          </p:nvPr>
        </p:nvSpPr>
        <p:spPr>
          <a:xfrm>
            <a:off x="10698480" y="6464808"/>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1"/>
          <p:cNvSpPr/>
          <p:nvPr>
            <p:ph idx="102" type="body" hasCustomPrompt="1"/>
          </p:nvPr>
        </p:nvSpPr>
        <p:spPr>
          <a:xfrm>
            <a:off x="548640" y="274320"/>
            <a:ext cx="9966960" cy="256032"/>
          </a:xfrm>
          <a:prstGeom prst="rect">
            <a:avLst/>
          </a:prstGeom>
          <a:noFill/>
          <a:ln/>
        </p:spPr>
        <p:txBody>
          <a:bodyPr wrap="square" lIns="0" tIns="0" rIns="0" bIns="0" rtlCol="0" anchor="ctr"/>
          <a:lstStyle/>
          <a:p>
            <a:pPr algn="l" indent="0" marL="0">
              <a:buNone/>
            </a:pPr>
            <a:r>
              <a:rPr lang="en-US" sz="1100" b="1" spc="100" kern="0" dirty="0">
                <a:solidFill>
                  <a:schemeClr val="accent2"/>
                </a:solidFill>
              </a:rPr>
              <a:t>04  •  VLANS &amp; TRUNKS  •  LAB 2</a:t>
            </a:r>
            <a:endParaRPr lang="en-US" sz="1100" dirty="0"/>
          </a:p>
        </p:txBody>
      </p:sp>
      <p:sp>
        <p:nvSpPr>
          <p:cNvPr id="3" name="Text 1"/>
          <p:cNvSpPr/>
          <p:nvPr>
            <p:ph idx="103" type="title" hasCustomPrompt="1"/>
          </p:nvPr>
        </p:nvSpPr>
        <p:spPr>
          <a:xfrm>
            <a:off x="548640" y="548640"/>
            <a:ext cx="10149840" cy="548640"/>
          </a:xfrm>
          <a:prstGeom prst="rect">
            <a:avLst/>
          </a:prstGeom>
          <a:noFill/>
          <a:ln/>
        </p:spPr>
        <p:txBody>
          <a:bodyPr wrap="square" lIns="0" tIns="0" rIns="0" bIns="0" rtlCol="0" anchor="ctr"/>
          <a:lstStyle/>
          <a:p>
            <a:pPr algn="l" indent="0" marL="0">
              <a:buNone/>
            </a:pPr>
            <a:r>
              <a:rPr lang="en-US" sz="2600" b="1" dirty="0">
                <a:solidFill>
                  <a:schemeClr val="accent1"/>
                </a:solidFill>
              </a:rPr>
              <a:t>How to change, add or remove VLANs safely</a:t>
            </a:r>
            <a:endParaRPr lang="en-US" sz="2600" dirty="0"/>
          </a:p>
        </p:txBody>
      </p:sp>
      <p:pic>
        <p:nvPicPr>
          <p:cNvPr id="4" name="Home button" descr="Home: back to the workbook menu">
            <a:hlinkClick r:id="rId2" tooltip="Back to the workbook menu" action="ppaction://hlinksldjump"/>
          </p:cNvPr>
          <p:cNvPicPr>
            <a:picLocks noChangeAspect="1"/>
          </p:cNvPicPr>
          <p:nvPr/>
        </p:nvPicPr>
        <p:blipFill>
          <a:blip r:embed="rId1"/>
          <a:stretch>
            <a:fillRect/>
          </a:stretch>
        </p:blipFill>
        <p:spPr>
          <a:xfrm>
            <a:off x="11365992" y="6336792"/>
            <a:ext cx="365760" cy="365760"/>
          </a:xfrm>
          <a:prstGeom prst="rect">
            <a:avLst/>
          </a:prstGeom>
        </p:spPr>
      </p:pic>
      <p:sp>
        <p:nvSpPr>
          <p:cNvPr id="5" name="Goal"/>
          <p:cNvSpPr txBox="1"/>
          <p:nvPr/>
        </p:nvSpPr>
        <p:spPr>
          <a:xfrm>
            <a:off x="548640" y="1161288"/>
            <a:ext cx="11094415" cy="384048"/>
          </a:xfrm>
          <a:prstGeom prst="rect">
            <a:avLst/>
          </a:prstGeom>
          <a:noFill/>
          <a:ln/>
        </p:spPr>
        <p:txBody>
          <a:bodyPr wrap="square" lIns="0" tIns="0" rIns="0" bIns="0" rtlCol="0" anchor="ctr"/>
          <a:lstStyle/>
          <a:p>
            <a:pPr indent="0" marL="0">
              <a:buNone/>
            </a:pPr>
            <a:r>
              <a:rPr lang="en-US" sz="1400" b="1" dirty="0">
                <a:solidFill>
                  <a:srgbClr val="2B7043"/>
                </a:solidFill>
              </a:rPr>
              <a:t>Goal:  </a:t>
            </a:r>
            <a:r>
              <a:rPr lang="en-US" sz="1400" dirty="0">
                <a:solidFill>
                  <a:srgbClr val="2B2B2B"/>
                </a:solidFill>
              </a:rPr>
              <a:t>Networks change. Edit VLAN membership and trunk lists without cutting off users who are already working.</a:t>
            </a:r>
            <a:endParaRPr lang="en-US" sz="1400" dirty="0"/>
          </a:p>
        </p:txBody>
      </p:sp>
      <p:sp>
        <p:nvSpPr>
          <p:cNvPr id="6" name="Command header"/>
          <p:cNvSpPr/>
          <p:nvPr/>
        </p:nvSpPr>
        <p:spPr>
          <a:xfrm>
            <a:off x="548640" y="1664208"/>
            <a:ext cx="6153912" cy="310896"/>
          </a:xfrm>
          <a:prstGeom prst="rect">
            <a:avLst/>
          </a:prstGeom>
          <a:solidFill>
            <a:srgbClr val="1B2B22"/>
          </a:solidFill>
          <a:ln/>
        </p:spPr>
        <p:txBody>
          <a:bodyPr wrap="square" lIns="109728" tIns="45720" rIns="109728" bIns="45720" rtlCol="0" anchor="ctr"/>
          <a:lstStyle/>
          <a:p>
            <a:pPr indent="0" marL="0">
              <a:buNone/>
            </a:pPr>
            <a:r>
              <a:rPr lang="en-US" sz="1100" dirty="0">
                <a:solidFill>
                  <a:srgbClr val="E0605A"/>
                </a:solidFill>
              </a:rPr>
              <a:t>●  </a:t>
            </a:r>
            <a:r>
              <a:rPr lang="en-US" sz="1100" dirty="0">
                <a:solidFill>
                  <a:srgbClr val="E8B92E"/>
                </a:solidFill>
              </a:rPr>
              <a:t>●  </a:t>
            </a:r>
            <a:r>
              <a:rPr lang="en-US" sz="1100" dirty="0">
                <a:solidFill>
                  <a:srgbClr val="4CAF50"/>
                </a:solidFill>
              </a:rPr>
              <a:t>●   </a:t>
            </a:r>
            <a:r>
              <a:rPr lang="en-US" sz="1100" b="1" dirty="0">
                <a:solidFill>
                  <a:srgbClr val="C9D6CC"/>
                </a:solidFill>
              </a:rPr>
              <a:t>S1  —  type the white text, then press Enter</a:t>
            </a:r>
            <a:endParaRPr lang="en-US" sz="1100" dirty="0"/>
          </a:p>
        </p:txBody>
      </p:sp>
      <p:sp>
        <p:nvSpPr>
          <p:cNvPr id="7" name="Meaning header"/>
          <p:cNvSpPr/>
          <p:nvPr/>
        </p:nvSpPr>
        <p:spPr>
          <a:xfrm>
            <a:off x="6720840" y="1664208"/>
            <a:ext cx="4922215" cy="310896"/>
          </a:xfrm>
          <a:prstGeom prst="rect">
            <a:avLst/>
          </a:prstGeom>
          <a:solidFill>
            <a:srgbClr val="E8F1EA"/>
          </a:solidFill>
          <a:ln/>
        </p:spPr>
        <p:txBody>
          <a:bodyPr wrap="square" lIns="109728" tIns="45720" rIns="109728" bIns="45720" rtlCol="0" anchor="ctr"/>
          <a:lstStyle/>
          <a:p>
            <a:pPr indent="0" marL="0">
              <a:buNone/>
            </a:pPr>
            <a:r>
              <a:rPr lang="en-US" sz="1200" b="1" dirty="0">
                <a:solidFill>
                  <a:srgbClr val="1E5631"/>
                </a:solidFill>
              </a:rPr>
              <a:t>What it does</a:t>
            </a:r>
            <a:endParaRPr lang="en-US" sz="1200" dirty="0"/>
          </a:p>
        </p:txBody>
      </p:sp>
      <p:sp>
        <p:nvSpPr>
          <p:cNvPr id="8" name="Command 01"/>
          <p:cNvSpPr/>
          <p:nvPr/>
        </p:nvSpPr>
        <p:spPr>
          <a:xfrm>
            <a:off x="548640" y="1993392"/>
            <a:ext cx="6153912" cy="54380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S1(config-if)# </a:t>
            </a:r>
            <a:r>
              <a:rPr lang="en-US" sz="1200" b="1" dirty="0">
                <a:solidFill>
                  <a:srgbClr val="FFFFFF"/>
                </a:solidFill>
                <a:latin typeface="Courier New" pitchFamily="34" charset="0"/>
                <a:ea typeface="Courier New" pitchFamily="34" charset="-122"/>
                <a:cs typeface="Courier New" pitchFamily="34" charset="-120"/>
              </a:rPr>
              <a:t>switchport trunk allowed vlan add 40</a:t>
            </a:r>
            <a:endParaRPr lang="en-US" sz="1200" dirty="0"/>
          </a:p>
        </p:txBody>
      </p:sp>
      <p:sp>
        <p:nvSpPr>
          <p:cNvPr id="9" name="Reveal 01 meaning"/>
          <p:cNvSpPr/>
          <p:nvPr/>
        </p:nvSpPr>
        <p:spPr>
          <a:xfrm>
            <a:off x="6720840" y="1993392"/>
            <a:ext cx="4922215" cy="543809"/>
          </a:xfrm>
          <a:prstGeom prst="rect">
            <a:avLst/>
          </a:prstGeom>
          <a:solidFill>
            <a:srgbClr val="F2F8F3"/>
          </a:solidFill>
          <a:ln/>
        </p:spPr>
        <p:txBody>
          <a:bodyPr wrap="square" lIns="109728" tIns="45720" rIns="109728" bIns="45720" rtlCol="0" anchor="ctr"/>
          <a:lstStyle/>
          <a:p>
            <a:pPr indent="0" marL="0">
              <a:buNone/>
            </a:pPr>
            <a:r>
              <a:rPr lang="en-US" sz="1400" dirty="0">
                <a:solidFill>
                  <a:srgbClr val="2B2B2B"/>
                </a:solidFill>
              </a:rPr>
              <a:t>Add VLAN 40 to a trunk’s list. Without the word </a:t>
            </a:r>
            <a:r>
              <a:rPr lang="en-US" sz="1300" b="1" dirty="0">
                <a:solidFill>
                  <a:srgbClr val="1E5631"/>
                </a:solidFill>
                <a:latin typeface="Courier New" pitchFamily="34" charset="0"/>
                <a:ea typeface="Courier New" pitchFamily="34" charset="-122"/>
                <a:cs typeface="Courier New" pitchFamily="34" charset="-120"/>
              </a:rPr>
              <a:t>add</a:t>
            </a:r>
            <a:r>
              <a:rPr lang="en-US" sz="1400" dirty="0">
                <a:solidFill>
                  <a:srgbClr val="2B2B2B"/>
                </a:solidFill>
              </a:rPr>
              <a:t>, the list is replaced and the other VLANs stop crossing!</a:t>
            </a:r>
            <a:endParaRPr lang="en-US" sz="1400" dirty="0"/>
          </a:p>
        </p:txBody>
      </p:sp>
      <p:sp>
        <p:nvSpPr>
          <p:cNvPr id="10" name="Command 02"/>
          <p:cNvSpPr/>
          <p:nvPr/>
        </p:nvSpPr>
        <p:spPr>
          <a:xfrm>
            <a:off x="548640" y="2555489"/>
            <a:ext cx="6153912" cy="326768"/>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S1(config-if)# </a:t>
            </a:r>
            <a:r>
              <a:rPr lang="en-US" sz="1200" b="1" dirty="0">
                <a:solidFill>
                  <a:srgbClr val="FFFFFF"/>
                </a:solidFill>
                <a:latin typeface="Courier New" pitchFamily="34" charset="0"/>
                <a:ea typeface="Courier New" pitchFamily="34" charset="-122"/>
                <a:cs typeface="Courier New" pitchFamily="34" charset="-120"/>
              </a:rPr>
              <a:t>switchport trunk allowed vlan remove 30</a:t>
            </a:r>
            <a:endParaRPr lang="en-US" sz="1200" dirty="0"/>
          </a:p>
        </p:txBody>
      </p:sp>
      <p:sp>
        <p:nvSpPr>
          <p:cNvPr id="11" name="Reveal 02 meaning"/>
          <p:cNvSpPr/>
          <p:nvPr/>
        </p:nvSpPr>
        <p:spPr>
          <a:xfrm>
            <a:off x="6720840" y="2555489"/>
            <a:ext cx="4922215" cy="326768"/>
          </a:xfrm>
          <a:prstGeom prst="rect">
            <a:avLst/>
          </a:prstGeom>
          <a:solidFill>
            <a:srgbClr val="FFFFFF"/>
          </a:solidFill>
          <a:ln/>
        </p:spPr>
        <p:txBody>
          <a:bodyPr wrap="square" lIns="109728" tIns="45720" rIns="109728" bIns="45720" rtlCol="0" anchor="ctr"/>
          <a:lstStyle/>
          <a:p>
            <a:pPr indent="0" marL="0">
              <a:buNone/>
            </a:pPr>
            <a:r>
              <a:rPr lang="en-US" sz="1400" dirty="0">
                <a:solidFill>
                  <a:srgbClr val="2B2B2B"/>
                </a:solidFill>
              </a:rPr>
              <a:t>Take just VLAN 30 off the trunk.</a:t>
            </a:r>
            <a:endParaRPr lang="en-US" sz="1400" dirty="0"/>
          </a:p>
        </p:txBody>
      </p:sp>
      <p:sp>
        <p:nvSpPr>
          <p:cNvPr id="12" name="Command 03"/>
          <p:cNvSpPr/>
          <p:nvPr/>
        </p:nvSpPr>
        <p:spPr>
          <a:xfrm>
            <a:off x="548640" y="2900545"/>
            <a:ext cx="6153912" cy="54380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S1(config)# </a:t>
            </a:r>
            <a:r>
              <a:rPr lang="en-US" sz="1200" b="1" dirty="0">
                <a:solidFill>
                  <a:srgbClr val="FFFFFF"/>
                </a:solidFill>
                <a:latin typeface="Courier New" pitchFamily="34" charset="0"/>
                <a:ea typeface="Courier New" pitchFamily="34" charset="-122"/>
                <a:cs typeface="Courier New" pitchFamily="34" charset="-120"/>
              </a:rPr>
              <a:t>interface fa0/5</a:t>
            </a:r>
            <a:endParaRPr lang="en-US" sz="1200" dirty="0"/>
          </a:p>
          <a:p>
            <a:pPr indent="0" marL="0">
              <a:buNone/>
            </a:pPr>
            <a:r>
              <a:rPr lang="en-US" sz="1200" dirty="0">
                <a:solidFill>
                  <a:srgbClr val="8FC9A0"/>
                </a:solidFill>
                <a:latin typeface="Courier New" pitchFamily="34" charset="0"/>
                <a:ea typeface="Courier New" pitchFamily="34" charset="-122"/>
                <a:cs typeface="Courier New" pitchFamily="34" charset="-120"/>
              </a:rPr>
              <a:t>S1(config-if)# </a:t>
            </a:r>
            <a:r>
              <a:rPr lang="en-US" sz="1200" b="1" dirty="0">
                <a:solidFill>
                  <a:srgbClr val="FFFFFF"/>
                </a:solidFill>
                <a:latin typeface="Courier New" pitchFamily="34" charset="0"/>
                <a:ea typeface="Courier New" pitchFamily="34" charset="-122"/>
                <a:cs typeface="Courier New" pitchFamily="34" charset="-120"/>
              </a:rPr>
              <a:t>switchport access vlan 20</a:t>
            </a:r>
            <a:endParaRPr lang="en-US" sz="1200" dirty="0"/>
          </a:p>
        </p:txBody>
      </p:sp>
      <p:sp>
        <p:nvSpPr>
          <p:cNvPr id="13" name="Reveal 03 meaning"/>
          <p:cNvSpPr/>
          <p:nvPr/>
        </p:nvSpPr>
        <p:spPr>
          <a:xfrm>
            <a:off x="6720840" y="2900545"/>
            <a:ext cx="4922215" cy="543809"/>
          </a:xfrm>
          <a:prstGeom prst="rect">
            <a:avLst/>
          </a:prstGeom>
          <a:solidFill>
            <a:srgbClr val="F2F8F3"/>
          </a:solidFill>
          <a:ln/>
        </p:spPr>
        <p:txBody>
          <a:bodyPr wrap="square" lIns="109728" tIns="45720" rIns="109728" bIns="45720" rtlCol="0" anchor="ctr"/>
          <a:lstStyle/>
          <a:p>
            <a:pPr indent="0" marL="0">
              <a:buNone/>
            </a:pPr>
            <a:r>
              <a:rPr lang="en-US" sz="1400" dirty="0">
                <a:solidFill>
                  <a:srgbClr val="2B2B2B"/>
                </a:solidFill>
              </a:rPr>
              <a:t>Move one port to another VLAN: re-type the command with the new number.</a:t>
            </a:r>
            <a:endParaRPr lang="en-US" sz="1400" dirty="0"/>
          </a:p>
        </p:txBody>
      </p:sp>
      <p:sp>
        <p:nvSpPr>
          <p:cNvPr id="14" name="Command 04"/>
          <p:cNvSpPr/>
          <p:nvPr/>
        </p:nvSpPr>
        <p:spPr>
          <a:xfrm>
            <a:off x="548640" y="3462642"/>
            <a:ext cx="6153912" cy="326768"/>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S1(config-if)# </a:t>
            </a:r>
            <a:r>
              <a:rPr lang="en-US" sz="1200" b="1" dirty="0">
                <a:solidFill>
                  <a:srgbClr val="FFFFFF"/>
                </a:solidFill>
                <a:latin typeface="Courier New" pitchFamily="34" charset="0"/>
                <a:ea typeface="Courier New" pitchFamily="34" charset="-122"/>
                <a:cs typeface="Courier New" pitchFamily="34" charset="-120"/>
              </a:rPr>
              <a:t>no switchport access vlan</a:t>
            </a:r>
            <a:endParaRPr lang="en-US" sz="1200" dirty="0"/>
          </a:p>
        </p:txBody>
      </p:sp>
      <p:sp>
        <p:nvSpPr>
          <p:cNvPr id="15" name="Reveal 04 meaning"/>
          <p:cNvSpPr/>
          <p:nvPr/>
        </p:nvSpPr>
        <p:spPr>
          <a:xfrm>
            <a:off x="6720840" y="3462642"/>
            <a:ext cx="4922215" cy="326768"/>
          </a:xfrm>
          <a:prstGeom prst="rect">
            <a:avLst/>
          </a:prstGeom>
          <a:solidFill>
            <a:srgbClr val="FFFFFF"/>
          </a:solidFill>
          <a:ln/>
        </p:spPr>
        <p:txBody>
          <a:bodyPr wrap="square" lIns="109728" tIns="45720" rIns="109728" bIns="45720" rtlCol="0" anchor="ctr"/>
          <a:lstStyle/>
          <a:p>
            <a:pPr indent="0" marL="0">
              <a:buNone/>
            </a:pPr>
            <a:r>
              <a:rPr lang="en-US" sz="1400" dirty="0">
                <a:solidFill>
                  <a:srgbClr val="2B2B2B"/>
                </a:solidFill>
              </a:rPr>
              <a:t>Send the port back to VLAN 1 (the default).</a:t>
            </a:r>
            <a:endParaRPr lang="en-US" sz="1400" dirty="0"/>
          </a:p>
        </p:txBody>
      </p:sp>
      <p:sp>
        <p:nvSpPr>
          <p:cNvPr id="16" name="Command 05"/>
          <p:cNvSpPr/>
          <p:nvPr/>
        </p:nvSpPr>
        <p:spPr>
          <a:xfrm>
            <a:off x="548640" y="3807699"/>
            <a:ext cx="6153912" cy="54380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S1(config)# </a:t>
            </a:r>
            <a:r>
              <a:rPr lang="en-US" sz="1200" b="1" dirty="0">
                <a:solidFill>
                  <a:srgbClr val="FFFFFF"/>
                </a:solidFill>
                <a:latin typeface="Courier New" pitchFamily="34" charset="0"/>
                <a:ea typeface="Courier New" pitchFamily="34" charset="-122"/>
                <a:cs typeface="Courier New" pitchFamily="34" charset="-120"/>
              </a:rPr>
              <a:t>no vlan 30</a:t>
            </a:r>
            <a:endParaRPr lang="en-US" sz="1200" dirty="0"/>
          </a:p>
        </p:txBody>
      </p:sp>
      <p:sp>
        <p:nvSpPr>
          <p:cNvPr id="17" name="Reveal 05 meaning"/>
          <p:cNvSpPr/>
          <p:nvPr/>
        </p:nvSpPr>
        <p:spPr>
          <a:xfrm>
            <a:off x="6720840" y="3807699"/>
            <a:ext cx="4922215" cy="543809"/>
          </a:xfrm>
          <a:prstGeom prst="rect">
            <a:avLst/>
          </a:prstGeom>
          <a:solidFill>
            <a:srgbClr val="F2F8F3"/>
          </a:solidFill>
          <a:ln/>
        </p:spPr>
        <p:txBody>
          <a:bodyPr wrap="square" lIns="109728" tIns="45720" rIns="109728" bIns="45720" rtlCol="0" anchor="ctr"/>
          <a:lstStyle/>
          <a:p>
            <a:pPr indent="0" marL="0">
              <a:buNone/>
            </a:pPr>
            <a:r>
              <a:rPr lang="en-US" sz="1400" dirty="0">
                <a:solidFill>
                  <a:srgbClr val="2B2B2B"/>
                </a:solidFill>
              </a:rPr>
              <a:t>Delete VLAN 30. Its ports become inactive — move them to another VLAN first.</a:t>
            </a:r>
            <a:endParaRPr lang="en-US" sz="1400" dirty="0"/>
          </a:p>
        </p:txBody>
      </p:sp>
      <p:sp>
        <p:nvSpPr>
          <p:cNvPr id="18" name="Reveal 99 check box"/>
          <p:cNvSpPr/>
          <p:nvPr/>
        </p:nvSpPr>
        <p:spPr>
          <a:xfrm>
            <a:off x="548640" y="5504688"/>
            <a:ext cx="5410048" cy="749808"/>
          </a:xfrm>
          <a:prstGeom prst="roundRect">
            <a:avLst>
              <a:gd name="adj" fmla="val 9756"/>
            </a:avLst>
          </a:prstGeom>
          <a:solidFill>
            <a:srgbClr val="E8F1EA"/>
          </a:solidFill>
          <a:ln w="12700">
            <a:solidFill>
              <a:srgbClr val="B7C9BA"/>
            </a:solidFill>
            <a:prstDash val="solid"/>
          </a:ln>
        </p:spPr>
      </p:sp>
      <p:pic>
        <p:nvPicPr>
          <p:cNvPr id="19" name="Reveal 99 check icon" descr="Check it:">    </p:cNvPr>
          <p:cNvPicPr>
            <a:picLocks noChangeAspect="1"/>
          </p:cNvPicPr>
          <p:nvPr/>
        </p:nvPicPr>
        <p:blipFill>
          <a:blip r:embed="rId3"/>
          <a:stretch>
            <a:fillRect/>
          </a:stretch>
        </p:blipFill>
        <p:spPr>
          <a:xfrm>
            <a:off x="694944" y="5733288"/>
            <a:ext cx="292608" cy="292608"/>
          </a:xfrm>
          <a:prstGeom prst="rect">
            <a:avLst/>
          </a:prstGeom>
        </p:spPr>
      </p:pic>
      <p:sp>
        <p:nvSpPr>
          <p:cNvPr id="20" name="Reveal 99 check text"/>
          <p:cNvSpPr txBox="1"/>
          <p:nvPr/>
        </p:nvSpPr>
        <p:spPr>
          <a:xfrm>
            <a:off x="1097280" y="5541264"/>
            <a:ext cx="4751680" cy="676656"/>
          </a:xfrm>
          <a:prstGeom prst="rect">
            <a:avLst/>
          </a:prstGeom>
          <a:noFill/>
          <a:ln/>
        </p:spPr>
        <p:txBody>
          <a:bodyPr wrap="square" lIns="0" tIns="0" rIns="0" bIns="0" rtlCol="0" anchor="ctr"/>
          <a:lstStyle/>
          <a:p>
            <a:pPr indent="0" marL="0">
              <a:buNone/>
            </a:pPr>
            <a:r>
              <a:rPr lang="en-US" sz="1400" b="1" dirty="0">
                <a:solidFill>
                  <a:srgbClr val="1E5631"/>
                </a:solidFill>
              </a:rPr>
              <a:t>Check it:  </a:t>
            </a:r>
            <a:r>
              <a:rPr lang="en-US" sz="1400" dirty="0">
                <a:solidFill>
                  <a:srgbClr val="2B2B2B"/>
                </a:solidFill>
              </a:rPr>
              <a:t>Run </a:t>
            </a:r>
            <a:r>
              <a:rPr lang="en-US" sz="1300" b="1" dirty="0">
                <a:solidFill>
                  <a:srgbClr val="1E5631"/>
                </a:solidFill>
                <a:latin typeface="Courier New" pitchFamily="34" charset="0"/>
                <a:ea typeface="Courier New" pitchFamily="34" charset="-122"/>
                <a:cs typeface="Courier New" pitchFamily="34" charset="-120"/>
              </a:rPr>
              <a:t>show vlan brief</a:t>
            </a:r>
            <a:r>
              <a:rPr lang="en-US" sz="1400" dirty="0">
                <a:solidFill>
                  <a:srgbClr val="2B2B2B"/>
                </a:solidFill>
              </a:rPr>
              <a:t> and </a:t>
            </a:r>
            <a:r>
              <a:rPr lang="en-US" sz="1300" b="1" dirty="0">
                <a:solidFill>
                  <a:srgbClr val="1E5631"/>
                </a:solidFill>
                <a:latin typeface="Courier New" pitchFamily="34" charset="0"/>
                <a:ea typeface="Courier New" pitchFamily="34" charset="-122"/>
                <a:cs typeface="Courier New" pitchFamily="34" charset="-120"/>
              </a:rPr>
              <a:t>show interfaces trunk</a:t>
            </a:r>
            <a:r>
              <a:rPr lang="en-US" sz="1400" dirty="0">
                <a:solidFill>
                  <a:srgbClr val="2B2B2B"/>
                </a:solidFill>
              </a:rPr>
              <a:t> after every change.</a:t>
            </a:r>
            <a:endParaRPr lang="en-US" sz="1400" dirty="0"/>
          </a:p>
        </p:txBody>
      </p:sp>
      <p:sp>
        <p:nvSpPr>
          <p:cNvPr id="21" name="Reveal 99 watch box"/>
          <p:cNvSpPr/>
          <p:nvPr/>
        </p:nvSpPr>
        <p:spPr>
          <a:xfrm>
            <a:off x="6233008" y="5504688"/>
            <a:ext cx="5410048" cy="749808"/>
          </a:xfrm>
          <a:prstGeom prst="roundRect">
            <a:avLst>
              <a:gd name="adj" fmla="val 9756"/>
            </a:avLst>
          </a:prstGeom>
          <a:solidFill>
            <a:srgbClr val="FBEAEA"/>
          </a:solidFill>
          <a:ln w="12700">
            <a:solidFill>
              <a:srgbClr val="E9B8B5"/>
            </a:solidFill>
            <a:prstDash val="solid"/>
          </a:ln>
        </p:spPr>
      </p:sp>
      <p:pic>
        <p:nvPicPr>
          <p:cNvPr id="22" name="Reveal 99 watch icon" descr="Watch out:">    </p:cNvPr>
          <p:cNvPicPr>
            <a:picLocks noChangeAspect="1"/>
          </p:cNvPicPr>
          <p:nvPr/>
        </p:nvPicPr>
        <p:blipFill>
          <a:blip r:embed="rId4"/>
          <a:stretch>
            <a:fillRect/>
          </a:stretch>
        </p:blipFill>
        <p:spPr>
          <a:xfrm>
            <a:off x="6379312" y="5733288"/>
            <a:ext cx="292608" cy="292608"/>
          </a:xfrm>
          <a:prstGeom prst="rect">
            <a:avLst/>
          </a:prstGeom>
        </p:spPr>
      </p:pic>
      <p:sp>
        <p:nvSpPr>
          <p:cNvPr id="23" name="Reveal 99 watch text"/>
          <p:cNvSpPr txBox="1"/>
          <p:nvPr/>
        </p:nvSpPr>
        <p:spPr>
          <a:xfrm>
            <a:off x="6781648" y="5541264"/>
            <a:ext cx="4751680" cy="676656"/>
          </a:xfrm>
          <a:prstGeom prst="rect">
            <a:avLst/>
          </a:prstGeom>
          <a:noFill/>
          <a:ln/>
        </p:spPr>
        <p:txBody>
          <a:bodyPr wrap="square" lIns="0" tIns="0" rIns="0" bIns="0" rtlCol="0" anchor="ctr"/>
          <a:lstStyle/>
          <a:p>
            <a:pPr indent="0" marL="0">
              <a:buNone/>
            </a:pPr>
            <a:r>
              <a:rPr lang="en-US" sz="1400" b="1" dirty="0">
                <a:solidFill>
                  <a:srgbClr val="8B1A1A"/>
                </a:solidFill>
              </a:rPr>
              <a:t>Watch out:  </a:t>
            </a:r>
            <a:r>
              <a:rPr lang="en-US" sz="1400" dirty="0">
                <a:solidFill>
                  <a:srgbClr val="2B2B2B"/>
                </a:solidFill>
              </a:rPr>
              <a:t>Ports left in a deleted VLAN go silent: their PCs lose the network with no error message.</a:t>
            </a:r>
            <a:endParaRPr lang="en-US" sz="1400" dirty="0"/>
          </a:p>
        </p:txBody>
      </p:sp>
      <p:sp>
        <p:nvSpPr>
          <p:cNvPr id="25" name="Slide Number Placeholder 0"/>
          <p:cNvSpPr>
            <a:spLocks noGrp="1"/>
          </p:cNvSpPr>
          <p:nvPr>
            <p:ph type="sldNum" sz="quarter" idx="4294967295"/>
          </p:nvPr>
        </p:nvSpPr>
        <p:spPr>
          <a:xfrm>
            <a:off x="10698480" y="6464808"/>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r"/>
            <a:fld id="{F7021451-1387-4CA6-816F-3879F97B5CBC}" type="slidenum">
              <a:rPr b="0" lang="en-US"/>
              <a:t>34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4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0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400"/>
                                        <p:tgtEl>
                                          <p:spTgt spid="1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400"/>
                                        <p:tgtEl>
                                          <p:spTgt spid="1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fade">
                                      <p:cBhvr>
                                        <p:cTn id="38" dur="400"/>
                                        <p:tgtEl>
                                          <p:spTgt spid="20"/>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fade">
                                      <p:cBhvr>
                                        <p:cTn id="41" dur="400"/>
                                        <p:tgtEl>
                                          <p:spTgt spid="21"/>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fade">
                                      <p:cBhvr>
                                        <p:cTn id="44" dur="400"/>
                                        <p:tgtEl>
                                          <p:spTgt spid="22"/>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3" grpId="0" animBg="1"/>
      <p:bldP spid="15" grpId="0" animBg="1"/>
      <p:bldP spid="17" grpId="0" animBg="1"/>
      <p:bldP spid="18" grpId="0" animBg="1"/>
      <p:bldP spid="20" grpId="0" animBg="1"/>
      <p:bldP spid="21" grpId="0" animBg="1"/>
      <p:bldP spid="23"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1"/>
          <p:cNvSpPr/>
          <p:nvPr>
            <p:ph idx="101" type="body" hasCustomPrompt="1"/>
          </p:nvPr>
        </p:nvSpPr>
        <p:spPr>
          <a:xfrm>
            <a:off x="548640" y="685800"/>
            <a:ext cx="3200400" cy="1143000"/>
          </a:xfrm>
          <a:prstGeom prst="rect">
            <a:avLst/>
          </a:prstGeom>
          <a:noFill/>
          <a:ln/>
        </p:spPr>
        <p:txBody>
          <a:bodyPr wrap="square" lIns="0" tIns="0" rIns="0" bIns="0" rtlCol="0" anchor="b"/>
          <a:lstStyle/>
          <a:p>
            <a:pPr algn="l" indent="0" marL="0">
              <a:buNone/>
            </a:pPr>
            <a:r>
              <a:rPr lang="en-US" sz="7200" b="1" dirty="0">
                <a:solidFill>
                  <a:schemeClr val="accent3"/>
                </a:solidFill>
                <a:latin typeface="Cambria" pitchFamily="34" charset="0"/>
                <a:ea typeface="Cambria" pitchFamily="34" charset="-122"/>
                <a:cs typeface="Cambria" pitchFamily="34" charset="-120"/>
              </a:rPr>
              <a:t>05</a:t>
            </a:r>
            <a:endParaRPr lang="en-US" sz="7200" dirty="0"/>
          </a:p>
        </p:txBody>
      </p:sp>
      <p:sp>
        <p:nvSpPr>
          <p:cNvPr id="3" name="Text 1"/>
          <p:cNvSpPr/>
          <p:nvPr>
            <p:ph idx="102" type="title" hasCustomPrompt="1"/>
          </p:nvPr>
        </p:nvSpPr>
        <p:spPr>
          <a:xfrm>
            <a:off x="548640" y="2011680"/>
            <a:ext cx="6492240" cy="1600200"/>
          </a:xfrm>
          <a:prstGeom prst="rect">
            <a:avLst/>
          </a:prstGeom>
          <a:noFill/>
          <a:ln/>
        </p:spPr>
        <p:txBody>
          <a:bodyPr wrap="square" lIns="0" tIns="0" rIns="0" bIns="0" rtlCol="0" anchor="t"/>
          <a:lstStyle/>
          <a:p>
            <a:pPr algn="l" indent="0" marL="0">
              <a:buNone/>
            </a:pPr>
            <a:r>
              <a:rPr lang="en-US" sz="3400" b="1" dirty="0">
                <a:solidFill>
                  <a:srgbClr val="FFFFFF"/>
                </a:solidFill>
              </a:rPr>
              <a:t>How to let VLANs talk to each other</a:t>
            </a:r>
            <a:endParaRPr lang="en-US" sz="3400" dirty="0"/>
          </a:p>
        </p:txBody>
      </p:sp>
      <p:sp>
        <p:nvSpPr>
          <p:cNvPr id="4" name="Text 1"/>
          <p:cNvSpPr/>
          <p:nvPr>
            <p:ph idx="103" type="body" hasCustomPrompt="1"/>
          </p:nvPr>
        </p:nvSpPr>
        <p:spPr>
          <a:xfrm>
            <a:off x="548640" y="3703320"/>
            <a:ext cx="6309360" cy="1188720"/>
          </a:xfrm>
          <a:prstGeom prst="rect">
            <a:avLst/>
          </a:prstGeom>
          <a:noFill/>
          <a:ln/>
        </p:spPr>
        <p:txBody>
          <a:bodyPr wrap="square" lIns="0" tIns="0" rIns="0" bIns="0" rtlCol="0" anchor="t"/>
          <a:lstStyle/>
          <a:p>
            <a:pPr algn="l" indent="0" marL="0">
              <a:buNone/>
            </a:pPr>
            <a:r>
              <a:rPr lang="en-US" sz="1600" dirty="0">
                <a:solidFill>
                  <a:srgbClr val="CFE3D4"/>
                </a:solidFill>
              </a:rPr>
              <a:t>VLANs are separate subnets, so traffic between them must be routed. Use router-on-a-stick (Lab 2) or a Layer 3 switch.</a:t>
            </a:r>
            <a:endParaRPr lang="en-US" sz="1600" dirty="0"/>
          </a:p>
        </p:txBody>
      </p:sp>
      <p:sp>
        <p:nvSpPr>
          <p:cNvPr id="5" name="Shape 3"/>
          <p:cNvSpPr/>
          <p:nvPr/>
        </p:nvSpPr>
        <p:spPr>
          <a:xfrm>
            <a:off x="7452360" y="2223770"/>
            <a:ext cx="4187952" cy="2410460"/>
          </a:xfrm>
          <a:prstGeom prst="roundRect">
            <a:avLst>
              <a:gd name="adj" fmla="val 3793"/>
            </a:avLst>
          </a:prstGeom>
          <a:solidFill>
            <a:srgbClr val="1B2B22">
              <a:alpha val="75000"/>
            </a:srgbClr>
          </a:solidFill>
          <a:ln w="12700">
            <a:solidFill>
              <a:srgbClr val="24663A"/>
            </a:solidFill>
            <a:prstDash val="solid"/>
          </a:ln>
        </p:spPr>
      </p:sp>
      <p:sp>
        <p:nvSpPr>
          <p:cNvPr id="6" name="Text 4"/>
          <p:cNvSpPr txBox="1"/>
          <p:nvPr/>
        </p:nvSpPr>
        <p:spPr>
          <a:xfrm>
            <a:off x="7726680" y="2479802"/>
            <a:ext cx="3639312" cy="320040"/>
          </a:xfrm>
          <a:prstGeom prst="rect">
            <a:avLst/>
          </a:prstGeom>
          <a:noFill/>
          <a:ln/>
        </p:spPr>
        <p:txBody>
          <a:bodyPr wrap="square" lIns="0" tIns="0" rIns="0" bIns="0" rtlCol="0" anchor="ctr"/>
          <a:lstStyle/>
          <a:p>
            <a:pPr indent="0" marL="0">
              <a:buNone/>
            </a:pPr>
            <a:r>
              <a:rPr lang="en-US" sz="1500" b="1" dirty="0">
                <a:solidFill>
                  <a:srgbClr val="E8B92E"/>
                </a:solidFill>
              </a:rPr>
              <a:t>In this part, learn how to:</a:t>
            </a:r>
            <a:endParaRPr lang="en-US" sz="1500" dirty="0"/>
          </a:p>
        </p:txBody>
      </p:sp>
      <p:sp>
        <p:nvSpPr>
          <p:cNvPr id="7" name="Text 5"/>
          <p:cNvSpPr txBox="1"/>
          <p:nvPr/>
        </p:nvSpPr>
        <p:spPr>
          <a:xfrm>
            <a:off x="7726680" y="2955290"/>
            <a:ext cx="3730752" cy="149606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FFFFFF"/>
                </a:solidFill>
              </a:rPr>
              <a:t>choose an inter-VLAN routing method</a:t>
            </a:r>
            <a:endParaRPr lang="en-US" sz="1500" dirty="0"/>
          </a:p>
          <a:p>
            <a:pPr marL="203200" indent="-203200">
              <a:spcAft>
                <a:spcPts val="800"/>
              </a:spcAft>
              <a:buSzPct val="100000"/>
              <a:buChar char="•"/>
            </a:pPr>
            <a:r>
              <a:rPr lang="en-US" sz="1500" dirty="0">
                <a:solidFill>
                  <a:srgbClr val="FFFFFF"/>
                </a:solidFill>
              </a:rPr>
              <a:t>configure router-on-a-stick</a:t>
            </a:r>
            <a:endParaRPr lang="en-US" sz="1500" dirty="0"/>
          </a:p>
          <a:p>
            <a:pPr marL="203200" indent="-203200">
              <a:spcAft>
                <a:spcPts val="800"/>
              </a:spcAft>
              <a:buSzPct val="100000"/>
              <a:buChar char="•"/>
            </a:pPr>
            <a:r>
              <a:rPr lang="en-US" sz="1500" dirty="0">
                <a:solidFill>
                  <a:srgbClr val="FFFFFF"/>
                </a:solidFill>
              </a:rPr>
              <a:t>follow a packet between VLANs</a:t>
            </a:r>
            <a:endParaRPr lang="en-US" sz="1500" dirty="0"/>
          </a:p>
          <a:p>
            <a:pPr marL="203200" indent="-203200">
              <a:spcAft>
                <a:spcPts val="800"/>
              </a:spcAft>
              <a:buSzPct val="100000"/>
              <a:buChar char="•"/>
            </a:pPr>
            <a:r>
              <a:rPr lang="en-US" sz="1500" dirty="0">
                <a:solidFill>
                  <a:srgbClr val="FFFFFF"/>
                </a:solidFill>
              </a:rPr>
              <a:t>route on a Layer 3 switch</a:t>
            </a:r>
            <a:endParaRPr lang="en-US" sz="1500" dirty="0"/>
          </a:p>
        </p:txBody>
      </p:sp>
      <p:sp>
        <p:nvSpPr>
          <p:cNvPr id="8" name="Shape 6"/>
          <p:cNvSpPr/>
          <p:nvPr/>
        </p:nvSpPr>
        <p:spPr>
          <a:xfrm>
            <a:off x="548640" y="5989320"/>
            <a:ext cx="914400" cy="566928"/>
          </a:xfrm>
          <a:prstGeom prst="roundRect">
            <a:avLst>
              <a:gd name="adj" fmla="val 9677"/>
            </a:avLst>
          </a:prstGeom>
          <a:solidFill>
            <a:srgbClr val="FFFFFF"/>
          </a:solidFill>
          <a:ln/>
        </p:spPr>
      </p:sp>
      <p:pic>
        <p:nvPicPr>
          <p:cNvPr id="9" name="Image 0" descr="Kabete National Polytechnic logo">    </p:cNvPr>
          <p:cNvPicPr>
            <a:picLocks noChangeAspect="1"/>
          </p:cNvPicPr>
          <p:nvPr/>
        </p:nvPicPr>
        <p:blipFill>
          <a:blip r:embed="rId1"/>
          <a:stretch>
            <a:fillRect/>
          </a:stretch>
        </p:blipFill>
        <p:spPr>
          <a:xfrm>
            <a:off x="594360" y="6022175"/>
            <a:ext cx="822960" cy="501218"/>
          </a:xfrm>
          <a:prstGeom prst="rect">
            <a:avLst/>
          </a:prstGeom>
        </p:spPr>
      </p:pic>
      <p:pic>
        <p:nvPicPr>
          <p:cNvPr id="10" name="Home button" descr="Home: back to the workbook menu">
            <a:hlinkClick r:id="rId3" tooltip="Back to the workbook menu" action="ppaction://hlinksldjump"/>
          </p:cNvPr>
          <p:cNvPicPr>
            <a:picLocks noChangeAspect="1"/>
          </p:cNvPicPr>
          <p:nvPr/>
        </p:nvPicPr>
        <p:blipFill>
          <a:blip r:embed="rId2"/>
          <a:stretch>
            <a:fillRect/>
          </a:stretch>
        </p:blipFill>
        <p:spPr>
          <a:xfrm>
            <a:off x="11365992" y="6336792"/>
            <a:ext cx="365760" cy="365760"/>
          </a:xfrm>
          <a:prstGeom prst="rect">
            <a:avLst/>
          </a:prstGeom>
        </p:spPr>
      </p:pic>
      <p:sp>
        <p:nvSpPr>
          <p:cNvPr id="25" name="Slide Number Placeholder 0"/>
          <p:cNvSpPr>
            <a:spLocks noGrp="1"/>
          </p:cNvSpPr>
          <p:nvPr>
            <p:ph type="sldNum" sz="quarter" idx="4294967295"/>
          </p:nvPr>
        </p:nvSpPr>
        <p:spPr>
          <a:xfrm>
            <a:off x="10698480" y="6464808"/>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CFE3D4"/>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1"/>
          <p:cNvSpPr/>
          <p:nvPr>
            <p:ph idx="102" type="body" hasCustomPrompt="1"/>
          </p:nvPr>
        </p:nvSpPr>
        <p:spPr>
          <a:xfrm>
            <a:off x="548640" y="274320"/>
            <a:ext cx="9966960" cy="256032"/>
          </a:xfrm>
          <a:prstGeom prst="rect">
            <a:avLst/>
          </a:prstGeom>
          <a:noFill/>
          <a:ln/>
        </p:spPr>
        <p:txBody>
          <a:bodyPr wrap="square" lIns="0" tIns="0" rIns="0" bIns="0" rtlCol="0" anchor="ctr"/>
          <a:lstStyle/>
          <a:p>
            <a:pPr algn="l" indent="0" marL="0">
              <a:buNone/>
            </a:pPr>
            <a:r>
              <a:rPr lang="en-US" sz="1100" b="1" spc="100" kern="0" dirty="0">
                <a:solidFill>
                  <a:schemeClr val="accent2"/>
                </a:solidFill>
              </a:rPr>
              <a:t>05  •  INTER-VLAN ROUTING</a:t>
            </a:r>
            <a:endParaRPr lang="en-US" sz="1100" dirty="0"/>
          </a:p>
        </p:txBody>
      </p:sp>
      <p:sp>
        <p:nvSpPr>
          <p:cNvPr id="3" name="Text 1"/>
          <p:cNvSpPr/>
          <p:nvPr>
            <p:ph idx="103" type="title" hasCustomPrompt="1"/>
          </p:nvPr>
        </p:nvSpPr>
        <p:spPr>
          <a:xfrm>
            <a:off x="548640" y="548640"/>
            <a:ext cx="10149840" cy="548640"/>
          </a:xfrm>
          <a:prstGeom prst="rect">
            <a:avLst/>
          </a:prstGeom>
          <a:noFill/>
          <a:ln/>
        </p:spPr>
        <p:txBody>
          <a:bodyPr wrap="square" lIns="0" tIns="0" rIns="0" bIns="0" rtlCol="0" anchor="ctr"/>
          <a:lstStyle/>
          <a:p>
            <a:pPr algn="l" indent="0" marL="0">
              <a:buNone/>
            </a:pPr>
            <a:r>
              <a:rPr lang="en-US" sz="2600" b="1" dirty="0">
                <a:solidFill>
                  <a:schemeClr val="accent1"/>
                </a:solidFill>
              </a:rPr>
              <a:t>How to choose an inter-VLAN routing method</a:t>
            </a:r>
            <a:endParaRPr lang="en-US" sz="2600" dirty="0"/>
          </a:p>
        </p:txBody>
      </p:sp>
      <p:pic>
        <p:nvPicPr>
          <p:cNvPr id="4" name="Home button" descr="Home: back to the workbook menu">
            <a:hlinkClick r:id="rId2" tooltip="Back to the workbook menu" action="ppaction://hlinksldjump"/>
          </p:cNvPr>
          <p:cNvPicPr>
            <a:picLocks noChangeAspect="1"/>
          </p:cNvPicPr>
          <p:nvPr/>
        </p:nvPicPr>
        <p:blipFill>
          <a:blip r:embed="rId1"/>
          <a:stretch>
            <a:fillRect/>
          </a:stretch>
        </p:blipFill>
        <p:spPr>
          <a:xfrm>
            <a:off x="11365992" y="6336792"/>
            <a:ext cx="365760" cy="365760"/>
          </a:xfrm>
          <a:prstGeom prst="rect">
            <a:avLst/>
          </a:prstGeom>
        </p:spPr>
      </p:pic>
      <p:sp>
        <p:nvSpPr>
          <p:cNvPr id="5" name="Goal"/>
          <p:cNvSpPr txBox="1"/>
          <p:nvPr/>
        </p:nvSpPr>
        <p:spPr>
          <a:xfrm>
            <a:off x="548640" y="1161288"/>
            <a:ext cx="11094415" cy="384048"/>
          </a:xfrm>
          <a:prstGeom prst="rect">
            <a:avLst/>
          </a:prstGeom>
          <a:noFill/>
          <a:ln/>
        </p:spPr>
        <p:txBody>
          <a:bodyPr wrap="square" lIns="0" tIns="0" rIns="0" bIns="0" rtlCol="0" anchor="ctr"/>
          <a:lstStyle/>
          <a:p>
            <a:pPr indent="0" marL="0">
              <a:buNone/>
            </a:pPr>
            <a:r>
              <a:rPr lang="en-US" sz="1400" b="1" dirty="0">
                <a:solidFill>
                  <a:srgbClr val="2B7043"/>
                </a:solidFill>
              </a:rPr>
              <a:t>Goal:  </a:t>
            </a:r>
            <a:r>
              <a:rPr lang="en-US" sz="1400" dirty="0">
                <a:solidFill>
                  <a:srgbClr val="2B2B2B"/>
                </a:solidFill>
              </a:rPr>
              <a:t>Three ways to route between VLANs. Labs use the first two; know all three for the assessment.</a:t>
            </a:r>
            <a:endParaRPr lang="en-US" sz="1400" dirty="0"/>
          </a:p>
        </p:txBody>
      </p:sp>
      <p:sp>
        <p:nvSpPr>
          <p:cNvPr id="6" name="Shape 3"/>
          <p:cNvSpPr/>
          <p:nvPr/>
        </p:nvSpPr>
        <p:spPr>
          <a:xfrm>
            <a:off x="548640" y="1691640"/>
            <a:ext cx="3502152" cy="3703320"/>
          </a:xfrm>
          <a:prstGeom prst="roundRect">
            <a:avLst>
              <a:gd name="adj" fmla="val 2089"/>
            </a:avLst>
          </a:prstGeom>
          <a:solidFill>
            <a:srgbClr val="F2F8F3"/>
          </a:solidFill>
          <a:ln w="12700">
            <a:solidFill>
              <a:srgbClr val="B7C9BA"/>
            </a:solidFill>
            <a:prstDash val="solid"/>
          </a:ln>
        </p:spPr>
      </p:sp>
      <p:sp>
        <p:nvSpPr>
          <p:cNvPr id="7" name="Shape 4"/>
          <p:cNvSpPr/>
          <p:nvPr/>
        </p:nvSpPr>
        <p:spPr>
          <a:xfrm>
            <a:off x="2299716" y="2103120"/>
            <a:ext cx="914" cy="685800"/>
          </a:xfrm>
          <a:prstGeom prst="line">
            <a:avLst/>
          </a:prstGeom>
          <a:noFill/>
          <a:ln w="63500">
            <a:solidFill>
              <a:srgbClr val="1B2B22"/>
            </a:solidFill>
            <a:prstDash val="solid"/>
          </a:ln>
        </p:spPr>
      </p:sp>
      <p:pic>
        <p:nvPicPr>
          <p:cNvPr id="8" name="Image 1" descr="router">    </p:cNvPr>
          <p:cNvPicPr>
            <a:picLocks noChangeAspect="1"/>
          </p:cNvPicPr>
          <p:nvPr/>
        </p:nvPicPr>
        <p:blipFill>
          <a:blip r:embed="rId3"/>
          <a:stretch>
            <a:fillRect/>
          </a:stretch>
        </p:blipFill>
        <p:spPr>
          <a:xfrm>
            <a:off x="2071116" y="1828800"/>
            <a:ext cx="457200" cy="457200"/>
          </a:xfrm>
          <a:prstGeom prst="rect">
            <a:avLst/>
          </a:prstGeom>
        </p:spPr>
      </p:pic>
      <p:pic>
        <p:nvPicPr>
          <p:cNvPr id="9" name="Image 2" descr="switch">    </p:cNvPr>
          <p:cNvPicPr>
            <a:picLocks noChangeAspect="1"/>
          </p:cNvPicPr>
          <p:nvPr/>
        </p:nvPicPr>
        <p:blipFill>
          <a:blip r:embed="rId4"/>
          <a:stretch>
            <a:fillRect/>
          </a:stretch>
        </p:blipFill>
        <p:spPr>
          <a:xfrm>
            <a:off x="2048256" y="2583180"/>
            <a:ext cx="502920" cy="502920"/>
          </a:xfrm>
          <a:prstGeom prst="rect">
            <a:avLst/>
          </a:prstGeom>
        </p:spPr>
      </p:pic>
      <p:sp>
        <p:nvSpPr>
          <p:cNvPr id="10" name="Text 5"/>
          <p:cNvSpPr txBox="1"/>
          <p:nvPr/>
        </p:nvSpPr>
        <p:spPr>
          <a:xfrm>
            <a:off x="2409444" y="2286000"/>
            <a:ext cx="822960" cy="237744"/>
          </a:xfrm>
          <a:prstGeom prst="rect">
            <a:avLst/>
          </a:prstGeom>
          <a:noFill/>
          <a:ln/>
        </p:spPr>
        <p:txBody>
          <a:bodyPr wrap="square" lIns="254" tIns="254" rIns="254" bIns="254" rtlCol="0" anchor="ctr"/>
          <a:lstStyle/>
          <a:p>
            <a:pPr algn="l" indent="0" marL="0">
              <a:buNone/>
            </a:pPr>
            <a:r>
              <a:rPr lang="en-US" sz="1000" b="1" dirty="0">
                <a:solidFill>
                  <a:srgbClr val="1B2B22"/>
                </a:solidFill>
              </a:rPr>
              <a:t>1 trunk</a:t>
            </a:r>
            <a:endParaRPr lang="en-US" sz="1000" dirty="0"/>
          </a:p>
        </p:txBody>
      </p:sp>
      <p:sp>
        <p:nvSpPr>
          <p:cNvPr id="11" name="Card"/>
          <p:cNvSpPr/>
          <p:nvPr/>
        </p:nvSpPr>
        <p:spPr>
          <a:xfrm>
            <a:off x="594360" y="3291840"/>
            <a:ext cx="3410712" cy="2057400"/>
          </a:xfrm>
          <a:prstGeom prst="roundRect">
            <a:avLst>
              <a:gd name="adj" fmla="val 3556"/>
            </a:avLst>
          </a:prstGeom>
          <a:solidFill>
            <a:srgbClr val="F2F8F3"/>
          </a:solidFill>
          <a:ln w="12700">
            <a:solidFill>
              <a:srgbClr val="F2F8F3"/>
            </a:solidFill>
            <a:prstDash val="solid"/>
          </a:ln>
        </p:spPr>
      </p:sp>
      <p:sp>
        <p:nvSpPr>
          <p:cNvPr id="12" name="Text 7"/>
          <p:cNvSpPr txBox="1"/>
          <p:nvPr/>
        </p:nvSpPr>
        <p:spPr>
          <a:xfrm>
            <a:off x="740664" y="3394253"/>
            <a:ext cx="3118104" cy="1852574"/>
          </a:xfrm>
          <a:prstGeom prst="rect">
            <a:avLst/>
          </a:prstGeom>
          <a:noFill/>
          <a:ln/>
        </p:spPr>
        <p:txBody>
          <a:bodyPr wrap="square" lIns="0" tIns="0" rIns="0" bIns="0" rtlCol="0" anchor="t"/>
          <a:lstStyle/>
          <a:p>
            <a:pPr indent="0" marL="0">
              <a:buNone/>
            </a:pPr>
            <a:r>
              <a:rPr lang="en-US" sz="1400" b="1" dirty="0">
                <a:solidFill>
                  <a:srgbClr val="1E5631"/>
                </a:solidFill>
              </a:rPr>
              <a:t>Router-on-a-stick</a:t>
            </a:r>
            <a:endParaRPr lang="en-US" sz="1400" dirty="0"/>
          </a:p>
          <a:p>
            <a:pPr indent="0" marL="0">
              <a:spcAft>
                <a:spcPts val="300"/>
              </a:spcAft>
              <a:buNone/>
            </a:pPr>
            <a:r>
              <a:rPr lang="en-US" sz="1400" dirty="0">
                <a:solidFill>
                  <a:srgbClr val="2B2B2B"/>
                </a:solidFill>
              </a:rPr>
              <a:t>One router port + one trunk; a sub-interface per VLAN (</a:t>
            </a:r>
            <a:r>
              <a:rPr lang="en-US" sz="1300" b="1" dirty="0">
                <a:solidFill>
                  <a:srgbClr val="1E5631"/>
                </a:solidFill>
                <a:latin typeface="Courier New" pitchFamily="34" charset="0"/>
                <a:ea typeface="Courier New" pitchFamily="34" charset="-122"/>
                <a:cs typeface="Courier New" pitchFamily="34" charset="-120"/>
              </a:rPr>
              <a:t>g0/0/1.10</a:t>
            </a:r>
            <a:r>
              <a:rPr lang="en-US" sz="1400" dirty="0">
                <a:solidFill>
                  <a:srgbClr val="2B2B2B"/>
                </a:solidFill>
              </a:rPr>
              <a:t>).</a:t>
            </a:r>
            <a:endParaRPr lang="en-US" sz="1400" dirty="0"/>
          </a:p>
          <a:p>
            <a:pPr indent="0" marL="0">
              <a:spcAft>
                <a:spcPts val="300"/>
              </a:spcAft>
              <a:buNone/>
            </a:pPr>
            <a:r>
              <a:rPr lang="en-US" sz="1400" dirty="0">
                <a:solidFill>
                  <a:srgbClr val="2B2B2B"/>
                </a:solidFill>
              </a:rPr>
              <a:t>✔  Cheap — one cable</a:t>
            </a:r>
            <a:endParaRPr lang="en-US" sz="1400" dirty="0"/>
          </a:p>
          <a:p>
            <a:pPr indent="0" marL="0">
              <a:spcAft>
                <a:spcPts val="300"/>
              </a:spcAft>
              <a:buNone/>
            </a:pPr>
            <a:r>
              <a:rPr lang="en-US" sz="1400" dirty="0">
                <a:solidFill>
                  <a:srgbClr val="2B2B2B"/>
                </a:solidFill>
              </a:rPr>
              <a:t>✘  All inter-VLAN traffic shares one link</a:t>
            </a:r>
            <a:endParaRPr lang="en-US" sz="1400" dirty="0"/>
          </a:p>
          <a:p>
            <a:pPr indent="0" marL="0">
              <a:spcAft>
                <a:spcPts val="300"/>
              </a:spcAft>
              <a:buNone/>
            </a:pPr>
            <a:r>
              <a:rPr lang="en-US" sz="1400" b="1" dirty="0">
                <a:solidFill>
                  <a:srgbClr val="2B2B2B"/>
                </a:solidFill>
              </a:rPr>
              <a:t>Use:</a:t>
            </a:r>
            <a:r>
              <a:rPr lang="en-US" sz="1400" dirty="0">
                <a:solidFill>
                  <a:srgbClr val="2B2B2B"/>
                </a:solidFill>
              </a:rPr>
              <a:t> small sites and labs (Lab 2)</a:t>
            </a:r>
            <a:endParaRPr lang="en-US" sz="1400" dirty="0"/>
          </a:p>
        </p:txBody>
      </p:sp>
      <p:sp>
        <p:nvSpPr>
          <p:cNvPr id="13" name="Shape 8"/>
          <p:cNvSpPr/>
          <p:nvPr/>
        </p:nvSpPr>
        <p:spPr>
          <a:xfrm>
            <a:off x="4343400" y="1691640"/>
            <a:ext cx="3502152" cy="3703320"/>
          </a:xfrm>
          <a:prstGeom prst="roundRect">
            <a:avLst>
              <a:gd name="adj" fmla="val 2089"/>
            </a:avLst>
          </a:prstGeom>
          <a:solidFill>
            <a:srgbClr val="F2F8F3"/>
          </a:solidFill>
          <a:ln w="12700">
            <a:solidFill>
              <a:srgbClr val="B7C9BA"/>
            </a:solidFill>
            <a:prstDash val="solid"/>
          </a:ln>
        </p:spPr>
      </p:sp>
      <p:sp>
        <p:nvSpPr>
          <p:cNvPr id="14" name="Shape 9"/>
          <p:cNvSpPr/>
          <p:nvPr/>
        </p:nvSpPr>
        <p:spPr>
          <a:xfrm flipH="1">
            <a:off x="5362956" y="2331720"/>
            <a:ext cx="731520" cy="594360"/>
          </a:xfrm>
          <a:prstGeom prst="line">
            <a:avLst/>
          </a:prstGeom>
          <a:noFill/>
          <a:ln w="31750">
            <a:solidFill>
              <a:srgbClr val="2F855A"/>
            </a:solidFill>
            <a:prstDash val="solid"/>
          </a:ln>
        </p:spPr>
      </p:sp>
      <p:sp>
        <p:nvSpPr>
          <p:cNvPr id="15" name="Shape 10"/>
          <p:cNvSpPr/>
          <p:nvPr/>
        </p:nvSpPr>
        <p:spPr>
          <a:xfrm>
            <a:off x="6094476" y="2331720"/>
            <a:ext cx="914" cy="594360"/>
          </a:xfrm>
          <a:prstGeom prst="line">
            <a:avLst/>
          </a:prstGeom>
          <a:noFill/>
          <a:ln w="31750">
            <a:solidFill>
              <a:srgbClr val="2B6CB0"/>
            </a:solidFill>
            <a:prstDash val="solid"/>
          </a:ln>
        </p:spPr>
      </p:sp>
      <p:sp>
        <p:nvSpPr>
          <p:cNvPr id="16" name="Shape 11"/>
          <p:cNvSpPr/>
          <p:nvPr/>
        </p:nvSpPr>
        <p:spPr>
          <a:xfrm>
            <a:off x="6094476" y="2331720"/>
            <a:ext cx="731520" cy="594360"/>
          </a:xfrm>
          <a:prstGeom prst="line">
            <a:avLst/>
          </a:prstGeom>
          <a:noFill/>
          <a:ln w="31750">
            <a:solidFill>
              <a:srgbClr val="C05621"/>
            </a:solidFill>
            <a:prstDash val="solid"/>
          </a:ln>
        </p:spPr>
      </p:sp>
      <p:pic>
        <p:nvPicPr>
          <p:cNvPr id="17" name="Image 3" descr="mls">    </p:cNvPr>
          <p:cNvPicPr>
            <a:picLocks noChangeAspect="1"/>
          </p:cNvPicPr>
          <p:nvPr/>
        </p:nvPicPr>
        <p:blipFill>
          <a:blip r:embed="rId5"/>
          <a:stretch>
            <a:fillRect/>
          </a:stretch>
        </p:blipFill>
        <p:spPr>
          <a:xfrm>
            <a:off x="5811012" y="2002536"/>
            <a:ext cx="566928" cy="566928"/>
          </a:xfrm>
          <a:prstGeom prst="rect">
            <a:avLst/>
          </a:prstGeom>
        </p:spPr>
      </p:pic>
      <p:pic>
        <p:nvPicPr>
          <p:cNvPr id="18" name="Image 4" descr="pc">    </p:cNvPr>
          <p:cNvPicPr>
            <a:picLocks noChangeAspect="1"/>
          </p:cNvPicPr>
          <p:nvPr/>
        </p:nvPicPr>
        <p:blipFill>
          <a:blip r:embed="rId6"/>
          <a:stretch>
            <a:fillRect/>
          </a:stretch>
        </p:blipFill>
        <p:spPr>
          <a:xfrm>
            <a:off x="5189220" y="2798064"/>
            <a:ext cx="347472" cy="347472"/>
          </a:xfrm>
          <a:prstGeom prst="rect">
            <a:avLst/>
          </a:prstGeom>
        </p:spPr>
      </p:pic>
      <p:pic>
        <p:nvPicPr>
          <p:cNvPr id="19" name="Image 5" descr="pc">    </p:cNvPr>
          <p:cNvPicPr>
            <a:picLocks noChangeAspect="1"/>
          </p:cNvPicPr>
          <p:nvPr/>
        </p:nvPicPr>
        <p:blipFill>
          <a:blip r:embed="rId7"/>
          <a:stretch>
            <a:fillRect/>
          </a:stretch>
        </p:blipFill>
        <p:spPr>
          <a:xfrm>
            <a:off x="5920740" y="2798064"/>
            <a:ext cx="347472" cy="347472"/>
          </a:xfrm>
          <a:prstGeom prst="rect">
            <a:avLst/>
          </a:prstGeom>
        </p:spPr>
      </p:pic>
      <p:pic>
        <p:nvPicPr>
          <p:cNvPr id="20" name="Image 6" descr="pc">    </p:cNvPr>
          <p:cNvPicPr>
            <a:picLocks noChangeAspect="1"/>
          </p:cNvPicPr>
          <p:nvPr/>
        </p:nvPicPr>
        <p:blipFill>
          <a:blip r:embed="rId8"/>
          <a:stretch>
            <a:fillRect/>
          </a:stretch>
        </p:blipFill>
        <p:spPr>
          <a:xfrm>
            <a:off x="6652260" y="2798064"/>
            <a:ext cx="347472" cy="347472"/>
          </a:xfrm>
          <a:prstGeom prst="rect">
            <a:avLst/>
          </a:prstGeom>
        </p:spPr>
      </p:pic>
      <p:sp>
        <p:nvSpPr>
          <p:cNvPr id="21" name="Card"/>
          <p:cNvSpPr/>
          <p:nvPr/>
        </p:nvSpPr>
        <p:spPr>
          <a:xfrm>
            <a:off x="4389120" y="3291840"/>
            <a:ext cx="3410712" cy="2057400"/>
          </a:xfrm>
          <a:prstGeom prst="roundRect">
            <a:avLst>
              <a:gd name="adj" fmla="val 3556"/>
            </a:avLst>
          </a:prstGeom>
          <a:solidFill>
            <a:srgbClr val="F2F8F3"/>
          </a:solidFill>
          <a:ln w="12700">
            <a:solidFill>
              <a:srgbClr val="F2F8F3"/>
            </a:solidFill>
            <a:prstDash val="solid"/>
          </a:ln>
        </p:spPr>
      </p:sp>
      <p:sp>
        <p:nvSpPr>
          <p:cNvPr id="22" name="Text 13"/>
          <p:cNvSpPr txBox="1"/>
          <p:nvPr/>
        </p:nvSpPr>
        <p:spPr>
          <a:xfrm>
            <a:off x="4535424" y="3394253"/>
            <a:ext cx="3118104" cy="1852574"/>
          </a:xfrm>
          <a:prstGeom prst="rect">
            <a:avLst/>
          </a:prstGeom>
          <a:noFill/>
          <a:ln/>
        </p:spPr>
        <p:txBody>
          <a:bodyPr wrap="square" lIns="0" tIns="0" rIns="0" bIns="0" rtlCol="0" anchor="t"/>
          <a:lstStyle/>
          <a:p>
            <a:pPr indent="0" marL="0">
              <a:buNone/>
            </a:pPr>
            <a:r>
              <a:rPr lang="en-US" sz="1400" b="1" dirty="0">
                <a:solidFill>
                  <a:srgbClr val="1E5631"/>
                </a:solidFill>
              </a:rPr>
              <a:t>Layer 3 switch (SVIs)</a:t>
            </a:r>
            <a:endParaRPr lang="en-US" sz="1400" dirty="0"/>
          </a:p>
          <a:p>
            <a:pPr indent="0" marL="0">
              <a:spcAft>
                <a:spcPts val="300"/>
              </a:spcAft>
              <a:buNone/>
            </a:pPr>
            <a:r>
              <a:rPr lang="en-US" sz="1400" dirty="0">
                <a:solidFill>
                  <a:srgbClr val="2B2B2B"/>
                </a:solidFill>
              </a:rPr>
              <a:t>The switch routes inside itself; </a:t>
            </a:r>
            <a:r>
              <a:rPr lang="en-US" sz="1300" b="1" dirty="0">
                <a:solidFill>
                  <a:srgbClr val="1E5631"/>
                </a:solidFill>
                <a:latin typeface="Courier New" pitchFamily="34" charset="0"/>
                <a:ea typeface="Courier New" pitchFamily="34" charset="-122"/>
                <a:cs typeface="Courier New" pitchFamily="34" charset="-120"/>
              </a:rPr>
              <a:t>interface vlan 10</a:t>
            </a:r>
            <a:r>
              <a:rPr lang="en-US" sz="1400" dirty="0">
                <a:solidFill>
                  <a:srgbClr val="2B2B2B"/>
                </a:solidFill>
              </a:rPr>
              <a:t> is VLAN 10’s gateway.</a:t>
            </a:r>
            <a:endParaRPr lang="en-US" sz="1400" dirty="0"/>
          </a:p>
          <a:p>
            <a:pPr indent="0" marL="0">
              <a:spcAft>
                <a:spcPts val="300"/>
              </a:spcAft>
              <a:buNone/>
            </a:pPr>
            <a:r>
              <a:rPr lang="en-US" sz="1400" dirty="0">
                <a:solidFill>
                  <a:srgbClr val="2B2B2B"/>
                </a:solidFill>
              </a:rPr>
              <a:t>✔  Fast and scalable</a:t>
            </a:r>
            <a:endParaRPr lang="en-US" sz="1400" dirty="0"/>
          </a:p>
          <a:p>
            <a:pPr indent="0" marL="0">
              <a:spcAft>
                <a:spcPts val="300"/>
              </a:spcAft>
              <a:buNone/>
            </a:pPr>
            <a:r>
              <a:rPr lang="en-US" sz="1400" dirty="0">
                <a:solidFill>
                  <a:srgbClr val="2B2B2B"/>
                </a:solidFill>
              </a:rPr>
              <a:t>✘  Needs a multilayer switch (3560)</a:t>
            </a:r>
            <a:endParaRPr lang="en-US" sz="1400" dirty="0"/>
          </a:p>
          <a:p>
            <a:pPr indent="0" marL="0">
              <a:spcAft>
                <a:spcPts val="300"/>
              </a:spcAft>
              <a:buNone/>
            </a:pPr>
            <a:r>
              <a:rPr lang="en-US" sz="1400" b="1" dirty="0">
                <a:solidFill>
                  <a:srgbClr val="2B2B2B"/>
                </a:solidFill>
              </a:rPr>
              <a:t>Use:</a:t>
            </a:r>
            <a:r>
              <a:rPr lang="en-US" sz="1400" dirty="0">
                <a:solidFill>
                  <a:srgbClr val="2B2B2B"/>
                </a:solidFill>
              </a:rPr>
              <a:t> campus core / distribution</a:t>
            </a:r>
            <a:endParaRPr lang="en-US" sz="1400" dirty="0"/>
          </a:p>
        </p:txBody>
      </p:sp>
      <p:sp>
        <p:nvSpPr>
          <p:cNvPr id="23" name="Shape 14"/>
          <p:cNvSpPr/>
          <p:nvPr/>
        </p:nvSpPr>
        <p:spPr>
          <a:xfrm>
            <a:off x="8138160" y="1691640"/>
            <a:ext cx="3502152" cy="3703320"/>
          </a:xfrm>
          <a:prstGeom prst="roundRect">
            <a:avLst>
              <a:gd name="adj" fmla="val 2089"/>
            </a:avLst>
          </a:prstGeom>
          <a:solidFill>
            <a:srgbClr val="F2F8F3"/>
          </a:solidFill>
          <a:ln w="12700">
            <a:solidFill>
              <a:srgbClr val="B7C9BA"/>
            </a:solidFill>
            <a:prstDash val="solid"/>
          </a:ln>
        </p:spPr>
      </p:sp>
      <p:sp>
        <p:nvSpPr>
          <p:cNvPr id="24" name="Shape 15"/>
          <p:cNvSpPr/>
          <p:nvPr/>
        </p:nvSpPr>
        <p:spPr>
          <a:xfrm>
            <a:off x="9724644" y="2148840"/>
            <a:ext cx="914" cy="594360"/>
          </a:xfrm>
          <a:prstGeom prst="line">
            <a:avLst/>
          </a:prstGeom>
          <a:noFill/>
          <a:ln w="31750">
            <a:solidFill>
              <a:srgbClr val="2F855A"/>
            </a:solidFill>
            <a:prstDash val="solid"/>
          </a:ln>
        </p:spPr>
      </p:sp>
      <p:sp>
        <p:nvSpPr>
          <p:cNvPr id="25" name="Shape 16"/>
          <p:cNvSpPr/>
          <p:nvPr/>
        </p:nvSpPr>
        <p:spPr>
          <a:xfrm>
            <a:off x="9889236" y="2148840"/>
            <a:ext cx="914" cy="594360"/>
          </a:xfrm>
          <a:prstGeom prst="line">
            <a:avLst/>
          </a:prstGeom>
          <a:noFill/>
          <a:ln w="31750">
            <a:solidFill>
              <a:srgbClr val="2B6CB0"/>
            </a:solidFill>
            <a:prstDash val="solid"/>
          </a:ln>
        </p:spPr>
      </p:sp>
      <p:sp>
        <p:nvSpPr>
          <p:cNvPr id="26" name="Shape 17"/>
          <p:cNvSpPr/>
          <p:nvPr/>
        </p:nvSpPr>
        <p:spPr>
          <a:xfrm>
            <a:off x="10053828" y="2148840"/>
            <a:ext cx="914" cy="594360"/>
          </a:xfrm>
          <a:prstGeom prst="line">
            <a:avLst/>
          </a:prstGeom>
          <a:noFill/>
          <a:ln w="31750">
            <a:solidFill>
              <a:srgbClr val="C05621"/>
            </a:solidFill>
            <a:prstDash val="solid"/>
          </a:ln>
        </p:spPr>
      </p:sp>
      <p:pic>
        <p:nvPicPr>
          <p:cNvPr id="27" name="Image 7" descr="router">    </p:cNvPr>
          <p:cNvPicPr>
            <a:picLocks noChangeAspect="1"/>
          </p:cNvPicPr>
          <p:nvPr/>
        </p:nvPicPr>
        <p:blipFill>
          <a:blip r:embed="rId9"/>
          <a:stretch>
            <a:fillRect/>
          </a:stretch>
        </p:blipFill>
        <p:spPr>
          <a:xfrm>
            <a:off x="9660636" y="1828800"/>
            <a:ext cx="457200" cy="457200"/>
          </a:xfrm>
          <a:prstGeom prst="rect">
            <a:avLst/>
          </a:prstGeom>
        </p:spPr>
      </p:pic>
      <p:pic>
        <p:nvPicPr>
          <p:cNvPr id="28" name="Image 8" descr="switch">    </p:cNvPr>
          <p:cNvPicPr>
            <a:picLocks noChangeAspect="1"/>
          </p:cNvPicPr>
          <p:nvPr/>
        </p:nvPicPr>
        <p:blipFill>
          <a:blip r:embed="rId10"/>
          <a:stretch>
            <a:fillRect/>
          </a:stretch>
        </p:blipFill>
        <p:spPr>
          <a:xfrm>
            <a:off x="9637776" y="2583180"/>
            <a:ext cx="502920" cy="502920"/>
          </a:xfrm>
          <a:prstGeom prst="rect">
            <a:avLst/>
          </a:prstGeom>
        </p:spPr>
      </p:pic>
      <p:sp>
        <p:nvSpPr>
          <p:cNvPr id="29" name="Text 18"/>
          <p:cNvSpPr txBox="1"/>
          <p:nvPr/>
        </p:nvSpPr>
        <p:spPr>
          <a:xfrm>
            <a:off x="10163556" y="2286000"/>
            <a:ext cx="1280160" cy="237744"/>
          </a:xfrm>
          <a:prstGeom prst="rect">
            <a:avLst/>
          </a:prstGeom>
          <a:noFill/>
          <a:ln/>
        </p:spPr>
        <p:txBody>
          <a:bodyPr wrap="square" lIns="254" tIns="254" rIns="254" bIns="254" rtlCol="0" anchor="ctr"/>
          <a:lstStyle/>
          <a:p>
            <a:pPr algn="l" indent="0" marL="0">
              <a:buNone/>
            </a:pPr>
            <a:r>
              <a:rPr lang="en-US" sz="1000" b="1" dirty="0">
                <a:solidFill>
                  <a:srgbClr val="1B2B22"/>
                </a:solidFill>
              </a:rPr>
              <a:t>1 cable per VLAN</a:t>
            </a:r>
            <a:endParaRPr lang="en-US" sz="1000" dirty="0"/>
          </a:p>
        </p:txBody>
      </p:sp>
      <p:sp>
        <p:nvSpPr>
          <p:cNvPr id="30" name="Card"/>
          <p:cNvSpPr/>
          <p:nvPr/>
        </p:nvSpPr>
        <p:spPr>
          <a:xfrm>
            <a:off x="8183880" y="3291840"/>
            <a:ext cx="3410712" cy="2057400"/>
          </a:xfrm>
          <a:prstGeom prst="roundRect">
            <a:avLst>
              <a:gd name="adj" fmla="val 3556"/>
            </a:avLst>
          </a:prstGeom>
          <a:solidFill>
            <a:srgbClr val="F2F8F3"/>
          </a:solidFill>
          <a:ln w="12700">
            <a:solidFill>
              <a:srgbClr val="F2F8F3"/>
            </a:solidFill>
            <a:prstDash val="solid"/>
          </a:ln>
        </p:spPr>
      </p:sp>
      <p:sp>
        <p:nvSpPr>
          <p:cNvPr id="31" name="Text 20"/>
          <p:cNvSpPr txBox="1"/>
          <p:nvPr/>
        </p:nvSpPr>
        <p:spPr>
          <a:xfrm>
            <a:off x="8330184" y="3394253"/>
            <a:ext cx="3118104" cy="1852574"/>
          </a:xfrm>
          <a:prstGeom prst="rect">
            <a:avLst/>
          </a:prstGeom>
          <a:noFill/>
          <a:ln/>
        </p:spPr>
        <p:txBody>
          <a:bodyPr wrap="square" lIns="0" tIns="0" rIns="0" bIns="0" rtlCol="0" anchor="t"/>
          <a:lstStyle/>
          <a:p>
            <a:pPr indent="0" marL="0">
              <a:buNone/>
            </a:pPr>
            <a:r>
              <a:rPr lang="en-US" sz="1400" b="1" dirty="0">
                <a:solidFill>
                  <a:srgbClr val="1E5631"/>
                </a:solidFill>
              </a:rPr>
              <a:t>One router port per VLAN</a:t>
            </a:r>
            <a:endParaRPr lang="en-US" sz="1400" dirty="0"/>
          </a:p>
          <a:p>
            <a:pPr indent="0" marL="0">
              <a:spcAft>
                <a:spcPts val="300"/>
              </a:spcAft>
              <a:buNone/>
            </a:pPr>
            <a:r>
              <a:rPr lang="en-US" sz="1400" dirty="0">
                <a:solidFill>
                  <a:srgbClr val="2B2B2B"/>
                </a:solidFill>
              </a:rPr>
              <a:t>Each VLAN gets its own physical router port and its own cable.</a:t>
            </a:r>
            <a:endParaRPr lang="en-US" sz="1400" dirty="0"/>
          </a:p>
          <a:p>
            <a:pPr indent="0" marL="0">
              <a:spcAft>
                <a:spcPts val="300"/>
              </a:spcAft>
              <a:buNone/>
            </a:pPr>
            <a:r>
              <a:rPr lang="en-US" sz="1400" dirty="0">
                <a:solidFill>
                  <a:srgbClr val="2B2B2B"/>
                </a:solidFill>
              </a:rPr>
              <a:t>✔  Simple to understand</a:t>
            </a:r>
            <a:endParaRPr lang="en-US" sz="1400" dirty="0"/>
          </a:p>
          <a:p>
            <a:pPr indent="0" marL="0">
              <a:spcAft>
                <a:spcPts val="300"/>
              </a:spcAft>
              <a:buNone/>
            </a:pPr>
            <a:r>
              <a:rPr lang="en-US" sz="1400" dirty="0">
                <a:solidFill>
                  <a:srgbClr val="2B2B2B"/>
                </a:solidFill>
              </a:rPr>
              <a:t>✘  Runs out of router ports quickly</a:t>
            </a:r>
            <a:endParaRPr lang="en-US" sz="1400" dirty="0"/>
          </a:p>
          <a:p>
            <a:pPr indent="0" marL="0">
              <a:spcAft>
                <a:spcPts val="300"/>
              </a:spcAft>
              <a:buNone/>
            </a:pPr>
            <a:r>
              <a:rPr lang="en-US" sz="1400" b="1" dirty="0">
                <a:solidFill>
                  <a:srgbClr val="2B2B2B"/>
                </a:solidFill>
              </a:rPr>
              <a:t>Use:</a:t>
            </a:r>
            <a:r>
              <a:rPr lang="en-US" sz="1400" dirty="0">
                <a:solidFill>
                  <a:srgbClr val="2B2B2B"/>
                </a:solidFill>
              </a:rPr>
              <a:t> rarely — old designs</a:t>
            </a:r>
            <a:endParaRPr lang="en-US" sz="1400" dirty="0"/>
          </a:p>
        </p:txBody>
      </p:sp>
      <p:sp>
        <p:nvSpPr>
          <p:cNvPr id="32" name="tip box"/>
          <p:cNvSpPr/>
          <p:nvPr/>
        </p:nvSpPr>
        <p:spPr>
          <a:xfrm>
            <a:off x="548640" y="5504688"/>
            <a:ext cx="11094415" cy="749808"/>
          </a:xfrm>
          <a:prstGeom prst="roundRect">
            <a:avLst>
              <a:gd name="adj" fmla="val 9756"/>
            </a:avLst>
          </a:prstGeom>
          <a:solidFill>
            <a:srgbClr val="E6EEF8"/>
          </a:solidFill>
          <a:ln w="12700">
            <a:solidFill>
              <a:srgbClr val="B8C9E0"/>
            </a:solidFill>
            <a:prstDash val="solid"/>
          </a:ln>
        </p:spPr>
      </p:sp>
      <p:pic>
        <p:nvPicPr>
          <p:cNvPr id="33" name="tip icon" descr="Tip:">    </p:cNvPr>
          <p:cNvPicPr>
            <a:picLocks noChangeAspect="1"/>
          </p:cNvPicPr>
          <p:nvPr/>
        </p:nvPicPr>
        <p:blipFill>
          <a:blip r:embed="rId11"/>
          <a:stretch>
            <a:fillRect/>
          </a:stretch>
        </p:blipFill>
        <p:spPr>
          <a:xfrm>
            <a:off x="694944" y="5733288"/>
            <a:ext cx="292608" cy="292608"/>
          </a:xfrm>
          <a:prstGeom prst="rect">
            <a:avLst/>
          </a:prstGeom>
        </p:spPr>
      </p:pic>
      <p:sp>
        <p:nvSpPr>
          <p:cNvPr id="34" name="tip text"/>
          <p:cNvSpPr txBox="1"/>
          <p:nvPr/>
        </p:nvSpPr>
        <p:spPr>
          <a:xfrm>
            <a:off x="1097280" y="5541264"/>
            <a:ext cx="10436047" cy="676656"/>
          </a:xfrm>
          <a:prstGeom prst="rect">
            <a:avLst/>
          </a:prstGeom>
          <a:noFill/>
          <a:ln/>
        </p:spPr>
        <p:txBody>
          <a:bodyPr wrap="square" lIns="0" tIns="0" rIns="0" bIns="0" rtlCol="0" anchor="ctr"/>
          <a:lstStyle/>
          <a:p>
            <a:pPr indent="0" marL="0">
              <a:buNone/>
            </a:pPr>
            <a:r>
              <a:rPr lang="en-US" sz="1400" b="1" dirty="0">
                <a:solidFill>
                  <a:srgbClr val="1F4E8C"/>
                </a:solidFill>
              </a:rPr>
              <a:t>Tip:  </a:t>
            </a:r>
            <a:r>
              <a:rPr lang="en-US" sz="1400" dirty="0">
                <a:solidFill>
                  <a:srgbClr val="2B2B2B"/>
                </a:solidFill>
              </a:rPr>
              <a:t>Whatever the method, each PC’s default gateway is the router or SVI address in its own VLAN (the .1).</a:t>
            </a:r>
            <a:endParaRPr lang="en-US" sz="1400" dirty="0"/>
          </a:p>
        </p:txBody>
      </p:sp>
      <p:sp>
        <p:nvSpPr>
          <p:cNvPr id="35" name="Slide Number Placeholder 0"/>
          <p:cNvSpPr>
            <a:spLocks noGrp="1"/>
          </p:cNvSpPr>
          <p:nvPr>
            <p:ph type="sldNum" sz="quarter" idx="4294967295"/>
          </p:nvPr>
        </p:nvSpPr>
        <p:spPr>
          <a:xfrm>
            <a:off x="10698480" y="6464808"/>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1"/>
          <p:cNvSpPr/>
          <p:nvPr>
            <p:ph idx="102" type="body" hasCustomPrompt="1"/>
          </p:nvPr>
        </p:nvSpPr>
        <p:spPr>
          <a:xfrm>
            <a:off x="548640" y="274320"/>
            <a:ext cx="9966960" cy="256032"/>
          </a:xfrm>
          <a:prstGeom prst="rect">
            <a:avLst/>
          </a:prstGeom>
          <a:noFill/>
          <a:ln/>
        </p:spPr>
        <p:txBody>
          <a:bodyPr wrap="square" lIns="0" tIns="0" rIns="0" bIns="0" rtlCol="0" anchor="ctr"/>
          <a:lstStyle/>
          <a:p>
            <a:pPr algn="l" indent="0" marL="0">
              <a:buNone/>
            </a:pPr>
            <a:r>
              <a:rPr lang="en-US" sz="1100" b="1" spc="100" kern="0" dirty="0">
                <a:solidFill>
                  <a:schemeClr val="accent2"/>
                </a:solidFill>
              </a:rPr>
              <a:t>05  •  INTER-VLAN ROUTING  •  LAB 2</a:t>
            </a:r>
            <a:endParaRPr lang="en-US" sz="1100" dirty="0"/>
          </a:p>
        </p:txBody>
      </p:sp>
      <p:sp>
        <p:nvSpPr>
          <p:cNvPr id="3" name="Text 1"/>
          <p:cNvSpPr/>
          <p:nvPr>
            <p:ph idx="103" type="title" hasCustomPrompt="1"/>
          </p:nvPr>
        </p:nvSpPr>
        <p:spPr>
          <a:xfrm>
            <a:off x="548640" y="548640"/>
            <a:ext cx="10149840" cy="548640"/>
          </a:xfrm>
          <a:prstGeom prst="rect">
            <a:avLst/>
          </a:prstGeom>
          <a:noFill/>
          <a:ln/>
        </p:spPr>
        <p:txBody>
          <a:bodyPr wrap="square" lIns="0" tIns="0" rIns="0" bIns="0" rtlCol="0" anchor="ctr"/>
          <a:lstStyle/>
          <a:p>
            <a:pPr algn="l" indent="0" marL="0">
              <a:buNone/>
            </a:pPr>
            <a:r>
              <a:rPr lang="en-US" sz="2600" b="1" dirty="0">
                <a:solidFill>
                  <a:schemeClr val="accent1"/>
                </a:solidFill>
              </a:rPr>
              <a:t>How to configure router-on-a-stick (1 of 2)</a:t>
            </a:r>
            <a:endParaRPr lang="en-US" sz="2600" dirty="0"/>
          </a:p>
        </p:txBody>
      </p:sp>
      <p:pic>
        <p:nvPicPr>
          <p:cNvPr id="4" name="Home button" descr="Home: back to the workbook menu">
            <a:hlinkClick r:id="rId2" tooltip="Back to the workbook menu" action="ppaction://hlinksldjump"/>
          </p:cNvPr>
          <p:cNvPicPr>
            <a:picLocks noChangeAspect="1"/>
          </p:cNvPicPr>
          <p:nvPr/>
        </p:nvPicPr>
        <p:blipFill>
          <a:blip r:embed="rId1"/>
          <a:stretch>
            <a:fillRect/>
          </a:stretch>
        </p:blipFill>
        <p:spPr>
          <a:xfrm>
            <a:off x="11365992" y="6336792"/>
            <a:ext cx="365760" cy="365760"/>
          </a:xfrm>
          <a:prstGeom prst="rect">
            <a:avLst/>
          </a:prstGeom>
        </p:spPr>
      </p:pic>
      <p:sp>
        <p:nvSpPr>
          <p:cNvPr id="5" name="Goal"/>
          <p:cNvSpPr txBox="1"/>
          <p:nvPr/>
        </p:nvSpPr>
        <p:spPr>
          <a:xfrm>
            <a:off x="548640" y="1161288"/>
            <a:ext cx="11094415" cy="384048"/>
          </a:xfrm>
          <a:prstGeom prst="rect">
            <a:avLst/>
          </a:prstGeom>
          <a:noFill/>
          <a:ln/>
        </p:spPr>
        <p:txBody>
          <a:bodyPr wrap="square" lIns="0" tIns="0" rIns="0" bIns="0" rtlCol="0" anchor="ctr"/>
          <a:lstStyle/>
          <a:p>
            <a:pPr indent="0" marL="0">
              <a:buNone/>
            </a:pPr>
            <a:r>
              <a:rPr lang="en-US" sz="1400" b="1" dirty="0">
                <a:solidFill>
                  <a:srgbClr val="2B7043"/>
                </a:solidFill>
              </a:rPr>
              <a:t>Goal:  </a:t>
            </a:r>
            <a:r>
              <a:rPr lang="en-US" sz="1400" dirty="0">
                <a:solidFill>
                  <a:srgbClr val="2B2B2B"/>
                </a:solidFill>
              </a:rPr>
              <a:t>R1 routes between the VLANs over one trunk to S1. Each VLAN gets a sub-interface on G0/0/1.</a:t>
            </a:r>
            <a:endParaRPr lang="en-US" sz="1400" dirty="0"/>
          </a:p>
        </p:txBody>
      </p:sp>
      <p:sp>
        <p:nvSpPr>
          <p:cNvPr id="6" name="Command header"/>
          <p:cNvSpPr/>
          <p:nvPr/>
        </p:nvSpPr>
        <p:spPr>
          <a:xfrm>
            <a:off x="548640" y="1664208"/>
            <a:ext cx="6153912" cy="310896"/>
          </a:xfrm>
          <a:prstGeom prst="rect">
            <a:avLst/>
          </a:prstGeom>
          <a:solidFill>
            <a:srgbClr val="1B2B22"/>
          </a:solidFill>
          <a:ln/>
        </p:spPr>
        <p:txBody>
          <a:bodyPr wrap="square" lIns="109728" tIns="45720" rIns="109728" bIns="45720" rtlCol="0" anchor="ctr"/>
          <a:lstStyle/>
          <a:p>
            <a:pPr indent="0" marL="0">
              <a:buNone/>
            </a:pPr>
            <a:r>
              <a:rPr lang="en-US" sz="1100" dirty="0">
                <a:solidFill>
                  <a:srgbClr val="E0605A"/>
                </a:solidFill>
              </a:rPr>
              <a:t>●  </a:t>
            </a:r>
            <a:r>
              <a:rPr lang="en-US" sz="1100" dirty="0">
                <a:solidFill>
                  <a:srgbClr val="E8B92E"/>
                </a:solidFill>
              </a:rPr>
              <a:t>●  </a:t>
            </a:r>
            <a:r>
              <a:rPr lang="en-US" sz="1100" dirty="0">
                <a:solidFill>
                  <a:srgbClr val="4CAF50"/>
                </a:solidFill>
              </a:rPr>
              <a:t>●   </a:t>
            </a:r>
            <a:r>
              <a:rPr lang="en-US" sz="1100" b="1" dirty="0">
                <a:solidFill>
                  <a:srgbClr val="C9D6CC"/>
                </a:solidFill>
              </a:rPr>
              <a:t>R1  —  type the white text, then press Enter</a:t>
            </a:r>
            <a:endParaRPr lang="en-US" sz="1100" dirty="0"/>
          </a:p>
        </p:txBody>
      </p:sp>
      <p:sp>
        <p:nvSpPr>
          <p:cNvPr id="7" name="Meaning header"/>
          <p:cNvSpPr/>
          <p:nvPr/>
        </p:nvSpPr>
        <p:spPr>
          <a:xfrm>
            <a:off x="6720840" y="1664208"/>
            <a:ext cx="4922215" cy="310896"/>
          </a:xfrm>
          <a:prstGeom prst="rect">
            <a:avLst/>
          </a:prstGeom>
          <a:solidFill>
            <a:srgbClr val="E8F1EA"/>
          </a:solidFill>
          <a:ln/>
        </p:spPr>
        <p:txBody>
          <a:bodyPr wrap="square" lIns="109728" tIns="45720" rIns="109728" bIns="45720" rtlCol="0" anchor="ctr"/>
          <a:lstStyle/>
          <a:p>
            <a:pPr indent="0" marL="0">
              <a:buNone/>
            </a:pPr>
            <a:r>
              <a:rPr lang="en-US" sz="1200" b="1" dirty="0">
                <a:solidFill>
                  <a:srgbClr val="1E5631"/>
                </a:solidFill>
              </a:rPr>
              <a:t>What it does</a:t>
            </a:r>
            <a:endParaRPr lang="en-US" sz="1200" dirty="0"/>
          </a:p>
        </p:txBody>
      </p:sp>
      <p:sp>
        <p:nvSpPr>
          <p:cNvPr id="8" name="Command 01"/>
          <p:cNvSpPr/>
          <p:nvPr/>
        </p:nvSpPr>
        <p:spPr>
          <a:xfrm>
            <a:off x="548640" y="1993392"/>
            <a:ext cx="6153912" cy="54380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R1(config)# </a:t>
            </a:r>
            <a:r>
              <a:rPr lang="en-US" sz="1200" b="1" dirty="0">
                <a:solidFill>
                  <a:srgbClr val="FFFFFF"/>
                </a:solidFill>
                <a:latin typeface="Courier New" pitchFamily="34" charset="0"/>
                <a:ea typeface="Courier New" pitchFamily="34" charset="-122"/>
                <a:cs typeface="Courier New" pitchFamily="34" charset="-120"/>
              </a:rPr>
              <a:t>interface g0/0/1</a:t>
            </a:r>
            <a:endParaRPr lang="en-US" sz="1200" dirty="0"/>
          </a:p>
          <a:p>
            <a:pPr indent="0" marL="0">
              <a:buNone/>
            </a:pPr>
            <a:r>
              <a:rPr lang="en-US" sz="1200" dirty="0">
                <a:solidFill>
                  <a:srgbClr val="8FC9A0"/>
                </a:solidFill>
                <a:latin typeface="Courier New" pitchFamily="34" charset="0"/>
                <a:ea typeface="Courier New" pitchFamily="34" charset="-122"/>
                <a:cs typeface="Courier New" pitchFamily="34" charset="-120"/>
              </a:rPr>
              <a:t>R1(config-if)# </a:t>
            </a:r>
            <a:r>
              <a:rPr lang="en-US" sz="1200" b="1" dirty="0">
                <a:solidFill>
                  <a:srgbClr val="FFFFFF"/>
                </a:solidFill>
                <a:latin typeface="Courier New" pitchFamily="34" charset="0"/>
                <a:ea typeface="Courier New" pitchFamily="34" charset="-122"/>
                <a:cs typeface="Courier New" pitchFamily="34" charset="-120"/>
              </a:rPr>
              <a:t>no shutdown</a:t>
            </a:r>
            <a:endParaRPr lang="en-US" sz="1200" dirty="0"/>
          </a:p>
        </p:txBody>
      </p:sp>
      <p:sp>
        <p:nvSpPr>
          <p:cNvPr id="9" name="Reveal 01 meaning"/>
          <p:cNvSpPr/>
          <p:nvPr/>
        </p:nvSpPr>
        <p:spPr>
          <a:xfrm>
            <a:off x="6720840" y="1993392"/>
            <a:ext cx="4922215" cy="543809"/>
          </a:xfrm>
          <a:prstGeom prst="rect">
            <a:avLst/>
          </a:prstGeom>
          <a:solidFill>
            <a:srgbClr val="F2F8F3"/>
          </a:solidFill>
          <a:ln/>
        </p:spPr>
        <p:txBody>
          <a:bodyPr wrap="square" lIns="109728" tIns="45720" rIns="109728" bIns="45720" rtlCol="0" anchor="ctr"/>
          <a:lstStyle/>
          <a:p>
            <a:pPr indent="0" marL="0">
              <a:buNone/>
            </a:pPr>
            <a:r>
              <a:rPr lang="en-US" sz="1400" dirty="0">
                <a:solidFill>
                  <a:srgbClr val="2B2B2B"/>
                </a:solidFill>
              </a:rPr>
              <a:t>Switch on the physical port that connects to S1’s trunk. It gets no IP address itself.</a:t>
            </a:r>
            <a:endParaRPr lang="en-US" sz="1400" dirty="0"/>
          </a:p>
        </p:txBody>
      </p:sp>
      <p:sp>
        <p:nvSpPr>
          <p:cNvPr id="10" name="Command 02"/>
          <p:cNvSpPr/>
          <p:nvPr/>
        </p:nvSpPr>
        <p:spPr>
          <a:xfrm>
            <a:off x="548640" y="2555489"/>
            <a:ext cx="6153912" cy="54380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R1(config-if)# </a:t>
            </a:r>
            <a:r>
              <a:rPr lang="en-US" sz="1200" b="1" dirty="0">
                <a:solidFill>
                  <a:srgbClr val="FFFFFF"/>
                </a:solidFill>
                <a:latin typeface="Courier New" pitchFamily="34" charset="0"/>
                <a:ea typeface="Courier New" pitchFamily="34" charset="-122"/>
                <a:cs typeface="Courier New" pitchFamily="34" charset="-120"/>
              </a:rPr>
              <a:t>interface g0/0/1.10</a:t>
            </a:r>
            <a:endParaRPr lang="en-US" sz="1200" dirty="0"/>
          </a:p>
        </p:txBody>
      </p:sp>
      <p:sp>
        <p:nvSpPr>
          <p:cNvPr id="11" name="Reveal 02 meaning"/>
          <p:cNvSpPr/>
          <p:nvPr/>
        </p:nvSpPr>
        <p:spPr>
          <a:xfrm>
            <a:off x="6720840" y="2555489"/>
            <a:ext cx="4922215" cy="543809"/>
          </a:xfrm>
          <a:prstGeom prst="rect">
            <a:avLst/>
          </a:prstGeom>
          <a:solidFill>
            <a:srgbClr val="FFFFFF"/>
          </a:solidFill>
          <a:ln/>
        </p:spPr>
        <p:txBody>
          <a:bodyPr wrap="square" lIns="109728" tIns="45720" rIns="109728" bIns="45720" rtlCol="0" anchor="ctr"/>
          <a:lstStyle/>
          <a:p>
            <a:pPr indent="0" marL="0">
              <a:buNone/>
            </a:pPr>
            <a:r>
              <a:rPr lang="en-US" sz="1400" dirty="0">
                <a:solidFill>
                  <a:srgbClr val="2B2B2B"/>
                </a:solidFill>
              </a:rPr>
              <a:t>Create sub-interface 10, a virtual port inside G0/0/1. Matching the number to the VLAN avoids confusion.</a:t>
            </a:r>
            <a:endParaRPr lang="en-US" sz="1400" dirty="0"/>
          </a:p>
        </p:txBody>
      </p:sp>
      <p:sp>
        <p:nvSpPr>
          <p:cNvPr id="12" name="Command 03"/>
          <p:cNvSpPr/>
          <p:nvPr/>
        </p:nvSpPr>
        <p:spPr>
          <a:xfrm>
            <a:off x="548640" y="3117586"/>
            <a:ext cx="6153912" cy="326768"/>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R1(config-subif)# </a:t>
            </a:r>
            <a:r>
              <a:rPr lang="en-US" sz="1200" b="1" dirty="0">
                <a:solidFill>
                  <a:srgbClr val="FFFFFF"/>
                </a:solidFill>
                <a:latin typeface="Courier New" pitchFamily="34" charset="0"/>
                <a:ea typeface="Courier New" pitchFamily="34" charset="-122"/>
                <a:cs typeface="Courier New" pitchFamily="34" charset="-120"/>
              </a:rPr>
              <a:t>description STAFF gateway</a:t>
            </a:r>
            <a:endParaRPr lang="en-US" sz="1200" dirty="0"/>
          </a:p>
        </p:txBody>
      </p:sp>
      <p:sp>
        <p:nvSpPr>
          <p:cNvPr id="13" name="Reveal 03 meaning"/>
          <p:cNvSpPr/>
          <p:nvPr/>
        </p:nvSpPr>
        <p:spPr>
          <a:xfrm>
            <a:off x="6720840" y="3117586"/>
            <a:ext cx="4922215" cy="326768"/>
          </a:xfrm>
          <a:prstGeom prst="rect">
            <a:avLst/>
          </a:prstGeom>
          <a:solidFill>
            <a:srgbClr val="F2F8F3"/>
          </a:solidFill>
          <a:ln/>
        </p:spPr>
        <p:txBody>
          <a:bodyPr wrap="square" lIns="109728" tIns="45720" rIns="109728" bIns="45720" rtlCol="0" anchor="ctr"/>
          <a:lstStyle/>
          <a:p>
            <a:pPr indent="0" marL="0">
              <a:buNone/>
            </a:pPr>
            <a:r>
              <a:rPr lang="en-US" sz="1400" dirty="0">
                <a:solidFill>
                  <a:srgbClr val="2B2B2B"/>
                </a:solidFill>
              </a:rPr>
              <a:t>A label for people.</a:t>
            </a:r>
            <a:endParaRPr lang="en-US" sz="1400" dirty="0"/>
          </a:p>
        </p:txBody>
      </p:sp>
      <p:sp>
        <p:nvSpPr>
          <p:cNvPr id="14" name="Command 04"/>
          <p:cNvSpPr/>
          <p:nvPr/>
        </p:nvSpPr>
        <p:spPr>
          <a:xfrm>
            <a:off x="548640" y="3462642"/>
            <a:ext cx="6153912" cy="54380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R1(config-subif)# </a:t>
            </a:r>
            <a:r>
              <a:rPr lang="en-US" sz="1200" b="1" dirty="0">
                <a:solidFill>
                  <a:srgbClr val="FFFFFF"/>
                </a:solidFill>
                <a:latin typeface="Courier New" pitchFamily="34" charset="0"/>
                <a:ea typeface="Courier New" pitchFamily="34" charset="-122"/>
                <a:cs typeface="Courier New" pitchFamily="34" charset="-120"/>
              </a:rPr>
              <a:t>encapsulation dot1Q 10</a:t>
            </a:r>
            <a:endParaRPr lang="en-US" sz="1200" dirty="0"/>
          </a:p>
        </p:txBody>
      </p:sp>
      <p:sp>
        <p:nvSpPr>
          <p:cNvPr id="15" name="Reveal 04 meaning"/>
          <p:cNvSpPr/>
          <p:nvPr/>
        </p:nvSpPr>
        <p:spPr>
          <a:xfrm>
            <a:off x="6720840" y="3462642"/>
            <a:ext cx="4922215" cy="543809"/>
          </a:xfrm>
          <a:prstGeom prst="rect">
            <a:avLst/>
          </a:prstGeom>
          <a:solidFill>
            <a:srgbClr val="FFFFFF"/>
          </a:solidFill>
          <a:ln/>
        </p:spPr>
        <p:txBody>
          <a:bodyPr wrap="square" lIns="109728" tIns="45720" rIns="109728" bIns="45720" rtlCol="0" anchor="ctr"/>
          <a:lstStyle/>
          <a:p>
            <a:pPr indent="0" marL="0">
              <a:buNone/>
            </a:pPr>
            <a:r>
              <a:rPr lang="en-US" sz="1400" dirty="0">
                <a:solidFill>
                  <a:srgbClr val="2B2B2B"/>
                </a:solidFill>
              </a:rPr>
              <a:t>The key command: this sub-interface handles frames tagged VLAN 10. Type it before the IP address.</a:t>
            </a:r>
            <a:endParaRPr lang="en-US" sz="1400" dirty="0"/>
          </a:p>
        </p:txBody>
      </p:sp>
      <p:sp>
        <p:nvSpPr>
          <p:cNvPr id="16" name="Command 05"/>
          <p:cNvSpPr/>
          <p:nvPr/>
        </p:nvSpPr>
        <p:spPr>
          <a:xfrm>
            <a:off x="548640" y="4024739"/>
            <a:ext cx="6153912" cy="326768"/>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R1(config-subif)# </a:t>
            </a:r>
            <a:r>
              <a:rPr lang="en-US" sz="1200" b="1" dirty="0">
                <a:solidFill>
                  <a:srgbClr val="FFFFFF"/>
                </a:solidFill>
                <a:latin typeface="Courier New" pitchFamily="34" charset="0"/>
                <a:ea typeface="Courier New" pitchFamily="34" charset="-122"/>
                <a:cs typeface="Courier New" pitchFamily="34" charset="-120"/>
              </a:rPr>
              <a:t>ip address 192.168.10.1 255.255.255.0</a:t>
            </a:r>
            <a:endParaRPr lang="en-US" sz="1200" dirty="0"/>
          </a:p>
        </p:txBody>
      </p:sp>
      <p:sp>
        <p:nvSpPr>
          <p:cNvPr id="17" name="Reveal 05 meaning"/>
          <p:cNvSpPr/>
          <p:nvPr/>
        </p:nvSpPr>
        <p:spPr>
          <a:xfrm>
            <a:off x="6720840" y="4024739"/>
            <a:ext cx="4922215" cy="326768"/>
          </a:xfrm>
          <a:prstGeom prst="rect">
            <a:avLst/>
          </a:prstGeom>
          <a:solidFill>
            <a:srgbClr val="F2F8F3"/>
          </a:solidFill>
          <a:ln/>
        </p:spPr>
        <p:txBody>
          <a:bodyPr wrap="square" lIns="109728" tIns="45720" rIns="109728" bIns="45720" rtlCol="0" anchor="ctr"/>
          <a:lstStyle/>
          <a:p>
            <a:pPr indent="0" marL="0">
              <a:buNone/>
            </a:pPr>
            <a:r>
              <a:rPr lang="en-US" sz="1400" dirty="0">
                <a:solidFill>
                  <a:srgbClr val="2B2B2B"/>
                </a:solidFill>
              </a:rPr>
              <a:t>The default gateway of every STAFF PC.</a:t>
            </a:r>
            <a:endParaRPr lang="en-US" sz="1400" dirty="0"/>
          </a:p>
        </p:txBody>
      </p:sp>
      <p:sp>
        <p:nvSpPr>
          <p:cNvPr id="18" name="Reveal 99 check box"/>
          <p:cNvSpPr/>
          <p:nvPr/>
        </p:nvSpPr>
        <p:spPr>
          <a:xfrm>
            <a:off x="548640" y="5504688"/>
            <a:ext cx="5410048" cy="749808"/>
          </a:xfrm>
          <a:prstGeom prst="roundRect">
            <a:avLst>
              <a:gd name="adj" fmla="val 9756"/>
            </a:avLst>
          </a:prstGeom>
          <a:solidFill>
            <a:srgbClr val="E8F1EA"/>
          </a:solidFill>
          <a:ln w="12700">
            <a:solidFill>
              <a:srgbClr val="B7C9BA"/>
            </a:solidFill>
            <a:prstDash val="solid"/>
          </a:ln>
        </p:spPr>
      </p:sp>
      <p:pic>
        <p:nvPicPr>
          <p:cNvPr id="19" name="Reveal 99 check icon" descr="Check it:">    </p:cNvPr>
          <p:cNvPicPr>
            <a:picLocks noChangeAspect="1"/>
          </p:cNvPicPr>
          <p:nvPr/>
        </p:nvPicPr>
        <p:blipFill>
          <a:blip r:embed="rId3"/>
          <a:stretch>
            <a:fillRect/>
          </a:stretch>
        </p:blipFill>
        <p:spPr>
          <a:xfrm>
            <a:off x="694944" y="5733288"/>
            <a:ext cx="292608" cy="292608"/>
          </a:xfrm>
          <a:prstGeom prst="rect">
            <a:avLst/>
          </a:prstGeom>
        </p:spPr>
      </p:pic>
      <p:sp>
        <p:nvSpPr>
          <p:cNvPr id="20" name="Reveal 99 check text"/>
          <p:cNvSpPr txBox="1"/>
          <p:nvPr/>
        </p:nvSpPr>
        <p:spPr>
          <a:xfrm>
            <a:off x="1097280" y="5541264"/>
            <a:ext cx="4751680" cy="676656"/>
          </a:xfrm>
          <a:prstGeom prst="rect">
            <a:avLst/>
          </a:prstGeom>
          <a:noFill/>
          <a:ln/>
        </p:spPr>
        <p:txBody>
          <a:bodyPr wrap="square" lIns="0" tIns="0" rIns="0" bIns="0" rtlCol="0" anchor="ctr"/>
          <a:lstStyle/>
          <a:p>
            <a:pPr indent="0" marL="0">
              <a:buNone/>
            </a:pPr>
            <a:r>
              <a:rPr lang="en-US" sz="1400" b="1" dirty="0">
                <a:solidFill>
                  <a:srgbClr val="1E5631"/>
                </a:solidFill>
              </a:rPr>
              <a:t>Check it:  </a:t>
            </a:r>
            <a:r>
              <a:rPr lang="en-US" sz="1300" b="1" dirty="0">
                <a:solidFill>
                  <a:srgbClr val="1E5631"/>
                </a:solidFill>
                <a:latin typeface="Courier New" pitchFamily="34" charset="0"/>
                <a:ea typeface="Courier New" pitchFamily="34" charset="-122"/>
                <a:cs typeface="Courier New" pitchFamily="34" charset="-120"/>
              </a:rPr>
              <a:t>show ip interface brief</a:t>
            </a:r>
            <a:r>
              <a:rPr lang="en-US" sz="1400" dirty="0">
                <a:solidFill>
                  <a:srgbClr val="2B2B2B"/>
                </a:solidFill>
              </a:rPr>
              <a:t> → G0/0/1 and G0/0/1.10 are both up up.</a:t>
            </a:r>
            <a:endParaRPr lang="en-US" sz="1400" dirty="0"/>
          </a:p>
        </p:txBody>
      </p:sp>
      <p:sp>
        <p:nvSpPr>
          <p:cNvPr id="21" name="Reveal 99 watch box"/>
          <p:cNvSpPr/>
          <p:nvPr/>
        </p:nvSpPr>
        <p:spPr>
          <a:xfrm>
            <a:off x="6233008" y="5504688"/>
            <a:ext cx="5410048" cy="749808"/>
          </a:xfrm>
          <a:prstGeom prst="roundRect">
            <a:avLst>
              <a:gd name="adj" fmla="val 9756"/>
            </a:avLst>
          </a:prstGeom>
          <a:solidFill>
            <a:srgbClr val="FBEAEA"/>
          </a:solidFill>
          <a:ln w="12700">
            <a:solidFill>
              <a:srgbClr val="E9B8B5"/>
            </a:solidFill>
            <a:prstDash val="solid"/>
          </a:ln>
        </p:spPr>
      </p:sp>
      <p:pic>
        <p:nvPicPr>
          <p:cNvPr id="22" name="Reveal 99 watch icon" descr="Watch out:">    </p:cNvPr>
          <p:cNvPicPr>
            <a:picLocks noChangeAspect="1"/>
          </p:cNvPicPr>
          <p:nvPr/>
        </p:nvPicPr>
        <p:blipFill>
          <a:blip r:embed="rId4"/>
          <a:stretch>
            <a:fillRect/>
          </a:stretch>
        </p:blipFill>
        <p:spPr>
          <a:xfrm>
            <a:off x="6379312" y="5733288"/>
            <a:ext cx="292608" cy="292608"/>
          </a:xfrm>
          <a:prstGeom prst="rect">
            <a:avLst/>
          </a:prstGeom>
        </p:spPr>
      </p:pic>
      <p:sp>
        <p:nvSpPr>
          <p:cNvPr id="23" name="Reveal 99 watch text"/>
          <p:cNvSpPr txBox="1"/>
          <p:nvPr/>
        </p:nvSpPr>
        <p:spPr>
          <a:xfrm>
            <a:off x="6781648" y="5541264"/>
            <a:ext cx="4751680" cy="676656"/>
          </a:xfrm>
          <a:prstGeom prst="rect">
            <a:avLst/>
          </a:prstGeom>
          <a:noFill/>
          <a:ln/>
        </p:spPr>
        <p:txBody>
          <a:bodyPr wrap="square" lIns="0" tIns="0" rIns="0" bIns="0" rtlCol="0" anchor="ctr"/>
          <a:lstStyle/>
          <a:p>
            <a:pPr indent="0" marL="0">
              <a:buNone/>
            </a:pPr>
            <a:r>
              <a:rPr lang="en-US" sz="1400" b="1" dirty="0">
                <a:solidFill>
                  <a:srgbClr val="8B1A1A"/>
                </a:solidFill>
              </a:rPr>
              <a:t>Watch out:  </a:t>
            </a:r>
            <a:r>
              <a:rPr lang="en-US" sz="1400" dirty="0">
                <a:solidFill>
                  <a:srgbClr val="2B2B2B"/>
                </a:solidFill>
              </a:rPr>
              <a:t>IOS refuses the IP address until </a:t>
            </a:r>
            <a:r>
              <a:rPr lang="en-US" sz="1300" b="1" dirty="0">
                <a:solidFill>
                  <a:srgbClr val="1E5631"/>
                </a:solidFill>
                <a:latin typeface="Courier New" pitchFamily="34" charset="0"/>
                <a:ea typeface="Courier New" pitchFamily="34" charset="-122"/>
                <a:cs typeface="Courier New" pitchFamily="34" charset="-120"/>
              </a:rPr>
              <a:t>encapsulation dot1Q</a:t>
            </a:r>
            <a:r>
              <a:rPr lang="en-US" sz="1400" dirty="0">
                <a:solidFill>
                  <a:srgbClr val="2B2B2B"/>
                </a:solidFill>
              </a:rPr>
              <a:t> is set — always type it first.</a:t>
            </a:r>
            <a:endParaRPr lang="en-US" sz="1400" dirty="0"/>
          </a:p>
        </p:txBody>
      </p:sp>
      <p:sp>
        <p:nvSpPr>
          <p:cNvPr id="25" name="Slide Number Placeholder 0"/>
          <p:cNvSpPr>
            <a:spLocks noGrp="1"/>
          </p:cNvSpPr>
          <p:nvPr>
            <p:ph type="sldNum" sz="quarter" idx="4294967295"/>
          </p:nvPr>
        </p:nvSpPr>
        <p:spPr>
          <a:xfrm>
            <a:off x="10698480" y="6464808"/>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r"/>
            <a:fld id="{F7021451-1387-4CA6-816F-3879F97B5CBC}" type="slidenum">
              <a:rPr b="0" lang="en-US"/>
              <a:t>37</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4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0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400"/>
                                        <p:tgtEl>
                                          <p:spTgt spid="1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400"/>
                                        <p:tgtEl>
                                          <p:spTgt spid="1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fade">
                                      <p:cBhvr>
                                        <p:cTn id="38" dur="400"/>
                                        <p:tgtEl>
                                          <p:spTgt spid="20"/>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fade">
                                      <p:cBhvr>
                                        <p:cTn id="41" dur="400"/>
                                        <p:tgtEl>
                                          <p:spTgt spid="21"/>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fade">
                                      <p:cBhvr>
                                        <p:cTn id="44" dur="400"/>
                                        <p:tgtEl>
                                          <p:spTgt spid="22"/>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3" grpId="0" animBg="1"/>
      <p:bldP spid="15" grpId="0" animBg="1"/>
      <p:bldP spid="17" grpId="0" animBg="1"/>
      <p:bldP spid="18" grpId="0" animBg="1"/>
      <p:bldP spid="20" grpId="0" animBg="1"/>
      <p:bldP spid="21" grpId="0" animBg="1"/>
      <p:bldP spid="23"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1"/>
          <p:cNvSpPr/>
          <p:nvPr>
            <p:ph idx="102" type="body" hasCustomPrompt="1"/>
          </p:nvPr>
        </p:nvSpPr>
        <p:spPr>
          <a:xfrm>
            <a:off x="548640" y="274320"/>
            <a:ext cx="9966960" cy="256032"/>
          </a:xfrm>
          <a:prstGeom prst="rect">
            <a:avLst/>
          </a:prstGeom>
          <a:noFill/>
          <a:ln/>
        </p:spPr>
        <p:txBody>
          <a:bodyPr wrap="square" lIns="0" tIns="0" rIns="0" bIns="0" rtlCol="0" anchor="ctr"/>
          <a:lstStyle/>
          <a:p>
            <a:pPr algn="l" indent="0" marL="0">
              <a:buNone/>
            </a:pPr>
            <a:r>
              <a:rPr lang="en-US" sz="1100" b="1" spc="100" kern="0" dirty="0">
                <a:solidFill>
                  <a:schemeClr val="accent2"/>
                </a:solidFill>
              </a:rPr>
              <a:t>05  •  INTER-VLAN ROUTING  •  LAB 2</a:t>
            </a:r>
            <a:endParaRPr lang="en-US" sz="1100" dirty="0"/>
          </a:p>
        </p:txBody>
      </p:sp>
      <p:sp>
        <p:nvSpPr>
          <p:cNvPr id="3" name="Text 1"/>
          <p:cNvSpPr/>
          <p:nvPr>
            <p:ph idx="103" type="title" hasCustomPrompt="1"/>
          </p:nvPr>
        </p:nvSpPr>
        <p:spPr>
          <a:xfrm>
            <a:off x="548640" y="548640"/>
            <a:ext cx="10149840" cy="548640"/>
          </a:xfrm>
          <a:prstGeom prst="rect">
            <a:avLst/>
          </a:prstGeom>
          <a:noFill/>
          <a:ln/>
        </p:spPr>
        <p:txBody>
          <a:bodyPr wrap="square" lIns="0" tIns="0" rIns="0" bIns="0" rtlCol="0" anchor="ctr"/>
          <a:lstStyle/>
          <a:p>
            <a:pPr algn="l" indent="0" marL="0">
              <a:buNone/>
            </a:pPr>
            <a:r>
              <a:rPr lang="en-US" sz="2600" b="1" dirty="0">
                <a:solidFill>
                  <a:schemeClr val="accent1"/>
                </a:solidFill>
              </a:rPr>
              <a:t>How to configure router-on-a-stick (2 of 2)</a:t>
            </a:r>
            <a:endParaRPr lang="en-US" sz="2600" dirty="0"/>
          </a:p>
        </p:txBody>
      </p:sp>
      <p:pic>
        <p:nvPicPr>
          <p:cNvPr id="4" name="Home button" descr="Home: back to the workbook menu">
            <a:hlinkClick r:id="rId2" tooltip="Back to the workbook menu" action="ppaction://hlinksldjump"/>
          </p:cNvPr>
          <p:cNvPicPr>
            <a:picLocks noChangeAspect="1"/>
          </p:cNvPicPr>
          <p:nvPr/>
        </p:nvPicPr>
        <p:blipFill>
          <a:blip r:embed="rId1"/>
          <a:stretch>
            <a:fillRect/>
          </a:stretch>
        </p:blipFill>
        <p:spPr>
          <a:xfrm>
            <a:off x="11365992" y="6336792"/>
            <a:ext cx="365760" cy="365760"/>
          </a:xfrm>
          <a:prstGeom prst="rect">
            <a:avLst/>
          </a:prstGeom>
        </p:spPr>
      </p:pic>
      <p:sp>
        <p:nvSpPr>
          <p:cNvPr id="5" name="Goal"/>
          <p:cNvSpPr txBox="1"/>
          <p:nvPr/>
        </p:nvSpPr>
        <p:spPr>
          <a:xfrm>
            <a:off x="548640" y="1161288"/>
            <a:ext cx="11094415" cy="384048"/>
          </a:xfrm>
          <a:prstGeom prst="rect">
            <a:avLst/>
          </a:prstGeom>
          <a:noFill/>
          <a:ln/>
        </p:spPr>
        <p:txBody>
          <a:bodyPr wrap="square" lIns="0" tIns="0" rIns="0" bIns="0" rtlCol="0" anchor="ctr"/>
          <a:lstStyle/>
          <a:p>
            <a:pPr indent="0" marL="0">
              <a:buNone/>
            </a:pPr>
            <a:r>
              <a:rPr lang="en-US" sz="1400" b="1" dirty="0">
                <a:solidFill>
                  <a:srgbClr val="2B7043"/>
                </a:solidFill>
              </a:rPr>
              <a:t>Goal:  </a:t>
            </a:r>
            <a:r>
              <a:rPr lang="en-US" sz="1400" dirty="0">
                <a:solidFill>
                  <a:srgbClr val="2B2B2B"/>
                </a:solidFill>
              </a:rPr>
              <a:t>Add a sub-interface for every other VLAN — including the native management VLAN — then test across VLANs.</a:t>
            </a:r>
            <a:endParaRPr lang="en-US" sz="1400" dirty="0"/>
          </a:p>
        </p:txBody>
      </p:sp>
      <p:sp>
        <p:nvSpPr>
          <p:cNvPr id="6" name="Command header"/>
          <p:cNvSpPr/>
          <p:nvPr/>
        </p:nvSpPr>
        <p:spPr>
          <a:xfrm>
            <a:off x="548640" y="1664208"/>
            <a:ext cx="6153912" cy="310896"/>
          </a:xfrm>
          <a:prstGeom prst="rect">
            <a:avLst/>
          </a:prstGeom>
          <a:solidFill>
            <a:srgbClr val="1B2B22"/>
          </a:solidFill>
          <a:ln/>
        </p:spPr>
        <p:txBody>
          <a:bodyPr wrap="square" lIns="109728" tIns="45720" rIns="109728" bIns="45720" rtlCol="0" anchor="ctr"/>
          <a:lstStyle/>
          <a:p>
            <a:pPr indent="0" marL="0">
              <a:buNone/>
            </a:pPr>
            <a:r>
              <a:rPr lang="en-US" sz="1100" dirty="0">
                <a:solidFill>
                  <a:srgbClr val="E0605A"/>
                </a:solidFill>
              </a:rPr>
              <a:t>●  </a:t>
            </a:r>
            <a:r>
              <a:rPr lang="en-US" sz="1100" dirty="0">
                <a:solidFill>
                  <a:srgbClr val="E8B92E"/>
                </a:solidFill>
              </a:rPr>
              <a:t>●  </a:t>
            </a:r>
            <a:r>
              <a:rPr lang="en-US" sz="1100" dirty="0">
                <a:solidFill>
                  <a:srgbClr val="4CAF50"/>
                </a:solidFill>
              </a:rPr>
              <a:t>●   </a:t>
            </a:r>
            <a:r>
              <a:rPr lang="en-US" sz="1100" b="1" dirty="0">
                <a:solidFill>
                  <a:srgbClr val="C9D6CC"/>
                </a:solidFill>
              </a:rPr>
              <a:t>R1  —  type the white text, then press Enter</a:t>
            </a:r>
            <a:endParaRPr lang="en-US" sz="1100" dirty="0"/>
          </a:p>
        </p:txBody>
      </p:sp>
      <p:sp>
        <p:nvSpPr>
          <p:cNvPr id="7" name="Meaning header"/>
          <p:cNvSpPr/>
          <p:nvPr/>
        </p:nvSpPr>
        <p:spPr>
          <a:xfrm>
            <a:off x="6720840" y="1664208"/>
            <a:ext cx="4922215" cy="310896"/>
          </a:xfrm>
          <a:prstGeom prst="rect">
            <a:avLst/>
          </a:prstGeom>
          <a:solidFill>
            <a:srgbClr val="E8F1EA"/>
          </a:solidFill>
          <a:ln/>
        </p:spPr>
        <p:txBody>
          <a:bodyPr wrap="square" lIns="109728" tIns="45720" rIns="109728" bIns="45720" rtlCol="0" anchor="ctr"/>
          <a:lstStyle/>
          <a:p>
            <a:pPr indent="0" marL="0">
              <a:buNone/>
            </a:pPr>
            <a:r>
              <a:rPr lang="en-US" sz="1200" b="1" dirty="0">
                <a:solidFill>
                  <a:srgbClr val="1E5631"/>
                </a:solidFill>
              </a:rPr>
              <a:t>What it does</a:t>
            </a:r>
            <a:endParaRPr lang="en-US" sz="1200" dirty="0"/>
          </a:p>
        </p:txBody>
      </p:sp>
      <p:sp>
        <p:nvSpPr>
          <p:cNvPr id="8" name="Command 01"/>
          <p:cNvSpPr/>
          <p:nvPr/>
        </p:nvSpPr>
        <p:spPr>
          <a:xfrm>
            <a:off x="548640" y="1993392"/>
            <a:ext cx="6153912" cy="627644"/>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R1(config-subif)# </a:t>
            </a:r>
            <a:r>
              <a:rPr lang="en-US" sz="1200" b="1" dirty="0">
                <a:solidFill>
                  <a:srgbClr val="FFFFFF"/>
                </a:solidFill>
                <a:latin typeface="Courier New" pitchFamily="34" charset="0"/>
                <a:ea typeface="Courier New" pitchFamily="34" charset="-122"/>
                <a:cs typeface="Courier New" pitchFamily="34" charset="-120"/>
              </a:rPr>
              <a:t>interface g0/0/1.20</a:t>
            </a:r>
            <a:endParaRPr lang="en-US" sz="1200" dirty="0"/>
          </a:p>
          <a:p>
            <a:pPr indent="0" marL="0">
              <a:buNone/>
            </a:pPr>
            <a:r>
              <a:rPr lang="en-US" sz="1200" dirty="0">
                <a:solidFill>
                  <a:srgbClr val="8FC9A0"/>
                </a:solidFill>
                <a:latin typeface="Courier New" pitchFamily="34" charset="0"/>
                <a:ea typeface="Courier New" pitchFamily="34" charset="-122"/>
                <a:cs typeface="Courier New" pitchFamily="34" charset="-120"/>
              </a:rPr>
              <a:t>R1(config-subif)# </a:t>
            </a:r>
            <a:r>
              <a:rPr lang="en-US" sz="1200" b="1" dirty="0">
                <a:solidFill>
                  <a:srgbClr val="FFFFFF"/>
                </a:solidFill>
                <a:latin typeface="Courier New" pitchFamily="34" charset="0"/>
                <a:ea typeface="Courier New" pitchFamily="34" charset="-122"/>
                <a:cs typeface="Courier New" pitchFamily="34" charset="-120"/>
              </a:rPr>
              <a:t>encapsulation dot1Q 20</a:t>
            </a:r>
            <a:endParaRPr lang="en-US" sz="1200" dirty="0"/>
          </a:p>
          <a:p>
            <a:pPr indent="0" marL="0">
              <a:buNone/>
            </a:pPr>
            <a:r>
              <a:rPr lang="en-US" sz="1200" dirty="0">
                <a:solidFill>
                  <a:srgbClr val="8FC9A0"/>
                </a:solidFill>
                <a:latin typeface="Courier New" pitchFamily="34" charset="0"/>
                <a:ea typeface="Courier New" pitchFamily="34" charset="-122"/>
                <a:cs typeface="Courier New" pitchFamily="34" charset="-120"/>
              </a:rPr>
              <a:t>R1(config-subif)# </a:t>
            </a:r>
            <a:r>
              <a:rPr lang="en-US" sz="1200" b="1" dirty="0">
                <a:solidFill>
                  <a:srgbClr val="FFFFFF"/>
                </a:solidFill>
                <a:latin typeface="Courier New" pitchFamily="34" charset="0"/>
                <a:ea typeface="Courier New" pitchFamily="34" charset="-122"/>
                <a:cs typeface="Courier New" pitchFamily="34" charset="-120"/>
              </a:rPr>
              <a:t>ip address 192.168.20.1 255.255.255.0</a:t>
            </a:r>
            <a:endParaRPr lang="en-US" sz="1200" dirty="0"/>
          </a:p>
        </p:txBody>
      </p:sp>
      <p:sp>
        <p:nvSpPr>
          <p:cNvPr id="9" name="Reveal 01 meaning"/>
          <p:cNvSpPr/>
          <p:nvPr/>
        </p:nvSpPr>
        <p:spPr>
          <a:xfrm>
            <a:off x="6720840" y="1993392"/>
            <a:ext cx="4922215" cy="627644"/>
          </a:xfrm>
          <a:prstGeom prst="rect">
            <a:avLst/>
          </a:prstGeom>
          <a:solidFill>
            <a:srgbClr val="F2F8F3"/>
          </a:solidFill>
          <a:ln/>
        </p:spPr>
        <p:txBody>
          <a:bodyPr wrap="square" lIns="109728" tIns="45720" rIns="109728" bIns="45720" rtlCol="0" anchor="ctr"/>
          <a:lstStyle/>
          <a:p>
            <a:pPr indent="0" marL="0">
              <a:buNone/>
            </a:pPr>
            <a:r>
              <a:rPr lang="en-US" sz="1400" dirty="0">
                <a:solidFill>
                  <a:srgbClr val="2B2B2B"/>
                </a:solidFill>
              </a:rPr>
              <a:t>The gateway of the STUDENTS VLAN.</a:t>
            </a:r>
            <a:endParaRPr lang="en-US" sz="1400" dirty="0"/>
          </a:p>
        </p:txBody>
      </p:sp>
      <p:sp>
        <p:nvSpPr>
          <p:cNvPr id="10" name="Command 02"/>
          <p:cNvSpPr/>
          <p:nvPr/>
        </p:nvSpPr>
        <p:spPr>
          <a:xfrm>
            <a:off x="548640" y="2639324"/>
            <a:ext cx="6153912" cy="627644"/>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R1(config-subif)# </a:t>
            </a:r>
            <a:r>
              <a:rPr lang="en-US" sz="1200" b="1" dirty="0">
                <a:solidFill>
                  <a:srgbClr val="FFFFFF"/>
                </a:solidFill>
                <a:latin typeface="Courier New" pitchFamily="34" charset="0"/>
                <a:ea typeface="Courier New" pitchFamily="34" charset="-122"/>
                <a:cs typeface="Courier New" pitchFamily="34" charset="-120"/>
              </a:rPr>
              <a:t>interface g0/0/1.30</a:t>
            </a:r>
            <a:endParaRPr lang="en-US" sz="1200" dirty="0"/>
          </a:p>
          <a:p>
            <a:pPr indent="0" marL="0">
              <a:buNone/>
            </a:pPr>
            <a:r>
              <a:rPr lang="en-US" sz="1200" dirty="0">
                <a:solidFill>
                  <a:srgbClr val="8FC9A0"/>
                </a:solidFill>
                <a:latin typeface="Courier New" pitchFamily="34" charset="0"/>
                <a:ea typeface="Courier New" pitchFamily="34" charset="-122"/>
                <a:cs typeface="Courier New" pitchFamily="34" charset="-120"/>
              </a:rPr>
              <a:t>R1(config-subif)# </a:t>
            </a:r>
            <a:r>
              <a:rPr lang="en-US" sz="1200" b="1" dirty="0">
                <a:solidFill>
                  <a:srgbClr val="FFFFFF"/>
                </a:solidFill>
                <a:latin typeface="Courier New" pitchFamily="34" charset="0"/>
                <a:ea typeface="Courier New" pitchFamily="34" charset="-122"/>
                <a:cs typeface="Courier New" pitchFamily="34" charset="-120"/>
              </a:rPr>
              <a:t>encapsulation dot1Q 30</a:t>
            </a:r>
            <a:endParaRPr lang="en-US" sz="1200" dirty="0"/>
          </a:p>
          <a:p>
            <a:pPr indent="0" marL="0">
              <a:buNone/>
            </a:pPr>
            <a:r>
              <a:rPr lang="en-US" sz="1200" dirty="0">
                <a:solidFill>
                  <a:srgbClr val="8FC9A0"/>
                </a:solidFill>
                <a:latin typeface="Courier New" pitchFamily="34" charset="0"/>
                <a:ea typeface="Courier New" pitchFamily="34" charset="-122"/>
                <a:cs typeface="Courier New" pitchFamily="34" charset="-120"/>
              </a:rPr>
              <a:t>R1(config-subif)# </a:t>
            </a:r>
            <a:r>
              <a:rPr lang="en-US" sz="1200" b="1" dirty="0">
                <a:solidFill>
                  <a:srgbClr val="FFFFFF"/>
                </a:solidFill>
                <a:latin typeface="Courier New" pitchFamily="34" charset="0"/>
                <a:ea typeface="Courier New" pitchFamily="34" charset="-122"/>
                <a:cs typeface="Courier New" pitchFamily="34" charset="-120"/>
              </a:rPr>
              <a:t>ip address 192.168.30.1 255.255.255.0</a:t>
            </a:r>
            <a:endParaRPr lang="en-US" sz="1200" dirty="0"/>
          </a:p>
        </p:txBody>
      </p:sp>
      <p:sp>
        <p:nvSpPr>
          <p:cNvPr id="11" name="Reveal 02 meaning"/>
          <p:cNvSpPr/>
          <p:nvPr/>
        </p:nvSpPr>
        <p:spPr>
          <a:xfrm>
            <a:off x="6720840" y="2639324"/>
            <a:ext cx="4922215" cy="627644"/>
          </a:xfrm>
          <a:prstGeom prst="rect">
            <a:avLst/>
          </a:prstGeom>
          <a:solidFill>
            <a:srgbClr val="FFFFFF"/>
          </a:solidFill>
          <a:ln/>
        </p:spPr>
        <p:txBody>
          <a:bodyPr wrap="square" lIns="109728" tIns="45720" rIns="109728" bIns="45720" rtlCol="0" anchor="ctr"/>
          <a:lstStyle/>
          <a:p>
            <a:pPr indent="0" marL="0">
              <a:buNone/>
            </a:pPr>
            <a:r>
              <a:rPr lang="en-US" sz="1400" dirty="0">
                <a:solidFill>
                  <a:srgbClr val="2B2B2B"/>
                </a:solidFill>
              </a:rPr>
              <a:t>The gateway of the FINANCE VLAN.</a:t>
            </a:r>
            <a:endParaRPr lang="en-US" sz="1400" dirty="0"/>
          </a:p>
        </p:txBody>
      </p:sp>
      <p:sp>
        <p:nvSpPr>
          <p:cNvPr id="12" name="Command 03"/>
          <p:cNvSpPr/>
          <p:nvPr/>
        </p:nvSpPr>
        <p:spPr>
          <a:xfrm>
            <a:off x="548640" y="3285256"/>
            <a:ext cx="6153912" cy="627644"/>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R1(config-subif)# </a:t>
            </a:r>
            <a:r>
              <a:rPr lang="en-US" sz="1200" b="1" dirty="0">
                <a:solidFill>
                  <a:srgbClr val="FFFFFF"/>
                </a:solidFill>
                <a:latin typeface="Courier New" pitchFamily="34" charset="0"/>
                <a:ea typeface="Courier New" pitchFamily="34" charset="-122"/>
                <a:cs typeface="Courier New" pitchFamily="34" charset="-120"/>
              </a:rPr>
              <a:t>interface g0/0/1.99</a:t>
            </a:r>
            <a:endParaRPr lang="en-US" sz="1200" dirty="0"/>
          </a:p>
          <a:p>
            <a:pPr indent="0" marL="0">
              <a:buNone/>
            </a:pPr>
            <a:r>
              <a:rPr lang="en-US" sz="1200" dirty="0">
                <a:solidFill>
                  <a:srgbClr val="8FC9A0"/>
                </a:solidFill>
                <a:latin typeface="Courier New" pitchFamily="34" charset="0"/>
                <a:ea typeface="Courier New" pitchFamily="34" charset="-122"/>
                <a:cs typeface="Courier New" pitchFamily="34" charset="-120"/>
              </a:rPr>
              <a:t>R1(config-subif)# </a:t>
            </a:r>
            <a:r>
              <a:rPr lang="en-US" sz="1200" b="1" dirty="0">
                <a:solidFill>
                  <a:srgbClr val="FFFFFF"/>
                </a:solidFill>
                <a:latin typeface="Courier New" pitchFamily="34" charset="0"/>
                <a:ea typeface="Courier New" pitchFamily="34" charset="-122"/>
                <a:cs typeface="Courier New" pitchFamily="34" charset="-120"/>
              </a:rPr>
              <a:t>encapsulation dot1Q 99 native</a:t>
            </a:r>
            <a:endParaRPr lang="en-US" sz="1200" dirty="0"/>
          </a:p>
          <a:p>
            <a:pPr indent="0" marL="0">
              <a:buNone/>
            </a:pPr>
            <a:r>
              <a:rPr lang="en-US" sz="1200" dirty="0">
                <a:solidFill>
                  <a:srgbClr val="8FC9A0"/>
                </a:solidFill>
                <a:latin typeface="Courier New" pitchFamily="34" charset="0"/>
                <a:ea typeface="Courier New" pitchFamily="34" charset="-122"/>
                <a:cs typeface="Courier New" pitchFamily="34" charset="-120"/>
              </a:rPr>
              <a:t>R1(config-subif)# </a:t>
            </a:r>
            <a:r>
              <a:rPr lang="en-US" sz="1200" b="1" dirty="0">
                <a:solidFill>
                  <a:srgbClr val="FFFFFF"/>
                </a:solidFill>
                <a:latin typeface="Courier New" pitchFamily="34" charset="0"/>
                <a:ea typeface="Courier New" pitchFamily="34" charset="-122"/>
                <a:cs typeface="Courier New" pitchFamily="34" charset="-120"/>
              </a:rPr>
              <a:t>ip address 192.168.99.1 255.255.255.0</a:t>
            </a:r>
            <a:endParaRPr lang="en-US" sz="1200" dirty="0"/>
          </a:p>
        </p:txBody>
      </p:sp>
      <p:sp>
        <p:nvSpPr>
          <p:cNvPr id="13" name="Reveal 03 meaning"/>
          <p:cNvSpPr/>
          <p:nvPr/>
        </p:nvSpPr>
        <p:spPr>
          <a:xfrm>
            <a:off x="6720840" y="3285256"/>
            <a:ext cx="4922215" cy="627644"/>
          </a:xfrm>
          <a:prstGeom prst="rect">
            <a:avLst/>
          </a:prstGeom>
          <a:solidFill>
            <a:srgbClr val="F2F8F3"/>
          </a:solidFill>
          <a:ln/>
        </p:spPr>
        <p:txBody>
          <a:bodyPr wrap="square" lIns="109728" tIns="45720" rIns="109728" bIns="45720" rtlCol="0" anchor="ctr"/>
          <a:lstStyle/>
          <a:p>
            <a:pPr indent="0" marL="0">
              <a:buNone/>
            </a:pPr>
            <a:r>
              <a:rPr lang="en-US" sz="1400" dirty="0">
                <a:solidFill>
                  <a:srgbClr val="2B2B2B"/>
                </a:solidFill>
              </a:rPr>
              <a:t>The MGMT gateway. </a:t>
            </a:r>
            <a:r>
              <a:rPr lang="en-US" sz="1300" b="1" dirty="0">
                <a:solidFill>
                  <a:srgbClr val="1E5631"/>
                </a:solidFill>
                <a:latin typeface="Courier New" pitchFamily="34" charset="0"/>
                <a:ea typeface="Courier New" pitchFamily="34" charset="-122"/>
                <a:cs typeface="Courier New" pitchFamily="34" charset="-120"/>
              </a:rPr>
              <a:t>native</a:t>
            </a:r>
            <a:r>
              <a:rPr lang="en-US" sz="1400" dirty="0">
                <a:solidFill>
                  <a:srgbClr val="2B2B2B"/>
                </a:solidFill>
              </a:rPr>
              <a:t> = untagged frames belong here; it must match the trunk’s native VLAN on S1.</a:t>
            </a:r>
            <a:endParaRPr lang="en-US" sz="1400" dirty="0"/>
          </a:p>
        </p:txBody>
      </p:sp>
      <p:sp>
        <p:nvSpPr>
          <p:cNvPr id="14" name="Command 04"/>
          <p:cNvSpPr/>
          <p:nvPr/>
        </p:nvSpPr>
        <p:spPr>
          <a:xfrm>
            <a:off x="548640" y="3931188"/>
            <a:ext cx="6153912" cy="455005"/>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R1(config-subif)# </a:t>
            </a:r>
            <a:r>
              <a:rPr lang="en-US" sz="1200" b="1" dirty="0">
                <a:solidFill>
                  <a:srgbClr val="FFFFFF"/>
                </a:solidFill>
                <a:latin typeface="Courier New" pitchFamily="34" charset="0"/>
                <a:ea typeface="Courier New" pitchFamily="34" charset="-122"/>
                <a:cs typeface="Courier New" pitchFamily="34" charset="-120"/>
              </a:rPr>
              <a:t>end</a:t>
            </a:r>
            <a:endParaRPr lang="en-US" sz="1200" dirty="0"/>
          </a:p>
          <a:p>
            <a:pPr indent="0" marL="0">
              <a:buNone/>
            </a:pPr>
            <a:r>
              <a:rPr lang="en-US" sz="1200" dirty="0">
                <a:solidFill>
                  <a:srgbClr val="8FC9A0"/>
                </a:solidFill>
                <a:latin typeface="Courier New" pitchFamily="34" charset="0"/>
                <a:ea typeface="Courier New" pitchFamily="34" charset="-122"/>
                <a:cs typeface="Courier New" pitchFamily="34" charset="-120"/>
              </a:rPr>
              <a:t>R1# </a:t>
            </a:r>
            <a:r>
              <a:rPr lang="en-US" sz="1200" b="1" dirty="0">
                <a:solidFill>
                  <a:srgbClr val="FFFFFF"/>
                </a:solidFill>
                <a:latin typeface="Courier New" pitchFamily="34" charset="0"/>
                <a:ea typeface="Courier New" pitchFamily="34" charset="-122"/>
                <a:cs typeface="Courier New" pitchFamily="34" charset="-120"/>
              </a:rPr>
              <a:t>copy running-config startup-config</a:t>
            </a:r>
            <a:endParaRPr lang="en-US" sz="1200" dirty="0"/>
          </a:p>
        </p:txBody>
      </p:sp>
      <p:sp>
        <p:nvSpPr>
          <p:cNvPr id="15" name="Reveal 04 meaning"/>
          <p:cNvSpPr/>
          <p:nvPr/>
        </p:nvSpPr>
        <p:spPr>
          <a:xfrm>
            <a:off x="6720840" y="3931188"/>
            <a:ext cx="4922215" cy="455005"/>
          </a:xfrm>
          <a:prstGeom prst="rect">
            <a:avLst/>
          </a:prstGeom>
          <a:solidFill>
            <a:srgbClr val="FFFFFF"/>
          </a:solidFill>
          <a:ln/>
        </p:spPr>
        <p:txBody>
          <a:bodyPr wrap="square" lIns="109728" tIns="45720" rIns="109728" bIns="45720" rtlCol="0" anchor="ctr"/>
          <a:lstStyle/>
          <a:p>
            <a:pPr indent="0" marL="0">
              <a:buNone/>
            </a:pPr>
            <a:r>
              <a:rPr lang="en-US" sz="1400" dirty="0">
                <a:solidFill>
                  <a:srgbClr val="2B2B2B"/>
                </a:solidFill>
              </a:rPr>
              <a:t>Finish and save.</a:t>
            </a:r>
            <a:endParaRPr lang="en-US" sz="1400" dirty="0"/>
          </a:p>
        </p:txBody>
      </p:sp>
      <p:sp>
        <p:nvSpPr>
          <p:cNvPr id="16" name="Reveal 99 check box"/>
          <p:cNvSpPr/>
          <p:nvPr/>
        </p:nvSpPr>
        <p:spPr>
          <a:xfrm>
            <a:off x="548640" y="5504688"/>
            <a:ext cx="5410048" cy="749808"/>
          </a:xfrm>
          <a:prstGeom prst="roundRect">
            <a:avLst>
              <a:gd name="adj" fmla="val 9756"/>
            </a:avLst>
          </a:prstGeom>
          <a:solidFill>
            <a:srgbClr val="E8F1EA"/>
          </a:solidFill>
          <a:ln w="12700">
            <a:solidFill>
              <a:srgbClr val="B7C9BA"/>
            </a:solidFill>
            <a:prstDash val="solid"/>
          </a:ln>
        </p:spPr>
      </p:sp>
      <p:pic>
        <p:nvPicPr>
          <p:cNvPr id="17" name="Reveal 99 check icon" descr="Check it:">    </p:cNvPr>
          <p:cNvPicPr>
            <a:picLocks noChangeAspect="1"/>
          </p:cNvPicPr>
          <p:nvPr/>
        </p:nvPicPr>
        <p:blipFill>
          <a:blip r:embed="rId3"/>
          <a:stretch>
            <a:fillRect/>
          </a:stretch>
        </p:blipFill>
        <p:spPr>
          <a:xfrm>
            <a:off x="694944" y="5733288"/>
            <a:ext cx="292608" cy="292608"/>
          </a:xfrm>
          <a:prstGeom prst="rect">
            <a:avLst/>
          </a:prstGeom>
        </p:spPr>
      </p:pic>
      <p:sp>
        <p:nvSpPr>
          <p:cNvPr id="18" name="Reveal 99 check text"/>
          <p:cNvSpPr txBox="1"/>
          <p:nvPr/>
        </p:nvSpPr>
        <p:spPr>
          <a:xfrm>
            <a:off x="1097280" y="5541264"/>
            <a:ext cx="4751680" cy="676656"/>
          </a:xfrm>
          <a:prstGeom prst="rect">
            <a:avLst/>
          </a:prstGeom>
          <a:noFill/>
          <a:ln/>
        </p:spPr>
        <p:txBody>
          <a:bodyPr wrap="square" lIns="0" tIns="0" rIns="0" bIns="0" rtlCol="0" anchor="ctr"/>
          <a:lstStyle/>
          <a:p>
            <a:pPr indent="0" marL="0">
              <a:buNone/>
            </a:pPr>
            <a:r>
              <a:rPr lang="en-US" sz="1400" b="1" dirty="0">
                <a:solidFill>
                  <a:srgbClr val="1E5631"/>
                </a:solidFill>
              </a:rPr>
              <a:t>Check it:  </a:t>
            </a:r>
            <a:r>
              <a:rPr lang="en-US" sz="1300" b="1" dirty="0">
                <a:solidFill>
                  <a:srgbClr val="1E5631"/>
                </a:solidFill>
                <a:latin typeface="Courier New" pitchFamily="34" charset="0"/>
                <a:ea typeface="Courier New" pitchFamily="34" charset="-122"/>
                <a:cs typeface="Courier New" pitchFamily="34" charset="-120"/>
              </a:rPr>
              <a:t>show ip route connected</a:t>
            </a:r>
            <a:r>
              <a:rPr lang="en-US" sz="1400" dirty="0">
                <a:solidFill>
                  <a:srgbClr val="2B2B2B"/>
                </a:solidFill>
              </a:rPr>
              <a:t> → four C routes (VLANs 10, 20, 30, 99). PC1 (VLAN 10) pings PC2 (VLAN 20).</a:t>
            </a:r>
            <a:endParaRPr lang="en-US" sz="1400" dirty="0"/>
          </a:p>
        </p:txBody>
      </p:sp>
      <p:sp>
        <p:nvSpPr>
          <p:cNvPr id="19" name="Reveal 99 watch box"/>
          <p:cNvSpPr/>
          <p:nvPr/>
        </p:nvSpPr>
        <p:spPr>
          <a:xfrm>
            <a:off x="6233008" y="5504688"/>
            <a:ext cx="5410048" cy="749808"/>
          </a:xfrm>
          <a:prstGeom prst="roundRect">
            <a:avLst>
              <a:gd name="adj" fmla="val 9756"/>
            </a:avLst>
          </a:prstGeom>
          <a:solidFill>
            <a:srgbClr val="FBEAEA"/>
          </a:solidFill>
          <a:ln w="12700">
            <a:solidFill>
              <a:srgbClr val="E9B8B5"/>
            </a:solidFill>
            <a:prstDash val="solid"/>
          </a:ln>
        </p:spPr>
      </p:sp>
      <p:pic>
        <p:nvPicPr>
          <p:cNvPr id="20" name="Reveal 99 watch icon" descr="Watch out:">    </p:cNvPr>
          <p:cNvPicPr>
            <a:picLocks noChangeAspect="1"/>
          </p:cNvPicPr>
          <p:nvPr/>
        </p:nvPicPr>
        <p:blipFill>
          <a:blip r:embed="rId4"/>
          <a:stretch>
            <a:fillRect/>
          </a:stretch>
        </p:blipFill>
        <p:spPr>
          <a:xfrm>
            <a:off x="6379312" y="5733288"/>
            <a:ext cx="292608" cy="292608"/>
          </a:xfrm>
          <a:prstGeom prst="rect">
            <a:avLst/>
          </a:prstGeom>
        </p:spPr>
      </p:pic>
      <p:sp>
        <p:nvSpPr>
          <p:cNvPr id="21" name="Reveal 99 watch text"/>
          <p:cNvSpPr txBox="1"/>
          <p:nvPr/>
        </p:nvSpPr>
        <p:spPr>
          <a:xfrm>
            <a:off x="6781648" y="5541264"/>
            <a:ext cx="4751680" cy="676656"/>
          </a:xfrm>
          <a:prstGeom prst="rect">
            <a:avLst/>
          </a:prstGeom>
          <a:noFill/>
          <a:ln/>
        </p:spPr>
        <p:txBody>
          <a:bodyPr wrap="square" lIns="0" tIns="0" rIns="0" bIns="0" rtlCol="0" anchor="ctr"/>
          <a:lstStyle/>
          <a:p>
            <a:pPr indent="0" marL="0">
              <a:buNone/>
            </a:pPr>
            <a:r>
              <a:rPr lang="en-US" sz="1400" b="1" dirty="0">
                <a:solidFill>
                  <a:srgbClr val="8B1A1A"/>
                </a:solidFill>
              </a:rPr>
              <a:t>Watch out:  </a:t>
            </a:r>
            <a:r>
              <a:rPr lang="en-US" sz="1400" dirty="0">
                <a:solidFill>
                  <a:srgbClr val="2B2B2B"/>
                </a:solidFill>
              </a:rPr>
              <a:t>S1’s port to R1 (G0/2) must be a trunk, and each PC’s gateway must be the .1 of its own VLAN.</a:t>
            </a:r>
            <a:endParaRPr lang="en-US" sz="1400" dirty="0"/>
          </a:p>
        </p:txBody>
      </p:sp>
      <p:sp>
        <p:nvSpPr>
          <p:cNvPr id="25" name="Slide Number Placeholder 0"/>
          <p:cNvSpPr>
            <a:spLocks noGrp="1"/>
          </p:cNvSpPr>
          <p:nvPr>
            <p:ph type="sldNum" sz="quarter" idx="4294967295"/>
          </p:nvPr>
        </p:nvSpPr>
        <p:spPr>
          <a:xfrm>
            <a:off x="10698480" y="6464808"/>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r"/>
            <a:fld id="{F7021451-1387-4CA6-816F-3879F97B5CBC}" type="slidenum">
              <a:rPr b="0" lang="en-US"/>
              <a:t>38</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4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400"/>
                                        <p:tgtEl>
                                          <p:spTgt spid="16"/>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fade">
                                      <p:cBhvr>
                                        <p:cTn id="30" dur="400"/>
                                        <p:tgtEl>
                                          <p:spTgt spid="17"/>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fade">
                                      <p:cBhvr>
                                        <p:cTn id="33" dur="400"/>
                                        <p:tgtEl>
                                          <p:spTgt spid="18"/>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6" dur="400"/>
                                        <p:tgtEl>
                                          <p:spTgt spid="19"/>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fade">
                                      <p:cBhvr>
                                        <p:cTn id="39" dur="400"/>
                                        <p:tgtEl>
                                          <p:spTgt spid="20"/>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fade">
                                      <p:cBhvr>
                                        <p:cTn id="42"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3" grpId="0" animBg="1"/>
      <p:bldP spid="15" grpId="0" animBg="1"/>
      <p:bldP spid="16" grpId="0" animBg="1"/>
      <p:bldP spid="18" grpId="0" animBg="1"/>
      <p:bldP spid="19" grpId="0" animBg="1"/>
      <p:bldP spid="21"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1"/>
          <p:cNvSpPr/>
          <p:nvPr>
            <p:ph idx="102" type="body" hasCustomPrompt="1"/>
          </p:nvPr>
        </p:nvSpPr>
        <p:spPr>
          <a:xfrm>
            <a:off x="548640" y="274320"/>
            <a:ext cx="9966960" cy="256032"/>
          </a:xfrm>
          <a:prstGeom prst="rect">
            <a:avLst/>
          </a:prstGeom>
          <a:noFill/>
          <a:ln/>
        </p:spPr>
        <p:txBody>
          <a:bodyPr wrap="square" lIns="0" tIns="0" rIns="0" bIns="0" rtlCol="0" anchor="ctr"/>
          <a:lstStyle/>
          <a:p>
            <a:pPr algn="l" indent="0" marL="0">
              <a:buNone/>
            </a:pPr>
            <a:r>
              <a:rPr lang="en-US" sz="1100" b="1" spc="100" kern="0" dirty="0">
                <a:solidFill>
                  <a:schemeClr val="accent2"/>
                </a:solidFill>
              </a:rPr>
              <a:t>05  •  INTER-VLAN ROUTING  •  LAB 2</a:t>
            </a:r>
            <a:endParaRPr lang="en-US" sz="1100" dirty="0"/>
          </a:p>
        </p:txBody>
      </p:sp>
      <p:sp>
        <p:nvSpPr>
          <p:cNvPr id="3" name="Text 1"/>
          <p:cNvSpPr/>
          <p:nvPr>
            <p:ph idx="103" type="title" hasCustomPrompt="1"/>
          </p:nvPr>
        </p:nvSpPr>
        <p:spPr>
          <a:xfrm>
            <a:off x="548640" y="548640"/>
            <a:ext cx="10149840" cy="548640"/>
          </a:xfrm>
          <a:prstGeom prst="rect">
            <a:avLst/>
          </a:prstGeom>
          <a:noFill/>
          <a:ln/>
        </p:spPr>
        <p:txBody>
          <a:bodyPr wrap="square" lIns="0" tIns="0" rIns="0" bIns="0" rtlCol="0" anchor="ctr"/>
          <a:lstStyle/>
          <a:p>
            <a:pPr algn="l" indent="0" marL="0">
              <a:buNone/>
            </a:pPr>
            <a:r>
              <a:rPr lang="en-US" sz="2600" b="1" dirty="0">
                <a:solidFill>
                  <a:schemeClr val="accent1"/>
                </a:solidFill>
              </a:rPr>
              <a:t>How to follow a packet from VLAN 10 to VLAN 20</a:t>
            </a:r>
            <a:endParaRPr lang="en-US" sz="2600" dirty="0"/>
          </a:p>
        </p:txBody>
      </p:sp>
      <p:pic>
        <p:nvPicPr>
          <p:cNvPr id="4" name="Home button" descr="Home: back to the workbook menu">
            <a:hlinkClick r:id="rId2" tooltip="Back to the workbook menu" action="ppaction://hlinksldjump"/>
          </p:cNvPr>
          <p:cNvPicPr>
            <a:picLocks noChangeAspect="1"/>
          </p:cNvPicPr>
          <p:nvPr/>
        </p:nvPicPr>
        <p:blipFill>
          <a:blip r:embed="rId1"/>
          <a:stretch>
            <a:fillRect/>
          </a:stretch>
        </p:blipFill>
        <p:spPr>
          <a:xfrm>
            <a:off x="11365992" y="6336792"/>
            <a:ext cx="365760" cy="365760"/>
          </a:xfrm>
          <a:prstGeom prst="rect">
            <a:avLst/>
          </a:prstGeom>
        </p:spPr>
      </p:pic>
      <p:sp>
        <p:nvSpPr>
          <p:cNvPr id="5" name="Goal"/>
          <p:cNvSpPr txBox="1"/>
          <p:nvPr/>
        </p:nvSpPr>
        <p:spPr>
          <a:xfrm>
            <a:off x="548640" y="1161288"/>
            <a:ext cx="11094415" cy="384048"/>
          </a:xfrm>
          <a:prstGeom prst="rect">
            <a:avLst/>
          </a:prstGeom>
          <a:noFill/>
          <a:ln/>
        </p:spPr>
        <p:txBody>
          <a:bodyPr wrap="square" lIns="0" tIns="0" rIns="0" bIns="0" rtlCol="0" anchor="ctr"/>
          <a:lstStyle/>
          <a:p>
            <a:pPr indent="0" marL="0">
              <a:buNone/>
            </a:pPr>
            <a:r>
              <a:rPr lang="en-US" sz="1400" b="1" dirty="0">
                <a:solidFill>
                  <a:srgbClr val="2B7043"/>
                </a:solidFill>
              </a:rPr>
              <a:t>Goal:  </a:t>
            </a:r>
            <a:r>
              <a:rPr lang="en-US" sz="1400" dirty="0">
                <a:solidFill>
                  <a:srgbClr val="2B2B2B"/>
                </a:solidFill>
              </a:rPr>
              <a:t>Understand what router-on-a-stick really does: the packet goes up the trunk and comes back down it.</a:t>
            </a:r>
            <a:endParaRPr lang="en-US" sz="1400" dirty="0"/>
          </a:p>
        </p:txBody>
      </p:sp>
      <p:sp>
        <p:nvSpPr>
          <p:cNvPr id="6" name="Shape 3"/>
          <p:cNvSpPr/>
          <p:nvPr/>
        </p:nvSpPr>
        <p:spPr>
          <a:xfrm flipV="1">
            <a:off x="1645920" y="3538728"/>
            <a:ext cx="1261872" cy="804672"/>
          </a:xfrm>
          <a:prstGeom prst="line">
            <a:avLst/>
          </a:prstGeom>
          <a:noFill/>
          <a:ln w="38100">
            <a:solidFill>
              <a:srgbClr val="2F855A"/>
            </a:solidFill>
            <a:prstDash val="solid"/>
            <a:tailEnd type="triangle"/>
          </a:ln>
        </p:spPr>
      </p:sp>
      <p:sp>
        <p:nvSpPr>
          <p:cNvPr id="7" name="Shape 4"/>
          <p:cNvSpPr/>
          <p:nvPr/>
        </p:nvSpPr>
        <p:spPr>
          <a:xfrm flipV="1">
            <a:off x="3154680" y="2304288"/>
            <a:ext cx="914" cy="850392"/>
          </a:xfrm>
          <a:prstGeom prst="line">
            <a:avLst/>
          </a:prstGeom>
          <a:noFill/>
          <a:ln w="38100">
            <a:solidFill>
              <a:srgbClr val="2F855A"/>
            </a:solidFill>
            <a:prstDash val="solid"/>
            <a:tailEnd type="triangle"/>
          </a:ln>
        </p:spPr>
      </p:sp>
      <p:sp>
        <p:nvSpPr>
          <p:cNvPr id="8" name="Shape 5"/>
          <p:cNvSpPr/>
          <p:nvPr/>
        </p:nvSpPr>
        <p:spPr>
          <a:xfrm>
            <a:off x="3429000" y="2304288"/>
            <a:ext cx="914" cy="850392"/>
          </a:xfrm>
          <a:prstGeom prst="line">
            <a:avLst/>
          </a:prstGeom>
          <a:noFill/>
          <a:ln w="38100">
            <a:solidFill>
              <a:srgbClr val="2B6CB0"/>
            </a:solidFill>
            <a:prstDash val="solid"/>
            <a:tailEnd type="triangle"/>
          </a:ln>
        </p:spPr>
      </p:sp>
      <p:sp>
        <p:nvSpPr>
          <p:cNvPr id="9" name="Shape 6"/>
          <p:cNvSpPr/>
          <p:nvPr/>
        </p:nvSpPr>
        <p:spPr>
          <a:xfrm>
            <a:off x="3675888" y="3538728"/>
            <a:ext cx="1261872" cy="804672"/>
          </a:xfrm>
          <a:prstGeom prst="line">
            <a:avLst/>
          </a:prstGeom>
          <a:noFill/>
          <a:ln w="38100">
            <a:solidFill>
              <a:srgbClr val="2B6CB0"/>
            </a:solidFill>
            <a:prstDash val="solid"/>
            <a:tailEnd type="triangle"/>
          </a:ln>
        </p:spPr>
      </p:sp>
      <p:pic>
        <p:nvPicPr>
          <p:cNvPr id="10" name="Image 1" descr="R1">    </p:cNvPr>
          <p:cNvPicPr>
            <a:picLocks noChangeAspect="1"/>
          </p:cNvPicPr>
          <p:nvPr/>
        </p:nvPicPr>
        <p:blipFill>
          <a:blip r:embed="rId3"/>
          <a:stretch>
            <a:fillRect/>
          </a:stretch>
        </p:blipFill>
        <p:spPr>
          <a:xfrm>
            <a:off x="2999232" y="1719072"/>
            <a:ext cx="585216" cy="585216"/>
          </a:xfrm>
          <a:prstGeom prst="rect">
            <a:avLst/>
          </a:prstGeom>
        </p:spPr>
      </p:pic>
      <p:sp>
        <p:nvSpPr>
          <p:cNvPr id="11" name="Text 7"/>
          <p:cNvSpPr txBox="1"/>
          <p:nvPr/>
        </p:nvSpPr>
        <p:spPr>
          <a:xfrm>
            <a:off x="3630168" y="1783080"/>
            <a:ext cx="1737360" cy="457200"/>
          </a:xfrm>
          <a:prstGeom prst="rect">
            <a:avLst/>
          </a:prstGeom>
          <a:noFill/>
          <a:ln/>
        </p:spPr>
        <p:txBody>
          <a:bodyPr wrap="square" lIns="0" tIns="0" rIns="0" bIns="0" rtlCol="0" anchor="t"/>
          <a:lstStyle/>
          <a:p>
            <a:pPr algn="l" indent="0" marL="0">
              <a:buNone/>
            </a:pPr>
            <a:r>
              <a:rPr lang="en-US" sz="1200" b="1" dirty="0">
                <a:solidFill>
                  <a:srgbClr val="2B2B2B"/>
                </a:solidFill>
              </a:rPr>
              <a:t>R1</a:t>
            </a:r>
            <a:endParaRPr lang="en-US" sz="1200" dirty="0"/>
          </a:p>
          <a:p>
            <a:pPr algn="l" indent="0" marL="0">
              <a:buNone/>
            </a:pPr>
            <a:r>
              <a:rPr lang="en-US" sz="1000" dirty="0">
                <a:solidFill>
                  <a:srgbClr val="6B6B6B"/>
                </a:solidFill>
              </a:rPr>
              <a:t>G0/0/1.10 and .20</a:t>
            </a:r>
            <a:endParaRPr lang="en-US" sz="1200" dirty="0"/>
          </a:p>
        </p:txBody>
      </p:sp>
      <p:pic>
        <p:nvPicPr>
          <p:cNvPr id="12" name="Image 2" descr="S1">    </p:cNvPr>
          <p:cNvPicPr>
            <a:picLocks noChangeAspect="1"/>
          </p:cNvPicPr>
          <p:nvPr/>
        </p:nvPicPr>
        <p:blipFill>
          <a:blip r:embed="rId4"/>
          <a:stretch>
            <a:fillRect/>
          </a:stretch>
        </p:blipFill>
        <p:spPr>
          <a:xfrm>
            <a:off x="2953512" y="3090672"/>
            <a:ext cx="676656" cy="676656"/>
          </a:xfrm>
          <a:prstGeom prst="rect">
            <a:avLst/>
          </a:prstGeom>
        </p:spPr>
      </p:pic>
      <p:sp>
        <p:nvSpPr>
          <p:cNvPr id="13" name="Text 8"/>
          <p:cNvSpPr txBox="1"/>
          <p:nvPr/>
        </p:nvSpPr>
        <p:spPr>
          <a:xfrm>
            <a:off x="3675888" y="3291840"/>
            <a:ext cx="548640" cy="274320"/>
          </a:xfrm>
          <a:prstGeom prst="rect">
            <a:avLst/>
          </a:prstGeom>
          <a:noFill/>
          <a:ln/>
        </p:spPr>
        <p:txBody>
          <a:bodyPr wrap="square" lIns="0" tIns="0" rIns="0" bIns="0" rtlCol="0" anchor="t"/>
          <a:lstStyle/>
          <a:p>
            <a:pPr algn="l" indent="0" marL="0">
              <a:buNone/>
            </a:pPr>
            <a:r>
              <a:rPr lang="en-US" sz="1200" b="1" dirty="0">
                <a:solidFill>
                  <a:srgbClr val="2B2B2B"/>
                </a:solidFill>
              </a:rPr>
              <a:t>S1</a:t>
            </a:r>
            <a:endParaRPr lang="en-US" sz="1200" dirty="0"/>
          </a:p>
        </p:txBody>
      </p:sp>
      <p:pic>
        <p:nvPicPr>
          <p:cNvPr id="14" name="Image 3" descr="PC1 — VLAN 10">    </p:cNvPr>
          <p:cNvPicPr>
            <a:picLocks noChangeAspect="1"/>
          </p:cNvPicPr>
          <p:nvPr/>
        </p:nvPicPr>
        <p:blipFill>
          <a:blip r:embed="rId5"/>
          <a:stretch>
            <a:fillRect/>
          </a:stretch>
        </p:blipFill>
        <p:spPr>
          <a:xfrm>
            <a:off x="1088136" y="4288536"/>
            <a:ext cx="566928" cy="566928"/>
          </a:xfrm>
          <a:prstGeom prst="rect">
            <a:avLst/>
          </a:prstGeom>
        </p:spPr>
      </p:pic>
      <p:sp>
        <p:nvSpPr>
          <p:cNvPr id="15" name="Text 9"/>
          <p:cNvSpPr txBox="1"/>
          <p:nvPr/>
        </p:nvSpPr>
        <p:spPr>
          <a:xfrm>
            <a:off x="548640" y="4837176"/>
            <a:ext cx="1645920" cy="457200"/>
          </a:xfrm>
          <a:prstGeom prst="rect">
            <a:avLst/>
          </a:prstGeom>
          <a:noFill/>
          <a:ln/>
        </p:spPr>
        <p:txBody>
          <a:bodyPr wrap="square" lIns="0" tIns="0" rIns="0" bIns="0" rtlCol="0" anchor="t"/>
          <a:lstStyle/>
          <a:p>
            <a:pPr algn="ctr" indent="0" marL="0">
              <a:buNone/>
            </a:pPr>
            <a:r>
              <a:rPr lang="en-US" sz="1200" b="1" dirty="0">
                <a:solidFill>
                  <a:srgbClr val="2B2B2B"/>
                </a:solidFill>
              </a:rPr>
              <a:t>PC1 — VLAN 10</a:t>
            </a:r>
            <a:endParaRPr lang="en-US" sz="1200" dirty="0"/>
          </a:p>
          <a:p>
            <a:pPr algn="ctr" indent="0" marL="0">
              <a:buNone/>
            </a:pPr>
            <a:r>
              <a:rPr lang="en-US" sz="1000" dirty="0">
                <a:solidFill>
                  <a:srgbClr val="6B6B6B"/>
                </a:solidFill>
              </a:rPr>
              <a:t>192.168.10.11</a:t>
            </a:r>
            <a:endParaRPr lang="en-US" sz="1200" dirty="0"/>
          </a:p>
        </p:txBody>
      </p:sp>
      <p:pic>
        <p:nvPicPr>
          <p:cNvPr id="16" name="Image 4" descr="PC2 — VLAN 20">    </p:cNvPr>
          <p:cNvPicPr>
            <a:picLocks noChangeAspect="1"/>
          </p:cNvPicPr>
          <p:nvPr/>
        </p:nvPicPr>
        <p:blipFill>
          <a:blip r:embed="rId6"/>
          <a:stretch>
            <a:fillRect/>
          </a:stretch>
        </p:blipFill>
        <p:spPr>
          <a:xfrm>
            <a:off x="4928616" y="4288536"/>
            <a:ext cx="566928" cy="566928"/>
          </a:xfrm>
          <a:prstGeom prst="rect">
            <a:avLst/>
          </a:prstGeom>
        </p:spPr>
      </p:pic>
      <p:sp>
        <p:nvSpPr>
          <p:cNvPr id="17" name="Text 10"/>
          <p:cNvSpPr txBox="1"/>
          <p:nvPr/>
        </p:nvSpPr>
        <p:spPr>
          <a:xfrm>
            <a:off x="4389120" y="4837176"/>
            <a:ext cx="1645920" cy="457200"/>
          </a:xfrm>
          <a:prstGeom prst="rect">
            <a:avLst/>
          </a:prstGeom>
          <a:noFill/>
          <a:ln/>
        </p:spPr>
        <p:txBody>
          <a:bodyPr wrap="square" lIns="0" tIns="0" rIns="0" bIns="0" rtlCol="0" anchor="t"/>
          <a:lstStyle/>
          <a:p>
            <a:pPr algn="ctr" indent="0" marL="0">
              <a:buNone/>
            </a:pPr>
            <a:r>
              <a:rPr lang="en-US" sz="1200" b="1" dirty="0">
                <a:solidFill>
                  <a:srgbClr val="2B2B2B"/>
                </a:solidFill>
              </a:rPr>
              <a:t>PC2 — VLAN 20</a:t>
            </a:r>
            <a:endParaRPr lang="en-US" sz="1200" dirty="0"/>
          </a:p>
          <a:p>
            <a:pPr algn="ctr" indent="0" marL="0">
              <a:buNone/>
            </a:pPr>
            <a:r>
              <a:rPr lang="en-US" sz="1000" dirty="0">
                <a:solidFill>
                  <a:srgbClr val="6B6B6B"/>
                </a:solidFill>
              </a:rPr>
              <a:t>192.168.20.11</a:t>
            </a:r>
            <a:endParaRPr lang="en-US" sz="1200" dirty="0"/>
          </a:p>
        </p:txBody>
      </p:sp>
      <p:sp>
        <p:nvSpPr>
          <p:cNvPr id="18" name="Text 11"/>
          <p:cNvSpPr txBox="1"/>
          <p:nvPr/>
        </p:nvSpPr>
        <p:spPr>
          <a:xfrm>
            <a:off x="2423160" y="2606040"/>
            <a:ext cx="640080" cy="237744"/>
          </a:xfrm>
          <a:prstGeom prst="rect">
            <a:avLst/>
          </a:prstGeom>
          <a:noFill/>
          <a:ln/>
        </p:spPr>
        <p:txBody>
          <a:bodyPr wrap="square" lIns="254" tIns="254" rIns="254" bIns="254" rtlCol="0" anchor="ctr"/>
          <a:lstStyle/>
          <a:p>
            <a:pPr algn="ctr" indent="0" marL="0">
              <a:buNone/>
            </a:pPr>
            <a:r>
              <a:rPr lang="en-US" sz="1000" b="1" dirty="0">
                <a:solidFill>
                  <a:srgbClr val="2F855A"/>
                </a:solidFill>
              </a:rPr>
              <a:t>tag 10</a:t>
            </a:r>
            <a:endParaRPr lang="en-US" sz="1000" dirty="0"/>
          </a:p>
        </p:txBody>
      </p:sp>
      <p:sp>
        <p:nvSpPr>
          <p:cNvPr id="19" name="Text 12"/>
          <p:cNvSpPr txBox="1"/>
          <p:nvPr/>
        </p:nvSpPr>
        <p:spPr>
          <a:xfrm>
            <a:off x="3520440" y="2606040"/>
            <a:ext cx="640080" cy="237744"/>
          </a:xfrm>
          <a:prstGeom prst="rect">
            <a:avLst/>
          </a:prstGeom>
          <a:noFill/>
          <a:ln/>
        </p:spPr>
        <p:txBody>
          <a:bodyPr wrap="square" lIns="254" tIns="254" rIns="254" bIns="254" rtlCol="0" anchor="ctr"/>
          <a:lstStyle/>
          <a:p>
            <a:pPr algn="ctr" indent="0" marL="0">
              <a:buNone/>
            </a:pPr>
            <a:r>
              <a:rPr lang="en-US" sz="1000" b="1" dirty="0">
                <a:solidFill>
                  <a:srgbClr val="2B6CB0"/>
                </a:solidFill>
              </a:rPr>
              <a:t>tag 20</a:t>
            </a:r>
            <a:endParaRPr lang="en-US" sz="1000" dirty="0"/>
          </a:p>
        </p:txBody>
      </p:sp>
      <p:sp>
        <p:nvSpPr>
          <p:cNvPr id="20" name="Shape 13"/>
          <p:cNvSpPr/>
          <p:nvPr/>
        </p:nvSpPr>
        <p:spPr>
          <a:xfrm>
            <a:off x="2011680" y="3749040"/>
            <a:ext cx="310896" cy="310896"/>
          </a:xfrm>
          <a:prstGeom prst="ellipse">
            <a:avLst/>
          </a:prstGeom>
          <a:solidFill>
            <a:srgbClr val="E8B92E"/>
          </a:solidFill>
          <a:ln/>
        </p:spPr>
      </p:sp>
      <p:sp>
        <p:nvSpPr>
          <p:cNvPr id="21" name="Text 14"/>
          <p:cNvSpPr txBox="1"/>
          <p:nvPr/>
        </p:nvSpPr>
        <p:spPr>
          <a:xfrm>
            <a:off x="2011680" y="3749040"/>
            <a:ext cx="310896" cy="310896"/>
          </a:xfrm>
          <a:prstGeom prst="rect">
            <a:avLst/>
          </a:prstGeom>
          <a:noFill/>
          <a:ln/>
        </p:spPr>
        <p:txBody>
          <a:bodyPr wrap="square" lIns="0" tIns="0" rIns="0" bIns="0" rtlCol="0" anchor="ctr"/>
          <a:lstStyle/>
          <a:p>
            <a:pPr algn="ctr" indent="0" marL="0">
              <a:buNone/>
            </a:pPr>
            <a:r>
              <a:rPr lang="en-US" sz="1300" b="1" dirty="0">
                <a:solidFill>
                  <a:srgbClr val="1B2B22"/>
                </a:solidFill>
              </a:rPr>
              <a:t>1</a:t>
            </a:r>
            <a:endParaRPr lang="en-US" sz="1300" dirty="0"/>
          </a:p>
        </p:txBody>
      </p:sp>
      <p:sp>
        <p:nvSpPr>
          <p:cNvPr id="22" name="Shape 15"/>
          <p:cNvSpPr/>
          <p:nvPr/>
        </p:nvSpPr>
        <p:spPr>
          <a:xfrm>
            <a:off x="2697480" y="2286000"/>
            <a:ext cx="310896" cy="310896"/>
          </a:xfrm>
          <a:prstGeom prst="ellipse">
            <a:avLst/>
          </a:prstGeom>
          <a:solidFill>
            <a:srgbClr val="E8B92E"/>
          </a:solidFill>
          <a:ln/>
        </p:spPr>
      </p:sp>
      <p:sp>
        <p:nvSpPr>
          <p:cNvPr id="23" name="Text 16"/>
          <p:cNvSpPr txBox="1"/>
          <p:nvPr/>
        </p:nvSpPr>
        <p:spPr>
          <a:xfrm>
            <a:off x="2697480" y="2286000"/>
            <a:ext cx="310896" cy="310896"/>
          </a:xfrm>
          <a:prstGeom prst="rect">
            <a:avLst/>
          </a:prstGeom>
          <a:noFill/>
          <a:ln/>
        </p:spPr>
        <p:txBody>
          <a:bodyPr wrap="square" lIns="0" tIns="0" rIns="0" bIns="0" rtlCol="0" anchor="ctr"/>
          <a:lstStyle/>
          <a:p>
            <a:pPr algn="ctr" indent="0" marL="0">
              <a:buNone/>
            </a:pPr>
            <a:r>
              <a:rPr lang="en-US" sz="1300" b="1" dirty="0">
                <a:solidFill>
                  <a:srgbClr val="1B2B22"/>
                </a:solidFill>
              </a:rPr>
              <a:t>2</a:t>
            </a:r>
            <a:endParaRPr lang="en-US" sz="1300" dirty="0"/>
          </a:p>
        </p:txBody>
      </p:sp>
      <p:sp>
        <p:nvSpPr>
          <p:cNvPr id="24" name="Shape 17"/>
          <p:cNvSpPr/>
          <p:nvPr/>
        </p:nvSpPr>
        <p:spPr>
          <a:xfrm>
            <a:off x="2377440" y="1856232"/>
            <a:ext cx="310896" cy="310896"/>
          </a:xfrm>
          <a:prstGeom prst="ellipse">
            <a:avLst/>
          </a:prstGeom>
          <a:solidFill>
            <a:srgbClr val="E8B92E"/>
          </a:solidFill>
          <a:ln/>
        </p:spPr>
      </p:sp>
      <p:sp>
        <p:nvSpPr>
          <p:cNvPr id="25" name="Text 18"/>
          <p:cNvSpPr txBox="1"/>
          <p:nvPr/>
        </p:nvSpPr>
        <p:spPr>
          <a:xfrm>
            <a:off x="2377440" y="1856232"/>
            <a:ext cx="310896" cy="310896"/>
          </a:xfrm>
          <a:prstGeom prst="rect">
            <a:avLst/>
          </a:prstGeom>
          <a:noFill/>
          <a:ln/>
        </p:spPr>
        <p:txBody>
          <a:bodyPr wrap="square" lIns="0" tIns="0" rIns="0" bIns="0" rtlCol="0" anchor="ctr"/>
          <a:lstStyle/>
          <a:p>
            <a:pPr algn="ctr" indent="0" marL="0">
              <a:buNone/>
            </a:pPr>
            <a:r>
              <a:rPr lang="en-US" sz="1300" b="1" dirty="0">
                <a:solidFill>
                  <a:srgbClr val="1B2B22"/>
                </a:solidFill>
              </a:rPr>
              <a:t>3</a:t>
            </a:r>
            <a:endParaRPr lang="en-US" sz="1300" dirty="0"/>
          </a:p>
        </p:txBody>
      </p:sp>
      <p:sp>
        <p:nvSpPr>
          <p:cNvPr id="26" name="Shape 19"/>
          <p:cNvSpPr/>
          <p:nvPr/>
        </p:nvSpPr>
        <p:spPr>
          <a:xfrm>
            <a:off x="3657600" y="2926080"/>
            <a:ext cx="310896" cy="310896"/>
          </a:xfrm>
          <a:prstGeom prst="ellipse">
            <a:avLst/>
          </a:prstGeom>
          <a:solidFill>
            <a:srgbClr val="E8B92E"/>
          </a:solidFill>
          <a:ln/>
        </p:spPr>
      </p:sp>
      <p:sp>
        <p:nvSpPr>
          <p:cNvPr id="27" name="Text 20"/>
          <p:cNvSpPr txBox="1"/>
          <p:nvPr/>
        </p:nvSpPr>
        <p:spPr>
          <a:xfrm>
            <a:off x="3657600" y="2926080"/>
            <a:ext cx="310896" cy="310896"/>
          </a:xfrm>
          <a:prstGeom prst="rect">
            <a:avLst/>
          </a:prstGeom>
          <a:noFill/>
          <a:ln/>
        </p:spPr>
        <p:txBody>
          <a:bodyPr wrap="square" lIns="0" tIns="0" rIns="0" bIns="0" rtlCol="0" anchor="ctr"/>
          <a:lstStyle/>
          <a:p>
            <a:pPr algn="ctr" indent="0" marL="0">
              <a:buNone/>
            </a:pPr>
            <a:r>
              <a:rPr lang="en-US" sz="1300" b="1" dirty="0">
                <a:solidFill>
                  <a:srgbClr val="1B2B22"/>
                </a:solidFill>
              </a:rPr>
              <a:t>4</a:t>
            </a:r>
            <a:endParaRPr lang="en-US" sz="1300" dirty="0"/>
          </a:p>
        </p:txBody>
      </p:sp>
      <p:sp>
        <p:nvSpPr>
          <p:cNvPr id="28" name="Shape 21"/>
          <p:cNvSpPr/>
          <p:nvPr/>
        </p:nvSpPr>
        <p:spPr>
          <a:xfrm>
            <a:off x="4434840" y="3749040"/>
            <a:ext cx="310896" cy="310896"/>
          </a:xfrm>
          <a:prstGeom prst="ellipse">
            <a:avLst/>
          </a:prstGeom>
          <a:solidFill>
            <a:srgbClr val="E8B92E"/>
          </a:solidFill>
          <a:ln/>
        </p:spPr>
      </p:sp>
      <p:sp>
        <p:nvSpPr>
          <p:cNvPr id="29" name="Text 22"/>
          <p:cNvSpPr txBox="1"/>
          <p:nvPr/>
        </p:nvSpPr>
        <p:spPr>
          <a:xfrm>
            <a:off x="4434840" y="3749040"/>
            <a:ext cx="310896" cy="310896"/>
          </a:xfrm>
          <a:prstGeom prst="rect">
            <a:avLst/>
          </a:prstGeom>
          <a:noFill/>
          <a:ln/>
        </p:spPr>
        <p:txBody>
          <a:bodyPr wrap="square" lIns="0" tIns="0" rIns="0" bIns="0" rtlCol="0" anchor="ctr"/>
          <a:lstStyle/>
          <a:p>
            <a:pPr algn="ctr" indent="0" marL="0">
              <a:buNone/>
            </a:pPr>
            <a:r>
              <a:rPr lang="en-US" sz="1300" b="1" dirty="0">
                <a:solidFill>
                  <a:srgbClr val="1B2B22"/>
                </a:solidFill>
              </a:rPr>
              <a:t>5</a:t>
            </a:r>
            <a:endParaRPr lang="en-US" sz="1300" dirty="0"/>
          </a:p>
        </p:txBody>
      </p:sp>
      <p:sp>
        <p:nvSpPr>
          <p:cNvPr id="30" name="Shape 23"/>
          <p:cNvSpPr/>
          <p:nvPr/>
        </p:nvSpPr>
        <p:spPr>
          <a:xfrm>
            <a:off x="6400800" y="1755648"/>
            <a:ext cx="329184" cy="329184"/>
          </a:xfrm>
          <a:prstGeom prst="ellipse">
            <a:avLst/>
          </a:prstGeom>
          <a:solidFill>
            <a:srgbClr val="E8B92E"/>
          </a:solidFill>
          <a:ln/>
        </p:spPr>
      </p:sp>
      <p:sp>
        <p:nvSpPr>
          <p:cNvPr id="31" name="Text 24"/>
          <p:cNvSpPr txBox="1"/>
          <p:nvPr/>
        </p:nvSpPr>
        <p:spPr>
          <a:xfrm>
            <a:off x="6400800" y="1755648"/>
            <a:ext cx="329184" cy="329184"/>
          </a:xfrm>
          <a:prstGeom prst="rect">
            <a:avLst/>
          </a:prstGeom>
          <a:noFill/>
          <a:ln/>
        </p:spPr>
        <p:txBody>
          <a:bodyPr wrap="square" lIns="0" tIns="0" rIns="0" bIns="0" rtlCol="0" anchor="ctr"/>
          <a:lstStyle/>
          <a:p>
            <a:pPr algn="ctr" indent="0" marL="0">
              <a:buNone/>
            </a:pPr>
            <a:r>
              <a:rPr lang="en-US" sz="1300" b="1" dirty="0">
                <a:solidFill>
                  <a:srgbClr val="1B2B22"/>
                </a:solidFill>
              </a:rPr>
              <a:t>1</a:t>
            </a:r>
            <a:endParaRPr lang="en-US" sz="1300" dirty="0"/>
          </a:p>
        </p:txBody>
      </p:sp>
      <p:sp>
        <p:nvSpPr>
          <p:cNvPr id="32" name="Text 25"/>
          <p:cNvSpPr txBox="1"/>
          <p:nvPr/>
        </p:nvSpPr>
        <p:spPr>
          <a:xfrm>
            <a:off x="6876288" y="1737360"/>
            <a:ext cx="4764024" cy="488696"/>
          </a:xfrm>
          <a:prstGeom prst="rect">
            <a:avLst/>
          </a:prstGeom>
          <a:noFill/>
          <a:ln/>
        </p:spPr>
        <p:txBody>
          <a:bodyPr wrap="square" lIns="0" tIns="0" rIns="0" bIns="0" rtlCol="0" anchor="t"/>
          <a:lstStyle/>
          <a:p>
            <a:pPr indent="0" marL="0">
              <a:buNone/>
            </a:pPr>
            <a:r>
              <a:rPr lang="en-US" sz="1400" dirty="0">
                <a:solidFill>
                  <a:srgbClr val="2B2B2B"/>
                </a:solidFill>
              </a:rPr>
              <a:t>PC1 sends to 192.168.20.11 — another subnet — so it sends to its gateway, 192.168.10.1.</a:t>
            </a:r>
            <a:endParaRPr lang="en-US" sz="1400" dirty="0"/>
          </a:p>
        </p:txBody>
      </p:sp>
      <p:sp>
        <p:nvSpPr>
          <p:cNvPr id="33" name="Shape 26"/>
          <p:cNvSpPr/>
          <p:nvPr/>
        </p:nvSpPr>
        <p:spPr>
          <a:xfrm>
            <a:off x="6400800" y="2372360"/>
            <a:ext cx="329184" cy="329184"/>
          </a:xfrm>
          <a:prstGeom prst="ellipse">
            <a:avLst/>
          </a:prstGeom>
          <a:solidFill>
            <a:srgbClr val="E8B92E"/>
          </a:solidFill>
          <a:ln/>
        </p:spPr>
      </p:sp>
      <p:sp>
        <p:nvSpPr>
          <p:cNvPr id="34" name="Text 27"/>
          <p:cNvSpPr txBox="1"/>
          <p:nvPr/>
        </p:nvSpPr>
        <p:spPr>
          <a:xfrm>
            <a:off x="6400800" y="2372360"/>
            <a:ext cx="329184" cy="329184"/>
          </a:xfrm>
          <a:prstGeom prst="rect">
            <a:avLst/>
          </a:prstGeom>
          <a:noFill/>
          <a:ln/>
        </p:spPr>
        <p:txBody>
          <a:bodyPr wrap="square" lIns="0" tIns="0" rIns="0" bIns="0" rtlCol="0" anchor="ctr"/>
          <a:lstStyle/>
          <a:p>
            <a:pPr algn="ctr" indent="0" marL="0">
              <a:buNone/>
            </a:pPr>
            <a:r>
              <a:rPr lang="en-US" sz="1300" b="1" dirty="0">
                <a:solidFill>
                  <a:srgbClr val="1B2B22"/>
                </a:solidFill>
              </a:rPr>
              <a:t>2</a:t>
            </a:r>
            <a:endParaRPr lang="en-US" sz="1300" dirty="0"/>
          </a:p>
        </p:txBody>
      </p:sp>
      <p:sp>
        <p:nvSpPr>
          <p:cNvPr id="35" name="Text 28"/>
          <p:cNvSpPr txBox="1"/>
          <p:nvPr/>
        </p:nvSpPr>
        <p:spPr>
          <a:xfrm>
            <a:off x="6876288" y="2354072"/>
            <a:ext cx="4764024" cy="488696"/>
          </a:xfrm>
          <a:prstGeom prst="rect">
            <a:avLst/>
          </a:prstGeom>
          <a:noFill/>
          <a:ln/>
        </p:spPr>
        <p:txBody>
          <a:bodyPr wrap="square" lIns="0" tIns="0" rIns="0" bIns="0" rtlCol="0" anchor="t"/>
          <a:lstStyle/>
          <a:p>
            <a:pPr indent="0" marL="0">
              <a:buNone/>
            </a:pPr>
            <a:r>
              <a:rPr lang="en-US" sz="1400" dirty="0">
                <a:solidFill>
                  <a:srgbClr val="2B2B2B"/>
                </a:solidFill>
              </a:rPr>
              <a:t>S1 receives it on Fa0/1 (VLAN 10) and sends it up the trunk tagged </a:t>
            </a:r>
            <a:r>
              <a:rPr lang="en-US" sz="1400" b="1" dirty="0">
                <a:solidFill>
                  <a:srgbClr val="2B2B2B"/>
                </a:solidFill>
              </a:rPr>
              <a:t>10</a:t>
            </a:r>
            <a:r>
              <a:rPr lang="en-US" sz="1400" dirty="0">
                <a:solidFill>
                  <a:srgbClr val="2B2B2B"/>
                </a:solidFill>
              </a:rPr>
              <a:t>.</a:t>
            </a:r>
            <a:endParaRPr lang="en-US" sz="1400" dirty="0"/>
          </a:p>
        </p:txBody>
      </p:sp>
      <p:sp>
        <p:nvSpPr>
          <p:cNvPr id="36" name="Shape 29"/>
          <p:cNvSpPr/>
          <p:nvPr/>
        </p:nvSpPr>
        <p:spPr>
          <a:xfrm>
            <a:off x="6400800" y="2989072"/>
            <a:ext cx="329184" cy="329184"/>
          </a:xfrm>
          <a:prstGeom prst="ellipse">
            <a:avLst/>
          </a:prstGeom>
          <a:solidFill>
            <a:srgbClr val="E8B92E"/>
          </a:solidFill>
          <a:ln/>
        </p:spPr>
      </p:sp>
      <p:sp>
        <p:nvSpPr>
          <p:cNvPr id="37" name="Text 30"/>
          <p:cNvSpPr txBox="1"/>
          <p:nvPr/>
        </p:nvSpPr>
        <p:spPr>
          <a:xfrm>
            <a:off x="6400800" y="2989072"/>
            <a:ext cx="329184" cy="329184"/>
          </a:xfrm>
          <a:prstGeom prst="rect">
            <a:avLst/>
          </a:prstGeom>
          <a:noFill/>
          <a:ln/>
        </p:spPr>
        <p:txBody>
          <a:bodyPr wrap="square" lIns="0" tIns="0" rIns="0" bIns="0" rtlCol="0" anchor="ctr"/>
          <a:lstStyle/>
          <a:p>
            <a:pPr algn="ctr" indent="0" marL="0">
              <a:buNone/>
            </a:pPr>
            <a:r>
              <a:rPr lang="en-US" sz="1300" b="1" dirty="0">
                <a:solidFill>
                  <a:srgbClr val="1B2B22"/>
                </a:solidFill>
              </a:rPr>
              <a:t>3</a:t>
            </a:r>
            <a:endParaRPr lang="en-US" sz="1300" dirty="0"/>
          </a:p>
        </p:txBody>
      </p:sp>
      <p:sp>
        <p:nvSpPr>
          <p:cNvPr id="38" name="Text 31"/>
          <p:cNvSpPr txBox="1"/>
          <p:nvPr/>
        </p:nvSpPr>
        <p:spPr>
          <a:xfrm>
            <a:off x="6876288" y="2970784"/>
            <a:ext cx="4764024" cy="488696"/>
          </a:xfrm>
          <a:prstGeom prst="rect">
            <a:avLst/>
          </a:prstGeom>
          <a:noFill/>
          <a:ln/>
        </p:spPr>
        <p:txBody>
          <a:bodyPr wrap="square" lIns="0" tIns="0" rIns="0" bIns="0" rtlCol="0" anchor="t"/>
          <a:lstStyle/>
          <a:p>
            <a:pPr indent="0" marL="0">
              <a:buNone/>
            </a:pPr>
            <a:r>
              <a:rPr lang="en-US" sz="1400" dirty="0">
                <a:solidFill>
                  <a:srgbClr val="2B2B2B"/>
                </a:solidFill>
              </a:rPr>
              <a:t>R1’s sub-interface G0/0/1.10 accepts tag 10, looks up 192.168.20.0 and finds it on G0/0/1.20.</a:t>
            </a:r>
            <a:endParaRPr lang="en-US" sz="1400" dirty="0"/>
          </a:p>
        </p:txBody>
      </p:sp>
      <p:sp>
        <p:nvSpPr>
          <p:cNvPr id="39" name="Shape 32"/>
          <p:cNvSpPr/>
          <p:nvPr/>
        </p:nvSpPr>
        <p:spPr>
          <a:xfrm>
            <a:off x="6400800" y="3605784"/>
            <a:ext cx="329184" cy="329184"/>
          </a:xfrm>
          <a:prstGeom prst="ellipse">
            <a:avLst/>
          </a:prstGeom>
          <a:solidFill>
            <a:srgbClr val="E8B92E"/>
          </a:solidFill>
          <a:ln/>
        </p:spPr>
      </p:sp>
      <p:sp>
        <p:nvSpPr>
          <p:cNvPr id="40" name="Text 33"/>
          <p:cNvSpPr txBox="1"/>
          <p:nvPr/>
        </p:nvSpPr>
        <p:spPr>
          <a:xfrm>
            <a:off x="6400800" y="3605784"/>
            <a:ext cx="329184" cy="329184"/>
          </a:xfrm>
          <a:prstGeom prst="rect">
            <a:avLst/>
          </a:prstGeom>
          <a:noFill/>
          <a:ln/>
        </p:spPr>
        <p:txBody>
          <a:bodyPr wrap="square" lIns="0" tIns="0" rIns="0" bIns="0" rtlCol="0" anchor="ctr"/>
          <a:lstStyle/>
          <a:p>
            <a:pPr algn="ctr" indent="0" marL="0">
              <a:buNone/>
            </a:pPr>
            <a:r>
              <a:rPr lang="en-US" sz="1300" b="1" dirty="0">
                <a:solidFill>
                  <a:srgbClr val="1B2B22"/>
                </a:solidFill>
              </a:rPr>
              <a:t>4</a:t>
            </a:r>
            <a:endParaRPr lang="en-US" sz="1300" dirty="0"/>
          </a:p>
        </p:txBody>
      </p:sp>
      <p:sp>
        <p:nvSpPr>
          <p:cNvPr id="41" name="Text 34"/>
          <p:cNvSpPr txBox="1"/>
          <p:nvPr/>
        </p:nvSpPr>
        <p:spPr>
          <a:xfrm>
            <a:off x="6876288" y="3587496"/>
            <a:ext cx="4764024" cy="488696"/>
          </a:xfrm>
          <a:prstGeom prst="rect">
            <a:avLst/>
          </a:prstGeom>
          <a:noFill/>
          <a:ln/>
        </p:spPr>
        <p:txBody>
          <a:bodyPr wrap="square" lIns="0" tIns="0" rIns="0" bIns="0" rtlCol="0" anchor="t"/>
          <a:lstStyle/>
          <a:p>
            <a:pPr indent="0" marL="0">
              <a:buNone/>
            </a:pPr>
            <a:r>
              <a:rPr lang="en-US" sz="1400" dirty="0">
                <a:solidFill>
                  <a:srgbClr val="2B2B2B"/>
                </a:solidFill>
              </a:rPr>
              <a:t>R1 sends the packet back down the same cable, tagged </a:t>
            </a:r>
            <a:r>
              <a:rPr lang="en-US" sz="1400" b="1" dirty="0">
                <a:solidFill>
                  <a:srgbClr val="2B2B2B"/>
                </a:solidFill>
              </a:rPr>
              <a:t>20</a:t>
            </a:r>
            <a:r>
              <a:rPr lang="en-US" sz="1400" dirty="0">
                <a:solidFill>
                  <a:srgbClr val="2B2B2B"/>
                </a:solidFill>
              </a:rPr>
              <a:t>.</a:t>
            </a:r>
            <a:endParaRPr lang="en-US" sz="1400" dirty="0"/>
          </a:p>
        </p:txBody>
      </p:sp>
      <p:sp>
        <p:nvSpPr>
          <p:cNvPr id="42" name="Shape 35"/>
          <p:cNvSpPr/>
          <p:nvPr/>
        </p:nvSpPr>
        <p:spPr>
          <a:xfrm>
            <a:off x="6400800" y="4222496"/>
            <a:ext cx="329184" cy="329184"/>
          </a:xfrm>
          <a:prstGeom prst="ellipse">
            <a:avLst/>
          </a:prstGeom>
          <a:solidFill>
            <a:srgbClr val="E8B92E"/>
          </a:solidFill>
          <a:ln/>
        </p:spPr>
      </p:sp>
      <p:sp>
        <p:nvSpPr>
          <p:cNvPr id="43" name="Text 36"/>
          <p:cNvSpPr txBox="1"/>
          <p:nvPr/>
        </p:nvSpPr>
        <p:spPr>
          <a:xfrm>
            <a:off x="6400800" y="4222496"/>
            <a:ext cx="329184" cy="329184"/>
          </a:xfrm>
          <a:prstGeom prst="rect">
            <a:avLst/>
          </a:prstGeom>
          <a:noFill/>
          <a:ln/>
        </p:spPr>
        <p:txBody>
          <a:bodyPr wrap="square" lIns="0" tIns="0" rIns="0" bIns="0" rtlCol="0" anchor="ctr"/>
          <a:lstStyle/>
          <a:p>
            <a:pPr algn="ctr" indent="0" marL="0">
              <a:buNone/>
            </a:pPr>
            <a:r>
              <a:rPr lang="en-US" sz="1300" b="1" dirty="0">
                <a:solidFill>
                  <a:srgbClr val="1B2B22"/>
                </a:solidFill>
              </a:rPr>
              <a:t>5</a:t>
            </a:r>
            <a:endParaRPr lang="en-US" sz="1300" dirty="0"/>
          </a:p>
        </p:txBody>
      </p:sp>
      <p:sp>
        <p:nvSpPr>
          <p:cNvPr id="44" name="Text 37"/>
          <p:cNvSpPr txBox="1"/>
          <p:nvPr/>
        </p:nvSpPr>
        <p:spPr>
          <a:xfrm>
            <a:off x="6876288" y="4204208"/>
            <a:ext cx="4764024" cy="488696"/>
          </a:xfrm>
          <a:prstGeom prst="rect">
            <a:avLst/>
          </a:prstGeom>
          <a:noFill/>
          <a:ln/>
        </p:spPr>
        <p:txBody>
          <a:bodyPr wrap="square" lIns="0" tIns="0" rIns="0" bIns="0" rtlCol="0" anchor="t"/>
          <a:lstStyle/>
          <a:p>
            <a:pPr indent="0" marL="0">
              <a:buNone/>
            </a:pPr>
            <a:r>
              <a:rPr lang="en-US" sz="1400" dirty="0">
                <a:solidFill>
                  <a:srgbClr val="2B2B2B"/>
                </a:solidFill>
              </a:rPr>
              <a:t>S1 removes the tag and delivers it out Fa0/11 (VLAN 20) to PC2.</a:t>
            </a:r>
            <a:endParaRPr lang="en-US" sz="1400" dirty="0"/>
          </a:p>
        </p:txBody>
      </p:sp>
      <p:sp>
        <p:nvSpPr>
          <p:cNvPr id="45" name="tip box"/>
          <p:cNvSpPr/>
          <p:nvPr/>
        </p:nvSpPr>
        <p:spPr>
          <a:xfrm>
            <a:off x="548640" y="5504688"/>
            <a:ext cx="11094415" cy="749808"/>
          </a:xfrm>
          <a:prstGeom prst="roundRect">
            <a:avLst>
              <a:gd name="adj" fmla="val 9756"/>
            </a:avLst>
          </a:prstGeom>
          <a:solidFill>
            <a:srgbClr val="E6EEF8"/>
          </a:solidFill>
          <a:ln w="12700">
            <a:solidFill>
              <a:srgbClr val="B8C9E0"/>
            </a:solidFill>
            <a:prstDash val="solid"/>
          </a:ln>
        </p:spPr>
      </p:sp>
      <p:pic>
        <p:nvPicPr>
          <p:cNvPr id="46" name="tip icon" descr="Tip:">    </p:cNvPr>
          <p:cNvPicPr>
            <a:picLocks noChangeAspect="1"/>
          </p:cNvPicPr>
          <p:nvPr/>
        </p:nvPicPr>
        <p:blipFill>
          <a:blip r:embed="rId7"/>
          <a:stretch>
            <a:fillRect/>
          </a:stretch>
        </p:blipFill>
        <p:spPr>
          <a:xfrm>
            <a:off x="694944" y="5733288"/>
            <a:ext cx="292608" cy="292608"/>
          </a:xfrm>
          <a:prstGeom prst="rect">
            <a:avLst/>
          </a:prstGeom>
        </p:spPr>
      </p:pic>
      <p:sp>
        <p:nvSpPr>
          <p:cNvPr id="47" name="tip text"/>
          <p:cNvSpPr txBox="1"/>
          <p:nvPr/>
        </p:nvSpPr>
        <p:spPr>
          <a:xfrm>
            <a:off x="1097280" y="5541264"/>
            <a:ext cx="10436047" cy="676656"/>
          </a:xfrm>
          <a:prstGeom prst="rect">
            <a:avLst/>
          </a:prstGeom>
          <a:noFill/>
          <a:ln/>
        </p:spPr>
        <p:txBody>
          <a:bodyPr wrap="square" lIns="0" tIns="0" rIns="0" bIns="0" rtlCol="0" anchor="ctr"/>
          <a:lstStyle/>
          <a:p>
            <a:pPr indent="0" marL="0">
              <a:buNone/>
            </a:pPr>
            <a:r>
              <a:rPr lang="en-US" sz="1400" b="1" dirty="0">
                <a:solidFill>
                  <a:srgbClr val="1F4E8C"/>
                </a:solidFill>
              </a:rPr>
              <a:t>Tip:  </a:t>
            </a:r>
            <a:r>
              <a:rPr lang="en-US" sz="1400" dirty="0">
                <a:solidFill>
                  <a:srgbClr val="2B2B2B"/>
                </a:solidFill>
              </a:rPr>
              <a:t>See it yourself: Simulation mode, filter ICMP, ping PC1 → PC2, and open the envelope on the trunk to see the 802.1Q tag.</a:t>
            </a:r>
            <a:endParaRPr lang="en-US" sz="1400" dirty="0"/>
          </a:p>
        </p:txBody>
      </p:sp>
      <p:sp>
        <p:nvSpPr>
          <p:cNvPr id="48" name="Slide Number Placeholder 0"/>
          <p:cNvSpPr>
            <a:spLocks noGrp="1"/>
          </p:cNvSpPr>
          <p:nvPr>
            <p:ph type="sldNum" sz="quarter" idx="4294967295"/>
          </p:nvPr>
        </p:nvSpPr>
        <p:spPr>
          <a:xfrm>
            <a:off x="10698480" y="6464808"/>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1"/>
          <p:cNvSpPr/>
          <p:nvPr>
            <p:ph idx="102" type="body" hasCustomPrompt="1"/>
          </p:nvPr>
        </p:nvSpPr>
        <p:spPr>
          <a:xfrm>
            <a:off x="548640" y="274320"/>
            <a:ext cx="9966960" cy="256032"/>
          </a:xfrm>
          <a:prstGeom prst="rect">
            <a:avLst/>
          </a:prstGeom>
          <a:noFill/>
          <a:ln/>
        </p:spPr>
        <p:txBody>
          <a:bodyPr wrap="square" lIns="0" tIns="0" rIns="0" bIns="0" rtlCol="0" anchor="ctr"/>
          <a:lstStyle/>
          <a:p>
            <a:pPr algn="l" indent="0" marL="0">
              <a:buNone/>
            </a:pPr>
            <a:r>
              <a:rPr lang="en-US" sz="1100" b="1" spc="100" kern="0" dirty="0">
                <a:solidFill>
                  <a:schemeClr val="accent2"/>
                </a:solidFill>
              </a:rPr>
              <a:t>05  •  INTER-VLAN ROUTING</a:t>
            </a:r>
            <a:endParaRPr lang="en-US" sz="1100" dirty="0"/>
          </a:p>
        </p:txBody>
      </p:sp>
      <p:sp>
        <p:nvSpPr>
          <p:cNvPr id="3" name="Text 1"/>
          <p:cNvSpPr/>
          <p:nvPr>
            <p:ph idx="103" type="title" hasCustomPrompt="1"/>
          </p:nvPr>
        </p:nvSpPr>
        <p:spPr>
          <a:xfrm>
            <a:off x="548640" y="548640"/>
            <a:ext cx="10149840" cy="548640"/>
          </a:xfrm>
          <a:prstGeom prst="rect">
            <a:avLst/>
          </a:prstGeom>
          <a:noFill/>
          <a:ln/>
        </p:spPr>
        <p:txBody>
          <a:bodyPr wrap="square" lIns="0" tIns="0" rIns="0" bIns="0" rtlCol="0" anchor="ctr"/>
          <a:lstStyle/>
          <a:p>
            <a:pPr algn="l" indent="0" marL="0">
              <a:buNone/>
            </a:pPr>
            <a:r>
              <a:rPr lang="en-US" sz="2600" b="1" dirty="0">
                <a:solidFill>
                  <a:schemeClr val="accent1"/>
                </a:solidFill>
              </a:rPr>
              <a:t>How to route between VLANs on a Layer 3 switch</a:t>
            </a:r>
            <a:endParaRPr lang="en-US" sz="2600" dirty="0"/>
          </a:p>
        </p:txBody>
      </p:sp>
      <p:pic>
        <p:nvPicPr>
          <p:cNvPr id="4" name="Home button" descr="Home: back to the workbook menu">
            <a:hlinkClick r:id="rId2" tooltip="Back to the workbook menu" action="ppaction://hlinksldjump"/>
          </p:cNvPr>
          <p:cNvPicPr>
            <a:picLocks noChangeAspect="1"/>
          </p:cNvPicPr>
          <p:nvPr/>
        </p:nvPicPr>
        <p:blipFill>
          <a:blip r:embed="rId1"/>
          <a:stretch>
            <a:fillRect/>
          </a:stretch>
        </p:blipFill>
        <p:spPr>
          <a:xfrm>
            <a:off x="11365992" y="6336792"/>
            <a:ext cx="365760" cy="365760"/>
          </a:xfrm>
          <a:prstGeom prst="rect">
            <a:avLst/>
          </a:prstGeom>
        </p:spPr>
      </p:pic>
      <p:sp>
        <p:nvSpPr>
          <p:cNvPr id="5" name="Goal"/>
          <p:cNvSpPr txBox="1"/>
          <p:nvPr/>
        </p:nvSpPr>
        <p:spPr>
          <a:xfrm>
            <a:off x="548640" y="1161288"/>
            <a:ext cx="11094415" cy="384048"/>
          </a:xfrm>
          <a:prstGeom prst="rect">
            <a:avLst/>
          </a:prstGeom>
          <a:noFill/>
          <a:ln/>
        </p:spPr>
        <p:txBody>
          <a:bodyPr wrap="square" lIns="0" tIns="0" rIns="0" bIns="0" rtlCol="0" anchor="ctr"/>
          <a:lstStyle/>
          <a:p>
            <a:pPr indent="0" marL="0">
              <a:buNone/>
            </a:pPr>
            <a:r>
              <a:rPr lang="en-US" sz="1400" b="1" dirty="0">
                <a:solidFill>
                  <a:srgbClr val="2B7043"/>
                </a:solidFill>
              </a:rPr>
              <a:t>Goal:  </a:t>
            </a:r>
            <a:r>
              <a:rPr lang="en-US" sz="1400" dirty="0">
                <a:solidFill>
                  <a:srgbClr val="2B2B2B"/>
                </a:solidFill>
              </a:rPr>
              <a:t>A multilayer switch (3560) can be the gateway for every VLAN itself — faster than router-on-a-stick.</a:t>
            </a:r>
            <a:endParaRPr lang="en-US" sz="1400" dirty="0"/>
          </a:p>
        </p:txBody>
      </p:sp>
      <p:sp>
        <p:nvSpPr>
          <p:cNvPr id="6" name="Command header"/>
          <p:cNvSpPr/>
          <p:nvPr/>
        </p:nvSpPr>
        <p:spPr>
          <a:xfrm>
            <a:off x="548640" y="1664208"/>
            <a:ext cx="6153912" cy="310896"/>
          </a:xfrm>
          <a:prstGeom prst="rect">
            <a:avLst/>
          </a:prstGeom>
          <a:solidFill>
            <a:srgbClr val="1B2B22"/>
          </a:solidFill>
          <a:ln/>
        </p:spPr>
        <p:txBody>
          <a:bodyPr wrap="square" lIns="109728" tIns="45720" rIns="109728" bIns="45720" rtlCol="0" anchor="ctr"/>
          <a:lstStyle/>
          <a:p>
            <a:pPr indent="0" marL="0">
              <a:buNone/>
            </a:pPr>
            <a:r>
              <a:rPr lang="en-US" sz="1100" dirty="0">
                <a:solidFill>
                  <a:srgbClr val="E0605A"/>
                </a:solidFill>
              </a:rPr>
              <a:t>●  </a:t>
            </a:r>
            <a:r>
              <a:rPr lang="en-US" sz="1100" dirty="0">
                <a:solidFill>
                  <a:srgbClr val="E8B92E"/>
                </a:solidFill>
              </a:rPr>
              <a:t>●  </a:t>
            </a:r>
            <a:r>
              <a:rPr lang="en-US" sz="1100" dirty="0">
                <a:solidFill>
                  <a:srgbClr val="4CAF50"/>
                </a:solidFill>
              </a:rPr>
              <a:t>●   </a:t>
            </a:r>
            <a:r>
              <a:rPr lang="en-US" sz="1100" b="1" dirty="0">
                <a:solidFill>
                  <a:srgbClr val="C9D6CC"/>
                </a:solidFill>
              </a:rPr>
              <a:t>MLS1  —  type the white text, then press Enter</a:t>
            </a:r>
            <a:endParaRPr lang="en-US" sz="1100" dirty="0"/>
          </a:p>
        </p:txBody>
      </p:sp>
      <p:sp>
        <p:nvSpPr>
          <p:cNvPr id="7" name="Meaning header"/>
          <p:cNvSpPr/>
          <p:nvPr/>
        </p:nvSpPr>
        <p:spPr>
          <a:xfrm>
            <a:off x="6720840" y="1664208"/>
            <a:ext cx="4922215" cy="310896"/>
          </a:xfrm>
          <a:prstGeom prst="rect">
            <a:avLst/>
          </a:prstGeom>
          <a:solidFill>
            <a:srgbClr val="E8F1EA"/>
          </a:solidFill>
          <a:ln/>
        </p:spPr>
        <p:txBody>
          <a:bodyPr wrap="square" lIns="109728" tIns="45720" rIns="109728" bIns="45720" rtlCol="0" anchor="ctr"/>
          <a:lstStyle/>
          <a:p>
            <a:pPr indent="0" marL="0">
              <a:buNone/>
            </a:pPr>
            <a:r>
              <a:rPr lang="en-US" sz="1200" b="1" dirty="0">
                <a:solidFill>
                  <a:srgbClr val="1E5631"/>
                </a:solidFill>
              </a:rPr>
              <a:t>What it does</a:t>
            </a:r>
            <a:endParaRPr lang="en-US" sz="1200" dirty="0"/>
          </a:p>
        </p:txBody>
      </p:sp>
      <p:sp>
        <p:nvSpPr>
          <p:cNvPr id="8" name="Command 01"/>
          <p:cNvSpPr/>
          <p:nvPr/>
        </p:nvSpPr>
        <p:spPr>
          <a:xfrm>
            <a:off x="548640" y="1993392"/>
            <a:ext cx="6153912" cy="54380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MLS1(config)# </a:t>
            </a:r>
            <a:r>
              <a:rPr lang="en-US" sz="1200" b="1" dirty="0">
                <a:solidFill>
                  <a:srgbClr val="FFFFFF"/>
                </a:solidFill>
                <a:latin typeface="Courier New" pitchFamily="34" charset="0"/>
                <a:ea typeface="Courier New" pitchFamily="34" charset="-122"/>
                <a:cs typeface="Courier New" pitchFamily="34" charset="-120"/>
              </a:rPr>
              <a:t>ip routing</a:t>
            </a:r>
            <a:endParaRPr lang="en-US" sz="1200" dirty="0"/>
          </a:p>
        </p:txBody>
      </p:sp>
      <p:sp>
        <p:nvSpPr>
          <p:cNvPr id="9" name="Reveal 01 meaning"/>
          <p:cNvSpPr/>
          <p:nvPr/>
        </p:nvSpPr>
        <p:spPr>
          <a:xfrm>
            <a:off x="6720840" y="1993392"/>
            <a:ext cx="4922215" cy="543809"/>
          </a:xfrm>
          <a:prstGeom prst="rect">
            <a:avLst/>
          </a:prstGeom>
          <a:solidFill>
            <a:srgbClr val="F2F8F3"/>
          </a:solidFill>
          <a:ln/>
        </p:spPr>
        <p:txBody>
          <a:bodyPr wrap="square" lIns="109728" tIns="45720" rIns="109728" bIns="45720" rtlCol="0" anchor="ctr"/>
          <a:lstStyle/>
          <a:p>
            <a:pPr indent="0" marL="0">
              <a:buNone/>
            </a:pPr>
            <a:r>
              <a:rPr lang="en-US" sz="1400" dirty="0">
                <a:solidFill>
                  <a:srgbClr val="2B2B2B"/>
                </a:solidFill>
              </a:rPr>
              <a:t>Turn on routing inside the switch. Without it the SVIs cannot route between VLANs.</a:t>
            </a:r>
            <a:endParaRPr lang="en-US" sz="1400" dirty="0"/>
          </a:p>
        </p:txBody>
      </p:sp>
      <p:sp>
        <p:nvSpPr>
          <p:cNvPr id="10" name="Command 02"/>
          <p:cNvSpPr/>
          <p:nvPr/>
        </p:nvSpPr>
        <p:spPr>
          <a:xfrm>
            <a:off x="548640" y="2555489"/>
            <a:ext cx="6153912" cy="972922"/>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MLS1(config)# </a:t>
            </a:r>
            <a:r>
              <a:rPr lang="en-US" sz="1200" b="1" dirty="0">
                <a:solidFill>
                  <a:srgbClr val="FFFFFF"/>
                </a:solidFill>
                <a:latin typeface="Courier New" pitchFamily="34" charset="0"/>
                <a:ea typeface="Courier New" pitchFamily="34" charset="-122"/>
                <a:cs typeface="Courier New" pitchFamily="34" charset="-120"/>
              </a:rPr>
              <a:t>vlan 10</a:t>
            </a:r>
            <a:endParaRPr lang="en-US" sz="1200" dirty="0"/>
          </a:p>
          <a:p>
            <a:pPr indent="0" marL="0">
              <a:buNone/>
            </a:pPr>
            <a:r>
              <a:rPr lang="en-US" sz="1200" dirty="0">
                <a:solidFill>
                  <a:srgbClr val="8FC9A0"/>
                </a:solidFill>
                <a:latin typeface="Courier New" pitchFamily="34" charset="0"/>
                <a:ea typeface="Courier New" pitchFamily="34" charset="-122"/>
                <a:cs typeface="Courier New" pitchFamily="34" charset="-120"/>
              </a:rPr>
              <a:t>MLS1(config-vlan)# </a:t>
            </a:r>
            <a:r>
              <a:rPr lang="en-US" sz="1200" b="1" dirty="0">
                <a:solidFill>
                  <a:srgbClr val="FFFFFF"/>
                </a:solidFill>
                <a:latin typeface="Courier New" pitchFamily="34" charset="0"/>
                <a:ea typeface="Courier New" pitchFamily="34" charset="-122"/>
                <a:cs typeface="Courier New" pitchFamily="34" charset="-120"/>
              </a:rPr>
              <a:t>name STAFF</a:t>
            </a:r>
            <a:endParaRPr lang="en-US" sz="1200" dirty="0"/>
          </a:p>
          <a:p>
            <a:pPr indent="0" marL="0">
              <a:buNone/>
            </a:pPr>
            <a:r>
              <a:rPr lang="en-US" sz="1200" dirty="0">
                <a:solidFill>
                  <a:srgbClr val="8FC9A0"/>
                </a:solidFill>
                <a:latin typeface="Courier New" pitchFamily="34" charset="0"/>
                <a:ea typeface="Courier New" pitchFamily="34" charset="-122"/>
                <a:cs typeface="Courier New" pitchFamily="34" charset="-120"/>
              </a:rPr>
              <a:t>MLS1(config-vlan)# </a:t>
            </a:r>
            <a:r>
              <a:rPr lang="en-US" sz="1200" b="1" dirty="0">
                <a:solidFill>
                  <a:srgbClr val="FFFFFF"/>
                </a:solidFill>
                <a:latin typeface="Courier New" pitchFamily="34" charset="0"/>
                <a:ea typeface="Courier New" pitchFamily="34" charset="-122"/>
                <a:cs typeface="Courier New" pitchFamily="34" charset="-120"/>
              </a:rPr>
              <a:t>vlan 20</a:t>
            </a:r>
            <a:endParaRPr lang="en-US" sz="1200" dirty="0"/>
          </a:p>
          <a:p>
            <a:pPr indent="0" marL="0">
              <a:buNone/>
            </a:pPr>
            <a:r>
              <a:rPr lang="en-US" sz="1200" dirty="0">
                <a:solidFill>
                  <a:srgbClr val="8FC9A0"/>
                </a:solidFill>
                <a:latin typeface="Courier New" pitchFamily="34" charset="0"/>
                <a:ea typeface="Courier New" pitchFamily="34" charset="-122"/>
                <a:cs typeface="Courier New" pitchFamily="34" charset="-120"/>
              </a:rPr>
              <a:t>MLS1(config-vlan)# </a:t>
            </a:r>
            <a:r>
              <a:rPr lang="en-US" sz="1200" b="1" dirty="0">
                <a:solidFill>
                  <a:srgbClr val="FFFFFF"/>
                </a:solidFill>
                <a:latin typeface="Courier New" pitchFamily="34" charset="0"/>
                <a:ea typeface="Courier New" pitchFamily="34" charset="-122"/>
                <a:cs typeface="Courier New" pitchFamily="34" charset="-120"/>
              </a:rPr>
              <a:t>name STUDENTS</a:t>
            </a:r>
            <a:endParaRPr lang="en-US" sz="1200" dirty="0"/>
          </a:p>
          <a:p>
            <a:pPr indent="0" marL="0">
              <a:buNone/>
            </a:pPr>
            <a:r>
              <a:rPr lang="en-US" sz="1200" dirty="0">
                <a:solidFill>
                  <a:srgbClr val="8FC9A0"/>
                </a:solidFill>
                <a:latin typeface="Courier New" pitchFamily="34" charset="0"/>
                <a:ea typeface="Courier New" pitchFamily="34" charset="-122"/>
                <a:cs typeface="Courier New" pitchFamily="34" charset="-120"/>
              </a:rPr>
              <a:t>MLS1(config-vlan)# </a:t>
            </a:r>
            <a:r>
              <a:rPr lang="en-US" sz="1200" b="1" dirty="0">
                <a:solidFill>
                  <a:srgbClr val="FFFFFF"/>
                </a:solidFill>
                <a:latin typeface="Courier New" pitchFamily="34" charset="0"/>
                <a:ea typeface="Courier New" pitchFamily="34" charset="-122"/>
                <a:cs typeface="Courier New" pitchFamily="34" charset="-120"/>
              </a:rPr>
              <a:t>exit</a:t>
            </a:r>
            <a:endParaRPr lang="en-US" sz="1200" dirty="0"/>
          </a:p>
        </p:txBody>
      </p:sp>
      <p:sp>
        <p:nvSpPr>
          <p:cNvPr id="11" name="Reveal 02 meaning"/>
          <p:cNvSpPr/>
          <p:nvPr/>
        </p:nvSpPr>
        <p:spPr>
          <a:xfrm>
            <a:off x="6720840" y="2555489"/>
            <a:ext cx="4922215" cy="972922"/>
          </a:xfrm>
          <a:prstGeom prst="rect">
            <a:avLst/>
          </a:prstGeom>
          <a:solidFill>
            <a:srgbClr val="FFFFFF"/>
          </a:solidFill>
          <a:ln/>
        </p:spPr>
        <p:txBody>
          <a:bodyPr wrap="square" lIns="109728" tIns="45720" rIns="109728" bIns="45720" rtlCol="0" anchor="ctr"/>
          <a:lstStyle/>
          <a:p>
            <a:pPr indent="0" marL="0">
              <a:buNone/>
            </a:pPr>
            <a:r>
              <a:rPr lang="en-US" sz="1400" dirty="0">
                <a:solidFill>
                  <a:srgbClr val="2B2B2B"/>
                </a:solidFill>
              </a:rPr>
              <a:t>Create the VLANs on the multilayer switch too.</a:t>
            </a:r>
            <a:endParaRPr lang="en-US" sz="1400" dirty="0"/>
          </a:p>
        </p:txBody>
      </p:sp>
      <p:sp>
        <p:nvSpPr>
          <p:cNvPr id="12" name="Command 03"/>
          <p:cNvSpPr/>
          <p:nvPr/>
        </p:nvSpPr>
        <p:spPr>
          <a:xfrm>
            <a:off x="548640" y="3546699"/>
            <a:ext cx="6153912" cy="627644"/>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MLS1(config)# </a:t>
            </a:r>
            <a:r>
              <a:rPr lang="en-US" sz="1200" b="1" dirty="0">
                <a:solidFill>
                  <a:srgbClr val="FFFFFF"/>
                </a:solidFill>
                <a:latin typeface="Courier New" pitchFamily="34" charset="0"/>
                <a:ea typeface="Courier New" pitchFamily="34" charset="-122"/>
                <a:cs typeface="Courier New" pitchFamily="34" charset="-120"/>
              </a:rPr>
              <a:t>interface vlan 10</a:t>
            </a:r>
            <a:endParaRPr lang="en-US" sz="1200" dirty="0"/>
          </a:p>
          <a:p>
            <a:pPr indent="0" marL="0">
              <a:buNone/>
            </a:pPr>
            <a:r>
              <a:rPr lang="en-US" sz="1200" dirty="0">
                <a:solidFill>
                  <a:srgbClr val="8FC9A0"/>
                </a:solidFill>
                <a:latin typeface="Courier New" pitchFamily="34" charset="0"/>
                <a:ea typeface="Courier New" pitchFamily="34" charset="-122"/>
                <a:cs typeface="Courier New" pitchFamily="34" charset="-120"/>
              </a:rPr>
              <a:t>MLS1(config-if)# </a:t>
            </a:r>
            <a:r>
              <a:rPr lang="en-US" sz="1200" b="1" dirty="0">
                <a:solidFill>
                  <a:srgbClr val="FFFFFF"/>
                </a:solidFill>
                <a:latin typeface="Courier New" pitchFamily="34" charset="0"/>
                <a:ea typeface="Courier New" pitchFamily="34" charset="-122"/>
                <a:cs typeface="Courier New" pitchFamily="34" charset="-120"/>
              </a:rPr>
              <a:t>ip address 192.168.10.1 255.255.255.0</a:t>
            </a:r>
            <a:endParaRPr lang="en-US" sz="1200" dirty="0"/>
          </a:p>
          <a:p>
            <a:pPr indent="0" marL="0">
              <a:buNone/>
            </a:pPr>
            <a:r>
              <a:rPr lang="en-US" sz="1200" dirty="0">
                <a:solidFill>
                  <a:srgbClr val="8FC9A0"/>
                </a:solidFill>
                <a:latin typeface="Courier New" pitchFamily="34" charset="0"/>
                <a:ea typeface="Courier New" pitchFamily="34" charset="-122"/>
                <a:cs typeface="Courier New" pitchFamily="34" charset="-120"/>
              </a:rPr>
              <a:t>MLS1(config-if)# </a:t>
            </a:r>
            <a:r>
              <a:rPr lang="en-US" sz="1200" b="1" dirty="0">
                <a:solidFill>
                  <a:srgbClr val="FFFFFF"/>
                </a:solidFill>
                <a:latin typeface="Courier New" pitchFamily="34" charset="0"/>
                <a:ea typeface="Courier New" pitchFamily="34" charset="-122"/>
                <a:cs typeface="Courier New" pitchFamily="34" charset="-120"/>
              </a:rPr>
              <a:t>no shutdown</a:t>
            </a:r>
            <a:endParaRPr lang="en-US" sz="1200" dirty="0"/>
          </a:p>
        </p:txBody>
      </p:sp>
      <p:sp>
        <p:nvSpPr>
          <p:cNvPr id="13" name="Reveal 03 meaning"/>
          <p:cNvSpPr/>
          <p:nvPr/>
        </p:nvSpPr>
        <p:spPr>
          <a:xfrm>
            <a:off x="6720840" y="3546699"/>
            <a:ext cx="4922215" cy="627644"/>
          </a:xfrm>
          <a:prstGeom prst="rect">
            <a:avLst/>
          </a:prstGeom>
          <a:solidFill>
            <a:srgbClr val="F2F8F3"/>
          </a:solidFill>
          <a:ln/>
        </p:spPr>
        <p:txBody>
          <a:bodyPr wrap="square" lIns="109728" tIns="45720" rIns="109728" bIns="45720" rtlCol="0" anchor="ctr"/>
          <a:lstStyle/>
          <a:p>
            <a:pPr indent="0" marL="0">
              <a:buNone/>
            </a:pPr>
            <a:r>
              <a:rPr lang="en-US" sz="1400" dirty="0">
                <a:solidFill>
                  <a:srgbClr val="2B2B2B"/>
                </a:solidFill>
              </a:rPr>
              <a:t>The SVI of VLAN 10 is now the default gateway of the STAFF PCs.</a:t>
            </a:r>
            <a:endParaRPr lang="en-US" sz="1400" dirty="0"/>
          </a:p>
        </p:txBody>
      </p:sp>
      <p:sp>
        <p:nvSpPr>
          <p:cNvPr id="14" name="Command 04"/>
          <p:cNvSpPr/>
          <p:nvPr/>
        </p:nvSpPr>
        <p:spPr>
          <a:xfrm>
            <a:off x="548640" y="4192631"/>
            <a:ext cx="6153912" cy="627644"/>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MLS1(config-if)# </a:t>
            </a:r>
            <a:r>
              <a:rPr lang="en-US" sz="1200" b="1" dirty="0">
                <a:solidFill>
                  <a:srgbClr val="FFFFFF"/>
                </a:solidFill>
                <a:latin typeface="Courier New" pitchFamily="34" charset="0"/>
                <a:ea typeface="Courier New" pitchFamily="34" charset="-122"/>
                <a:cs typeface="Courier New" pitchFamily="34" charset="-120"/>
              </a:rPr>
              <a:t>interface vlan 20</a:t>
            </a:r>
            <a:endParaRPr lang="en-US" sz="1200" dirty="0"/>
          </a:p>
          <a:p>
            <a:pPr indent="0" marL="0">
              <a:buNone/>
            </a:pPr>
            <a:r>
              <a:rPr lang="en-US" sz="1200" dirty="0">
                <a:solidFill>
                  <a:srgbClr val="8FC9A0"/>
                </a:solidFill>
                <a:latin typeface="Courier New" pitchFamily="34" charset="0"/>
                <a:ea typeface="Courier New" pitchFamily="34" charset="-122"/>
                <a:cs typeface="Courier New" pitchFamily="34" charset="-120"/>
              </a:rPr>
              <a:t>MLS1(config-if)# </a:t>
            </a:r>
            <a:r>
              <a:rPr lang="en-US" sz="1200" b="1" dirty="0">
                <a:solidFill>
                  <a:srgbClr val="FFFFFF"/>
                </a:solidFill>
                <a:latin typeface="Courier New" pitchFamily="34" charset="0"/>
                <a:ea typeface="Courier New" pitchFamily="34" charset="-122"/>
                <a:cs typeface="Courier New" pitchFamily="34" charset="-120"/>
              </a:rPr>
              <a:t>ip address 192.168.20.1 255.255.255.0</a:t>
            </a:r>
            <a:endParaRPr lang="en-US" sz="1200" dirty="0"/>
          </a:p>
          <a:p>
            <a:pPr indent="0" marL="0">
              <a:buNone/>
            </a:pPr>
            <a:r>
              <a:rPr lang="en-US" sz="1200" dirty="0">
                <a:solidFill>
                  <a:srgbClr val="8FC9A0"/>
                </a:solidFill>
                <a:latin typeface="Courier New" pitchFamily="34" charset="0"/>
                <a:ea typeface="Courier New" pitchFamily="34" charset="-122"/>
                <a:cs typeface="Courier New" pitchFamily="34" charset="-120"/>
              </a:rPr>
              <a:t>MLS1(config-if)# </a:t>
            </a:r>
            <a:r>
              <a:rPr lang="en-US" sz="1200" b="1" dirty="0">
                <a:solidFill>
                  <a:srgbClr val="FFFFFF"/>
                </a:solidFill>
                <a:latin typeface="Courier New" pitchFamily="34" charset="0"/>
                <a:ea typeface="Courier New" pitchFamily="34" charset="-122"/>
                <a:cs typeface="Courier New" pitchFamily="34" charset="-120"/>
              </a:rPr>
              <a:t>no shutdown</a:t>
            </a:r>
            <a:endParaRPr lang="en-US" sz="1200" dirty="0"/>
          </a:p>
        </p:txBody>
      </p:sp>
      <p:sp>
        <p:nvSpPr>
          <p:cNvPr id="15" name="Reveal 04 meaning"/>
          <p:cNvSpPr/>
          <p:nvPr/>
        </p:nvSpPr>
        <p:spPr>
          <a:xfrm>
            <a:off x="6720840" y="4192631"/>
            <a:ext cx="4922215" cy="627644"/>
          </a:xfrm>
          <a:prstGeom prst="rect">
            <a:avLst/>
          </a:prstGeom>
          <a:solidFill>
            <a:srgbClr val="FFFFFF"/>
          </a:solidFill>
          <a:ln/>
        </p:spPr>
        <p:txBody>
          <a:bodyPr wrap="square" lIns="109728" tIns="45720" rIns="109728" bIns="45720" rtlCol="0" anchor="ctr"/>
          <a:lstStyle/>
          <a:p>
            <a:pPr indent="0" marL="0">
              <a:buNone/>
            </a:pPr>
            <a:r>
              <a:rPr lang="en-US" sz="1400" dirty="0">
                <a:solidFill>
                  <a:srgbClr val="2B2B2B"/>
                </a:solidFill>
              </a:rPr>
              <a:t>The same for VLAN 20 (STUDENTS). Access ports are set exactly as in part 04.</a:t>
            </a:r>
            <a:endParaRPr lang="en-US" sz="1400" dirty="0"/>
          </a:p>
        </p:txBody>
      </p:sp>
      <p:sp>
        <p:nvSpPr>
          <p:cNvPr id="16" name="Reveal 99 check box"/>
          <p:cNvSpPr/>
          <p:nvPr/>
        </p:nvSpPr>
        <p:spPr>
          <a:xfrm>
            <a:off x="548640" y="5504688"/>
            <a:ext cx="5410048" cy="749808"/>
          </a:xfrm>
          <a:prstGeom prst="roundRect">
            <a:avLst>
              <a:gd name="adj" fmla="val 9756"/>
            </a:avLst>
          </a:prstGeom>
          <a:solidFill>
            <a:srgbClr val="E8F1EA"/>
          </a:solidFill>
          <a:ln w="12700">
            <a:solidFill>
              <a:srgbClr val="B7C9BA"/>
            </a:solidFill>
            <a:prstDash val="solid"/>
          </a:ln>
        </p:spPr>
      </p:sp>
      <p:pic>
        <p:nvPicPr>
          <p:cNvPr id="17" name="Reveal 99 check icon" descr="Check it:">    </p:cNvPr>
          <p:cNvPicPr>
            <a:picLocks noChangeAspect="1"/>
          </p:cNvPicPr>
          <p:nvPr/>
        </p:nvPicPr>
        <p:blipFill>
          <a:blip r:embed="rId3"/>
          <a:stretch>
            <a:fillRect/>
          </a:stretch>
        </p:blipFill>
        <p:spPr>
          <a:xfrm>
            <a:off x="694944" y="5733288"/>
            <a:ext cx="292608" cy="292608"/>
          </a:xfrm>
          <a:prstGeom prst="rect">
            <a:avLst/>
          </a:prstGeom>
        </p:spPr>
      </p:pic>
      <p:sp>
        <p:nvSpPr>
          <p:cNvPr id="18" name="Reveal 99 check text"/>
          <p:cNvSpPr txBox="1"/>
          <p:nvPr/>
        </p:nvSpPr>
        <p:spPr>
          <a:xfrm>
            <a:off x="1097280" y="5541264"/>
            <a:ext cx="4751680" cy="676656"/>
          </a:xfrm>
          <a:prstGeom prst="rect">
            <a:avLst/>
          </a:prstGeom>
          <a:noFill/>
          <a:ln/>
        </p:spPr>
        <p:txBody>
          <a:bodyPr wrap="square" lIns="0" tIns="0" rIns="0" bIns="0" rtlCol="0" anchor="ctr"/>
          <a:lstStyle/>
          <a:p>
            <a:pPr indent="0" marL="0">
              <a:buNone/>
            </a:pPr>
            <a:r>
              <a:rPr lang="en-US" sz="1400" b="1" dirty="0">
                <a:solidFill>
                  <a:srgbClr val="1E5631"/>
                </a:solidFill>
              </a:rPr>
              <a:t>Check it:  </a:t>
            </a:r>
            <a:r>
              <a:rPr lang="en-US" sz="1300" b="1" dirty="0">
                <a:solidFill>
                  <a:srgbClr val="1E5631"/>
                </a:solidFill>
                <a:latin typeface="Courier New" pitchFamily="34" charset="0"/>
                <a:ea typeface="Courier New" pitchFamily="34" charset="-122"/>
                <a:cs typeface="Courier New" pitchFamily="34" charset="-120"/>
              </a:rPr>
              <a:t>show ip route</a:t>
            </a:r>
            <a:r>
              <a:rPr lang="en-US" sz="1400" dirty="0">
                <a:solidFill>
                  <a:srgbClr val="2B2B2B"/>
                </a:solidFill>
              </a:rPr>
              <a:t> lists both VLAN subnets as C (connected via Vlan10 and Vlan20); the PCs ping each other.</a:t>
            </a:r>
            <a:endParaRPr lang="en-US" sz="1400" dirty="0"/>
          </a:p>
        </p:txBody>
      </p:sp>
      <p:sp>
        <p:nvSpPr>
          <p:cNvPr id="19" name="Reveal 99 watch box"/>
          <p:cNvSpPr/>
          <p:nvPr/>
        </p:nvSpPr>
        <p:spPr>
          <a:xfrm>
            <a:off x="6233008" y="5504688"/>
            <a:ext cx="5410048" cy="749808"/>
          </a:xfrm>
          <a:prstGeom prst="roundRect">
            <a:avLst>
              <a:gd name="adj" fmla="val 9756"/>
            </a:avLst>
          </a:prstGeom>
          <a:solidFill>
            <a:srgbClr val="FBEAEA"/>
          </a:solidFill>
          <a:ln w="12700">
            <a:solidFill>
              <a:srgbClr val="E9B8B5"/>
            </a:solidFill>
            <a:prstDash val="solid"/>
          </a:ln>
        </p:spPr>
      </p:sp>
      <p:pic>
        <p:nvPicPr>
          <p:cNvPr id="20" name="Reveal 99 watch icon" descr="Watch out:">    </p:cNvPr>
          <p:cNvPicPr>
            <a:picLocks noChangeAspect="1"/>
          </p:cNvPicPr>
          <p:nvPr/>
        </p:nvPicPr>
        <p:blipFill>
          <a:blip r:embed="rId4"/>
          <a:stretch>
            <a:fillRect/>
          </a:stretch>
        </p:blipFill>
        <p:spPr>
          <a:xfrm>
            <a:off x="6379312" y="5733288"/>
            <a:ext cx="292608" cy="292608"/>
          </a:xfrm>
          <a:prstGeom prst="rect">
            <a:avLst/>
          </a:prstGeom>
        </p:spPr>
      </p:pic>
      <p:sp>
        <p:nvSpPr>
          <p:cNvPr id="21" name="Reveal 99 watch text"/>
          <p:cNvSpPr txBox="1"/>
          <p:nvPr/>
        </p:nvSpPr>
        <p:spPr>
          <a:xfrm>
            <a:off x="6781648" y="5541264"/>
            <a:ext cx="4751680" cy="676656"/>
          </a:xfrm>
          <a:prstGeom prst="rect">
            <a:avLst/>
          </a:prstGeom>
          <a:noFill/>
          <a:ln/>
        </p:spPr>
        <p:txBody>
          <a:bodyPr wrap="square" lIns="0" tIns="0" rIns="0" bIns="0" rtlCol="0" anchor="ctr"/>
          <a:lstStyle/>
          <a:p>
            <a:pPr indent="0" marL="0">
              <a:buNone/>
            </a:pPr>
            <a:r>
              <a:rPr lang="en-US" sz="1400" b="1" dirty="0">
                <a:solidFill>
                  <a:srgbClr val="8B1A1A"/>
                </a:solidFill>
              </a:rPr>
              <a:t>Watch out:  </a:t>
            </a:r>
            <a:r>
              <a:rPr lang="en-US" sz="1400" dirty="0">
                <a:solidFill>
                  <a:srgbClr val="2B2B2B"/>
                </a:solidFill>
              </a:rPr>
              <a:t>On a 3560, </a:t>
            </a:r>
            <a:r>
              <a:rPr lang="en-US" sz="1300" b="1" dirty="0">
                <a:solidFill>
                  <a:srgbClr val="1E5631"/>
                </a:solidFill>
                <a:latin typeface="Courier New" pitchFamily="34" charset="0"/>
                <a:ea typeface="Courier New" pitchFamily="34" charset="-122"/>
                <a:cs typeface="Courier New" pitchFamily="34" charset="-120"/>
              </a:rPr>
              <a:t>no switchport</a:t>
            </a:r>
            <a:r>
              <a:rPr lang="en-US" sz="1400" dirty="0">
                <a:solidFill>
                  <a:srgbClr val="2B2B2B"/>
                </a:solidFill>
              </a:rPr>
              <a:t> turns a port into a routed port, and trunks need </a:t>
            </a:r>
            <a:r>
              <a:rPr lang="en-US" sz="1300" b="1" dirty="0">
                <a:solidFill>
                  <a:srgbClr val="1E5631"/>
                </a:solidFill>
                <a:latin typeface="Courier New" pitchFamily="34" charset="0"/>
                <a:ea typeface="Courier New" pitchFamily="34" charset="-122"/>
                <a:cs typeface="Courier New" pitchFamily="34" charset="-120"/>
              </a:rPr>
              <a:t>switchport trunk encapsulation dot1q</a:t>
            </a:r>
            <a:r>
              <a:rPr lang="en-US" sz="1400" dirty="0">
                <a:solidFill>
                  <a:srgbClr val="2B2B2B"/>
                </a:solidFill>
              </a:rPr>
              <a:t> first.</a:t>
            </a:r>
            <a:endParaRPr lang="en-US" sz="1400" dirty="0"/>
          </a:p>
        </p:txBody>
      </p:sp>
      <p:sp>
        <p:nvSpPr>
          <p:cNvPr id="25" name="Slide Number Placeholder 0"/>
          <p:cNvSpPr>
            <a:spLocks noGrp="1"/>
          </p:cNvSpPr>
          <p:nvPr>
            <p:ph type="sldNum" sz="quarter" idx="4294967295"/>
          </p:nvPr>
        </p:nvSpPr>
        <p:spPr>
          <a:xfrm>
            <a:off x="10698480" y="6464808"/>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r"/>
            <a:fld id="{F7021451-1387-4CA6-816F-3879F97B5CBC}" type="slidenum">
              <a:rPr b="0" lang="en-US"/>
              <a:t>40</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4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400"/>
                                        <p:tgtEl>
                                          <p:spTgt spid="16"/>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fade">
                                      <p:cBhvr>
                                        <p:cTn id="30" dur="400"/>
                                        <p:tgtEl>
                                          <p:spTgt spid="17"/>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fade">
                                      <p:cBhvr>
                                        <p:cTn id="33" dur="400"/>
                                        <p:tgtEl>
                                          <p:spTgt spid="18"/>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6" dur="400"/>
                                        <p:tgtEl>
                                          <p:spTgt spid="19"/>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fade">
                                      <p:cBhvr>
                                        <p:cTn id="39" dur="400"/>
                                        <p:tgtEl>
                                          <p:spTgt spid="20"/>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fade">
                                      <p:cBhvr>
                                        <p:cTn id="42"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3" grpId="0" animBg="1"/>
      <p:bldP spid="15" grpId="0" animBg="1"/>
      <p:bldP spid="16" grpId="0" animBg="1"/>
      <p:bldP spid="18" grpId="0" animBg="1"/>
      <p:bldP spid="19" grpId="0" animBg="1"/>
      <p:bldP spid="21"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1"/>
          <p:cNvSpPr/>
          <p:nvPr>
            <p:ph idx="101" type="body" hasCustomPrompt="1"/>
          </p:nvPr>
        </p:nvSpPr>
        <p:spPr>
          <a:xfrm>
            <a:off x="548640" y="685800"/>
            <a:ext cx="3200400" cy="1143000"/>
          </a:xfrm>
          <a:prstGeom prst="rect">
            <a:avLst/>
          </a:prstGeom>
          <a:noFill/>
          <a:ln/>
        </p:spPr>
        <p:txBody>
          <a:bodyPr wrap="square" lIns="0" tIns="0" rIns="0" bIns="0" rtlCol="0" anchor="b"/>
          <a:lstStyle/>
          <a:p>
            <a:pPr algn="l" indent="0" marL="0">
              <a:buNone/>
            </a:pPr>
            <a:r>
              <a:rPr lang="en-US" sz="7200" b="1" dirty="0">
                <a:solidFill>
                  <a:schemeClr val="accent3"/>
                </a:solidFill>
                <a:latin typeface="Cambria" pitchFamily="34" charset="0"/>
                <a:ea typeface="Cambria" pitchFamily="34" charset="-122"/>
                <a:cs typeface="Cambria" pitchFamily="34" charset="-120"/>
              </a:rPr>
              <a:t>06</a:t>
            </a:r>
            <a:endParaRPr lang="en-US" sz="7200" dirty="0"/>
          </a:p>
        </p:txBody>
      </p:sp>
      <p:sp>
        <p:nvSpPr>
          <p:cNvPr id="3" name="Text 1"/>
          <p:cNvSpPr/>
          <p:nvPr>
            <p:ph idx="102" type="title" hasCustomPrompt="1"/>
          </p:nvPr>
        </p:nvSpPr>
        <p:spPr>
          <a:xfrm>
            <a:off x="548640" y="2011680"/>
            <a:ext cx="6492240" cy="1600200"/>
          </a:xfrm>
          <a:prstGeom prst="rect">
            <a:avLst/>
          </a:prstGeom>
          <a:noFill/>
          <a:ln/>
        </p:spPr>
        <p:txBody>
          <a:bodyPr wrap="square" lIns="0" tIns="0" rIns="0" bIns="0" rtlCol="0" anchor="t"/>
          <a:lstStyle/>
          <a:p>
            <a:pPr algn="l" indent="0" marL="0">
              <a:buNone/>
            </a:pPr>
            <a:r>
              <a:rPr lang="en-US" sz="3400" b="1" dirty="0">
                <a:solidFill>
                  <a:srgbClr val="FFFFFF"/>
                </a:solidFill>
              </a:rPr>
              <a:t>How to hand out IP addresses automatically with DHCP</a:t>
            </a:r>
            <a:endParaRPr lang="en-US" sz="3400" dirty="0"/>
          </a:p>
        </p:txBody>
      </p:sp>
      <p:sp>
        <p:nvSpPr>
          <p:cNvPr id="4" name="Text 1"/>
          <p:cNvSpPr/>
          <p:nvPr>
            <p:ph idx="103" type="body" hasCustomPrompt="1"/>
          </p:nvPr>
        </p:nvSpPr>
        <p:spPr>
          <a:xfrm>
            <a:off x="548640" y="3703320"/>
            <a:ext cx="6309360" cy="1188720"/>
          </a:xfrm>
          <a:prstGeom prst="rect">
            <a:avLst/>
          </a:prstGeom>
          <a:noFill/>
          <a:ln/>
        </p:spPr>
        <p:txBody>
          <a:bodyPr wrap="square" lIns="0" tIns="0" rIns="0" bIns="0" rtlCol="0" anchor="t"/>
          <a:lstStyle/>
          <a:p>
            <a:pPr algn="l" indent="0" marL="0">
              <a:buNone/>
            </a:pPr>
            <a:r>
              <a:rPr lang="en-US" sz="1600" dirty="0">
                <a:solidFill>
                  <a:srgbClr val="CFE3D4"/>
                </a:solidFill>
              </a:rPr>
              <a:t>Let the router lease addresses, masks, gateways and DNS servers to every PC — for one LAN, for every VLAN, and across subnets with a relay. (Lab 4, built on the Lab 2 file)</a:t>
            </a:r>
            <a:endParaRPr lang="en-US" sz="1600" dirty="0"/>
          </a:p>
        </p:txBody>
      </p:sp>
      <p:sp>
        <p:nvSpPr>
          <p:cNvPr id="5" name="Shape 3"/>
          <p:cNvSpPr/>
          <p:nvPr/>
        </p:nvSpPr>
        <p:spPr>
          <a:xfrm>
            <a:off x="7452360" y="1884045"/>
            <a:ext cx="4187952" cy="3089910"/>
          </a:xfrm>
          <a:prstGeom prst="roundRect">
            <a:avLst>
              <a:gd name="adj" fmla="val 2959"/>
            </a:avLst>
          </a:prstGeom>
          <a:solidFill>
            <a:srgbClr val="1B2B22">
              <a:alpha val="75000"/>
            </a:srgbClr>
          </a:solidFill>
          <a:ln w="12700">
            <a:solidFill>
              <a:srgbClr val="24663A"/>
            </a:solidFill>
            <a:prstDash val="solid"/>
          </a:ln>
        </p:spPr>
      </p:sp>
      <p:sp>
        <p:nvSpPr>
          <p:cNvPr id="6" name="Text 4"/>
          <p:cNvSpPr txBox="1"/>
          <p:nvPr/>
        </p:nvSpPr>
        <p:spPr>
          <a:xfrm>
            <a:off x="7726680" y="2140077"/>
            <a:ext cx="3639312" cy="320040"/>
          </a:xfrm>
          <a:prstGeom prst="rect">
            <a:avLst/>
          </a:prstGeom>
          <a:noFill/>
          <a:ln/>
        </p:spPr>
        <p:txBody>
          <a:bodyPr wrap="square" lIns="0" tIns="0" rIns="0" bIns="0" rtlCol="0" anchor="ctr"/>
          <a:lstStyle/>
          <a:p>
            <a:pPr indent="0" marL="0">
              <a:buNone/>
            </a:pPr>
            <a:r>
              <a:rPr lang="en-US" sz="1500" b="1" dirty="0">
                <a:solidFill>
                  <a:srgbClr val="E8B92E"/>
                </a:solidFill>
              </a:rPr>
              <a:t>In this part, learn how to:</a:t>
            </a:r>
            <a:endParaRPr lang="en-US" sz="1500" dirty="0"/>
          </a:p>
        </p:txBody>
      </p:sp>
      <p:sp>
        <p:nvSpPr>
          <p:cNvPr id="7" name="Text 5"/>
          <p:cNvSpPr txBox="1"/>
          <p:nvPr/>
        </p:nvSpPr>
        <p:spPr>
          <a:xfrm>
            <a:off x="7726680" y="2615565"/>
            <a:ext cx="3730752" cy="217551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FFFFFF"/>
                </a:solidFill>
              </a:rPr>
              <a:t>understand the DORA conversation</a:t>
            </a:r>
            <a:endParaRPr lang="en-US" sz="1500" dirty="0"/>
          </a:p>
          <a:p>
            <a:pPr marL="203200" indent="-203200">
              <a:spcAft>
                <a:spcPts val="800"/>
              </a:spcAft>
              <a:buSzPct val="100000"/>
              <a:buChar char="•"/>
            </a:pPr>
            <a:r>
              <a:rPr lang="en-US" sz="1500" dirty="0">
                <a:solidFill>
                  <a:srgbClr val="FFFFFF"/>
                </a:solidFill>
              </a:rPr>
              <a:t>make a router a DHCP server</a:t>
            </a:r>
            <a:endParaRPr lang="en-US" sz="1500" dirty="0"/>
          </a:p>
          <a:p>
            <a:pPr marL="203200" indent="-203200">
              <a:spcAft>
                <a:spcPts val="800"/>
              </a:spcAft>
              <a:buSzPct val="100000"/>
              <a:buChar char="•"/>
            </a:pPr>
            <a:r>
              <a:rPr lang="en-US" sz="1500" dirty="0">
                <a:solidFill>
                  <a:srgbClr val="FFFFFF"/>
                </a:solidFill>
              </a:rPr>
              <a:t>give every VLAN its own pool</a:t>
            </a:r>
            <a:endParaRPr lang="en-US" sz="1500" dirty="0"/>
          </a:p>
          <a:p>
            <a:pPr marL="203200" indent="-203200">
              <a:spcAft>
                <a:spcPts val="800"/>
              </a:spcAft>
              <a:buSzPct val="100000"/>
              <a:buChar char="•"/>
            </a:pPr>
            <a:r>
              <a:rPr lang="en-US" sz="1500" dirty="0">
                <a:solidFill>
                  <a:srgbClr val="FFFFFF"/>
                </a:solidFill>
              </a:rPr>
              <a:t>check the leases</a:t>
            </a:r>
            <a:endParaRPr lang="en-US" sz="1500" dirty="0"/>
          </a:p>
          <a:p>
            <a:pPr marL="203200" indent="-203200">
              <a:spcAft>
                <a:spcPts val="800"/>
              </a:spcAft>
              <a:buSzPct val="100000"/>
              <a:buChar char="•"/>
            </a:pPr>
            <a:r>
              <a:rPr lang="en-US" sz="1500" dirty="0">
                <a:solidFill>
                  <a:srgbClr val="FFFFFF"/>
                </a:solidFill>
              </a:rPr>
              <a:t>relay DHCP to a server</a:t>
            </a:r>
            <a:endParaRPr lang="en-US" sz="1500" dirty="0"/>
          </a:p>
          <a:p>
            <a:pPr marL="203200" indent="-203200">
              <a:spcAft>
                <a:spcPts val="800"/>
              </a:spcAft>
              <a:buSzPct val="100000"/>
              <a:buChar char="•"/>
            </a:pPr>
            <a:r>
              <a:rPr lang="en-US" sz="1500" dirty="0">
                <a:solidFill>
                  <a:srgbClr val="FFFFFF"/>
                </a:solidFill>
              </a:rPr>
              <a:t>fix common DHCP problems</a:t>
            </a:r>
            <a:endParaRPr lang="en-US" sz="1500" dirty="0"/>
          </a:p>
        </p:txBody>
      </p:sp>
      <p:sp>
        <p:nvSpPr>
          <p:cNvPr id="8" name="Shape 6"/>
          <p:cNvSpPr/>
          <p:nvPr/>
        </p:nvSpPr>
        <p:spPr>
          <a:xfrm>
            <a:off x="548640" y="5989320"/>
            <a:ext cx="914400" cy="566928"/>
          </a:xfrm>
          <a:prstGeom prst="roundRect">
            <a:avLst>
              <a:gd name="adj" fmla="val 9677"/>
            </a:avLst>
          </a:prstGeom>
          <a:solidFill>
            <a:srgbClr val="FFFFFF"/>
          </a:solidFill>
          <a:ln/>
        </p:spPr>
      </p:sp>
      <p:pic>
        <p:nvPicPr>
          <p:cNvPr id="9" name="Image 0" descr="Kabete National Polytechnic logo">    </p:cNvPr>
          <p:cNvPicPr>
            <a:picLocks noChangeAspect="1"/>
          </p:cNvPicPr>
          <p:nvPr/>
        </p:nvPicPr>
        <p:blipFill>
          <a:blip r:embed="rId1"/>
          <a:stretch>
            <a:fillRect/>
          </a:stretch>
        </p:blipFill>
        <p:spPr>
          <a:xfrm>
            <a:off x="594360" y="6022175"/>
            <a:ext cx="822960" cy="501218"/>
          </a:xfrm>
          <a:prstGeom prst="rect">
            <a:avLst/>
          </a:prstGeom>
        </p:spPr>
      </p:pic>
      <p:pic>
        <p:nvPicPr>
          <p:cNvPr id="10" name="Home button" descr="Home: back to the workbook menu">
            <a:hlinkClick r:id="rId3" tooltip="Back to the workbook menu" action="ppaction://hlinksldjump"/>
          </p:cNvPr>
          <p:cNvPicPr>
            <a:picLocks noChangeAspect="1"/>
          </p:cNvPicPr>
          <p:nvPr/>
        </p:nvPicPr>
        <p:blipFill>
          <a:blip r:embed="rId2"/>
          <a:stretch>
            <a:fillRect/>
          </a:stretch>
        </p:blipFill>
        <p:spPr>
          <a:xfrm>
            <a:off x="11365992" y="6336792"/>
            <a:ext cx="365760" cy="365760"/>
          </a:xfrm>
          <a:prstGeom prst="rect">
            <a:avLst/>
          </a:prstGeom>
        </p:spPr>
      </p:pic>
      <p:sp>
        <p:nvSpPr>
          <p:cNvPr id="25" name="Slide Number Placeholder 0"/>
          <p:cNvSpPr>
            <a:spLocks noGrp="1"/>
          </p:cNvSpPr>
          <p:nvPr>
            <p:ph type="sldNum" sz="quarter" idx="4294967295"/>
          </p:nvPr>
        </p:nvSpPr>
        <p:spPr>
          <a:xfrm>
            <a:off x="10698480" y="6464808"/>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CFE3D4"/>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1"/>
          <p:cNvSpPr/>
          <p:nvPr>
            <p:ph idx="102" type="body" hasCustomPrompt="1"/>
          </p:nvPr>
        </p:nvSpPr>
        <p:spPr>
          <a:xfrm>
            <a:off x="548640" y="274320"/>
            <a:ext cx="9966960" cy="256032"/>
          </a:xfrm>
          <a:prstGeom prst="rect">
            <a:avLst/>
          </a:prstGeom>
          <a:noFill/>
          <a:ln/>
        </p:spPr>
        <p:txBody>
          <a:bodyPr wrap="square" lIns="0" tIns="0" rIns="0" bIns="0" rtlCol="0" anchor="ctr"/>
          <a:lstStyle/>
          <a:p>
            <a:pPr algn="l" indent="0" marL="0">
              <a:buNone/>
            </a:pPr>
            <a:r>
              <a:rPr lang="en-US" sz="1100" b="1" spc="100" kern="0" dirty="0">
                <a:solidFill>
                  <a:schemeClr val="accent2"/>
                </a:solidFill>
              </a:rPr>
              <a:t>06  •  DHCP</a:t>
            </a:r>
            <a:endParaRPr lang="en-US" sz="1100" dirty="0"/>
          </a:p>
        </p:txBody>
      </p:sp>
      <p:sp>
        <p:nvSpPr>
          <p:cNvPr id="3" name="Text 1"/>
          <p:cNvSpPr/>
          <p:nvPr>
            <p:ph idx="103" type="title" hasCustomPrompt="1"/>
          </p:nvPr>
        </p:nvSpPr>
        <p:spPr>
          <a:xfrm>
            <a:off x="548640" y="548640"/>
            <a:ext cx="10149840" cy="548640"/>
          </a:xfrm>
          <a:prstGeom prst="rect">
            <a:avLst/>
          </a:prstGeom>
          <a:noFill/>
          <a:ln/>
        </p:spPr>
        <p:txBody>
          <a:bodyPr wrap="square" lIns="0" tIns="0" rIns="0" bIns="0" rtlCol="0" anchor="ctr"/>
          <a:lstStyle/>
          <a:p>
            <a:pPr algn="l" indent="0" marL="0">
              <a:buNone/>
            </a:pPr>
            <a:r>
              <a:rPr lang="en-US" sz="2600" b="1" dirty="0">
                <a:solidFill>
                  <a:schemeClr val="accent1"/>
                </a:solidFill>
              </a:rPr>
              <a:t>How to understand DHCP: the DORA conversation</a:t>
            </a:r>
            <a:endParaRPr lang="en-US" sz="2600" dirty="0"/>
          </a:p>
        </p:txBody>
      </p:sp>
      <p:pic>
        <p:nvPicPr>
          <p:cNvPr id="4" name="Home button" descr="Home: back to the workbook menu">
            <a:hlinkClick r:id="rId2" tooltip="Back to the workbook menu" action="ppaction://hlinksldjump"/>
          </p:cNvPr>
          <p:cNvPicPr>
            <a:picLocks noChangeAspect="1"/>
          </p:cNvPicPr>
          <p:nvPr/>
        </p:nvPicPr>
        <p:blipFill>
          <a:blip r:embed="rId1"/>
          <a:stretch>
            <a:fillRect/>
          </a:stretch>
        </p:blipFill>
        <p:spPr>
          <a:xfrm>
            <a:off x="11365992" y="6336792"/>
            <a:ext cx="365760" cy="365760"/>
          </a:xfrm>
          <a:prstGeom prst="rect">
            <a:avLst/>
          </a:prstGeom>
        </p:spPr>
      </p:pic>
      <p:sp>
        <p:nvSpPr>
          <p:cNvPr id="5" name="Goal"/>
          <p:cNvSpPr txBox="1"/>
          <p:nvPr/>
        </p:nvSpPr>
        <p:spPr>
          <a:xfrm>
            <a:off x="548640" y="1161288"/>
            <a:ext cx="11094415" cy="384048"/>
          </a:xfrm>
          <a:prstGeom prst="rect">
            <a:avLst/>
          </a:prstGeom>
          <a:noFill/>
          <a:ln/>
        </p:spPr>
        <p:txBody>
          <a:bodyPr wrap="square" lIns="0" tIns="0" rIns="0" bIns="0" rtlCol="0" anchor="ctr"/>
          <a:lstStyle/>
          <a:p>
            <a:pPr indent="0" marL="0">
              <a:buNone/>
            </a:pPr>
            <a:r>
              <a:rPr lang="en-US" sz="1400" b="1" dirty="0">
                <a:solidFill>
                  <a:srgbClr val="2B7043"/>
                </a:solidFill>
              </a:rPr>
              <a:t>Goal:  </a:t>
            </a:r>
            <a:r>
              <a:rPr lang="en-US" sz="1400" dirty="0">
                <a:solidFill>
                  <a:srgbClr val="2B2B2B"/>
                </a:solidFill>
              </a:rPr>
              <a:t>A PC with no address asks for one. Four messages later it has an address, mask, gateway and DNS server.</a:t>
            </a:r>
            <a:endParaRPr lang="en-US" sz="1400" dirty="0"/>
          </a:p>
        </p:txBody>
      </p:sp>
      <p:pic>
        <p:nvPicPr>
          <p:cNvPr id="6" name="Image 1" descr="PC (client)">    </p:cNvPr>
          <p:cNvPicPr>
            <a:picLocks noChangeAspect="1"/>
          </p:cNvPicPr>
          <p:nvPr/>
        </p:nvPicPr>
        <p:blipFill>
          <a:blip r:embed="rId3"/>
          <a:stretch>
            <a:fillRect/>
          </a:stretch>
        </p:blipFill>
        <p:spPr>
          <a:xfrm>
            <a:off x="960120" y="1737360"/>
            <a:ext cx="548640" cy="548640"/>
          </a:xfrm>
          <a:prstGeom prst="rect">
            <a:avLst/>
          </a:prstGeom>
        </p:spPr>
      </p:pic>
      <p:sp>
        <p:nvSpPr>
          <p:cNvPr id="7" name="Text 3"/>
          <p:cNvSpPr txBox="1"/>
          <p:nvPr/>
        </p:nvSpPr>
        <p:spPr>
          <a:xfrm>
            <a:off x="1554480" y="1783080"/>
            <a:ext cx="1463040" cy="457200"/>
          </a:xfrm>
          <a:prstGeom prst="rect">
            <a:avLst/>
          </a:prstGeom>
          <a:noFill/>
          <a:ln/>
        </p:spPr>
        <p:txBody>
          <a:bodyPr wrap="square" lIns="0" tIns="0" rIns="0" bIns="0" rtlCol="0" anchor="t"/>
          <a:lstStyle/>
          <a:p>
            <a:pPr algn="l" indent="0" marL="0">
              <a:buNone/>
            </a:pPr>
            <a:r>
              <a:rPr lang="en-US" sz="1200" b="1" dirty="0">
                <a:solidFill>
                  <a:srgbClr val="2B2B2B"/>
                </a:solidFill>
              </a:rPr>
              <a:t>PC (client)</a:t>
            </a:r>
            <a:endParaRPr lang="en-US" sz="1200" dirty="0"/>
          </a:p>
          <a:p>
            <a:pPr algn="l" indent="0" marL="0">
              <a:buNone/>
            </a:pPr>
            <a:r>
              <a:rPr lang="en-US" sz="1000" dirty="0">
                <a:solidFill>
                  <a:srgbClr val="6B6B6B"/>
                </a:solidFill>
              </a:rPr>
              <a:t>no address yet</a:t>
            </a:r>
            <a:endParaRPr lang="en-US" sz="1200" dirty="0"/>
          </a:p>
        </p:txBody>
      </p:sp>
      <p:pic>
        <p:nvPicPr>
          <p:cNvPr id="8" name="Image 2" descr="R1">    </p:cNvPr>
          <p:cNvPicPr>
            <a:picLocks noChangeAspect="1"/>
          </p:cNvPicPr>
          <p:nvPr/>
        </p:nvPicPr>
        <p:blipFill>
          <a:blip r:embed="rId4"/>
          <a:stretch>
            <a:fillRect/>
          </a:stretch>
        </p:blipFill>
        <p:spPr>
          <a:xfrm>
            <a:off x="5349240" y="1737360"/>
            <a:ext cx="548640" cy="548640"/>
          </a:xfrm>
          <a:prstGeom prst="rect">
            <a:avLst/>
          </a:prstGeom>
        </p:spPr>
      </p:pic>
      <p:sp>
        <p:nvSpPr>
          <p:cNvPr id="9" name="Text 4"/>
          <p:cNvSpPr txBox="1"/>
          <p:nvPr/>
        </p:nvSpPr>
        <p:spPr>
          <a:xfrm>
            <a:off x="4023360" y="1783080"/>
            <a:ext cx="1280160" cy="457200"/>
          </a:xfrm>
          <a:prstGeom prst="rect">
            <a:avLst/>
          </a:prstGeom>
          <a:noFill/>
          <a:ln/>
        </p:spPr>
        <p:txBody>
          <a:bodyPr wrap="square" lIns="0" tIns="0" rIns="0" bIns="0" rtlCol="0" anchor="t"/>
          <a:lstStyle/>
          <a:p>
            <a:pPr algn="r" indent="0" marL="0">
              <a:buNone/>
            </a:pPr>
            <a:r>
              <a:rPr lang="en-US" sz="1200" b="1" dirty="0">
                <a:solidFill>
                  <a:srgbClr val="2B2B2B"/>
                </a:solidFill>
              </a:rPr>
              <a:t>R1</a:t>
            </a:r>
            <a:endParaRPr lang="en-US" sz="1200" dirty="0"/>
          </a:p>
          <a:p>
            <a:pPr algn="r" indent="0" marL="0">
              <a:buNone/>
            </a:pPr>
            <a:r>
              <a:rPr lang="en-US" sz="1000" dirty="0">
                <a:solidFill>
                  <a:srgbClr val="6B6B6B"/>
                </a:solidFill>
              </a:rPr>
              <a:t>DHCP server</a:t>
            </a:r>
            <a:endParaRPr lang="en-US" sz="1200" dirty="0"/>
          </a:p>
        </p:txBody>
      </p:sp>
      <p:sp>
        <p:nvSpPr>
          <p:cNvPr id="10" name="Shape 5"/>
          <p:cNvSpPr/>
          <p:nvPr/>
        </p:nvSpPr>
        <p:spPr>
          <a:xfrm>
            <a:off x="1234440" y="2377440"/>
            <a:ext cx="914" cy="3108960"/>
          </a:xfrm>
          <a:prstGeom prst="line">
            <a:avLst/>
          </a:prstGeom>
          <a:noFill/>
          <a:ln w="15875">
            <a:solidFill>
              <a:srgbClr val="A0AAA4"/>
            </a:solidFill>
            <a:prstDash val="dash"/>
          </a:ln>
        </p:spPr>
      </p:sp>
      <p:sp>
        <p:nvSpPr>
          <p:cNvPr id="11" name="Shape 6"/>
          <p:cNvSpPr/>
          <p:nvPr/>
        </p:nvSpPr>
        <p:spPr>
          <a:xfrm>
            <a:off x="5623560" y="2377440"/>
            <a:ext cx="914" cy="3108960"/>
          </a:xfrm>
          <a:prstGeom prst="line">
            <a:avLst/>
          </a:prstGeom>
          <a:noFill/>
          <a:ln w="15875">
            <a:solidFill>
              <a:srgbClr val="A0AAA4"/>
            </a:solidFill>
            <a:prstDash val="dash"/>
          </a:ln>
        </p:spPr>
      </p:sp>
      <p:sp>
        <p:nvSpPr>
          <p:cNvPr id="12" name="Shape 7"/>
          <p:cNvSpPr/>
          <p:nvPr/>
        </p:nvSpPr>
        <p:spPr>
          <a:xfrm>
            <a:off x="1280160" y="3063240"/>
            <a:ext cx="4297680" cy="914"/>
          </a:xfrm>
          <a:prstGeom prst="line">
            <a:avLst/>
          </a:prstGeom>
          <a:noFill/>
          <a:ln w="34925">
            <a:solidFill>
              <a:srgbClr val="2B6CB0"/>
            </a:solidFill>
            <a:prstDash val="solid"/>
            <a:tailEnd type="triangle"/>
          </a:ln>
        </p:spPr>
      </p:sp>
      <p:sp>
        <p:nvSpPr>
          <p:cNvPr id="13" name="Text 8"/>
          <p:cNvSpPr txBox="1"/>
          <p:nvPr/>
        </p:nvSpPr>
        <p:spPr>
          <a:xfrm>
            <a:off x="1325880" y="2734056"/>
            <a:ext cx="4206240" cy="292608"/>
          </a:xfrm>
          <a:prstGeom prst="rect">
            <a:avLst/>
          </a:prstGeom>
          <a:noFill/>
          <a:ln/>
        </p:spPr>
        <p:txBody>
          <a:bodyPr wrap="square" lIns="0" tIns="0" rIns="0" bIns="0" rtlCol="0" anchor="b"/>
          <a:lstStyle/>
          <a:p>
            <a:pPr algn="ctr" indent="0" marL="0">
              <a:buNone/>
            </a:pPr>
            <a:r>
              <a:rPr lang="en-US" sz="1300" dirty="0">
                <a:solidFill>
                  <a:srgbClr val="2B2B2B"/>
                </a:solidFill>
              </a:rPr>
              <a:t>1  Discover (broadcast): “Is there a DHCP server?”</a:t>
            </a:r>
            <a:endParaRPr lang="en-US" sz="1300" dirty="0"/>
          </a:p>
        </p:txBody>
      </p:sp>
      <p:sp>
        <p:nvSpPr>
          <p:cNvPr id="14" name="Shape 9"/>
          <p:cNvSpPr/>
          <p:nvPr/>
        </p:nvSpPr>
        <p:spPr>
          <a:xfrm flipH="1">
            <a:off x="1280160" y="3721608"/>
            <a:ext cx="4297680" cy="914"/>
          </a:xfrm>
          <a:prstGeom prst="line">
            <a:avLst/>
          </a:prstGeom>
          <a:noFill/>
          <a:ln w="34925">
            <a:solidFill>
              <a:srgbClr val="2B7043"/>
            </a:solidFill>
            <a:prstDash val="solid"/>
            <a:tailEnd type="triangle"/>
          </a:ln>
        </p:spPr>
      </p:sp>
      <p:sp>
        <p:nvSpPr>
          <p:cNvPr id="15" name="Text 10"/>
          <p:cNvSpPr txBox="1"/>
          <p:nvPr/>
        </p:nvSpPr>
        <p:spPr>
          <a:xfrm>
            <a:off x="1325880" y="3392424"/>
            <a:ext cx="4206240" cy="292608"/>
          </a:xfrm>
          <a:prstGeom prst="rect">
            <a:avLst/>
          </a:prstGeom>
          <a:noFill/>
          <a:ln/>
        </p:spPr>
        <p:txBody>
          <a:bodyPr wrap="square" lIns="0" tIns="0" rIns="0" bIns="0" rtlCol="0" anchor="b"/>
          <a:lstStyle/>
          <a:p>
            <a:pPr algn="ctr" indent="0" marL="0">
              <a:buNone/>
            </a:pPr>
            <a:r>
              <a:rPr lang="en-US" sz="1300" dirty="0">
                <a:solidFill>
                  <a:srgbClr val="2B2B2B"/>
                </a:solidFill>
              </a:rPr>
              <a:t>2  Offer: “You can have 192.168.10.21”</a:t>
            </a:r>
            <a:endParaRPr lang="en-US" sz="1300" dirty="0"/>
          </a:p>
        </p:txBody>
      </p:sp>
      <p:sp>
        <p:nvSpPr>
          <p:cNvPr id="16" name="Shape 11"/>
          <p:cNvSpPr/>
          <p:nvPr/>
        </p:nvSpPr>
        <p:spPr>
          <a:xfrm>
            <a:off x="1280160" y="4379976"/>
            <a:ext cx="4297680" cy="914"/>
          </a:xfrm>
          <a:prstGeom prst="line">
            <a:avLst/>
          </a:prstGeom>
          <a:noFill/>
          <a:ln w="34925">
            <a:solidFill>
              <a:srgbClr val="2B6CB0"/>
            </a:solidFill>
            <a:prstDash val="solid"/>
            <a:tailEnd type="triangle"/>
          </a:ln>
        </p:spPr>
      </p:sp>
      <p:sp>
        <p:nvSpPr>
          <p:cNvPr id="17" name="Text 12"/>
          <p:cNvSpPr txBox="1"/>
          <p:nvPr/>
        </p:nvSpPr>
        <p:spPr>
          <a:xfrm>
            <a:off x="1325880" y="4050792"/>
            <a:ext cx="4206240" cy="292608"/>
          </a:xfrm>
          <a:prstGeom prst="rect">
            <a:avLst/>
          </a:prstGeom>
          <a:noFill/>
          <a:ln/>
        </p:spPr>
        <p:txBody>
          <a:bodyPr wrap="square" lIns="0" tIns="0" rIns="0" bIns="0" rtlCol="0" anchor="b"/>
          <a:lstStyle/>
          <a:p>
            <a:pPr algn="ctr" indent="0" marL="0">
              <a:buNone/>
            </a:pPr>
            <a:r>
              <a:rPr lang="en-US" sz="1300" dirty="0">
                <a:solidFill>
                  <a:srgbClr val="2B2B2B"/>
                </a:solidFill>
              </a:rPr>
              <a:t>3  Request (broadcast): “I’ll take 192.168.10.21”</a:t>
            </a:r>
            <a:endParaRPr lang="en-US" sz="1300" dirty="0"/>
          </a:p>
        </p:txBody>
      </p:sp>
      <p:sp>
        <p:nvSpPr>
          <p:cNvPr id="18" name="Shape 13"/>
          <p:cNvSpPr/>
          <p:nvPr/>
        </p:nvSpPr>
        <p:spPr>
          <a:xfrm flipH="1">
            <a:off x="1280160" y="5038344"/>
            <a:ext cx="4297680" cy="914"/>
          </a:xfrm>
          <a:prstGeom prst="line">
            <a:avLst/>
          </a:prstGeom>
          <a:noFill/>
          <a:ln w="34925">
            <a:solidFill>
              <a:srgbClr val="2B7043"/>
            </a:solidFill>
            <a:prstDash val="solid"/>
            <a:tailEnd type="triangle"/>
          </a:ln>
        </p:spPr>
      </p:sp>
      <p:sp>
        <p:nvSpPr>
          <p:cNvPr id="19" name="Text 14"/>
          <p:cNvSpPr txBox="1"/>
          <p:nvPr/>
        </p:nvSpPr>
        <p:spPr>
          <a:xfrm>
            <a:off x="1325880" y="4709160"/>
            <a:ext cx="4206240" cy="292608"/>
          </a:xfrm>
          <a:prstGeom prst="rect">
            <a:avLst/>
          </a:prstGeom>
          <a:noFill/>
          <a:ln/>
        </p:spPr>
        <p:txBody>
          <a:bodyPr wrap="square" lIns="0" tIns="0" rIns="0" bIns="0" rtlCol="0" anchor="b"/>
          <a:lstStyle/>
          <a:p>
            <a:pPr algn="ctr" indent="0" marL="0">
              <a:buNone/>
            </a:pPr>
            <a:r>
              <a:rPr lang="en-US" sz="1300" dirty="0">
                <a:solidFill>
                  <a:srgbClr val="2B2B2B"/>
                </a:solidFill>
              </a:rPr>
              <a:t>4  Acknowledge: “It’s yours — mask, gateway, DNS, lease”</a:t>
            </a:r>
            <a:endParaRPr lang="en-US" sz="1300" dirty="0"/>
          </a:p>
        </p:txBody>
      </p:sp>
      <p:sp>
        <p:nvSpPr>
          <p:cNvPr id="20" name="Card"/>
          <p:cNvSpPr/>
          <p:nvPr/>
        </p:nvSpPr>
        <p:spPr>
          <a:xfrm>
            <a:off x="6583680" y="1691640"/>
            <a:ext cx="5056632" cy="1051560"/>
          </a:xfrm>
          <a:prstGeom prst="roundRect">
            <a:avLst>
              <a:gd name="adj" fmla="val 6957"/>
            </a:avLst>
          </a:prstGeom>
          <a:solidFill>
            <a:srgbClr val="F2F8F3"/>
          </a:solidFill>
          <a:ln w="12700">
            <a:solidFill>
              <a:srgbClr val="B7C9BA"/>
            </a:solidFill>
            <a:prstDash val="solid"/>
          </a:ln>
        </p:spPr>
      </p:sp>
      <p:sp>
        <p:nvSpPr>
          <p:cNvPr id="21" name="Text 16"/>
          <p:cNvSpPr txBox="1"/>
          <p:nvPr/>
        </p:nvSpPr>
        <p:spPr>
          <a:xfrm>
            <a:off x="6729984" y="1794053"/>
            <a:ext cx="4764024" cy="846734"/>
          </a:xfrm>
          <a:prstGeom prst="rect">
            <a:avLst/>
          </a:prstGeom>
          <a:noFill/>
          <a:ln/>
        </p:spPr>
        <p:txBody>
          <a:bodyPr wrap="square" lIns="0" tIns="0" rIns="0" bIns="0" rtlCol="0" anchor="t"/>
          <a:lstStyle/>
          <a:p>
            <a:pPr indent="0" marL="0">
              <a:buNone/>
            </a:pPr>
            <a:r>
              <a:rPr lang="en-US" sz="1400" b="1" dirty="0">
                <a:solidFill>
                  <a:srgbClr val="1E5631"/>
                </a:solidFill>
              </a:rPr>
              <a:t>What the PC receives</a:t>
            </a:r>
            <a:endParaRPr lang="en-US" sz="1400" dirty="0"/>
          </a:p>
          <a:p>
            <a:pPr indent="0" marL="0">
              <a:buNone/>
            </a:pPr>
            <a:r>
              <a:rPr lang="en-US" sz="1400" dirty="0">
                <a:solidFill>
                  <a:srgbClr val="2B2B2B"/>
                </a:solidFill>
              </a:rPr>
              <a:t>IP address, subnet mask, default gateway and DNS server (plus domain name and lease time).</a:t>
            </a:r>
            <a:endParaRPr lang="en-US" sz="1400" dirty="0"/>
          </a:p>
        </p:txBody>
      </p:sp>
      <p:sp>
        <p:nvSpPr>
          <p:cNvPr id="22" name="Card"/>
          <p:cNvSpPr/>
          <p:nvPr/>
        </p:nvSpPr>
        <p:spPr>
          <a:xfrm>
            <a:off x="6583680" y="2880360"/>
            <a:ext cx="5056632" cy="1280160"/>
          </a:xfrm>
          <a:prstGeom prst="roundRect">
            <a:avLst>
              <a:gd name="adj" fmla="val 5714"/>
            </a:avLst>
          </a:prstGeom>
          <a:solidFill>
            <a:srgbClr val="F2F8F3"/>
          </a:solidFill>
          <a:ln w="12700">
            <a:solidFill>
              <a:srgbClr val="B7C9BA"/>
            </a:solidFill>
            <a:prstDash val="solid"/>
          </a:ln>
        </p:spPr>
      </p:sp>
      <p:sp>
        <p:nvSpPr>
          <p:cNvPr id="23" name="Text 18"/>
          <p:cNvSpPr txBox="1"/>
          <p:nvPr/>
        </p:nvSpPr>
        <p:spPr>
          <a:xfrm>
            <a:off x="6729984" y="2982773"/>
            <a:ext cx="4764024" cy="1075334"/>
          </a:xfrm>
          <a:prstGeom prst="rect">
            <a:avLst/>
          </a:prstGeom>
          <a:noFill/>
          <a:ln/>
        </p:spPr>
        <p:txBody>
          <a:bodyPr wrap="square" lIns="0" tIns="0" rIns="0" bIns="0" rtlCol="0" anchor="t"/>
          <a:lstStyle/>
          <a:p>
            <a:pPr indent="0" marL="0">
              <a:buNone/>
            </a:pPr>
            <a:r>
              <a:rPr lang="en-US" sz="1400" b="1" dirty="0">
                <a:solidFill>
                  <a:srgbClr val="1E5631"/>
                </a:solidFill>
              </a:rPr>
              <a:t>DHCP or static?</a:t>
            </a:r>
            <a:endParaRPr lang="en-US" sz="1400" dirty="0"/>
          </a:p>
          <a:p>
            <a:pPr indent="0" marL="0">
              <a:buNone/>
            </a:pPr>
            <a:r>
              <a:rPr lang="en-US" sz="1400" b="1" dirty="0">
                <a:solidFill>
                  <a:srgbClr val="2B2B2B"/>
                </a:solidFill>
              </a:rPr>
              <a:t>DHCP:</a:t>
            </a:r>
            <a:r>
              <a:rPr lang="en-US" sz="1400" dirty="0">
                <a:solidFill>
                  <a:srgbClr val="2B2B2B"/>
                </a:solidFill>
              </a:rPr>
              <a:t> PCs, laptops, phones. </a:t>
            </a:r>
            <a:r>
              <a:rPr lang="en-US" sz="1400" b="1" dirty="0">
                <a:solidFill>
                  <a:srgbClr val="2B2B2B"/>
                </a:solidFill>
              </a:rPr>
              <a:t>Static:</a:t>
            </a:r>
            <a:r>
              <a:rPr lang="en-US" sz="1400" dirty="0">
                <a:solidFill>
                  <a:srgbClr val="2B2B2B"/>
                </a:solidFill>
              </a:rPr>
              <a:t> routers, switches, servers, printers — keep their addresses out of the pool.</a:t>
            </a:r>
            <a:endParaRPr lang="en-US" sz="1400" dirty="0"/>
          </a:p>
        </p:txBody>
      </p:sp>
      <p:sp>
        <p:nvSpPr>
          <p:cNvPr id="24" name="Card"/>
          <p:cNvSpPr/>
          <p:nvPr/>
        </p:nvSpPr>
        <p:spPr>
          <a:xfrm>
            <a:off x="6583680" y="4297680"/>
            <a:ext cx="5056632" cy="1051560"/>
          </a:xfrm>
          <a:prstGeom prst="roundRect">
            <a:avLst>
              <a:gd name="adj" fmla="val 6957"/>
            </a:avLst>
          </a:prstGeom>
          <a:solidFill>
            <a:srgbClr val="F2F8F3"/>
          </a:solidFill>
          <a:ln w="12700">
            <a:solidFill>
              <a:srgbClr val="B7C9BA"/>
            </a:solidFill>
            <a:prstDash val="solid"/>
          </a:ln>
        </p:spPr>
      </p:sp>
      <p:sp>
        <p:nvSpPr>
          <p:cNvPr id="25" name="Text 20"/>
          <p:cNvSpPr txBox="1"/>
          <p:nvPr/>
        </p:nvSpPr>
        <p:spPr>
          <a:xfrm>
            <a:off x="6729984" y="4400093"/>
            <a:ext cx="4764024" cy="846734"/>
          </a:xfrm>
          <a:prstGeom prst="rect">
            <a:avLst/>
          </a:prstGeom>
          <a:noFill/>
          <a:ln/>
        </p:spPr>
        <p:txBody>
          <a:bodyPr wrap="square" lIns="0" tIns="0" rIns="0" bIns="0" rtlCol="0" anchor="t"/>
          <a:lstStyle/>
          <a:p>
            <a:pPr indent="0" marL="0">
              <a:buNone/>
            </a:pPr>
            <a:r>
              <a:rPr lang="en-US" sz="1400" b="1" dirty="0">
                <a:solidFill>
                  <a:srgbClr val="1E5631"/>
                </a:solidFill>
              </a:rPr>
              <a:t>A good plan for each /24 subnet</a:t>
            </a:r>
            <a:endParaRPr lang="en-US" sz="1400" dirty="0"/>
          </a:p>
          <a:p>
            <a:pPr indent="0" marL="0">
              <a:buNone/>
            </a:pPr>
            <a:r>
              <a:rPr lang="en-US" sz="1400" dirty="0">
                <a:solidFill>
                  <a:srgbClr val="2B2B2B"/>
                </a:solidFill>
              </a:rPr>
              <a:t>.1 = gateway   •   .2 – .20 = static devices   •   .21 – .254 = DHCP pool</a:t>
            </a:r>
            <a:endParaRPr lang="en-US" sz="1400" dirty="0"/>
          </a:p>
        </p:txBody>
      </p:sp>
      <p:sp>
        <p:nvSpPr>
          <p:cNvPr id="26" name="watch box"/>
          <p:cNvSpPr/>
          <p:nvPr/>
        </p:nvSpPr>
        <p:spPr>
          <a:xfrm>
            <a:off x="548640" y="5504688"/>
            <a:ext cx="11094415" cy="749808"/>
          </a:xfrm>
          <a:prstGeom prst="roundRect">
            <a:avLst>
              <a:gd name="adj" fmla="val 9756"/>
            </a:avLst>
          </a:prstGeom>
          <a:solidFill>
            <a:srgbClr val="FBEAEA"/>
          </a:solidFill>
          <a:ln w="12700">
            <a:solidFill>
              <a:srgbClr val="E9B8B5"/>
            </a:solidFill>
            <a:prstDash val="solid"/>
          </a:ln>
        </p:spPr>
      </p:sp>
      <p:pic>
        <p:nvPicPr>
          <p:cNvPr id="27" name="watch icon" descr="Watch out:">    </p:cNvPr>
          <p:cNvPicPr>
            <a:picLocks noChangeAspect="1"/>
          </p:cNvPicPr>
          <p:nvPr/>
        </p:nvPicPr>
        <p:blipFill>
          <a:blip r:embed="rId5"/>
          <a:stretch>
            <a:fillRect/>
          </a:stretch>
        </p:blipFill>
        <p:spPr>
          <a:xfrm>
            <a:off x="694944" y="5733288"/>
            <a:ext cx="292608" cy="292608"/>
          </a:xfrm>
          <a:prstGeom prst="rect">
            <a:avLst/>
          </a:prstGeom>
        </p:spPr>
      </p:pic>
      <p:sp>
        <p:nvSpPr>
          <p:cNvPr id="28" name="watch text"/>
          <p:cNvSpPr txBox="1"/>
          <p:nvPr/>
        </p:nvSpPr>
        <p:spPr>
          <a:xfrm>
            <a:off x="1097280" y="5541264"/>
            <a:ext cx="10436047" cy="676656"/>
          </a:xfrm>
          <a:prstGeom prst="rect">
            <a:avLst/>
          </a:prstGeom>
          <a:noFill/>
          <a:ln/>
        </p:spPr>
        <p:txBody>
          <a:bodyPr wrap="square" lIns="0" tIns="0" rIns="0" bIns="0" rtlCol="0" anchor="ctr"/>
          <a:lstStyle/>
          <a:p>
            <a:pPr indent="0" marL="0">
              <a:buNone/>
            </a:pPr>
            <a:r>
              <a:rPr lang="en-US" sz="1400" b="1" dirty="0">
                <a:solidFill>
                  <a:srgbClr val="8B1A1A"/>
                </a:solidFill>
              </a:rPr>
              <a:t>Watch out:  </a:t>
            </a:r>
            <a:r>
              <a:rPr lang="en-US" sz="1400" dirty="0">
                <a:solidFill>
                  <a:srgbClr val="2B2B2B"/>
                </a:solidFill>
              </a:rPr>
              <a:t>A PC showing 169.254.x.x got no DHCP answer — it gave itself an automatic (APIPA) address.</a:t>
            </a:r>
            <a:endParaRPr lang="en-US" sz="1400" dirty="0"/>
          </a:p>
        </p:txBody>
      </p:sp>
      <p:sp>
        <p:nvSpPr>
          <p:cNvPr id="29" name="Slide Number Placeholder 0"/>
          <p:cNvSpPr>
            <a:spLocks noGrp="1"/>
          </p:cNvSpPr>
          <p:nvPr>
            <p:ph type="sldNum" sz="quarter" idx="4294967295"/>
          </p:nvPr>
        </p:nvSpPr>
        <p:spPr>
          <a:xfrm>
            <a:off x="10698480" y="6464808"/>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1"/>
          <p:cNvSpPr/>
          <p:nvPr>
            <p:ph idx="102" type="body" hasCustomPrompt="1"/>
          </p:nvPr>
        </p:nvSpPr>
        <p:spPr>
          <a:xfrm>
            <a:off x="548640" y="274320"/>
            <a:ext cx="9966960" cy="256032"/>
          </a:xfrm>
          <a:prstGeom prst="rect">
            <a:avLst/>
          </a:prstGeom>
          <a:noFill/>
          <a:ln/>
        </p:spPr>
        <p:txBody>
          <a:bodyPr wrap="square" lIns="0" tIns="0" rIns="0" bIns="0" rtlCol="0" anchor="ctr"/>
          <a:lstStyle/>
          <a:p>
            <a:pPr algn="l" indent="0" marL="0">
              <a:buNone/>
            </a:pPr>
            <a:r>
              <a:rPr lang="en-US" sz="1100" b="1" spc="100" kern="0" dirty="0">
                <a:solidFill>
                  <a:schemeClr val="accent2"/>
                </a:solidFill>
              </a:rPr>
              <a:t>06  •  DHCP  •  LAB 4</a:t>
            </a:r>
            <a:endParaRPr lang="en-US" sz="1100" dirty="0"/>
          </a:p>
        </p:txBody>
      </p:sp>
      <p:sp>
        <p:nvSpPr>
          <p:cNvPr id="3" name="Text 1"/>
          <p:cNvSpPr/>
          <p:nvPr>
            <p:ph idx="103" type="title" hasCustomPrompt="1"/>
          </p:nvPr>
        </p:nvSpPr>
        <p:spPr>
          <a:xfrm>
            <a:off x="548640" y="548640"/>
            <a:ext cx="10149840" cy="548640"/>
          </a:xfrm>
          <a:prstGeom prst="rect">
            <a:avLst/>
          </a:prstGeom>
          <a:noFill/>
          <a:ln/>
        </p:spPr>
        <p:txBody>
          <a:bodyPr wrap="square" lIns="0" tIns="0" rIns="0" bIns="0" rtlCol="0" anchor="ctr"/>
          <a:lstStyle/>
          <a:p>
            <a:pPr algn="l" indent="0" marL="0">
              <a:buNone/>
            </a:pPr>
            <a:r>
              <a:rPr lang="en-US" sz="2600" b="1" dirty="0">
                <a:solidFill>
                  <a:schemeClr val="accent1"/>
                </a:solidFill>
              </a:rPr>
              <a:t>How to configure a router as a DHCP server (1 of 2)</a:t>
            </a:r>
            <a:endParaRPr lang="en-US" sz="2600" dirty="0"/>
          </a:p>
        </p:txBody>
      </p:sp>
      <p:pic>
        <p:nvPicPr>
          <p:cNvPr id="4" name="Home button" descr="Home: back to the workbook menu">
            <a:hlinkClick r:id="rId2" tooltip="Back to the workbook menu" action="ppaction://hlinksldjump"/>
          </p:cNvPr>
          <p:cNvPicPr>
            <a:picLocks noChangeAspect="1"/>
          </p:cNvPicPr>
          <p:nvPr/>
        </p:nvPicPr>
        <p:blipFill>
          <a:blip r:embed="rId1"/>
          <a:stretch>
            <a:fillRect/>
          </a:stretch>
        </p:blipFill>
        <p:spPr>
          <a:xfrm>
            <a:off x="11365992" y="6336792"/>
            <a:ext cx="365760" cy="365760"/>
          </a:xfrm>
          <a:prstGeom prst="rect">
            <a:avLst/>
          </a:prstGeom>
        </p:spPr>
      </p:pic>
      <p:sp>
        <p:nvSpPr>
          <p:cNvPr id="5" name="Goal"/>
          <p:cNvSpPr txBox="1"/>
          <p:nvPr/>
        </p:nvSpPr>
        <p:spPr>
          <a:xfrm>
            <a:off x="548640" y="1161288"/>
            <a:ext cx="11094415" cy="384048"/>
          </a:xfrm>
          <a:prstGeom prst="rect">
            <a:avLst/>
          </a:prstGeom>
          <a:noFill/>
          <a:ln/>
        </p:spPr>
        <p:txBody>
          <a:bodyPr wrap="square" lIns="0" tIns="0" rIns="0" bIns="0" rtlCol="0" anchor="ctr"/>
          <a:lstStyle/>
          <a:p>
            <a:pPr indent="0" marL="0">
              <a:buNone/>
            </a:pPr>
            <a:r>
              <a:rPr lang="en-US" sz="1400" b="1" dirty="0">
                <a:solidFill>
                  <a:srgbClr val="2B7043"/>
                </a:solidFill>
              </a:rPr>
              <a:t>Goal:  </a:t>
            </a:r>
            <a:r>
              <a:rPr lang="en-US" sz="1400" dirty="0">
                <a:solidFill>
                  <a:srgbClr val="2B2B2B"/>
                </a:solidFill>
              </a:rPr>
              <a:t>R1 will lease addresses to the STAFF PCs in VLAN 10 (192.168.10.0/24), keeping .1–.20 for static devices.</a:t>
            </a:r>
            <a:endParaRPr lang="en-US" sz="1400" dirty="0"/>
          </a:p>
        </p:txBody>
      </p:sp>
      <p:sp>
        <p:nvSpPr>
          <p:cNvPr id="6" name="Command header"/>
          <p:cNvSpPr/>
          <p:nvPr/>
        </p:nvSpPr>
        <p:spPr>
          <a:xfrm>
            <a:off x="548640" y="1664208"/>
            <a:ext cx="6153912" cy="310896"/>
          </a:xfrm>
          <a:prstGeom prst="rect">
            <a:avLst/>
          </a:prstGeom>
          <a:solidFill>
            <a:srgbClr val="1B2B22"/>
          </a:solidFill>
          <a:ln/>
        </p:spPr>
        <p:txBody>
          <a:bodyPr wrap="square" lIns="109728" tIns="45720" rIns="109728" bIns="45720" rtlCol="0" anchor="ctr"/>
          <a:lstStyle/>
          <a:p>
            <a:pPr indent="0" marL="0">
              <a:buNone/>
            </a:pPr>
            <a:r>
              <a:rPr lang="en-US" sz="1100" dirty="0">
                <a:solidFill>
                  <a:srgbClr val="E0605A"/>
                </a:solidFill>
              </a:rPr>
              <a:t>●  </a:t>
            </a:r>
            <a:r>
              <a:rPr lang="en-US" sz="1100" dirty="0">
                <a:solidFill>
                  <a:srgbClr val="E8B92E"/>
                </a:solidFill>
              </a:rPr>
              <a:t>●  </a:t>
            </a:r>
            <a:r>
              <a:rPr lang="en-US" sz="1100" dirty="0">
                <a:solidFill>
                  <a:srgbClr val="4CAF50"/>
                </a:solidFill>
              </a:rPr>
              <a:t>●   </a:t>
            </a:r>
            <a:r>
              <a:rPr lang="en-US" sz="1100" b="1" dirty="0">
                <a:solidFill>
                  <a:srgbClr val="C9D6CC"/>
                </a:solidFill>
              </a:rPr>
              <a:t>R1  —  type the white text, then press Enter</a:t>
            </a:r>
            <a:endParaRPr lang="en-US" sz="1100" dirty="0"/>
          </a:p>
        </p:txBody>
      </p:sp>
      <p:sp>
        <p:nvSpPr>
          <p:cNvPr id="7" name="Meaning header"/>
          <p:cNvSpPr/>
          <p:nvPr/>
        </p:nvSpPr>
        <p:spPr>
          <a:xfrm>
            <a:off x="6720840" y="1664208"/>
            <a:ext cx="4922215" cy="310896"/>
          </a:xfrm>
          <a:prstGeom prst="rect">
            <a:avLst/>
          </a:prstGeom>
          <a:solidFill>
            <a:srgbClr val="E8F1EA"/>
          </a:solidFill>
          <a:ln/>
        </p:spPr>
        <p:txBody>
          <a:bodyPr wrap="square" lIns="109728" tIns="45720" rIns="109728" bIns="45720" rtlCol="0" anchor="ctr"/>
          <a:lstStyle/>
          <a:p>
            <a:pPr indent="0" marL="0">
              <a:buNone/>
            </a:pPr>
            <a:r>
              <a:rPr lang="en-US" sz="1200" b="1" dirty="0">
                <a:solidFill>
                  <a:srgbClr val="1E5631"/>
                </a:solidFill>
              </a:rPr>
              <a:t>What it does</a:t>
            </a:r>
            <a:endParaRPr lang="en-US" sz="1200" dirty="0"/>
          </a:p>
        </p:txBody>
      </p:sp>
      <p:sp>
        <p:nvSpPr>
          <p:cNvPr id="8" name="Command 01"/>
          <p:cNvSpPr/>
          <p:nvPr/>
        </p:nvSpPr>
        <p:spPr>
          <a:xfrm>
            <a:off x="548640" y="1993392"/>
            <a:ext cx="6153912" cy="54380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R1(config)# </a:t>
            </a:r>
            <a:r>
              <a:rPr lang="en-US" sz="1200" b="1" dirty="0">
                <a:solidFill>
                  <a:srgbClr val="FFFFFF"/>
                </a:solidFill>
                <a:latin typeface="Courier New" pitchFamily="34" charset="0"/>
                <a:ea typeface="Courier New" pitchFamily="34" charset="-122"/>
                <a:cs typeface="Courier New" pitchFamily="34" charset="-120"/>
              </a:rPr>
              <a:t>ip dhcp excluded-address 192.168.10.1 192.168.10.20</a:t>
            </a:r>
            <a:endParaRPr lang="en-US" sz="1200" dirty="0"/>
          </a:p>
        </p:txBody>
      </p:sp>
      <p:sp>
        <p:nvSpPr>
          <p:cNvPr id="9" name="Reveal 01 meaning"/>
          <p:cNvSpPr/>
          <p:nvPr/>
        </p:nvSpPr>
        <p:spPr>
          <a:xfrm>
            <a:off x="6720840" y="1993392"/>
            <a:ext cx="4922215" cy="543809"/>
          </a:xfrm>
          <a:prstGeom prst="rect">
            <a:avLst/>
          </a:prstGeom>
          <a:solidFill>
            <a:srgbClr val="F2F8F3"/>
          </a:solidFill>
          <a:ln/>
        </p:spPr>
        <p:txBody>
          <a:bodyPr wrap="square" lIns="109728" tIns="45720" rIns="109728" bIns="45720" rtlCol="0" anchor="ctr"/>
          <a:lstStyle/>
          <a:p>
            <a:pPr indent="0" marL="0">
              <a:buNone/>
            </a:pPr>
            <a:r>
              <a:rPr lang="en-US" sz="1400" dirty="0">
                <a:solidFill>
                  <a:srgbClr val="2B2B2B"/>
                </a:solidFill>
              </a:rPr>
              <a:t>Never lease .1 to .20 — they are kept for the gateway, servers, printers and switches. Do this before the pool.</a:t>
            </a:r>
            <a:endParaRPr lang="en-US" sz="1400" dirty="0"/>
          </a:p>
        </p:txBody>
      </p:sp>
      <p:sp>
        <p:nvSpPr>
          <p:cNvPr id="10" name="Command 02"/>
          <p:cNvSpPr/>
          <p:nvPr/>
        </p:nvSpPr>
        <p:spPr>
          <a:xfrm>
            <a:off x="548640" y="2555489"/>
            <a:ext cx="6153912" cy="54380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R1(config)# </a:t>
            </a:r>
            <a:r>
              <a:rPr lang="en-US" sz="1200" b="1" dirty="0">
                <a:solidFill>
                  <a:srgbClr val="FFFFFF"/>
                </a:solidFill>
                <a:latin typeface="Courier New" pitchFamily="34" charset="0"/>
                <a:ea typeface="Courier New" pitchFamily="34" charset="-122"/>
                <a:cs typeface="Courier New" pitchFamily="34" charset="-120"/>
              </a:rPr>
              <a:t>ip dhcp pool STAFF-POOL</a:t>
            </a:r>
            <a:endParaRPr lang="en-US" sz="1200" dirty="0"/>
          </a:p>
        </p:txBody>
      </p:sp>
      <p:sp>
        <p:nvSpPr>
          <p:cNvPr id="11" name="Reveal 02 meaning"/>
          <p:cNvSpPr/>
          <p:nvPr/>
        </p:nvSpPr>
        <p:spPr>
          <a:xfrm>
            <a:off x="6720840" y="2555489"/>
            <a:ext cx="4922215" cy="543809"/>
          </a:xfrm>
          <a:prstGeom prst="rect">
            <a:avLst/>
          </a:prstGeom>
          <a:solidFill>
            <a:srgbClr val="FFFFFF"/>
          </a:solidFill>
          <a:ln/>
        </p:spPr>
        <p:txBody>
          <a:bodyPr wrap="square" lIns="109728" tIns="45720" rIns="109728" bIns="45720" rtlCol="0" anchor="ctr"/>
          <a:lstStyle/>
          <a:p>
            <a:pPr indent="0" marL="0">
              <a:buNone/>
            </a:pPr>
            <a:r>
              <a:rPr lang="en-US" sz="1400" dirty="0">
                <a:solidFill>
                  <a:srgbClr val="2B2B2B"/>
                </a:solidFill>
              </a:rPr>
              <a:t>Create a pool (you choose the name) and enter </a:t>
            </a:r>
            <a:r>
              <a:rPr lang="en-US" sz="1300" b="1" dirty="0">
                <a:solidFill>
                  <a:srgbClr val="1E5631"/>
                </a:solidFill>
                <a:latin typeface="Courier New" pitchFamily="34" charset="0"/>
                <a:ea typeface="Courier New" pitchFamily="34" charset="-122"/>
                <a:cs typeface="Courier New" pitchFamily="34" charset="-120"/>
              </a:rPr>
              <a:t>(dhcp-config)#</a:t>
            </a:r>
            <a:r>
              <a:rPr lang="en-US" sz="1400" dirty="0">
                <a:solidFill>
                  <a:srgbClr val="2B2B2B"/>
                </a:solidFill>
              </a:rPr>
              <a:t> mode.</a:t>
            </a:r>
            <a:endParaRPr lang="en-US" sz="1400" dirty="0"/>
          </a:p>
        </p:txBody>
      </p:sp>
      <p:sp>
        <p:nvSpPr>
          <p:cNvPr id="12" name="Command 03"/>
          <p:cNvSpPr/>
          <p:nvPr/>
        </p:nvSpPr>
        <p:spPr>
          <a:xfrm>
            <a:off x="548640" y="3117586"/>
            <a:ext cx="6153912" cy="326768"/>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R1(dhcp-config)# </a:t>
            </a:r>
            <a:r>
              <a:rPr lang="en-US" sz="1200" b="1" dirty="0">
                <a:solidFill>
                  <a:srgbClr val="FFFFFF"/>
                </a:solidFill>
                <a:latin typeface="Courier New" pitchFamily="34" charset="0"/>
                <a:ea typeface="Courier New" pitchFamily="34" charset="-122"/>
                <a:cs typeface="Courier New" pitchFamily="34" charset="-120"/>
              </a:rPr>
              <a:t>network 192.168.10.0 255.255.255.0</a:t>
            </a:r>
            <a:endParaRPr lang="en-US" sz="1200" dirty="0"/>
          </a:p>
        </p:txBody>
      </p:sp>
      <p:sp>
        <p:nvSpPr>
          <p:cNvPr id="13" name="Reveal 03 meaning"/>
          <p:cNvSpPr/>
          <p:nvPr/>
        </p:nvSpPr>
        <p:spPr>
          <a:xfrm>
            <a:off x="6720840" y="3117586"/>
            <a:ext cx="4922215" cy="326768"/>
          </a:xfrm>
          <a:prstGeom prst="rect">
            <a:avLst/>
          </a:prstGeom>
          <a:solidFill>
            <a:srgbClr val="F2F8F3"/>
          </a:solidFill>
          <a:ln/>
        </p:spPr>
        <p:txBody>
          <a:bodyPr wrap="square" lIns="109728" tIns="45720" rIns="109728" bIns="45720" rtlCol="0" anchor="ctr"/>
          <a:lstStyle/>
          <a:p>
            <a:pPr indent="0" marL="0">
              <a:buNone/>
            </a:pPr>
            <a:r>
              <a:rPr lang="en-US" sz="1400" dirty="0">
                <a:solidFill>
                  <a:srgbClr val="2B2B2B"/>
                </a:solidFill>
              </a:rPr>
              <a:t>The subnet to lease from: .21 to .254 after the exclusions.</a:t>
            </a:r>
            <a:endParaRPr lang="en-US" sz="1400" dirty="0"/>
          </a:p>
        </p:txBody>
      </p:sp>
      <p:sp>
        <p:nvSpPr>
          <p:cNvPr id="14" name="Command 04"/>
          <p:cNvSpPr/>
          <p:nvPr/>
        </p:nvSpPr>
        <p:spPr>
          <a:xfrm>
            <a:off x="548640" y="3462642"/>
            <a:ext cx="6153912" cy="54380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R1(dhcp-config)# </a:t>
            </a:r>
            <a:r>
              <a:rPr lang="en-US" sz="1200" b="1" dirty="0">
                <a:solidFill>
                  <a:srgbClr val="FFFFFF"/>
                </a:solidFill>
                <a:latin typeface="Courier New" pitchFamily="34" charset="0"/>
                <a:ea typeface="Courier New" pitchFamily="34" charset="-122"/>
                <a:cs typeface="Courier New" pitchFamily="34" charset="-120"/>
              </a:rPr>
              <a:t>default-router 192.168.10.1</a:t>
            </a:r>
            <a:endParaRPr lang="en-US" sz="1200" dirty="0"/>
          </a:p>
        </p:txBody>
      </p:sp>
      <p:sp>
        <p:nvSpPr>
          <p:cNvPr id="15" name="Reveal 04 meaning"/>
          <p:cNvSpPr/>
          <p:nvPr/>
        </p:nvSpPr>
        <p:spPr>
          <a:xfrm>
            <a:off x="6720840" y="3462642"/>
            <a:ext cx="4922215" cy="543809"/>
          </a:xfrm>
          <a:prstGeom prst="rect">
            <a:avLst/>
          </a:prstGeom>
          <a:solidFill>
            <a:srgbClr val="FFFFFF"/>
          </a:solidFill>
          <a:ln/>
        </p:spPr>
        <p:txBody>
          <a:bodyPr wrap="square" lIns="109728" tIns="45720" rIns="109728" bIns="45720" rtlCol="0" anchor="ctr"/>
          <a:lstStyle/>
          <a:p>
            <a:pPr indent="0" marL="0">
              <a:buNone/>
            </a:pPr>
            <a:r>
              <a:rPr lang="en-US" sz="1400" dirty="0">
                <a:solidFill>
                  <a:srgbClr val="2B2B2B"/>
                </a:solidFill>
              </a:rPr>
              <a:t>The default gateway given to clients: the router’s own address on that LAN.</a:t>
            </a:r>
            <a:endParaRPr lang="en-US" sz="1400" dirty="0"/>
          </a:p>
        </p:txBody>
      </p:sp>
      <p:sp>
        <p:nvSpPr>
          <p:cNvPr id="16" name="Command 05"/>
          <p:cNvSpPr/>
          <p:nvPr/>
        </p:nvSpPr>
        <p:spPr>
          <a:xfrm>
            <a:off x="548640" y="4024739"/>
            <a:ext cx="6153912" cy="326768"/>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R1(dhcp-config)# </a:t>
            </a:r>
            <a:r>
              <a:rPr lang="en-US" sz="1200" b="1" dirty="0">
                <a:solidFill>
                  <a:srgbClr val="FFFFFF"/>
                </a:solidFill>
                <a:latin typeface="Courier New" pitchFamily="34" charset="0"/>
                <a:ea typeface="Courier New" pitchFamily="34" charset="-122"/>
                <a:cs typeface="Courier New" pitchFamily="34" charset="-120"/>
              </a:rPr>
              <a:t>dns-server 192.168.50.10</a:t>
            </a:r>
            <a:endParaRPr lang="en-US" sz="1200" dirty="0"/>
          </a:p>
        </p:txBody>
      </p:sp>
      <p:sp>
        <p:nvSpPr>
          <p:cNvPr id="17" name="Reveal 05 meaning"/>
          <p:cNvSpPr/>
          <p:nvPr/>
        </p:nvSpPr>
        <p:spPr>
          <a:xfrm>
            <a:off x="6720840" y="4024739"/>
            <a:ext cx="4922215" cy="326768"/>
          </a:xfrm>
          <a:prstGeom prst="rect">
            <a:avLst/>
          </a:prstGeom>
          <a:solidFill>
            <a:srgbClr val="F2F8F3"/>
          </a:solidFill>
          <a:ln/>
        </p:spPr>
        <p:txBody>
          <a:bodyPr wrap="square" lIns="109728" tIns="45720" rIns="109728" bIns="45720" rtlCol="0" anchor="ctr"/>
          <a:lstStyle/>
          <a:p>
            <a:pPr indent="0" marL="0">
              <a:buNone/>
            </a:pPr>
            <a:r>
              <a:rPr lang="en-US" sz="1400" dirty="0">
                <a:solidFill>
                  <a:srgbClr val="2B2B2B"/>
                </a:solidFill>
              </a:rPr>
              <a:t>The DNS server clients use to turn names into IP addresses.</a:t>
            </a:r>
            <a:endParaRPr lang="en-US" sz="1400" dirty="0"/>
          </a:p>
        </p:txBody>
      </p:sp>
      <p:sp>
        <p:nvSpPr>
          <p:cNvPr id="18" name="Reveal 99 check box"/>
          <p:cNvSpPr/>
          <p:nvPr/>
        </p:nvSpPr>
        <p:spPr>
          <a:xfrm>
            <a:off x="548640" y="5504688"/>
            <a:ext cx="5410048" cy="749808"/>
          </a:xfrm>
          <a:prstGeom prst="roundRect">
            <a:avLst>
              <a:gd name="adj" fmla="val 9756"/>
            </a:avLst>
          </a:prstGeom>
          <a:solidFill>
            <a:srgbClr val="E8F1EA"/>
          </a:solidFill>
          <a:ln w="12700">
            <a:solidFill>
              <a:srgbClr val="B7C9BA"/>
            </a:solidFill>
            <a:prstDash val="solid"/>
          </a:ln>
        </p:spPr>
      </p:sp>
      <p:pic>
        <p:nvPicPr>
          <p:cNvPr id="19" name="Reveal 99 check icon" descr="Check it:">    </p:cNvPr>
          <p:cNvPicPr>
            <a:picLocks noChangeAspect="1"/>
          </p:cNvPicPr>
          <p:nvPr/>
        </p:nvPicPr>
        <p:blipFill>
          <a:blip r:embed="rId3"/>
          <a:stretch>
            <a:fillRect/>
          </a:stretch>
        </p:blipFill>
        <p:spPr>
          <a:xfrm>
            <a:off x="694944" y="5733288"/>
            <a:ext cx="292608" cy="292608"/>
          </a:xfrm>
          <a:prstGeom prst="rect">
            <a:avLst/>
          </a:prstGeom>
        </p:spPr>
      </p:pic>
      <p:sp>
        <p:nvSpPr>
          <p:cNvPr id="20" name="Reveal 99 check text"/>
          <p:cNvSpPr txBox="1"/>
          <p:nvPr/>
        </p:nvSpPr>
        <p:spPr>
          <a:xfrm>
            <a:off x="1097280" y="5541264"/>
            <a:ext cx="4751680" cy="676656"/>
          </a:xfrm>
          <a:prstGeom prst="rect">
            <a:avLst/>
          </a:prstGeom>
          <a:noFill/>
          <a:ln/>
        </p:spPr>
        <p:txBody>
          <a:bodyPr wrap="square" lIns="0" tIns="0" rIns="0" bIns="0" rtlCol="0" anchor="ctr"/>
          <a:lstStyle/>
          <a:p>
            <a:pPr indent="0" marL="0">
              <a:buNone/>
            </a:pPr>
            <a:r>
              <a:rPr lang="en-US" sz="1400" b="1" dirty="0">
                <a:solidFill>
                  <a:srgbClr val="1E5631"/>
                </a:solidFill>
              </a:rPr>
              <a:t>Check it:  </a:t>
            </a:r>
            <a:r>
              <a:rPr lang="en-US" sz="1300" b="1" dirty="0">
                <a:solidFill>
                  <a:srgbClr val="1E5631"/>
                </a:solidFill>
                <a:latin typeface="Courier New" pitchFamily="34" charset="0"/>
                <a:ea typeface="Courier New" pitchFamily="34" charset="-122"/>
                <a:cs typeface="Courier New" pitchFamily="34" charset="-120"/>
              </a:rPr>
              <a:t>show ip dhcp pool</a:t>
            </a:r>
            <a:r>
              <a:rPr lang="en-US" sz="1400" dirty="0">
                <a:solidFill>
                  <a:srgbClr val="2B2B2B"/>
                </a:solidFill>
              </a:rPr>
              <a:t> → STAFF-POOL, with the number of leased addresses.</a:t>
            </a:r>
            <a:endParaRPr lang="en-US" sz="1400" dirty="0"/>
          </a:p>
        </p:txBody>
      </p:sp>
      <p:sp>
        <p:nvSpPr>
          <p:cNvPr id="21" name="Reveal 99 watch box"/>
          <p:cNvSpPr/>
          <p:nvPr/>
        </p:nvSpPr>
        <p:spPr>
          <a:xfrm>
            <a:off x="6233008" y="5504688"/>
            <a:ext cx="5410048" cy="749808"/>
          </a:xfrm>
          <a:prstGeom prst="roundRect">
            <a:avLst>
              <a:gd name="adj" fmla="val 9756"/>
            </a:avLst>
          </a:prstGeom>
          <a:solidFill>
            <a:srgbClr val="FBEAEA"/>
          </a:solidFill>
          <a:ln w="12700">
            <a:solidFill>
              <a:srgbClr val="E9B8B5"/>
            </a:solidFill>
            <a:prstDash val="solid"/>
          </a:ln>
        </p:spPr>
      </p:sp>
      <p:pic>
        <p:nvPicPr>
          <p:cNvPr id="22" name="Reveal 99 watch icon" descr="Watch out:">    </p:cNvPr>
          <p:cNvPicPr>
            <a:picLocks noChangeAspect="1"/>
          </p:cNvPicPr>
          <p:nvPr/>
        </p:nvPicPr>
        <p:blipFill>
          <a:blip r:embed="rId4"/>
          <a:stretch>
            <a:fillRect/>
          </a:stretch>
        </p:blipFill>
        <p:spPr>
          <a:xfrm>
            <a:off x="6379312" y="5733288"/>
            <a:ext cx="292608" cy="292608"/>
          </a:xfrm>
          <a:prstGeom prst="rect">
            <a:avLst/>
          </a:prstGeom>
        </p:spPr>
      </p:pic>
      <p:sp>
        <p:nvSpPr>
          <p:cNvPr id="23" name="Reveal 99 watch text"/>
          <p:cNvSpPr txBox="1"/>
          <p:nvPr/>
        </p:nvSpPr>
        <p:spPr>
          <a:xfrm>
            <a:off x="6781648" y="5541264"/>
            <a:ext cx="4751680" cy="676656"/>
          </a:xfrm>
          <a:prstGeom prst="rect">
            <a:avLst/>
          </a:prstGeom>
          <a:noFill/>
          <a:ln/>
        </p:spPr>
        <p:txBody>
          <a:bodyPr wrap="square" lIns="0" tIns="0" rIns="0" bIns="0" rtlCol="0" anchor="ctr"/>
          <a:lstStyle/>
          <a:p>
            <a:pPr indent="0" marL="0">
              <a:buNone/>
            </a:pPr>
            <a:r>
              <a:rPr lang="en-US" sz="1400" b="1" dirty="0">
                <a:solidFill>
                  <a:srgbClr val="8B1A1A"/>
                </a:solidFill>
              </a:rPr>
              <a:t>Watch out:  </a:t>
            </a:r>
            <a:r>
              <a:rPr lang="en-US" sz="1400" dirty="0">
                <a:solidFill>
                  <a:srgbClr val="2B2B2B"/>
                </a:solidFill>
              </a:rPr>
              <a:t>A wrong </a:t>
            </a:r>
            <a:r>
              <a:rPr lang="en-US" sz="1300" b="1" dirty="0">
                <a:solidFill>
                  <a:srgbClr val="1E5631"/>
                </a:solidFill>
                <a:latin typeface="Courier New" pitchFamily="34" charset="0"/>
                <a:ea typeface="Courier New" pitchFamily="34" charset="-122"/>
                <a:cs typeface="Courier New" pitchFamily="34" charset="-120"/>
              </a:rPr>
              <a:t>default-router</a:t>
            </a:r>
            <a:r>
              <a:rPr lang="en-US" sz="1400" dirty="0">
                <a:solidFill>
                  <a:srgbClr val="2B2B2B"/>
                </a:solidFill>
              </a:rPr>
              <a:t> lets PCs get an address but never leave their own subnet.</a:t>
            </a:r>
            <a:endParaRPr lang="en-US" sz="1400" dirty="0"/>
          </a:p>
        </p:txBody>
      </p:sp>
      <p:sp>
        <p:nvSpPr>
          <p:cNvPr id="25" name="Slide Number Placeholder 0"/>
          <p:cNvSpPr>
            <a:spLocks noGrp="1"/>
          </p:cNvSpPr>
          <p:nvPr>
            <p:ph type="sldNum" sz="quarter" idx="4294967295"/>
          </p:nvPr>
        </p:nvSpPr>
        <p:spPr>
          <a:xfrm>
            <a:off x="10698480" y="6464808"/>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r"/>
            <a:fld id="{F7021451-1387-4CA6-816F-3879F97B5CBC}" type="slidenum">
              <a:rPr b="0" lang="en-US"/>
              <a:t>43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4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0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400"/>
                                        <p:tgtEl>
                                          <p:spTgt spid="1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400"/>
                                        <p:tgtEl>
                                          <p:spTgt spid="1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fade">
                                      <p:cBhvr>
                                        <p:cTn id="38" dur="400"/>
                                        <p:tgtEl>
                                          <p:spTgt spid="20"/>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fade">
                                      <p:cBhvr>
                                        <p:cTn id="41" dur="400"/>
                                        <p:tgtEl>
                                          <p:spTgt spid="21"/>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fade">
                                      <p:cBhvr>
                                        <p:cTn id="44" dur="400"/>
                                        <p:tgtEl>
                                          <p:spTgt spid="22"/>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3" grpId="0" animBg="1"/>
      <p:bldP spid="15" grpId="0" animBg="1"/>
      <p:bldP spid="17" grpId="0" animBg="1"/>
      <p:bldP spid="18" grpId="0" animBg="1"/>
      <p:bldP spid="20" grpId="0" animBg="1"/>
      <p:bldP spid="21" grpId="0" animBg="1"/>
      <p:bldP spid="23"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1"/>
          <p:cNvSpPr/>
          <p:nvPr>
            <p:ph idx="102" type="body" hasCustomPrompt="1"/>
          </p:nvPr>
        </p:nvSpPr>
        <p:spPr>
          <a:xfrm>
            <a:off x="548640" y="274320"/>
            <a:ext cx="9966960" cy="256032"/>
          </a:xfrm>
          <a:prstGeom prst="rect">
            <a:avLst/>
          </a:prstGeom>
          <a:noFill/>
          <a:ln/>
        </p:spPr>
        <p:txBody>
          <a:bodyPr wrap="square" lIns="0" tIns="0" rIns="0" bIns="0" rtlCol="0" anchor="ctr"/>
          <a:lstStyle/>
          <a:p>
            <a:pPr algn="l" indent="0" marL="0">
              <a:buNone/>
            </a:pPr>
            <a:r>
              <a:rPr lang="en-US" sz="1100" b="1" spc="100" kern="0" dirty="0">
                <a:solidFill>
                  <a:schemeClr val="accent2"/>
                </a:solidFill>
              </a:rPr>
              <a:t>06  •  DHCP  •  LAB 4</a:t>
            </a:r>
            <a:endParaRPr lang="en-US" sz="1100" dirty="0"/>
          </a:p>
        </p:txBody>
      </p:sp>
      <p:sp>
        <p:nvSpPr>
          <p:cNvPr id="3" name="Text 1"/>
          <p:cNvSpPr/>
          <p:nvPr>
            <p:ph idx="103" type="title" hasCustomPrompt="1"/>
          </p:nvPr>
        </p:nvSpPr>
        <p:spPr>
          <a:xfrm>
            <a:off x="548640" y="548640"/>
            <a:ext cx="10149840" cy="548640"/>
          </a:xfrm>
          <a:prstGeom prst="rect">
            <a:avLst/>
          </a:prstGeom>
          <a:noFill/>
          <a:ln/>
        </p:spPr>
        <p:txBody>
          <a:bodyPr wrap="square" lIns="0" tIns="0" rIns="0" bIns="0" rtlCol="0" anchor="ctr"/>
          <a:lstStyle/>
          <a:p>
            <a:pPr algn="l" indent="0" marL="0">
              <a:buNone/>
            </a:pPr>
            <a:r>
              <a:rPr lang="en-US" sz="2600" b="1" dirty="0">
                <a:solidFill>
                  <a:schemeClr val="accent1"/>
                </a:solidFill>
              </a:rPr>
              <a:t>How to configure a router as a DHCP server (2 of 2)</a:t>
            </a:r>
            <a:endParaRPr lang="en-US" sz="2600" dirty="0"/>
          </a:p>
        </p:txBody>
      </p:sp>
      <p:pic>
        <p:nvPicPr>
          <p:cNvPr id="4" name="Home button" descr="Home: back to the workbook menu">
            <a:hlinkClick r:id="rId2" tooltip="Back to the workbook menu" action="ppaction://hlinksldjump"/>
          </p:cNvPr>
          <p:cNvPicPr>
            <a:picLocks noChangeAspect="1"/>
          </p:cNvPicPr>
          <p:nvPr/>
        </p:nvPicPr>
        <p:blipFill>
          <a:blip r:embed="rId1"/>
          <a:stretch>
            <a:fillRect/>
          </a:stretch>
        </p:blipFill>
        <p:spPr>
          <a:xfrm>
            <a:off x="11365992" y="6336792"/>
            <a:ext cx="365760" cy="365760"/>
          </a:xfrm>
          <a:prstGeom prst="rect">
            <a:avLst/>
          </a:prstGeom>
        </p:spPr>
      </p:pic>
      <p:sp>
        <p:nvSpPr>
          <p:cNvPr id="5" name="Goal"/>
          <p:cNvSpPr txBox="1"/>
          <p:nvPr/>
        </p:nvSpPr>
        <p:spPr>
          <a:xfrm>
            <a:off x="548640" y="1161288"/>
            <a:ext cx="11094415" cy="384048"/>
          </a:xfrm>
          <a:prstGeom prst="rect">
            <a:avLst/>
          </a:prstGeom>
          <a:noFill/>
          <a:ln/>
        </p:spPr>
        <p:txBody>
          <a:bodyPr wrap="square" lIns="0" tIns="0" rIns="0" bIns="0" rtlCol="0" anchor="ctr"/>
          <a:lstStyle/>
          <a:p>
            <a:pPr indent="0" marL="0">
              <a:buNone/>
            </a:pPr>
            <a:r>
              <a:rPr lang="en-US" sz="1400" b="1" dirty="0">
                <a:solidFill>
                  <a:srgbClr val="2B7043"/>
                </a:solidFill>
              </a:rPr>
              <a:t>Goal:  </a:t>
            </a:r>
            <a:r>
              <a:rPr lang="en-US" sz="1400" dirty="0">
                <a:solidFill>
                  <a:srgbClr val="2B2B2B"/>
                </a:solidFill>
              </a:rPr>
              <a:t>Finish the pool, then switch the PCs to DHCP and check that they lease their addresses.</a:t>
            </a:r>
            <a:endParaRPr lang="en-US" sz="1400" dirty="0"/>
          </a:p>
        </p:txBody>
      </p:sp>
      <p:sp>
        <p:nvSpPr>
          <p:cNvPr id="6" name="Command header"/>
          <p:cNvSpPr/>
          <p:nvPr/>
        </p:nvSpPr>
        <p:spPr>
          <a:xfrm>
            <a:off x="548640" y="1664208"/>
            <a:ext cx="6153912" cy="310896"/>
          </a:xfrm>
          <a:prstGeom prst="rect">
            <a:avLst/>
          </a:prstGeom>
          <a:solidFill>
            <a:srgbClr val="1B2B22"/>
          </a:solidFill>
          <a:ln/>
        </p:spPr>
        <p:txBody>
          <a:bodyPr wrap="square" lIns="109728" tIns="45720" rIns="109728" bIns="45720" rtlCol="0" anchor="ctr"/>
          <a:lstStyle/>
          <a:p>
            <a:pPr indent="0" marL="0">
              <a:buNone/>
            </a:pPr>
            <a:r>
              <a:rPr lang="en-US" sz="1100" dirty="0">
                <a:solidFill>
                  <a:srgbClr val="E0605A"/>
                </a:solidFill>
              </a:rPr>
              <a:t>●  </a:t>
            </a:r>
            <a:r>
              <a:rPr lang="en-US" sz="1100" dirty="0">
                <a:solidFill>
                  <a:srgbClr val="E8B92E"/>
                </a:solidFill>
              </a:rPr>
              <a:t>●  </a:t>
            </a:r>
            <a:r>
              <a:rPr lang="en-US" sz="1100" dirty="0">
                <a:solidFill>
                  <a:srgbClr val="4CAF50"/>
                </a:solidFill>
              </a:rPr>
              <a:t>●   </a:t>
            </a:r>
            <a:r>
              <a:rPr lang="en-US" sz="1100" b="1" dirty="0">
                <a:solidFill>
                  <a:srgbClr val="C9D6CC"/>
                </a:solidFill>
              </a:rPr>
              <a:t>R1  —  type the white text, then press Enter</a:t>
            </a:r>
            <a:endParaRPr lang="en-US" sz="1100" dirty="0"/>
          </a:p>
        </p:txBody>
      </p:sp>
      <p:sp>
        <p:nvSpPr>
          <p:cNvPr id="7" name="Meaning header"/>
          <p:cNvSpPr/>
          <p:nvPr/>
        </p:nvSpPr>
        <p:spPr>
          <a:xfrm>
            <a:off x="6720840" y="1664208"/>
            <a:ext cx="4922215" cy="310896"/>
          </a:xfrm>
          <a:prstGeom prst="rect">
            <a:avLst/>
          </a:prstGeom>
          <a:solidFill>
            <a:srgbClr val="E8F1EA"/>
          </a:solidFill>
          <a:ln/>
        </p:spPr>
        <p:txBody>
          <a:bodyPr wrap="square" lIns="109728" tIns="45720" rIns="109728" bIns="45720" rtlCol="0" anchor="ctr"/>
          <a:lstStyle/>
          <a:p>
            <a:pPr indent="0" marL="0">
              <a:buNone/>
            </a:pPr>
            <a:r>
              <a:rPr lang="en-US" sz="1200" b="1" dirty="0">
                <a:solidFill>
                  <a:srgbClr val="1E5631"/>
                </a:solidFill>
              </a:rPr>
              <a:t>What it does</a:t>
            </a:r>
            <a:endParaRPr lang="en-US" sz="1200" dirty="0"/>
          </a:p>
        </p:txBody>
      </p:sp>
      <p:sp>
        <p:nvSpPr>
          <p:cNvPr id="8" name="Command 01"/>
          <p:cNvSpPr/>
          <p:nvPr/>
        </p:nvSpPr>
        <p:spPr>
          <a:xfrm>
            <a:off x="548640" y="1993392"/>
            <a:ext cx="6153912" cy="54380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R1(dhcp-config)# </a:t>
            </a:r>
            <a:r>
              <a:rPr lang="en-US" sz="1200" b="1" dirty="0">
                <a:solidFill>
                  <a:srgbClr val="FFFFFF"/>
                </a:solidFill>
                <a:latin typeface="Courier New" pitchFamily="34" charset="0"/>
                <a:ea typeface="Courier New" pitchFamily="34" charset="-122"/>
                <a:cs typeface="Courier New" pitchFamily="34" charset="-120"/>
              </a:rPr>
              <a:t>domain-name knp.local</a:t>
            </a:r>
            <a:endParaRPr lang="en-US" sz="1200" dirty="0"/>
          </a:p>
        </p:txBody>
      </p:sp>
      <p:sp>
        <p:nvSpPr>
          <p:cNvPr id="9" name="Reveal 01 meaning"/>
          <p:cNvSpPr/>
          <p:nvPr/>
        </p:nvSpPr>
        <p:spPr>
          <a:xfrm>
            <a:off x="6720840" y="1993392"/>
            <a:ext cx="4922215" cy="543809"/>
          </a:xfrm>
          <a:prstGeom prst="rect">
            <a:avLst/>
          </a:prstGeom>
          <a:solidFill>
            <a:srgbClr val="F2F8F3"/>
          </a:solidFill>
          <a:ln/>
        </p:spPr>
        <p:txBody>
          <a:bodyPr wrap="square" lIns="109728" tIns="45720" rIns="109728" bIns="45720" rtlCol="0" anchor="ctr"/>
          <a:lstStyle/>
          <a:p>
            <a:pPr indent="0" marL="0">
              <a:buNone/>
            </a:pPr>
            <a:r>
              <a:rPr lang="en-US" sz="1400" dirty="0">
                <a:solidFill>
                  <a:srgbClr val="2B2B2B"/>
                </a:solidFill>
              </a:rPr>
              <a:t>The DNS suffix added to short names (</a:t>
            </a:r>
            <a:r>
              <a:rPr lang="en-US" sz="1300" b="1" dirty="0">
                <a:solidFill>
                  <a:srgbClr val="1E5631"/>
                </a:solidFill>
                <a:latin typeface="Courier New" pitchFamily="34" charset="0"/>
                <a:ea typeface="Courier New" pitchFamily="34" charset="-122"/>
                <a:cs typeface="Courier New" pitchFamily="34" charset="-120"/>
              </a:rPr>
              <a:t>www</a:t>
            </a:r>
            <a:r>
              <a:rPr lang="en-US" sz="1400" dirty="0">
                <a:solidFill>
                  <a:srgbClr val="2B2B2B"/>
                </a:solidFill>
              </a:rPr>
              <a:t> becomes </a:t>
            </a:r>
            <a:r>
              <a:rPr lang="en-US" sz="1300" b="1" dirty="0">
                <a:solidFill>
                  <a:srgbClr val="1E5631"/>
                </a:solidFill>
                <a:latin typeface="Courier New" pitchFamily="34" charset="0"/>
                <a:ea typeface="Courier New" pitchFamily="34" charset="-122"/>
                <a:cs typeface="Courier New" pitchFamily="34" charset="-120"/>
              </a:rPr>
              <a:t>www.knp.local</a:t>
            </a:r>
            <a:r>
              <a:rPr lang="en-US" sz="1400" dirty="0">
                <a:solidFill>
                  <a:srgbClr val="2B2B2B"/>
                </a:solidFill>
              </a:rPr>
              <a:t>).</a:t>
            </a:r>
            <a:endParaRPr lang="en-US" sz="1400" dirty="0"/>
          </a:p>
        </p:txBody>
      </p:sp>
      <p:sp>
        <p:nvSpPr>
          <p:cNvPr id="10" name="Command 02"/>
          <p:cNvSpPr/>
          <p:nvPr/>
        </p:nvSpPr>
        <p:spPr>
          <a:xfrm>
            <a:off x="548640" y="2555489"/>
            <a:ext cx="6153912" cy="326768"/>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R1(dhcp-config)# </a:t>
            </a:r>
            <a:r>
              <a:rPr lang="en-US" sz="1200" b="1" dirty="0">
                <a:solidFill>
                  <a:srgbClr val="FFFFFF"/>
                </a:solidFill>
                <a:latin typeface="Courier New" pitchFamily="34" charset="0"/>
                <a:ea typeface="Courier New" pitchFamily="34" charset="-122"/>
                <a:cs typeface="Courier New" pitchFamily="34" charset="-120"/>
              </a:rPr>
              <a:t>exit</a:t>
            </a:r>
            <a:endParaRPr lang="en-US" sz="1200" dirty="0"/>
          </a:p>
        </p:txBody>
      </p:sp>
      <p:sp>
        <p:nvSpPr>
          <p:cNvPr id="11" name="Reveal 02 meaning"/>
          <p:cNvSpPr/>
          <p:nvPr/>
        </p:nvSpPr>
        <p:spPr>
          <a:xfrm>
            <a:off x="6720840" y="2555489"/>
            <a:ext cx="4922215" cy="326768"/>
          </a:xfrm>
          <a:prstGeom prst="rect">
            <a:avLst/>
          </a:prstGeom>
          <a:solidFill>
            <a:srgbClr val="FFFFFF"/>
          </a:solidFill>
          <a:ln/>
        </p:spPr>
        <p:txBody>
          <a:bodyPr wrap="square" lIns="109728" tIns="45720" rIns="109728" bIns="45720" rtlCol="0" anchor="ctr"/>
          <a:lstStyle/>
          <a:p>
            <a:pPr indent="0" marL="0">
              <a:buNone/>
            </a:pPr>
            <a:r>
              <a:rPr lang="en-US" sz="1400" dirty="0">
                <a:solidFill>
                  <a:srgbClr val="2B2B2B"/>
                </a:solidFill>
              </a:rPr>
              <a:t>Back to global configuration mode.</a:t>
            </a:r>
            <a:endParaRPr lang="en-US" sz="1400" dirty="0"/>
          </a:p>
        </p:txBody>
      </p:sp>
      <p:sp>
        <p:nvSpPr>
          <p:cNvPr id="12" name="Command 03"/>
          <p:cNvSpPr/>
          <p:nvPr/>
        </p:nvSpPr>
        <p:spPr>
          <a:xfrm>
            <a:off x="548640" y="2900545"/>
            <a:ext cx="6153912" cy="543809"/>
          </a:xfrm>
          <a:prstGeom prst="rect">
            <a:avLst/>
          </a:prstGeom>
          <a:solidFill>
            <a:srgbClr val="1B2B22"/>
          </a:solidFill>
          <a:ln/>
        </p:spPr>
        <p:txBody>
          <a:bodyPr wrap="square" lIns="109728" tIns="45720" rIns="109728" bIns="45720" rtlCol="0" anchor="ctr"/>
          <a:lstStyle/>
          <a:p>
            <a:pPr indent="0" marL="0">
              <a:buNone/>
            </a:pPr>
            <a:r>
              <a:rPr lang="en-US" sz="1200" i="1" dirty="0">
                <a:solidFill>
                  <a:srgbClr val="9FB3A6"/>
                </a:solidFill>
                <a:latin typeface="Courier New" pitchFamily="34" charset="0"/>
                <a:ea typeface="Courier New" pitchFamily="34" charset="-122"/>
                <a:cs typeface="Courier New" pitchFamily="34" charset="-120"/>
              </a:rPr>
              <a:t>! On each PC: Desktop › IP Configuration › DHCP</a:t>
            </a:r>
            <a:endParaRPr lang="en-US" sz="1200" dirty="0"/>
          </a:p>
        </p:txBody>
      </p:sp>
      <p:sp>
        <p:nvSpPr>
          <p:cNvPr id="13" name="Reveal 03 meaning"/>
          <p:cNvSpPr/>
          <p:nvPr/>
        </p:nvSpPr>
        <p:spPr>
          <a:xfrm>
            <a:off x="6720840" y="2900545"/>
            <a:ext cx="4922215" cy="543809"/>
          </a:xfrm>
          <a:prstGeom prst="rect">
            <a:avLst/>
          </a:prstGeom>
          <a:solidFill>
            <a:srgbClr val="F2F8F3"/>
          </a:solidFill>
          <a:ln/>
        </p:spPr>
        <p:txBody>
          <a:bodyPr wrap="square" lIns="109728" tIns="45720" rIns="109728" bIns="45720" rtlCol="0" anchor="ctr"/>
          <a:lstStyle/>
          <a:p>
            <a:pPr indent="0" marL="0">
              <a:buNone/>
            </a:pPr>
            <a:r>
              <a:rPr lang="en-US" sz="1400" dirty="0">
                <a:solidFill>
                  <a:srgbClr val="2B2B2B"/>
                </a:solidFill>
              </a:rPr>
              <a:t>The PC asks for an address. “DHCP request successful” appears and the fields fill in by themselves.</a:t>
            </a:r>
            <a:endParaRPr lang="en-US" sz="1400" dirty="0"/>
          </a:p>
        </p:txBody>
      </p:sp>
      <p:sp>
        <p:nvSpPr>
          <p:cNvPr id="14" name="Command 04"/>
          <p:cNvSpPr/>
          <p:nvPr/>
        </p:nvSpPr>
        <p:spPr>
          <a:xfrm>
            <a:off x="548640" y="3462642"/>
            <a:ext cx="6153912" cy="54380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C:\&gt; </a:t>
            </a:r>
            <a:r>
              <a:rPr lang="en-US" sz="1200" b="1" dirty="0">
                <a:solidFill>
                  <a:srgbClr val="FFFFFF"/>
                </a:solidFill>
                <a:latin typeface="Courier New" pitchFamily="34" charset="0"/>
                <a:ea typeface="Courier New" pitchFamily="34" charset="-122"/>
                <a:cs typeface="Courier New" pitchFamily="34" charset="-120"/>
              </a:rPr>
              <a:t>ipconfig /all</a:t>
            </a:r>
            <a:endParaRPr lang="en-US" sz="1200" dirty="0"/>
          </a:p>
        </p:txBody>
      </p:sp>
      <p:sp>
        <p:nvSpPr>
          <p:cNvPr id="15" name="Reveal 04 meaning"/>
          <p:cNvSpPr/>
          <p:nvPr/>
        </p:nvSpPr>
        <p:spPr>
          <a:xfrm>
            <a:off x="6720840" y="3462642"/>
            <a:ext cx="4922215" cy="543809"/>
          </a:xfrm>
          <a:prstGeom prst="rect">
            <a:avLst/>
          </a:prstGeom>
          <a:solidFill>
            <a:srgbClr val="FFFFFF"/>
          </a:solidFill>
          <a:ln/>
        </p:spPr>
        <p:txBody>
          <a:bodyPr wrap="square" lIns="109728" tIns="45720" rIns="109728" bIns="45720" rtlCol="0" anchor="ctr"/>
          <a:lstStyle/>
          <a:p>
            <a:pPr indent="0" marL="0">
              <a:buNone/>
            </a:pPr>
            <a:r>
              <a:rPr lang="en-US" sz="1400" dirty="0">
                <a:solidFill>
                  <a:srgbClr val="2B2B2B"/>
                </a:solidFill>
              </a:rPr>
              <a:t>Shows the leased address, mask, gateway, DNS server and the PC’s MAC (Physical Address).</a:t>
            </a:r>
            <a:endParaRPr lang="en-US" sz="1400" dirty="0"/>
          </a:p>
        </p:txBody>
      </p:sp>
      <p:sp>
        <p:nvSpPr>
          <p:cNvPr id="16" name="Command 05"/>
          <p:cNvSpPr/>
          <p:nvPr/>
        </p:nvSpPr>
        <p:spPr>
          <a:xfrm>
            <a:off x="548640" y="4024739"/>
            <a:ext cx="6153912" cy="54380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 </a:t>
            </a:r>
            <a:r>
              <a:rPr lang="en-US" sz="1200" b="1" dirty="0">
                <a:solidFill>
                  <a:srgbClr val="FFFFFF"/>
                </a:solidFill>
                <a:latin typeface="Courier New" pitchFamily="34" charset="0"/>
                <a:ea typeface="Courier New" pitchFamily="34" charset="-122"/>
                <a:cs typeface="Courier New" pitchFamily="34" charset="-120"/>
              </a:rPr>
              <a:t>show ip dhcp binding</a:t>
            </a:r>
            <a:endParaRPr lang="en-US" sz="1200" dirty="0"/>
          </a:p>
        </p:txBody>
      </p:sp>
      <p:sp>
        <p:nvSpPr>
          <p:cNvPr id="17" name="Reveal 05 meaning"/>
          <p:cNvSpPr/>
          <p:nvPr/>
        </p:nvSpPr>
        <p:spPr>
          <a:xfrm>
            <a:off x="6720840" y="4024739"/>
            <a:ext cx="4922215" cy="543809"/>
          </a:xfrm>
          <a:prstGeom prst="rect">
            <a:avLst/>
          </a:prstGeom>
          <a:solidFill>
            <a:srgbClr val="F2F8F3"/>
          </a:solidFill>
          <a:ln/>
        </p:spPr>
        <p:txBody>
          <a:bodyPr wrap="square" lIns="109728" tIns="45720" rIns="109728" bIns="45720" rtlCol="0" anchor="ctr"/>
          <a:lstStyle/>
          <a:p>
            <a:pPr indent="0" marL="0">
              <a:buNone/>
            </a:pPr>
            <a:r>
              <a:rPr lang="en-US" sz="1400" dirty="0">
                <a:solidFill>
                  <a:srgbClr val="2B2B2B"/>
                </a:solidFill>
              </a:rPr>
              <a:t>One line per lease: the IP given out and the MAC of the PC that has it.</a:t>
            </a:r>
            <a:endParaRPr lang="en-US" sz="1400" dirty="0"/>
          </a:p>
        </p:txBody>
      </p:sp>
      <p:sp>
        <p:nvSpPr>
          <p:cNvPr id="18" name="Reveal 99 check box"/>
          <p:cNvSpPr/>
          <p:nvPr/>
        </p:nvSpPr>
        <p:spPr>
          <a:xfrm>
            <a:off x="548640" y="5504688"/>
            <a:ext cx="5410048" cy="749808"/>
          </a:xfrm>
          <a:prstGeom prst="roundRect">
            <a:avLst>
              <a:gd name="adj" fmla="val 9756"/>
            </a:avLst>
          </a:prstGeom>
          <a:solidFill>
            <a:srgbClr val="E8F1EA"/>
          </a:solidFill>
          <a:ln w="12700">
            <a:solidFill>
              <a:srgbClr val="B7C9BA"/>
            </a:solidFill>
            <a:prstDash val="solid"/>
          </a:ln>
        </p:spPr>
      </p:sp>
      <p:pic>
        <p:nvPicPr>
          <p:cNvPr id="19" name="Reveal 99 check icon" descr="Check it:">    </p:cNvPr>
          <p:cNvPicPr>
            <a:picLocks noChangeAspect="1"/>
          </p:cNvPicPr>
          <p:nvPr/>
        </p:nvPicPr>
        <p:blipFill>
          <a:blip r:embed="rId3"/>
          <a:stretch>
            <a:fillRect/>
          </a:stretch>
        </p:blipFill>
        <p:spPr>
          <a:xfrm>
            <a:off x="694944" y="5733288"/>
            <a:ext cx="292608" cy="292608"/>
          </a:xfrm>
          <a:prstGeom prst="rect">
            <a:avLst/>
          </a:prstGeom>
        </p:spPr>
      </p:pic>
      <p:sp>
        <p:nvSpPr>
          <p:cNvPr id="20" name="Reveal 99 check text"/>
          <p:cNvSpPr txBox="1"/>
          <p:nvPr/>
        </p:nvSpPr>
        <p:spPr>
          <a:xfrm>
            <a:off x="1097280" y="5541264"/>
            <a:ext cx="4751680" cy="676656"/>
          </a:xfrm>
          <a:prstGeom prst="rect">
            <a:avLst/>
          </a:prstGeom>
          <a:noFill/>
          <a:ln/>
        </p:spPr>
        <p:txBody>
          <a:bodyPr wrap="square" lIns="0" tIns="0" rIns="0" bIns="0" rtlCol="0" anchor="ctr"/>
          <a:lstStyle/>
          <a:p>
            <a:pPr indent="0" marL="0">
              <a:buNone/>
            </a:pPr>
            <a:r>
              <a:rPr lang="en-US" sz="1400" b="1" dirty="0">
                <a:solidFill>
                  <a:srgbClr val="1E5631"/>
                </a:solidFill>
              </a:rPr>
              <a:t>Check it:  </a:t>
            </a:r>
            <a:r>
              <a:rPr lang="en-US" sz="1400" dirty="0">
                <a:solidFill>
                  <a:srgbClr val="2B2B2B"/>
                </a:solidFill>
              </a:rPr>
              <a:t>Each STAFF PC gets 192.168.10.21 or higher, gateway 192.168.10.1 and DNS 192.168.50.10.</a:t>
            </a:r>
            <a:endParaRPr lang="en-US" sz="1400" dirty="0"/>
          </a:p>
        </p:txBody>
      </p:sp>
      <p:sp>
        <p:nvSpPr>
          <p:cNvPr id="21" name="Reveal 99 watch box"/>
          <p:cNvSpPr/>
          <p:nvPr/>
        </p:nvSpPr>
        <p:spPr>
          <a:xfrm>
            <a:off x="6233008" y="5504688"/>
            <a:ext cx="5410048" cy="749808"/>
          </a:xfrm>
          <a:prstGeom prst="roundRect">
            <a:avLst>
              <a:gd name="adj" fmla="val 9756"/>
            </a:avLst>
          </a:prstGeom>
          <a:solidFill>
            <a:srgbClr val="FBEAEA"/>
          </a:solidFill>
          <a:ln w="12700">
            <a:solidFill>
              <a:srgbClr val="E9B8B5"/>
            </a:solidFill>
            <a:prstDash val="solid"/>
          </a:ln>
        </p:spPr>
      </p:sp>
      <p:pic>
        <p:nvPicPr>
          <p:cNvPr id="22" name="Reveal 99 watch icon" descr="Watch out:">    </p:cNvPr>
          <p:cNvPicPr>
            <a:picLocks noChangeAspect="1"/>
          </p:cNvPicPr>
          <p:nvPr/>
        </p:nvPicPr>
        <p:blipFill>
          <a:blip r:embed="rId4"/>
          <a:stretch>
            <a:fillRect/>
          </a:stretch>
        </p:blipFill>
        <p:spPr>
          <a:xfrm>
            <a:off x="6379312" y="5733288"/>
            <a:ext cx="292608" cy="292608"/>
          </a:xfrm>
          <a:prstGeom prst="rect">
            <a:avLst/>
          </a:prstGeom>
        </p:spPr>
      </p:pic>
      <p:sp>
        <p:nvSpPr>
          <p:cNvPr id="23" name="Reveal 99 watch text"/>
          <p:cNvSpPr txBox="1"/>
          <p:nvPr/>
        </p:nvSpPr>
        <p:spPr>
          <a:xfrm>
            <a:off x="6781648" y="5541264"/>
            <a:ext cx="4751680" cy="676656"/>
          </a:xfrm>
          <a:prstGeom prst="rect">
            <a:avLst/>
          </a:prstGeom>
          <a:noFill/>
          <a:ln/>
        </p:spPr>
        <p:txBody>
          <a:bodyPr wrap="square" lIns="0" tIns="0" rIns="0" bIns="0" rtlCol="0" anchor="ctr"/>
          <a:lstStyle/>
          <a:p>
            <a:pPr indent="0" marL="0">
              <a:buNone/>
            </a:pPr>
            <a:r>
              <a:rPr lang="en-US" sz="1400" b="1" dirty="0">
                <a:solidFill>
                  <a:srgbClr val="8B1A1A"/>
                </a:solidFill>
              </a:rPr>
              <a:t>Watch out:  </a:t>
            </a:r>
            <a:r>
              <a:rPr lang="en-US" sz="1400" dirty="0">
                <a:solidFill>
                  <a:srgbClr val="2B2B2B"/>
                </a:solidFill>
              </a:rPr>
              <a:t>Select </a:t>
            </a:r>
            <a:r>
              <a:rPr lang="en-US" sz="1400" b="1" dirty="0">
                <a:solidFill>
                  <a:srgbClr val="2B2B2B"/>
                </a:solidFill>
              </a:rPr>
              <a:t>DHCP</a:t>
            </a:r>
            <a:r>
              <a:rPr lang="en-US" sz="1400" dirty="0">
                <a:solidFill>
                  <a:srgbClr val="2B2B2B"/>
                </a:solidFill>
              </a:rPr>
              <a:t> in IP Configuration first; </a:t>
            </a:r>
            <a:r>
              <a:rPr lang="en-US" sz="1300" b="1" dirty="0">
                <a:solidFill>
                  <a:srgbClr val="1E5631"/>
                </a:solidFill>
                <a:latin typeface="Courier New" pitchFamily="34" charset="0"/>
                <a:ea typeface="Courier New" pitchFamily="34" charset="-122"/>
                <a:cs typeface="Courier New" pitchFamily="34" charset="-120"/>
              </a:rPr>
              <a:t>ipconfig /release</a:t>
            </a:r>
            <a:r>
              <a:rPr lang="en-US" sz="1400" dirty="0">
                <a:solidFill>
                  <a:srgbClr val="2B2B2B"/>
                </a:solidFill>
              </a:rPr>
              <a:t> and </a:t>
            </a:r>
            <a:r>
              <a:rPr lang="en-US" sz="1300" b="1" dirty="0">
                <a:solidFill>
                  <a:srgbClr val="1E5631"/>
                </a:solidFill>
                <a:latin typeface="Courier New" pitchFamily="34" charset="0"/>
                <a:ea typeface="Courier New" pitchFamily="34" charset="-122"/>
                <a:cs typeface="Courier New" pitchFamily="34" charset="-120"/>
              </a:rPr>
              <a:t>/renew</a:t>
            </a:r>
            <a:r>
              <a:rPr lang="en-US" sz="1400" dirty="0">
                <a:solidFill>
                  <a:srgbClr val="2B2B2B"/>
                </a:solidFill>
              </a:rPr>
              <a:t> then get a fresh lease.</a:t>
            </a:r>
            <a:endParaRPr lang="en-US" sz="1400" dirty="0"/>
          </a:p>
        </p:txBody>
      </p:sp>
      <p:sp>
        <p:nvSpPr>
          <p:cNvPr id="25" name="Slide Number Placeholder 0"/>
          <p:cNvSpPr>
            <a:spLocks noGrp="1"/>
          </p:cNvSpPr>
          <p:nvPr>
            <p:ph type="sldNum" sz="quarter" idx="4294967295"/>
          </p:nvPr>
        </p:nvSpPr>
        <p:spPr>
          <a:xfrm>
            <a:off x="10698480" y="6464808"/>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r"/>
            <a:fld id="{F7021451-1387-4CA6-816F-3879F97B5CBC}" type="slidenum">
              <a:rPr b="0" lang="en-US"/>
              <a:t>44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4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0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400"/>
                                        <p:tgtEl>
                                          <p:spTgt spid="1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400"/>
                                        <p:tgtEl>
                                          <p:spTgt spid="1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fade">
                                      <p:cBhvr>
                                        <p:cTn id="38" dur="400"/>
                                        <p:tgtEl>
                                          <p:spTgt spid="20"/>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fade">
                                      <p:cBhvr>
                                        <p:cTn id="41" dur="400"/>
                                        <p:tgtEl>
                                          <p:spTgt spid="21"/>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fade">
                                      <p:cBhvr>
                                        <p:cTn id="44" dur="400"/>
                                        <p:tgtEl>
                                          <p:spTgt spid="22"/>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3" grpId="0" animBg="1"/>
      <p:bldP spid="15" grpId="0" animBg="1"/>
      <p:bldP spid="17" grpId="0" animBg="1"/>
      <p:bldP spid="18" grpId="0" animBg="1"/>
      <p:bldP spid="20" grpId="0" animBg="1"/>
      <p:bldP spid="21" grpId="0" animBg="1"/>
      <p:bldP spid="23"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1"/>
          <p:cNvSpPr/>
          <p:nvPr>
            <p:ph idx="102" type="body" hasCustomPrompt="1"/>
          </p:nvPr>
        </p:nvSpPr>
        <p:spPr>
          <a:xfrm>
            <a:off x="548640" y="274320"/>
            <a:ext cx="9966960" cy="256032"/>
          </a:xfrm>
          <a:prstGeom prst="rect">
            <a:avLst/>
          </a:prstGeom>
          <a:noFill/>
          <a:ln/>
        </p:spPr>
        <p:txBody>
          <a:bodyPr wrap="square" lIns="0" tIns="0" rIns="0" bIns="0" rtlCol="0" anchor="ctr"/>
          <a:lstStyle/>
          <a:p>
            <a:pPr algn="l" indent="0" marL="0">
              <a:buNone/>
            </a:pPr>
            <a:r>
              <a:rPr lang="en-US" sz="1100" b="1" spc="100" kern="0" dirty="0">
                <a:solidFill>
                  <a:schemeClr val="accent2"/>
                </a:solidFill>
              </a:rPr>
              <a:t>06  •  DHCP  •  LAB 4</a:t>
            </a:r>
            <a:endParaRPr lang="en-US" sz="1100" dirty="0"/>
          </a:p>
        </p:txBody>
      </p:sp>
      <p:sp>
        <p:nvSpPr>
          <p:cNvPr id="3" name="Text 1"/>
          <p:cNvSpPr/>
          <p:nvPr>
            <p:ph idx="103" type="title" hasCustomPrompt="1"/>
          </p:nvPr>
        </p:nvSpPr>
        <p:spPr>
          <a:xfrm>
            <a:off x="548640" y="548640"/>
            <a:ext cx="10149840" cy="548640"/>
          </a:xfrm>
          <a:prstGeom prst="rect">
            <a:avLst/>
          </a:prstGeom>
          <a:noFill/>
          <a:ln/>
        </p:spPr>
        <p:txBody>
          <a:bodyPr wrap="square" lIns="0" tIns="0" rIns="0" bIns="0" rtlCol="0" anchor="ctr"/>
          <a:lstStyle/>
          <a:p>
            <a:pPr algn="l" indent="0" marL="0">
              <a:buNone/>
            </a:pPr>
            <a:r>
              <a:rPr lang="en-US" sz="2600" b="1" dirty="0">
                <a:solidFill>
                  <a:schemeClr val="accent1"/>
                </a:solidFill>
              </a:rPr>
              <a:t>How to give every VLAN its own DHCP pool</a:t>
            </a:r>
            <a:endParaRPr lang="en-US" sz="2600" dirty="0"/>
          </a:p>
        </p:txBody>
      </p:sp>
      <p:pic>
        <p:nvPicPr>
          <p:cNvPr id="4" name="Home button" descr="Home: back to the workbook menu">
            <a:hlinkClick r:id="rId2" tooltip="Back to the workbook menu" action="ppaction://hlinksldjump"/>
          </p:cNvPr>
          <p:cNvPicPr>
            <a:picLocks noChangeAspect="1"/>
          </p:cNvPicPr>
          <p:nvPr/>
        </p:nvPicPr>
        <p:blipFill>
          <a:blip r:embed="rId1"/>
          <a:stretch>
            <a:fillRect/>
          </a:stretch>
        </p:blipFill>
        <p:spPr>
          <a:xfrm>
            <a:off x="11365992" y="6336792"/>
            <a:ext cx="365760" cy="365760"/>
          </a:xfrm>
          <a:prstGeom prst="rect">
            <a:avLst/>
          </a:prstGeom>
        </p:spPr>
      </p:pic>
      <p:sp>
        <p:nvSpPr>
          <p:cNvPr id="5" name="Goal"/>
          <p:cNvSpPr txBox="1"/>
          <p:nvPr/>
        </p:nvSpPr>
        <p:spPr>
          <a:xfrm>
            <a:off x="548640" y="1161288"/>
            <a:ext cx="11094415" cy="384048"/>
          </a:xfrm>
          <a:prstGeom prst="rect">
            <a:avLst/>
          </a:prstGeom>
          <a:noFill/>
          <a:ln/>
        </p:spPr>
        <p:txBody>
          <a:bodyPr wrap="square" lIns="0" tIns="0" rIns="0" bIns="0" rtlCol="0" anchor="ctr"/>
          <a:lstStyle/>
          <a:p>
            <a:pPr indent="0" marL="0">
              <a:buNone/>
            </a:pPr>
            <a:r>
              <a:rPr lang="en-US" sz="1400" b="1" dirty="0">
                <a:solidFill>
                  <a:srgbClr val="2B7043"/>
                </a:solidFill>
              </a:rPr>
              <a:t>Goal:  </a:t>
            </a:r>
            <a:r>
              <a:rPr lang="en-US" sz="1400" dirty="0">
                <a:solidFill>
                  <a:srgbClr val="2B2B2B"/>
                </a:solidFill>
              </a:rPr>
              <a:t>One router can serve every VLAN. It picks the pool whose network matches the sub-interface the request came in on.</a:t>
            </a:r>
            <a:endParaRPr lang="en-US" sz="1400" dirty="0"/>
          </a:p>
        </p:txBody>
      </p:sp>
      <p:sp>
        <p:nvSpPr>
          <p:cNvPr id="6" name="Command header"/>
          <p:cNvSpPr/>
          <p:nvPr/>
        </p:nvSpPr>
        <p:spPr>
          <a:xfrm>
            <a:off x="548640" y="1664208"/>
            <a:ext cx="6153912" cy="310896"/>
          </a:xfrm>
          <a:prstGeom prst="rect">
            <a:avLst/>
          </a:prstGeom>
          <a:solidFill>
            <a:srgbClr val="1B2B22"/>
          </a:solidFill>
          <a:ln/>
        </p:spPr>
        <p:txBody>
          <a:bodyPr wrap="square" lIns="109728" tIns="45720" rIns="109728" bIns="45720" rtlCol="0" anchor="ctr"/>
          <a:lstStyle/>
          <a:p>
            <a:pPr indent="0" marL="0">
              <a:buNone/>
            </a:pPr>
            <a:r>
              <a:rPr lang="en-US" sz="1100" dirty="0">
                <a:solidFill>
                  <a:srgbClr val="E0605A"/>
                </a:solidFill>
              </a:rPr>
              <a:t>●  </a:t>
            </a:r>
            <a:r>
              <a:rPr lang="en-US" sz="1100" dirty="0">
                <a:solidFill>
                  <a:srgbClr val="E8B92E"/>
                </a:solidFill>
              </a:rPr>
              <a:t>●  </a:t>
            </a:r>
            <a:r>
              <a:rPr lang="en-US" sz="1100" dirty="0">
                <a:solidFill>
                  <a:srgbClr val="4CAF50"/>
                </a:solidFill>
              </a:rPr>
              <a:t>●   </a:t>
            </a:r>
            <a:r>
              <a:rPr lang="en-US" sz="1100" b="1" dirty="0">
                <a:solidFill>
                  <a:srgbClr val="C9D6CC"/>
                </a:solidFill>
              </a:rPr>
              <a:t>R1  —  type the white text, then press Enter</a:t>
            </a:r>
            <a:endParaRPr lang="en-US" sz="1100" dirty="0"/>
          </a:p>
        </p:txBody>
      </p:sp>
      <p:sp>
        <p:nvSpPr>
          <p:cNvPr id="7" name="Meaning header"/>
          <p:cNvSpPr/>
          <p:nvPr/>
        </p:nvSpPr>
        <p:spPr>
          <a:xfrm>
            <a:off x="6720840" y="1664208"/>
            <a:ext cx="4922215" cy="310896"/>
          </a:xfrm>
          <a:prstGeom prst="rect">
            <a:avLst/>
          </a:prstGeom>
          <a:solidFill>
            <a:srgbClr val="E8F1EA"/>
          </a:solidFill>
          <a:ln/>
        </p:spPr>
        <p:txBody>
          <a:bodyPr wrap="square" lIns="109728" tIns="45720" rIns="109728" bIns="45720" rtlCol="0" anchor="ctr"/>
          <a:lstStyle/>
          <a:p>
            <a:pPr indent="0" marL="0">
              <a:buNone/>
            </a:pPr>
            <a:r>
              <a:rPr lang="en-US" sz="1200" b="1" dirty="0">
                <a:solidFill>
                  <a:srgbClr val="1E5631"/>
                </a:solidFill>
              </a:rPr>
              <a:t>What it does</a:t>
            </a:r>
            <a:endParaRPr lang="en-US" sz="1200" dirty="0"/>
          </a:p>
        </p:txBody>
      </p:sp>
      <p:sp>
        <p:nvSpPr>
          <p:cNvPr id="8" name="Command 01"/>
          <p:cNvSpPr/>
          <p:nvPr/>
        </p:nvSpPr>
        <p:spPr>
          <a:xfrm>
            <a:off x="548640" y="1993392"/>
            <a:ext cx="6153912" cy="455005"/>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R1(config)# </a:t>
            </a:r>
            <a:r>
              <a:rPr lang="en-US" sz="1200" b="1" dirty="0">
                <a:solidFill>
                  <a:srgbClr val="FFFFFF"/>
                </a:solidFill>
                <a:latin typeface="Courier New" pitchFamily="34" charset="0"/>
                <a:ea typeface="Courier New" pitchFamily="34" charset="-122"/>
                <a:cs typeface="Courier New" pitchFamily="34" charset="-120"/>
              </a:rPr>
              <a:t>ip dhcp excluded-address 192.168.20.1 192.168.20.20</a:t>
            </a:r>
            <a:endParaRPr lang="en-US" sz="1200" dirty="0"/>
          </a:p>
          <a:p>
            <a:pPr indent="0" marL="0">
              <a:buNone/>
            </a:pPr>
            <a:r>
              <a:rPr lang="en-US" sz="1200" dirty="0">
                <a:solidFill>
                  <a:srgbClr val="8FC9A0"/>
                </a:solidFill>
                <a:latin typeface="Courier New" pitchFamily="34" charset="0"/>
                <a:ea typeface="Courier New" pitchFamily="34" charset="-122"/>
                <a:cs typeface="Courier New" pitchFamily="34" charset="-120"/>
              </a:rPr>
              <a:t>R1(config)# </a:t>
            </a:r>
            <a:r>
              <a:rPr lang="en-US" sz="1200" b="1" dirty="0">
                <a:solidFill>
                  <a:srgbClr val="FFFFFF"/>
                </a:solidFill>
                <a:latin typeface="Courier New" pitchFamily="34" charset="0"/>
                <a:ea typeface="Courier New" pitchFamily="34" charset="-122"/>
                <a:cs typeface="Courier New" pitchFamily="34" charset="-120"/>
              </a:rPr>
              <a:t>ip dhcp excluded-address 192.168.30.1 192.168.30.20</a:t>
            </a:r>
            <a:endParaRPr lang="en-US" sz="1200" dirty="0"/>
          </a:p>
        </p:txBody>
      </p:sp>
      <p:sp>
        <p:nvSpPr>
          <p:cNvPr id="9" name="Reveal 01 meaning"/>
          <p:cNvSpPr/>
          <p:nvPr/>
        </p:nvSpPr>
        <p:spPr>
          <a:xfrm>
            <a:off x="6720840" y="1993392"/>
            <a:ext cx="4922215" cy="455005"/>
          </a:xfrm>
          <a:prstGeom prst="rect">
            <a:avLst/>
          </a:prstGeom>
          <a:solidFill>
            <a:srgbClr val="F2F8F3"/>
          </a:solidFill>
          <a:ln/>
        </p:spPr>
        <p:txBody>
          <a:bodyPr wrap="square" lIns="109728" tIns="45720" rIns="109728" bIns="45720" rtlCol="0" anchor="ctr"/>
          <a:lstStyle/>
          <a:p>
            <a:pPr indent="0" marL="0">
              <a:buNone/>
            </a:pPr>
            <a:r>
              <a:rPr lang="en-US" sz="1400" dirty="0">
                <a:solidFill>
                  <a:srgbClr val="2B2B2B"/>
                </a:solidFill>
              </a:rPr>
              <a:t>Keep the first 20 addresses of each VLAN for static devices.</a:t>
            </a:r>
            <a:endParaRPr lang="en-US" sz="1400" dirty="0"/>
          </a:p>
        </p:txBody>
      </p:sp>
      <p:sp>
        <p:nvSpPr>
          <p:cNvPr id="10" name="Command 02"/>
          <p:cNvSpPr/>
          <p:nvPr/>
        </p:nvSpPr>
        <p:spPr>
          <a:xfrm>
            <a:off x="548640" y="2466685"/>
            <a:ext cx="6153912" cy="800283"/>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R1(config)# </a:t>
            </a:r>
            <a:r>
              <a:rPr lang="en-US" sz="1200" b="1" dirty="0">
                <a:solidFill>
                  <a:srgbClr val="FFFFFF"/>
                </a:solidFill>
                <a:latin typeface="Courier New" pitchFamily="34" charset="0"/>
                <a:ea typeface="Courier New" pitchFamily="34" charset="-122"/>
                <a:cs typeface="Courier New" pitchFamily="34" charset="-120"/>
              </a:rPr>
              <a:t>ip dhcp pool STUDENT-POOL</a:t>
            </a:r>
            <a:endParaRPr lang="en-US" sz="1200" dirty="0"/>
          </a:p>
          <a:p>
            <a:pPr indent="0" marL="0">
              <a:buNone/>
            </a:pPr>
            <a:r>
              <a:rPr lang="en-US" sz="1200" dirty="0">
                <a:solidFill>
                  <a:srgbClr val="8FC9A0"/>
                </a:solidFill>
                <a:latin typeface="Courier New" pitchFamily="34" charset="0"/>
                <a:ea typeface="Courier New" pitchFamily="34" charset="-122"/>
                <a:cs typeface="Courier New" pitchFamily="34" charset="-120"/>
              </a:rPr>
              <a:t>R1(dhcp-config)# </a:t>
            </a:r>
            <a:r>
              <a:rPr lang="en-US" sz="1200" b="1" dirty="0">
                <a:solidFill>
                  <a:srgbClr val="FFFFFF"/>
                </a:solidFill>
                <a:latin typeface="Courier New" pitchFamily="34" charset="0"/>
                <a:ea typeface="Courier New" pitchFamily="34" charset="-122"/>
                <a:cs typeface="Courier New" pitchFamily="34" charset="-120"/>
              </a:rPr>
              <a:t>network 192.168.20.0 255.255.255.0</a:t>
            </a:r>
            <a:endParaRPr lang="en-US" sz="1200" dirty="0"/>
          </a:p>
          <a:p>
            <a:pPr indent="0" marL="0">
              <a:buNone/>
            </a:pPr>
            <a:r>
              <a:rPr lang="en-US" sz="1200" dirty="0">
                <a:solidFill>
                  <a:srgbClr val="8FC9A0"/>
                </a:solidFill>
                <a:latin typeface="Courier New" pitchFamily="34" charset="0"/>
                <a:ea typeface="Courier New" pitchFamily="34" charset="-122"/>
                <a:cs typeface="Courier New" pitchFamily="34" charset="-120"/>
              </a:rPr>
              <a:t>R1(dhcp-config)# </a:t>
            </a:r>
            <a:r>
              <a:rPr lang="en-US" sz="1200" b="1" dirty="0">
                <a:solidFill>
                  <a:srgbClr val="FFFFFF"/>
                </a:solidFill>
                <a:latin typeface="Courier New" pitchFamily="34" charset="0"/>
                <a:ea typeface="Courier New" pitchFamily="34" charset="-122"/>
                <a:cs typeface="Courier New" pitchFamily="34" charset="-120"/>
              </a:rPr>
              <a:t>default-router 192.168.20.1</a:t>
            </a:r>
            <a:endParaRPr lang="en-US" sz="1200" dirty="0"/>
          </a:p>
          <a:p>
            <a:pPr indent="0" marL="0">
              <a:buNone/>
            </a:pPr>
            <a:r>
              <a:rPr lang="en-US" sz="1200" dirty="0">
                <a:solidFill>
                  <a:srgbClr val="8FC9A0"/>
                </a:solidFill>
                <a:latin typeface="Courier New" pitchFamily="34" charset="0"/>
                <a:ea typeface="Courier New" pitchFamily="34" charset="-122"/>
                <a:cs typeface="Courier New" pitchFamily="34" charset="-120"/>
              </a:rPr>
              <a:t>R1(dhcp-config)# </a:t>
            </a:r>
            <a:r>
              <a:rPr lang="en-US" sz="1200" b="1" dirty="0">
                <a:solidFill>
                  <a:srgbClr val="FFFFFF"/>
                </a:solidFill>
                <a:latin typeface="Courier New" pitchFamily="34" charset="0"/>
                <a:ea typeface="Courier New" pitchFamily="34" charset="-122"/>
                <a:cs typeface="Courier New" pitchFamily="34" charset="-120"/>
              </a:rPr>
              <a:t>dns-server 192.168.50.10</a:t>
            </a:r>
            <a:endParaRPr lang="en-US" sz="1200" dirty="0"/>
          </a:p>
        </p:txBody>
      </p:sp>
      <p:sp>
        <p:nvSpPr>
          <p:cNvPr id="11" name="Reveal 02 meaning"/>
          <p:cNvSpPr/>
          <p:nvPr/>
        </p:nvSpPr>
        <p:spPr>
          <a:xfrm>
            <a:off x="6720840" y="2466685"/>
            <a:ext cx="4922215" cy="800283"/>
          </a:xfrm>
          <a:prstGeom prst="rect">
            <a:avLst/>
          </a:prstGeom>
          <a:solidFill>
            <a:srgbClr val="FFFFFF"/>
          </a:solidFill>
          <a:ln/>
        </p:spPr>
        <p:txBody>
          <a:bodyPr wrap="square" lIns="109728" tIns="45720" rIns="109728" bIns="45720" rtlCol="0" anchor="ctr"/>
          <a:lstStyle/>
          <a:p>
            <a:pPr indent="0" marL="0">
              <a:buNone/>
            </a:pPr>
            <a:r>
              <a:rPr lang="en-US" sz="1400" dirty="0">
                <a:solidFill>
                  <a:srgbClr val="2B2B2B"/>
                </a:solidFill>
              </a:rPr>
              <a:t>The pool for VLAN 20. Its gateway is sub-interface G0/0/1.20.</a:t>
            </a:r>
            <a:endParaRPr lang="en-US" sz="1400" dirty="0"/>
          </a:p>
        </p:txBody>
      </p:sp>
      <p:sp>
        <p:nvSpPr>
          <p:cNvPr id="12" name="Command 03"/>
          <p:cNvSpPr/>
          <p:nvPr/>
        </p:nvSpPr>
        <p:spPr>
          <a:xfrm>
            <a:off x="548640" y="3285256"/>
            <a:ext cx="6153912" cy="800283"/>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R1(dhcp-config)# </a:t>
            </a:r>
            <a:r>
              <a:rPr lang="en-US" sz="1200" b="1" dirty="0">
                <a:solidFill>
                  <a:srgbClr val="FFFFFF"/>
                </a:solidFill>
                <a:latin typeface="Courier New" pitchFamily="34" charset="0"/>
                <a:ea typeface="Courier New" pitchFamily="34" charset="-122"/>
                <a:cs typeface="Courier New" pitchFamily="34" charset="-120"/>
              </a:rPr>
              <a:t>ip dhcp pool FINANCE-POOL</a:t>
            </a:r>
            <a:endParaRPr lang="en-US" sz="1200" dirty="0"/>
          </a:p>
          <a:p>
            <a:pPr indent="0" marL="0">
              <a:buNone/>
            </a:pPr>
            <a:r>
              <a:rPr lang="en-US" sz="1200" dirty="0">
                <a:solidFill>
                  <a:srgbClr val="8FC9A0"/>
                </a:solidFill>
                <a:latin typeface="Courier New" pitchFamily="34" charset="0"/>
                <a:ea typeface="Courier New" pitchFamily="34" charset="-122"/>
                <a:cs typeface="Courier New" pitchFamily="34" charset="-120"/>
              </a:rPr>
              <a:t>R1(dhcp-config)# </a:t>
            </a:r>
            <a:r>
              <a:rPr lang="en-US" sz="1200" b="1" dirty="0">
                <a:solidFill>
                  <a:srgbClr val="FFFFFF"/>
                </a:solidFill>
                <a:latin typeface="Courier New" pitchFamily="34" charset="0"/>
                <a:ea typeface="Courier New" pitchFamily="34" charset="-122"/>
                <a:cs typeface="Courier New" pitchFamily="34" charset="-120"/>
              </a:rPr>
              <a:t>network 192.168.30.0 255.255.255.0</a:t>
            </a:r>
            <a:endParaRPr lang="en-US" sz="1200" dirty="0"/>
          </a:p>
          <a:p>
            <a:pPr indent="0" marL="0">
              <a:buNone/>
            </a:pPr>
            <a:r>
              <a:rPr lang="en-US" sz="1200" dirty="0">
                <a:solidFill>
                  <a:srgbClr val="8FC9A0"/>
                </a:solidFill>
                <a:latin typeface="Courier New" pitchFamily="34" charset="0"/>
                <a:ea typeface="Courier New" pitchFamily="34" charset="-122"/>
                <a:cs typeface="Courier New" pitchFamily="34" charset="-120"/>
              </a:rPr>
              <a:t>R1(dhcp-config)# </a:t>
            </a:r>
            <a:r>
              <a:rPr lang="en-US" sz="1200" b="1" dirty="0">
                <a:solidFill>
                  <a:srgbClr val="FFFFFF"/>
                </a:solidFill>
                <a:latin typeface="Courier New" pitchFamily="34" charset="0"/>
                <a:ea typeface="Courier New" pitchFamily="34" charset="-122"/>
                <a:cs typeface="Courier New" pitchFamily="34" charset="-120"/>
              </a:rPr>
              <a:t>default-router 192.168.30.1</a:t>
            </a:r>
            <a:endParaRPr lang="en-US" sz="1200" dirty="0"/>
          </a:p>
          <a:p>
            <a:pPr indent="0" marL="0">
              <a:buNone/>
            </a:pPr>
            <a:r>
              <a:rPr lang="en-US" sz="1200" dirty="0">
                <a:solidFill>
                  <a:srgbClr val="8FC9A0"/>
                </a:solidFill>
                <a:latin typeface="Courier New" pitchFamily="34" charset="0"/>
                <a:ea typeface="Courier New" pitchFamily="34" charset="-122"/>
                <a:cs typeface="Courier New" pitchFamily="34" charset="-120"/>
              </a:rPr>
              <a:t>R1(dhcp-config)# </a:t>
            </a:r>
            <a:r>
              <a:rPr lang="en-US" sz="1200" b="1" dirty="0">
                <a:solidFill>
                  <a:srgbClr val="FFFFFF"/>
                </a:solidFill>
                <a:latin typeface="Courier New" pitchFamily="34" charset="0"/>
                <a:ea typeface="Courier New" pitchFamily="34" charset="-122"/>
                <a:cs typeface="Courier New" pitchFamily="34" charset="-120"/>
              </a:rPr>
              <a:t>dns-server 192.168.50.10</a:t>
            </a:r>
            <a:endParaRPr lang="en-US" sz="1200" dirty="0"/>
          </a:p>
        </p:txBody>
      </p:sp>
      <p:sp>
        <p:nvSpPr>
          <p:cNvPr id="13" name="Reveal 03 meaning"/>
          <p:cNvSpPr/>
          <p:nvPr/>
        </p:nvSpPr>
        <p:spPr>
          <a:xfrm>
            <a:off x="6720840" y="3285256"/>
            <a:ext cx="4922215" cy="800283"/>
          </a:xfrm>
          <a:prstGeom prst="rect">
            <a:avLst/>
          </a:prstGeom>
          <a:solidFill>
            <a:srgbClr val="F2F8F3"/>
          </a:solidFill>
          <a:ln/>
        </p:spPr>
        <p:txBody>
          <a:bodyPr wrap="square" lIns="109728" tIns="45720" rIns="109728" bIns="45720" rtlCol="0" anchor="ctr"/>
          <a:lstStyle/>
          <a:p>
            <a:pPr indent="0" marL="0">
              <a:buNone/>
            </a:pPr>
            <a:r>
              <a:rPr lang="en-US" sz="1400" dirty="0">
                <a:solidFill>
                  <a:srgbClr val="2B2B2B"/>
                </a:solidFill>
              </a:rPr>
              <a:t>The pool for VLAN 30. Its gateway is G0/0/1.30.</a:t>
            </a:r>
            <a:endParaRPr lang="en-US" sz="1400" dirty="0"/>
          </a:p>
        </p:txBody>
      </p:sp>
      <p:sp>
        <p:nvSpPr>
          <p:cNvPr id="14" name="Reveal 99 check box"/>
          <p:cNvSpPr/>
          <p:nvPr/>
        </p:nvSpPr>
        <p:spPr>
          <a:xfrm>
            <a:off x="548640" y="5504688"/>
            <a:ext cx="5410048" cy="749808"/>
          </a:xfrm>
          <a:prstGeom prst="roundRect">
            <a:avLst>
              <a:gd name="adj" fmla="val 9756"/>
            </a:avLst>
          </a:prstGeom>
          <a:solidFill>
            <a:srgbClr val="E8F1EA"/>
          </a:solidFill>
          <a:ln w="12700">
            <a:solidFill>
              <a:srgbClr val="B7C9BA"/>
            </a:solidFill>
            <a:prstDash val="solid"/>
          </a:ln>
        </p:spPr>
      </p:sp>
      <p:pic>
        <p:nvPicPr>
          <p:cNvPr id="15" name="Reveal 99 check icon" descr="Check it:">    </p:cNvPr>
          <p:cNvPicPr>
            <a:picLocks noChangeAspect="1"/>
          </p:cNvPicPr>
          <p:nvPr/>
        </p:nvPicPr>
        <p:blipFill>
          <a:blip r:embed="rId3"/>
          <a:stretch>
            <a:fillRect/>
          </a:stretch>
        </p:blipFill>
        <p:spPr>
          <a:xfrm>
            <a:off x="694944" y="5733288"/>
            <a:ext cx="292608" cy="292608"/>
          </a:xfrm>
          <a:prstGeom prst="rect">
            <a:avLst/>
          </a:prstGeom>
        </p:spPr>
      </p:pic>
      <p:sp>
        <p:nvSpPr>
          <p:cNvPr id="16" name="Reveal 99 check text"/>
          <p:cNvSpPr txBox="1"/>
          <p:nvPr/>
        </p:nvSpPr>
        <p:spPr>
          <a:xfrm>
            <a:off x="1097280" y="5541264"/>
            <a:ext cx="4751680" cy="676656"/>
          </a:xfrm>
          <a:prstGeom prst="rect">
            <a:avLst/>
          </a:prstGeom>
          <a:noFill/>
          <a:ln/>
        </p:spPr>
        <p:txBody>
          <a:bodyPr wrap="square" lIns="0" tIns="0" rIns="0" bIns="0" rtlCol="0" anchor="ctr"/>
          <a:lstStyle/>
          <a:p>
            <a:pPr indent="0" marL="0">
              <a:buNone/>
            </a:pPr>
            <a:r>
              <a:rPr lang="en-US" sz="1400" b="1" dirty="0">
                <a:solidFill>
                  <a:srgbClr val="1E5631"/>
                </a:solidFill>
              </a:rPr>
              <a:t>Check it:  </a:t>
            </a:r>
            <a:r>
              <a:rPr lang="en-US" sz="1400" dirty="0">
                <a:solidFill>
                  <a:srgbClr val="2B2B2B"/>
                </a:solidFill>
              </a:rPr>
              <a:t>PCs in VLANs 10, 20 and 30 each lease an address from their own subnet; </a:t>
            </a:r>
            <a:r>
              <a:rPr lang="en-US" sz="1300" b="1" dirty="0">
                <a:solidFill>
                  <a:srgbClr val="1E5631"/>
                </a:solidFill>
                <a:latin typeface="Courier New" pitchFamily="34" charset="0"/>
                <a:ea typeface="Courier New" pitchFamily="34" charset="-122"/>
                <a:cs typeface="Courier New" pitchFamily="34" charset="-120"/>
              </a:rPr>
              <a:t>show ip dhcp binding</a:t>
            </a:r>
            <a:r>
              <a:rPr lang="en-US" sz="1400" dirty="0">
                <a:solidFill>
                  <a:srgbClr val="2B2B2B"/>
                </a:solidFill>
              </a:rPr>
              <a:t> lists them all.</a:t>
            </a:r>
            <a:endParaRPr lang="en-US" sz="1400" dirty="0"/>
          </a:p>
        </p:txBody>
      </p:sp>
      <p:sp>
        <p:nvSpPr>
          <p:cNvPr id="17" name="Reveal 99 watch box"/>
          <p:cNvSpPr/>
          <p:nvPr/>
        </p:nvSpPr>
        <p:spPr>
          <a:xfrm>
            <a:off x="6233008" y="5504688"/>
            <a:ext cx="5410048" cy="749808"/>
          </a:xfrm>
          <a:prstGeom prst="roundRect">
            <a:avLst>
              <a:gd name="adj" fmla="val 9756"/>
            </a:avLst>
          </a:prstGeom>
          <a:solidFill>
            <a:srgbClr val="FBEAEA"/>
          </a:solidFill>
          <a:ln w="12700">
            <a:solidFill>
              <a:srgbClr val="E9B8B5"/>
            </a:solidFill>
            <a:prstDash val="solid"/>
          </a:ln>
        </p:spPr>
      </p:sp>
      <p:pic>
        <p:nvPicPr>
          <p:cNvPr id="18" name="Reveal 99 watch icon" descr="Watch out:">    </p:cNvPr>
          <p:cNvPicPr>
            <a:picLocks noChangeAspect="1"/>
          </p:cNvPicPr>
          <p:nvPr/>
        </p:nvPicPr>
        <p:blipFill>
          <a:blip r:embed="rId4"/>
          <a:stretch>
            <a:fillRect/>
          </a:stretch>
        </p:blipFill>
        <p:spPr>
          <a:xfrm>
            <a:off x="6379312" y="5733288"/>
            <a:ext cx="292608" cy="292608"/>
          </a:xfrm>
          <a:prstGeom prst="rect">
            <a:avLst/>
          </a:prstGeom>
        </p:spPr>
      </p:pic>
      <p:sp>
        <p:nvSpPr>
          <p:cNvPr id="19" name="Reveal 99 watch text"/>
          <p:cNvSpPr txBox="1"/>
          <p:nvPr/>
        </p:nvSpPr>
        <p:spPr>
          <a:xfrm>
            <a:off x="6781648" y="5541264"/>
            <a:ext cx="4751680" cy="676656"/>
          </a:xfrm>
          <a:prstGeom prst="rect">
            <a:avLst/>
          </a:prstGeom>
          <a:noFill/>
          <a:ln/>
        </p:spPr>
        <p:txBody>
          <a:bodyPr wrap="square" lIns="0" tIns="0" rIns="0" bIns="0" rtlCol="0" anchor="ctr"/>
          <a:lstStyle/>
          <a:p>
            <a:pPr indent="0" marL="0">
              <a:buNone/>
            </a:pPr>
            <a:r>
              <a:rPr lang="en-US" sz="1400" b="1" dirty="0">
                <a:solidFill>
                  <a:srgbClr val="8B1A1A"/>
                </a:solidFill>
              </a:rPr>
              <a:t>Watch out:  </a:t>
            </a:r>
            <a:r>
              <a:rPr lang="en-US" sz="1400" dirty="0">
                <a:solidFill>
                  <a:srgbClr val="2B2B2B"/>
                </a:solidFill>
              </a:rPr>
              <a:t>No pool for VLAN 99: switches and routers keep static addresses.</a:t>
            </a:r>
            <a:endParaRPr lang="en-US" sz="1400" dirty="0"/>
          </a:p>
        </p:txBody>
      </p:sp>
      <p:sp>
        <p:nvSpPr>
          <p:cNvPr id="25" name="Slide Number Placeholder 0"/>
          <p:cNvSpPr>
            <a:spLocks noGrp="1"/>
          </p:cNvSpPr>
          <p:nvPr>
            <p:ph type="sldNum" sz="quarter" idx="4294967295"/>
          </p:nvPr>
        </p:nvSpPr>
        <p:spPr>
          <a:xfrm>
            <a:off x="10698480" y="6464808"/>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r"/>
            <a:fld id="{F7021451-1387-4CA6-816F-3879F97B5CBC}" type="slidenum">
              <a:rPr b="0" lang="en-US"/>
              <a:t>45</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4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400"/>
                                        <p:tgtEl>
                                          <p:spTgt spid="14"/>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400"/>
                                        <p:tgtEl>
                                          <p:spTgt spid="1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400"/>
                                        <p:tgtEl>
                                          <p:spTgt spid="16"/>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400"/>
                                        <p:tgtEl>
                                          <p:spTgt spid="17"/>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400"/>
                                        <p:tgtEl>
                                          <p:spTgt spid="18"/>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fade">
                                      <p:cBhvr>
                                        <p:cTn id="37"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3" grpId="0" animBg="1"/>
      <p:bldP spid="14" grpId="0" animBg="1"/>
      <p:bldP spid="16" grpId="0" animBg="1"/>
      <p:bldP spid="17" grpId="0" animBg="1"/>
      <p:bldP spid="19"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1"/>
          <p:cNvSpPr/>
          <p:nvPr>
            <p:ph idx="102" type="body" hasCustomPrompt="1"/>
          </p:nvPr>
        </p:nvSpPr>
        <p:spPr>
          <a:xfrm>
            <a:off x="548640" y="274320"/>
            <a:ext cx="9966960" cy="256032"/>
          </a:xfrm>
          <a:prstGeom prst="rect">
            <a:avLst/>
          </a:prstGeom>
          <a:noFill/>
          <a:ln/>
        </p:spPr>
        <p:txBody>
          <a:bodyPr wrap="square" lIns="0" tIns="0" rIns="0" bIns="0" rtlCol="0" anchor="ctr"/>
          <a:lstStyle/>
          <a:p>
            <a:pPr algn="l" indent="0" marL="0">
              <a:buNone/>
            </a:pPr>
            <a:r>
              <a:rPr lang="en-US" sz="1100" b="1" spc="100" kern="0" dirty="0">
                <a:solidFill>
                  <a:schemeClr val="accent2"/>
                </a:solidFill>
              </a:rPr>
              <a:t>06  •  DHCP  •  LAB 4</a:t>
            </a:r>
            <a:endParaRPr lang="en-US" sz="1100" dirty="0"/>
          </a:p>
        </p:txBody>
      </p:sp>
      <p:sp>
        <p:nvSpPr>
          <p:cNvPr id="3" name="Text 1"/>
          <p:cNvSpPr/>
          <p:nvPr>
            <p:ph idx="103" type="title" hasCustomPrompt="1"/>
          </p:nvPr>
        </p:nvSpPr>
        <p:spPr>
          <a:xfrm>
            <a:off x="548640" y="548640"/>
            <a:ext cx="10149840" cy="548640"/>
          </a:xfrm>
          <a:prstGeom prst="rect">
            <a:avLst/>
          </a:prstGeom>
          <a:noFill/>
          <a:ln/>
        </p:spPr>
        <p:txBody>
          <a:bodyPr wrap="square" lIns="0" tIns="0" rIns="0" bIns="0" rtlCol="0" anchor="ctr"/>
          <a:lstStyle/>
          <a:p>
            <a:pPr algn="l" indent="0" marL="0">
              <a:buNone/>
            </a:pPr>
            <a:r>
              <a:rPr lang="en-US" sz="2600" b="1" dirty="0">
                <a:solidFill>
                  <a:schemeClr val="accent1"/>
                </a:solidFill>
              </a:rPr>
              <a:t>How to check DHCP leases on the router and the PC</a:t>
            </a:r>
            <a:endParaRPr lang="en-US" sz="2600" dirty="0"/>
          </a:p>
        </p:txBody>
      </p:sp>
      <p:pic>
        <p:nvPicPr>
          <p:cNvPr id="4" name="Home button" descr="Home: back to the workbook menu">
            <a:hlinkClick r:id="rId2" tooltip="Back to the workbook menu" action="ppaction://hlinksldjump"/>
          </p:cNvPr>
          <p:cNvPicPr>
            <a:picLocks noChangeAspect="1"/>
          </p:cNvPicPr>
          <p:nvPr/>
        </p:nvPicPr>
        <p:blipFill>
          <a:blip r:embed="rId1"/>
          <a:stretch>
            <a:fillRect/>
          </a:stretch>
        </p:blipFill>
        <p:spPr>
          <a:xfrm>
            <a:off x="11365992" y="6336792"/>
            <a:ext cx="365760" cy="365760"/>
          </a:xfrm>
          <a:prstGeom prst="rect">
            <a:avLst/>
          </a:prstGeom>
        </p:spPr>
      </p:pic>
      <p:sp>
        <p:nvSpPr>
          <p:cNvPr id="5" name="Goal"/>
          <p:cNvSpPr txBox="1"/>
          <p:nvPr/>
        </p:nvSpPr>
        <p:spPr>
          <a:xfrm>
            <a:off x="548640" y="1161288"/>
            <a:ext cx="11094415" cy="384048"/>
          </a:xfrm>
          <a:prstGeom prst="rect">
            <a:avLst/>
          </a:prstGeom>
          <a:noFill/>
          <a:ln/>
        </p:spPr>
        <p:txBody>
          <a:bodyPr wrap="square" lIns="0" tIns="0" rIns="0" bIns="0" rtlCol="0" anchor="ctr"/>
          <a:lstStyle/>
          <a:p>
            <a:pPr indent="0" marL="0">
              <a:buNone/>
            </a:pPr>
            <a:r>
              <a:rPr lang="en-US" sz="1400" b="1" dirty="0">
                <a:solidFill>
                  <a:srgbClr val="2B7043"/>
                </a:solidFill>
              </a:rPr>
              <a:t>Goal:  </a:t>
            </a:r>
            <a:r>
              <a:rPr lang="en-US" sz="1400" dirty="0">
                <a:solidFill>
                  <a:srgbClr val="2B2B2B"/>
                </a:solidFill>
              </a:rPr>
              <a:t>Match what the router handed out with what the PC received. The MAC address links the two.</a:t>
            </a:r>
            <a:endParaRPr lang="en-US" sz="1400" dirty="0"/>
          </a:p>
        </p:txBody>
      </p:sp>
      <p:sp>
        <p:nvSpPr>
          <p:cNvPr id="6" name="Terminal window"/>
          <p:cNvSpPr/>
          <p:nvPr/>
        </p:nvSpPr>
        <p:spPr>
          <a:xfrm>
            <a:off x="548640" y="1664208"/>
            <a:ext cx="5440680" cy="3063240"/>
          </a:xfrm>
          <a:prstGeom prst="roundRect">
            <a:avLst>
              <a:gd name="adj" fmla="val 2388"/>
            </a:avLst>
          </a:prstGeom>
          <a:solidFill>
            <a:srgbClr val="1B2B22"/>
          </a:solidFill>
          <a:ln w="6350">
            <a:solidFill>
              <a:srgbClr val="1B2B22"/>
            </a:solidFill>
            <a:prstDash val="solid"/>
          </a:ln>
        </p:spPr>
      </p:sp>
      <p:sp>
        <p:nvSpPr>
          <p:cNvPr id="7" name="Shape 4"/>
          <p:cNvSpPr/>
          <p:nvPr/>
        </p:nvSpPr>
        <p:spPr>
          <a:xfrm>
            <a:off x="713232" y="1783080"/>
            <a:ext cx="109728" cy="109728"/>
          </a:xfrm>
          <a:prstGeom prst="ellipse">
            <a:avLst/>
          </a:prstGeom>
          <a:solidFill>
            <a:srgbClr val="E0605A"/>
          </a:solidFill>
          <a:ln/>
        </p:spPr>
      </p:sp>
      <p:sp>
        <p:nvSpPr>
          <p:cNvPr id="8" name="Shape 5"/>
          <p:cNvSpPr/>
          <p:nvPr/>
        </p:nvSpPr>
        <p:spPr>
          <a:xfrm>
            <a:off x="896112" y="1783080"/>
            <a:ext cx="109728" cy="109728"/>
          </a:xfrm>
          <a:prstGeom prst="ellipse">
            <a:avLst/>
          </a:prstGeom>
          <a:solidFill>
            <a:srgbClr val="E8B92E"/>
          </a:solidFill>
          <a:ln/>
        </p:spPr>
      </p:sp>
      <p:sp>
        <p:nvSpPr>
          <p:cNvPr id="9" name="Shape 6"/>
          <p:cNvSpPr/>
          <p:nvPr/>
        </p:nvSpPr>
        <p:spPr>
          <a:xfrm>
            <a:off x="1078992" y="1783080"/>
            <a:ext cx="109728" cy="109728"/>
          </a:xfrm>
          <a:prstGeom prst="ellipse">
            <a:avLst/>
          </a:prstGeom>
          <a:solidFill>
            <a:srgbClr val="4CAF50"/>
          </a:solidFill>
          <a:ln/>
        </p:spPr>
      </p:sp>
      <p:sp>
        <p:nvSpPr>
          <p:cNvPr id="10" name="Text 7"/>
          <p:cNvSpPr txBox="1"/>
          <p:nvPr/>
        </p:nvSpPr>
        <p:spPr>
          <a:xfrm>
            <a:off x="1325880" y="1709928"/>
            <a:ext cx="4526280" cy="256032"/>
          </a:xfrm>
          <a:prstGeom prst="rect">
            <a:avLst/>
          </a:prstGeom>
          <a:noFill/>
          <a:ln/>
        </p:spPr>
        <p:txBody>
          <a:bodyPr wrap="square" lIns="0" tIns="0" rIns="0" bIns="0" rtlCol="0" anchor="ctr"/>
          <a:lstStyle/>
          <a:p>
            <a:pPr indent="0" marL="0">
              <a:buNone/>
            </a:pPr>
            <a:r>
              <a:rPr lang="en-US" sz="1100" b="1" dirty="0">
                <a:solidFill>
                  <a:srgbClr val="C9D6CC"/>
                </a:solidFill>
              </a:rPr>
              <a:t>R1  ›  CLI  (columns shortened)</a:t>
            </a:r>
            <a:endParaRPr lang="en-US" sz="1100" dirty="0"/>
          </a:p>
        </p:txBody>
      </p:sp>
      <p:sp>
        <p:nvSpPr>
          <p:cNvPr id="11" name="Terminal text"/>
          <p:cNvSpPr txBox="1"/>
          <p:nvPr/>
        </p:nvSpPr>
        <p:spPr>
          <a:xfrm>
            <a:off x="731520" y="2048256"/>
            <a:ext cx="5120640" cy="2587752"/>
          </a:xfrm>
          <a:prstGeom prst="rect">
            <a:avLst/>
          </a:prstGeom>
          <a:noFill/>
          <a:ln/>
        </p:spPr>
        <p:txBody>
          <a:bodyPr wrap="square" lIns="0" tIns="0" rIns="0" bIns="0" rtlCol="0" anchor="t"/>
          <a:lstStyle/>
          <a:p>
            <a:pPr indent="0" marL="0">
              <a:lnSpc>
                <a:spcPct val="100000"/>
              </a:lnSpc>
              <a:buNone/>
            </a:pPr>
            <a:r>
              <a:rPr lang="en-US" sz="1100" dirty="0">
                <a:solidFill>
                  <a:srgbClr val="8FC9A0"/>
                </a:solidFill>
                <a:latin typeface="Courier New" pitchFamily="34" charset="0"/>
                <a:ea typeface="Courier New" pitchFamily="34" charset="-122"/>
                <a:cs typeface="Courier New" pitchFamily="34" charset="-120"/>
              </a:rPr>
              <a:t>R1# </a:t>
            </a:r>
            <a:r>
              <a:rPr lang="en-US" sz="1100" b="1" dirty="0">
                <a:solidFill>
                  <a:srgbClr val="FFFFFF"/>
                </a:solidFill>
                <a:latin typeface="Courier New" pitchFamily="34" charset="0"/>
                <a:ea typeface="Courier New" pitchFamily="34" charset="-122"/>
                <a:cs typeface="Courier New" pitchFamily="34" charset="-120"/>
              </a:rPr>
              <a:t>show ip dhcp binding</a:t>
            </a:r>
            <a:endParaRPr lang="en-US" sz="1100" dirty="0"/>
          </a:p>
          <a:p>
            <a:pPr indent="0" marL="0">
              <a:lnSpc>
                <a:spcPct val="100000"/>
              </a:lnSpc>
              <a:buNone/>
            </a:pPr>
            <a:r>
              <a:rPr lang="en-US" sz="1100" dirty="0">
                <a:solidFill>
                  <a:srgbClr val="D5E2D8"/>
                </a:solidFill>
                <a:latin typeface="Courier New" pitchFamily="34" charset="0"/>
                <a:ea typeface="Courier New" pitchFamily="34" charset="-122"/>
                <a:cs typeface="Courier New" pitchFamily="34" charset="-120"/>
              </a:rPr>
              <a:t>IP address      Hardware address  Type</a:t>
            </a:r>
            <a:endParaRPr lang="en-US" sz="1100" dirty="0"/>
          </a:p>
          <a:p>
            <a:pPr indent="0" marL="0">
              <a:lnSpc>
                <a:spcPct val="100000"/>
              </a:lnSpc>
              <a:buNone/>
            </a:pPr>
            <a:r>
              <a:rPr lang="en-US" sz="1100" b="1" dirty="0">
                <a:solidFill>
                  <a:srgbClr val="E8B92E"/>
                </a:solidFill>
                <a:latin typeface="Courier New" pitchFamily="34" charset="0"/>
                <a:ea typeface="Courier New" pitchFamily="34" charset="-122"/>
                <a:cs typeface="Courier New" pitchFamily="34" charset="-120"/>
              </a:rPr>
              <a:t>192.168.10.21</a:t>
            </a:r>
            <a:r>
              <a:rPr lang="en-US" sz="1100" dirty="0">
                <a:solidFill>
                  <a:srgbClr val="D5E2D8"/>
                </a:solidFill>
                <a:latin typeface="Courier New" pitchFamily="34" charset="0"/>
                <a:ea typeface="Courier New" pitchFamily="34" charset="-122"/>
                <a:cs typeface="Courier New" pitchFamily="34" charset="-120"/>
              </a:rPr>
              <a:t>   </a:t>
            </a:r>
            <a:r>
              <a:rPr lang="en-US" sz="1100" b="1" dirty="0">
                <a:solidFill>
                  <a:srgbClr val="E8B92E"/>
                </a:solidFill>
                <a:latin typeface="Courier New" pitchFamily="34" charset="0"/>
                <a:ea typeface="Courier New" pitchFamily="34" charset="-122"/>
                <a:cs typeface="Courier New" pitchFamily="34" charset="-120"/>
              </a:rPr>
              <a:t>0060.4721.6A1B</a:t>
            </a:r>
            <a:r>
              <a:rPr lang="en-US" sz="1100" dirty="0">
                <a:solidFill>
                  <a:srgbClr val="D5E2D8"/>
                </a:solidFill>
                <a:latin typeface="Courier New" pitchFamily="34" charset="0"/>
                <a:ea typeface="Courier New" pitchFamily="34" charset="-122"/>
                <a:cs typeface="Courier New" pitchFamily="34" charset="-120"/>
              </a:rPr>
              <a:t>    Automatic</a:t>
            </a:r>
            <a:endParaRPr lang="en-US" sz="1100" dirty="0"/>
          </a:p>
          <a:p>
            <a:pPr indent="0" marL="0">
              <a:lnSpc>
                <a:spcPct val="100000"/>
              </a:lnSpc>
              <a:buNone/>
            </a:pPr>
            <a:r>
              <a:rPr lang="en-US" sz="1100" dirty="0">
                <a:solidFill>
                  <a:srgbClr val="D5E2D8"/>
                </a:solidFill>
                <a:latin typeface="Courier New" pitchFamily="34" charset="0"/>
                <a:ea typeface="Courier New" pitchFamily="34" charset="-122"/>
                <a:cs typeface="Courier New" pitchFamily="34" charset="-120"/>
              </a:rPr>
              <a:t>192.168.20.21   00D0.97C4.3A02    Automatic</a:t>
            </a:r>
            <a:endParaRPr lang="en-US" sz="1100" dirty="0"/>
          </a:p>
          <a:p>
            <a:pPr indent="0" marL="0">
              <a:lnSpc>
                <a:spcPct val="100000"/>
              </a:lnSpc>
              <a:buNone/>
            </a:pPr>
            <a:r>
              <a:rPr lang="en-US" sz="1100" dirty="0">
                <a:solidFill>
                  <a:srgbClr val="D5E2D8"/>
                </a:solidFill>
                <a:latin typeface="Courier New" pitchFamily="34" charset="0"/>
                <a:ea typeface="Courier New" pitchFamily="34" charset="-122"/>
                <a:cs typeface="Courier New" pitchFamily="34" charset="-120"/>
              </a:rPr>
              <a:t>192.168.30.21   0001.C7A3.11F5    Automatic</a:t>
            </a:r>
            <a:endParaRPr lang="en-US" sz="1100" dirty="0"/>
          </a:p>
          <a:p>
            <a:pPr indent="0" marL="0">
              <a:lnSpc>
                <a:spcPct val="100000"/>
              </a:lnSpc>
              <a:buNone/>
            </a:pPr>
            <a:r>
              <a:rPr lang="en-US" sz="1100" dirty="0">
                <a:solidFill>
                  <a:srgbClr val="D5E2D8"/>
                </a:solidFill>
                <a:latin typeface="Courier New" pitchFamily="34" charset="0"/>
                <a:ea typeface="Courier New" pitchFamily="34" charset="-122"/>
                <a:cs typeface="Courier New" pitchFamily="34" charset="-120"/>
              </a:rPr>
              <a:t> </a:t>
            </a:r>
            <a:endParaRPr lang="en-US" sz="1100" dirty="0"/>
          </a:p>
          <a:p>
            <a:pPr indent="0" marL="0">
              <a:lnSpc>
                <a:spcPct val="100000"/>
              </a:lnSpc>
              <a:buNone/>
            </a:pPr>
            <a:r>
              <a:rPr lang="en-US" sz="1100" dirty="0">
                <a:solidFill>
                  <a:srgbClr val="8FC9A0"/>
                </a:solidFill>
                <a:latin typeface="Courier New" pitchFamily="34" charset="0"/>
                <a:ea typeface="Courier New" pitchFamily="34" charset="-122"/>
                <a:cs typeface="Courier New" pitchFamily="34" charset="-120"/>
              </a:rPr>
              <a:t>R1# </a:t>
            </a:r>
            <a:r>
              <a:rPr lang="en-US" sz="1100" b="1" dirty="0">
                <a:solidFill>
                  <a:srgbClr val="FFFFFF"/>
                </a:solidFill>
                <a:latin typeface="Courier New" pitchFamily="34" charset="0"/>
                <a:ea typeface="Courier New" pitchFamily="34" charset="-122"/>
                <a:cs typeface="Courier New" pitchFamily="34" charset="-120"/>
              </a:rPr>
              <a:t>show ip dhcp pool</a:t>
            </a:r>
            <a:endParaRPr lang="en-US" sz="1100" dirty="0"/>
          </a:p>
          <a:p>
            <a:pPr indent="0" marL="0">
              <a:lnSpc>
                <a:spcPct val="100000"/>
              </a:lnSpc>
              <a:buNone/>
            </a:pPr>
            <a:r>
              <a:rPr lang="en-US" sz="1100" dirty="0">
                <a:solidFill>
                  <a:srgbClr val="D5E2D8"/>
                </a:solidFill>
                <a:latin typeface="Courier New" pitchFamily="34" charset="0"/>
                <a:ea typeface="Courier New" pitchFamily="34" charset="-122"/>
                <a:cs typeface="Courier New" pitchFamily="34" charset="-120"/>
              </a:rPr>
              <a:t>Pool STAFF-POOL :</a:t>
            </a:r>
            <a:endParaRPr lang="en-US" sz="1100" dirty="0"/>
          </a:p>
          <a:p>
            <a:pPr indent="0" marL="0">
              <a:lnSpc>
                <a:spcPct val="100000"/>
              </a:lnSpc>
              <a:buNone/>
            </a:pPr>
            <a:r>
              <a:rPr lang="en-US" sz="1100" dirty="0">
                <a:solidFill>
                  <a:srgbClr val="D5E2D8"/>
                </a:solidFill>
                <a:latin typeface="Courier New" pitchFamily="34" charset="0"/>
                <a:ea typeface="Courier New" pitchFamily="34" charset="-122"/>
                <a:cs typeface="Courier New" pitchFamily="34" charset="-120"/>
              </a:rPr>
              <a:t> Total addresses     : 254</a:t>
            </a:r>
            <a:endParaRPr lang="en-US" sz="1100" dirty="0"/>
          </a:p>
          <a:p>
            <a:pPr indent="0" marL="0">
              <a:lnSpc>
                <a:spcPct val="100000"/>
              </a:lnSpc>
              <a:buNone/>
            </a:pPr>
            <a:r>
              <a:rPr lang="en-US" sz="1100" dirty="0">
                <a:solidFill>
                  <a:srgbClr val="D5E2D8"/>
                </a:solidFill>
                <a:latin typeface="Courier New" pitchFamily="34" charset="0"/>
                <a:ea typeface="Courier New" pitchFamily="34" charset="-122"/>
                <a:cs typeface="Courier New" pitchFamily="34" charset="-120"/>
              </a:rPr>
              <a:t> Leased addresses    : </a:t>
            </a:r>
            <a:r>
              <a:rPr lang="en-US" sz="1100" b="1" dirty="0">
                <a:solidFill>
                  <a:srgbClr val="E8B92E"/>
                </a:solidFill>
                <a:latin typeface="Courier New" pitchFamily="34" charset="0"/>
                <a:ea typeface="Courier New" pitchFamily="34" charset="-122"/>
                <a:cs typeface="Courier New" pitchFamily="34" charset="-120"/>
              </a:rPr>
              <a:t>1</a:t>
            </a:r>
            <a:endParaRPr lang="en-US" sz="1100" dirty="0"/>
          </a:p>
          <a:p>
            <a:pPr indent="0" marL="0">
              <a:lnSpc>
                <a:spcPct val="100000"/>
              </a:lnSpc>
              <a:buNone/>
            </a:pPr>
            <a:r>
              <a:rPr lang="en-US" sz="1100" dirty="0">
                <a:solidFill>
                  <a:srgbClr val="D5E2D8"/>
                </a:solidFill>
                <a:latin typeface="Courier New" pitchFamily="34" charset="0"/>
                <a:ea typeface="Courier New" pitchFamily="34" charset="-122"/>
                <a:cs typeface="Courier New" pitchFamily="34" charset="-120"/>
              </a:rPr>
              <a:t> Excluded addresses  : 20</a:t>
            </a:r>
            <a:endParaRPr lang="en-US" sz="1100" dirty="0"/>
          </a:p>
        </p:txBody>
      </p:sp>
      <p:sp>
        <p:nvSpPr>
          <p:cNvPr id="12" name="Terminal window"/>
          <p:cNvSpPr/>
          <p:nvPr/>
        </p:nvSpPr>
        <p:spPr>
          <a:xfrm>
            <a:off x="6199632" y="1664208"/>
            <a:ext cx="5440680" cy="3063240"/>
          </a:xfrm>
          <a:prstGeom prst="roundRect">
            <a:avLst>
              <a:gd name="adj" fmla="val 2388"/>
            </a:avLst>
          </a:prstGeom>
          <a:solidFill>
            <a:srgbClr val="1B2B22"/>
          </a:solidFill>
          <a:ln w="6350">
            <a:solidFill>
              <a:srgbClr val="1B2B22"/>
            </a:solidFill>
            <a:prstDash val="solid"/>
          </a:ln>
        </p:spPr>
      </p:sp>
      <p:sp>
        <p:nvSpPr>
          <p:cNvPr id="13" name="Shape 10"/>
          <p:cNvSpPr/>
          <p:nvPr/>
        </p:nvSpPr>
        <p:spPr>
          <a:xfrm>
            <a:off x="6364224" y="1783080"/>
            <a:ext cx="109728" cy="109728"/>
          </a:xfrm>
          <a:prstGeom prst="ellipse">
            <a:avLst/>
          </a:prstGeom>
          <a:solidFill>
            <a:srgbClr val="E0605A"/>
          </a:solidFill>
          <a:ln/>
        </p:spPr>
      </p:sp>
      <p:sp>
        <p:nvSpPr>
          <p:cNvPr id="14" name="Shape 11"/>
          <p:cNvSpPr/>
          <p:nvPr/>
        </p:nvSpPr>
        <p:spPr>
          <a:xfrm>
            <a:off x="6547104" y="1783080"/>
            <a:ext cx="109728" cy="109728"/>
          </a:xfrm>
          <a:prstGeom prst="ellipse">
            <a:avLst/>
          </a:prstGeom>
          <a:solidFill>
            <a:srgbClr val="E8B92E"/>
          </a:solidFill>
          <a:ln/>
        </p:spPr>
      </p:sp>
      <p:sp>
        <p:nvSpPr>
          <p:cNvPr id="15" name="Shape 12"/>
          <p:cNvSpPr/>
          <p:nvPr/>
        </p:nvSpPr>
        <p:spPr>
          <a:xfrm>
            <a:off x="6729984" y="1783080"/>
            <a:ext cx="109728" cy="109728"/>
          </a:xfrm>
          <a:prstGeom prst="ellipse">
            <a:avLst/>
          </a:prstGeom>
          <a:solidFill>
            <a:srgbClr val="4CAF50"/>
          </a:solidFill>
          <a:ln/>
        </p:spPr>
      </p:sp>
      <p:sp>
        <p:nvSpPr>
          <p:cNvPr id="16" name="Text 13"/>
          <p:cNvSpPr txBox="1"/>
          <p:nvPr/>
        </p:nvSpPr>
        <p:spPr>
          <a:xfrm>
            <a:off x="6976872" y="1709928"/>
            <a:ext cx="4526280" cy="256032"/>
          </a:xfrm>
          <a:prstGeom prst="rect">
            <a:avLst/>
          </a:prstGeom>
          <a:noFill/>
          <a:ln/>
        </p:spPr>
        <p:txBody>
          <a:bodyPr wrap="square" lIns="0" tIns="0" rIns="0" bIns="0" rtlCol="0" anchor="ctr"/>
          <a:lstStyle/>
          <a:p>
            <a:pPr indent="0" marL="0">
              <a:buNone/>
            </a:pPr>
            <a:r>
              <a:rPr lang="en-US" sz="1100" b="1" dirty="0">
                <a:solidFill>
                  <a:srgbClr val="C9D6CC"/>
                </a:solidFill>
              </a:rPr>
              <a:t>PC1  ›  Command Prompt  (shortened)</a:t>
            </a:r>
            <a:endParaRPr lang="en-US" sz="1100" dirty="0"/>
          </a:p>
        </p:txBody>
      </p:sp>
      <p:sp>
        <p:nvSpPr>
          <p:cNvPr id="17" name="Terminal text"/>
          <p:cNvSpPr txBox="1"/>
          <p:nvPr/>
        </p:nvSpPr>
        <p:spPr>
          <a:xfrm>
            <a:off x="6382512" y="2048256"/>
            <a:ext cx="5120640" cy="2587752"/>
          </a:xfrm>
          <a:prstGeom prst="rect">
            <a:avLst/>
          </a:prstGeom>
          <a:noFill/>
          <a:ln/>
        </p:spPr>
        <p:txBody>
          <a:bodyPr wrap="square" lIns="0" tIns="0" rIns="0" bIns="0" rtlCol="0" anchor="t"/>
          <a:lstStyle/>
          <a:p>
            <a:pPr indent="0" marL="0">
              <a:lnSpc>
                <a:spcPct val="100000"/>
              </a:lnSpc>
              <a:buNone/>
            </a:pPr>
            <a:r>
              <a:rPr lang="en-US" sz="1100" dirty="0">
                <a:solidFill>
                  <a:srgbClr val="8FC9A0"/>
                </a:solidFill>
                <a:latin typeface="Courier New" pitchFamily="34" charset="0"/>
                <a:ea typeface="Courier New" pitchFamily="34" charset="-122"/>
                <a:cs typeface="Courier New" pitchFamily="34" charset="-120"/>
              </a:rPr>
              <a:t>C:\&gt;</a:t>
            </a:r>
            <a:r>
              <a:rPr lang="en-US" sz="1100" b="1" dirty="0">
                <a:solidFill>
                  <a:srgbClr val="FFFFFF"/>
                </a:solidFill>
                <a:latin typeface="Courier New" pitchFamily="34" charset="0"/>
                <a:ea typeface="Courier New" pitchFamily="34" charset="-122"/>
                <a:cs typeface="Courier New" pitchFamily="34" charset="-120"/>
              </a:rPr>
              <a:t>ipconfig /all</a:t>
            </a:r>
            <a:endParaRPr lang="en-US" sz="1100" dirty="0"/>
          </a:p>
          <a:p>
            <a:pPr indent="0" marL="0">
              <a:lnSpc>
                <a:spcPct val="100000"/>
              </a:lnSpc>
              <a:buNone/>
            </a:pPr>
            <a:r>
              <a:rPr lang="en-US" sz="1100" dirty="0">
                <a:solidFill>
                  <a:srgbClr val="D5E2D8"/>
                </a:solidFill>
                <a:latin typeface="Courier New" pitchFamily="34" charset="0"/>
                <a:ea typeface="Courier New" pitchFamily="34" charset="-122"/>
                <a:cs typeface="Courier New" pitchFamily="34" charset="-120"/>
              </a:rPr>
              <a:t>FastEthernet0 Connection:(default port)</a:t>
            </a:r>
            <a:endParaRPr lang="en-US" sz="1100" dirty="0"/>
          </a:p>
          <a:p>
            <a:pPr indent="0" marL="0">
              <a:lnSpc>
                <a:spcPct val="100000"/>
              </a:lnSpc>
              <a:buNone/>
            </a:pPr>
            <a:r>
              <a:rPr lang="en-US" sz="1100" dirty="0">
                <a:solidFill>
                  <a:srgbClr val="D5E2D8"/>
                </a:solidFill>
                <a:latin typeface="Courier New" pitchFamily="34" charset="0"/>
                <a:ea typeface="Courier New" pitchFamily="34" charset="-122"/>
                <a:cs typeface="Courier New" pitchFamily="34" charset="-120"/>
              </a:rPr>
              <a:t>   Physical Address....: </a:t>
            </a:r>
            <a:r>
              <a:rPr lang="en-US" sz="1100" b="1" dirty="0">
                <a:solidFill>
                  <a:srgbClr val="E8B92E"/>
                </a:solidFill>
                <a:latin typeface="Courier New" pitchFamily="34" charset="0"/>
                <a:ea typeface="Courier New" pitchFamily="34" charset="-122"/>
                <a:cs typeface="Courier New" pitchFamily="34" charset="-120"/>
              </a:rPr>
              <a:t>0060.4721.6A1B</a:t>
            </a:r>
            <a:endParaRPr lang="en-US" sz="1100" dirty="0"/>
          </a:p>
          <a:p>
            <a:pPr indent="0" marL="0">
              <a:lnSpc>
                <a:spcPct val="100000"/>
              </a:lnSpc>
              <a:buNone/>
            </a:pPr>
            <a:r>
              <a:rPr lang="en-US" sz="1100" dirty="0">
                <a:solidFill>
                  <a:srgbClr val="D5E2D8"/>
                </a:solidFill>
                <a:latin typeface="Courier New" pitchFamily="34" charset="0"/>
                <a:ea typeface="Courier New" pitchFamily="34" charset="-122"/>
                <a:cs typeface="Courier New" pitchFamily="34" charset="-120"/>
              </a:rPr>
              <a:t>   IPv4 Address........: </a:t>
            </a:r>
            <a:r>
              <a:rPr lang="en-US" sz="1100" b="1" dirty="0">
                <a:solidFill>
                  <a:srgbClr val="E8B92E"/>
                </a:solidFill>
                <a:latin typeface="Courier New" pitchFamily="34" charset="0"/>
                <a:ea typeface="Courier New" pitchFamily="34" charset="-122"/>
                <a:cs typeface="Courier New" pitchFamily="34" charset="-120"/>
              </a:rPr>
              <a:t>192.168.10.21</a:t>
            </a:r>
            <a:endParaRPr lang="en-US" sz="1100" dirty="0"/>
          </a:p>
          <a:p>
            <a:pPr indent="0" marL="0">
              <a:lnSpc>
                <a:spcPct val="100000"/>
              </a:lnSpc>
              <a:buNone/>
            </a:pPr>
            <a:r>
              <a:rPr lang="en-US" sz="1100" dirty="0">
                <a:solidFill>
                  <a:srgbClr val="D5E2D8"/>
                </a:solidFill>
                <a:latin typeface="Courier New" pitchFamily="34" charset="0"/>
                <a:ea typeface="Courier New" pitchFamily="34" charset="-122"/>
                <a:cs typeface="Courier New" pitchFamily="34" charset="-120"/>
              </a:rPr>
              <a:t>   Subnet Mask.........: 255.255.255.0</a:t>
            </a:r>
            <a:endParaRPr lang="en-US" sz="1100" dirty="0"/>
          </a:p>
          <a:p>
            <a:pPr indent="0" marL="0">
              <a:lnSpc>
                <a:spcPct val="100000"/>
              </a:lnSpc>
              <a:buNone/>
            </a:pPr>
            <a:r>
              <a:rPr lang="en-US" sz="1100" dirty="0">
                <a:solidFill>
                  <a:srgbClr val="D5E2D8"/>
                </a:solidFill>
                <a:latin typeface="Courier New" pitchFamily="34" charset="0"/>
                <a:ea typeface="Courier New" pitchFamily="34" charset="-122"/>
                <a:cs typeface="Courier New" pitchFamily="34" charset="-120"/>
              </a:rPr>
              <a:t>   Default Gateway.....: 192.168.10.1</a:t>
            </a:r>
            <a:endParaRPr lang="en-US" sz="1100" dirty="0"/>
          </a:p>
          <a:p>
            <a:pPr indent="0" marL="0">
              <a:lnSpc>
                <a:spcPct val="100000"/>
              </a:lnSpc>
              <a:buNone/>
            </a:pPr>
            <a:r>
              <a:rPr lang="en-US" sz="1100" dirty="0">
                <a:solidFill>
                  <a:srgbClr val="D5E2D8"/>
                </a:solidFill>
                <a:latin typeface="Courier New" pitchFamily="34" charset="0"/>
                <a:ea typeface="Courier New" pitchFamily="34" charset="-122"/>
                <a:cs typeface="Courier New" pitchFamily="34" charset="-120"/>
              </a:rPr>
              <a:t>   DHCP Servers........: 192.168.10.1</a:t>
            </a:r>
            <a:endParaRPr lang="en-US" sz="1100" dirty="0"/>
          </a:p>
          <a:p>
            <a:pPr indent="0" marL="0">
              <a:lnSpc>
                <a:spcPct val="100000"/>
              </a:lnSpc>
              <a:buNone/>
            </a:pPr>
            <a:r>
              <a:rPr lang="en-US" sz="1100" dirty="0">
                <a:solidFill>
                  <a:srgbClr val="D5E2D8"/>
                </a:solidFill>
                <a:latin typeface="Courier New" pitchFamily="34" charset="0"/>
                <a:ea typeface="Courier New" pitchFamily="34" charset="-122"/>
                <a:cs typeface="Courier New" pitchFamily="34" charset="-120"/>
              </a:rPr>
              <a:t>   DNS Servers.........: 192.168.50.10</a:t>
            </a:r>
            <a:endParaRPr lang="en-US" sz="1100" dirty="0"/>
          </a:p>
        </p:txBody>
      </p:sp>
      <p:sp>
        <p:nvSpPr>
          <p:cNvPr id="18" name="Card"/>
          <p:cNvSpPr/>
          <p:nvPr/>
        </p:nvSpPr>
        <p:spPr>
          <a:xfrm>
            <a:off x="548640" y="4892040"/>
            <a:ext cx="3520440" cy="1325880"/>
          </a:xfrm>
          <a:prstGeom prst="roundRect">
            <a:avLst>
              <a:gd name="adj" fmla="val 5517"/>
            </a:avLst>
          </a:prstGeom>
          <a:solidFill>
            <a:srgbClr val="F2F8F3"/>
          </a:solidFill>
          <a:ln w="12700">
            <a:solidFill>
              <a:srgbClr val="B7C9BA"/>
            </a:solidFill>
            <a:prstDash val="solid"/>
          </a:ln>
        </p:spPr>
      </p:sp>
      <p:sp>
        <p:nvSpPr>
          <p:cNvPr id="19" name="Text 16"/>
          <p:cNvSpPr txBox="1"/>
          <p:nvPr/>
        </p:nvSpPr>
        <p:spPr>
          <a:xfrm>
            <a:off x="694944" y="4994453"/>
            <a:ext cx="3227832" cy="1121054"/>
          </a:xfrm>
          <a:prstGeom prst="rect">
            <a:avLst/>
          </a:prstGeom>
          <a:noFill/>
          <a:ln/>
        </p:spPr>
        <p:txBody>
          <a:bodyPr wrap="square" lIns="0" tIns="0" rIns="0" bIns="0" rtlCol="0" anchor="t"/>
          <a:lstStyle/>
          <a:p>
            <a:pPr indent="0" marL="0">
              <a:buNone/>
            </a:pPr>
            <a:r>
              <a:rPr lang="en-US" sz="1400" b="1" dirty="0">
                <a:solidFill>
                  <a:srgbClr val="1E5631"/>
                </a:solidFill>
              </a:rPr>
              <a:t>Match the MAC</a:t>
            </a:r>
            <a:endParaRPr lang="en-US" sz="1300" dirty="0"/>
          </a:p>
          <a:p>
            <a:pPr indent="0" marL="0">
              <a:buNone/>
            </a:pPr>
            <a:r>
              <a:rPr lang="en-US" sz="1300" dirty="0">
                <a:solidFill>
                  <a:srgbClr val="2B2B2B"/>
                </a:solidFill>
              </a:rPr>
              <a:t>The Hardware address in the binding is the PC’s Physical Address: now you know who has which IP.</a:t>
            </a:r>
            <a:endParaRPr lang="en-US" sz="1300" dirty="0"/>
          </a:p>
        </p:txBody>
      </p:sp>
      <p:sp>
        <p:nvSpPr>
          <p:cNvPr id="20" name="Card"/>
          <p:cNvSpPr/>
          <p:nvPr/>
        </p:nvSpPr>
        <p:spPr>
          <a:xfrm>
            <a:off x="4334256" y="4892040"/>
            <a:ext cx="3520440" cy="1325880"/>
          </a:xfrm>
          <a:prstGeom prst="roundRect">
            <a:avLst>
              <a:gd name="adj" fmla="val 5517"/>
            </a:avLst>
          </a:prstGeom>
          <a:solidFill>
            <a:srgbClr val="F2F8F3"/>
          </a:solidFill>
          <a:ln w="12700">
            <a:solidFill>
              <a:srgbClr val="B7C9BA"/>
            </a:solidFill>
            <a:prstDash val="solid"/>
          </a:ln>
        </p:spPr>
      </p:sp>
      <p:sp>
        <p:nvSpPr>
          <p:cNvPr id="21" name="Text 18"/>
          <p:cNvSpPr txBox="1"/>
          <p:nvPr/>
        </p:nvSpPr>
        <p:spPr>
          <a:xfrm>
            <a:off x="4480560" y="4994453"/>
            <a:ext cx="3227832" cy="1121054"/>
          </a:xfrm>
          <a:prstGeom prst="rect">
            <a:avLst/>
          </a:prstGeom>
          <a:noFill/>
          <a:ln/>
        </p:spPr>
        <p:txBody>
          <a:bodyPr wrap="square" lIns="0" tIns="0" rIns="0" bIns="0" rtlCol="0" anchor="t"/>
          <a:lstStyle/>
          <a:p>
            <a:pPr indent="0" marL="0">
              <a:buNone/>
            </a:pPr>
            <a:r>
              <a:rPr lang="en-US" sz="1400" b="1" dirty="0">
                <a:solidFill>
                  <a:srgbClr val="1E5631"/>
                </a:solidFill>
              </a:rPr>
              <a:t>Leased addresses</a:t>
            </a:r>
            <a:endParaRPr lang="en-US" sz="1300" dirty="0"/>
          </a:p>
          <a:p>
            <a:pPr indent="0" marL="0">
              <a:buNone/>
            </a:pPr>
            <a:r>
              <a:rPr lang="en-US" sz="1300" dirty="0">
                <a:solidFill>
                  <a:srgbClr val="2B2B2B"/>
                </a:solidFill>
              </a:rPr>
              <a:t>Counts up as PCs join. Still 0 while PCs wait? Their requests are not reaching R1.</a:t>
            </a:r>
            <a:endParaRPr lang="en-US" sz="1300" dirty="0"/>
          </a:p>
        </p:txBody>
      </p:sp>
      <p:sp>
        <p:nvSpPr>
          <p:cNvPr id="22" name="Card"/>
          <p:cNvSpPr/>
          <p:nvPr/>
        </p:nvSpPr>
        <p:spPr>
          <a:xfrm>
            <a:off x="8119872" y="4892040"/>
            <a:ext cx="3520440" cy="1325880"/>
          </a:xfrm>
          <a:prstGeom prst="roundRect">
            <a:avLst>
              <a:gd name="adj" fmla="val 5517"/>
            </a:avLst>
          </a:prstGeom>
          <a:solidFill>
            <a:srgbClr val="F2F8F3"/>
          </a:solidFill>
          <a:ln w="12700">
            <a:solidFill>
              <a:srgbClr val="B7C9BA"/>
            </a:solidFill>
            <a:prstDash val="solid"/>
          </a:ln>
        </p:spPr>
      </p:sp>
      <p:sp>
        <p:nvSpPr>
          <p:cNvPr id="23" name="Text 20"/>
          <p:cNvSpPr txBox="1"/>
          <p:nvPr/>
        </p:nvSpPr>
        <p:spPr>
          <a:xfrm>
            <a:off x="8266176" y="4994453"/>
            <a:ext cx="3227832" cy="1121054"/>
          </a:xfrm>
          <a:prstGeom prst="rect">
            <a:avLst/>
          </a:prstGeom>
          <a:noFill/>
          <a:ln/>
        </p:spPr>
        <p:txBody>
          <a:bodyPr wrap="square" lIns="0" tIns="0" rIns="0" bIns="0" rtlCol="0" anchor="t"/>
          <a:lstStyle/>
          <a:p>
            <a:pPr indent="0" marL="0">
              <a:buNone/>
            </a:pPr>
            <a:r>
              <a:rPr lang="en-US" sz="1400" b="1" dirty="0">
                <a:solidFill>
                  <a:srgbClr val="1E5631"/>
                </a:solidFill>
              </a:rPr>
              <a:t>Renew a lease</a:t>
            </a:r>
            <a:endParaRPr lang="en-US" sz="1300" dirty="0"/>
          </a:p>
          <a:p>
            <a:pPr indent="0" marL="0">
              <a:buNone/>
            </a:pPr>
            <a:r>
              <a:rPr lang="en-US" sz="1300" dirty="0">
                <a:solidFill>
                  <a:srgbClr val="2B2B2B"/>
                </a:solidFill>
              </a:rPr>
              <a:t>On the PC: </a:t>
            </a:r>
            <a:r>
              <a:rPr lang="en-US" sz="1200" b="1" dirty="0">
                <a:solidFill>
                  <a:srgbClr val="1E5631"/>
                </a:solidFill>
                <a:latin typeface="Courier New" pitchFamily="34" charset="0"/>
                <a:ea typeface="Courier New" pitchFamily="34" charset="-122"/>
                <a:cs typeface="Courier New" pitchFamily="34" charset="-120"/>
              </a:rPr>
              <a:t>ipconfig /release</a:t>
            </a:r>
            <a:r>
              <a:rPr lang="en-US" sz="1300" dirty="0">
                <a:solidFill>
                  <a:srgbClr val="2B2B2B"/>
                </a:solidFill>
              </a:rPr>
              <a:t>, then </a:t>
            </a:r>
            <a:r>
              <a:rPr lang="en-US" sz="1200" b="1" dirty="0">
                <a:solidFill>
                  <a:srgbClr val="1E5631"/>
                </a:solidFill>
                <a:latin typeface="Courier New" pitchFamily="34" charset="0"/>
                <a:ea typeface="Courier New" pitchFamily="34" charset="-122"/>
                <a:cs typeface="Courier New" pitchFamily="34" charset="-120"/>
              </a:rPr>
              <a:t>ipconfig /renew</a:t>
            </a:r>
            <a:r>
              <a:rPr lang="en-US" sz="1300" dirty="0">
                <a:solidFill>
                  <a:srgbClr val="2B2B2B"/>
                </a:solidFill>
              </a:rPr>
              <a:t> (DHCP must be selected).</a:t>
            </a:r>
            <a:endParaRPr lang="en-US" sz="1300" dirty="0"/>
          </a:p>
        </p:txBody>
      </p:sp>
      <p:sp>
        <p:nvSpPr>
          <p:cNvPr id="25" name="Slide Number Placeholder 0"/>
          <p:cNvSpPr>
            <a:spLocks noGrp="1"/>
          </p:cNvSpPr>
          <p:nvPr>
            <p:ph type="sldNum" sz="quarter" idx="4294967295"/>
          </p:nvPr>
        </p:nvSpPr>
        <p:spPr>
          <a:xfrm>
            <a:off x="10698480" y="6464808"/>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1"/>
          <p:cNvSpPr/>
          <p:nvPr>
            <p:ph idx="102" type="body" hasCustomPrompt="1"/>
          </p:nvPr>
        </p:nvSpPr>
        <p:spPr>
          <a:xfrm>
            <a:off x="548640" y="274320"/>
            <a:ext cx="9966960" cy="256032"/>
          </a:xfrm>
          <a:prstGeom prst="rect">
            <a:avLst/>
          </a:prstGeom>
          <a:noFill/>
          <a:ln/>
        </p:spPr>
        <p:txBody>
          <a:bodyPr wrap="square" lIns="0" tIns="0" rIns="0" bIns="0" rtlCol="0" anchor="ctr"/>
          <a:lstStyle/>
          <a:p>
            <a:pPr algn="l" indent="0" marL="0">
              <a:buNone/>
            </a:pPr>
            <a:r>
              <a:rPr lang="en-US" sz="1100" b="1" spc="100" kern="0" dirty="0">
                <a:solidFill>
                  <a:schemeClr val="accent2"/>
                </a:solidFill>
              </a:rPr>
              <a:t>06  •  DHCP  •  LAB 4</a:t>
            </a:r>
            <a:endParaRPr lang="en-US" sz="1100" dirty="0"/>
          </a:p>
        </p:txBody>
      </p:sp>
      <p:sp>
        <p:nvSpPr>
          <p:cNvPr id="3" name="Text 1"/>
          <p:cNvSpPr/>
          <p:nvPr>
            <p:ph idx="103" type="title" hasCustomPrompt="1"/>
          </p:nvPr>
        </p:nvSpPr>
        <p:spPr>
          <a:xfrm>
            <a:off x="548640" y="548640"/>
            <a:ext cx="10149840" cy="548640"/>
          </a:xfrm>
          <a:prstGeom prst="rect">
            <a:avLst/>
          </a:prstGeom>
          <a:noFill/>
          <a:ln/>
        </p:spPr>
        <p:txBody>
          <a:bodyPr wrap="square" lIns="0" tIns="0" rIns="0" bIns="0" rtlCol="0" anchor="ctr"/>
          <a:lstStyle/>
          <a:p>
            <a:pPr algn="l" indent="0" marL="0">
              <a:buNone/>
            </a:pPr>
            <a:r>
              <a:rPr lang="en-US" sz="2600" b="1" dirty="0">
                <a:solidFill>
                  <a:schemeClr val="accent1"/>
                </a:solidFill>
              </a:rPr>
              <a:t>How to relay DHCP from another subnet (ip helper-address)</a:t>
            </a:r>
            <a:endParaRPr lang="en-US" sz="2600" dirty="0"/>
          </a:p>
        </p:txBody>
      </p:sp>
      <p:pic>
        <p:nvPicPr>
          <p:cNvPr id="4" name="Home button" descr="Home: back to the workbook menu">
            <a:hlinkClick r:id="rId2" tooltip="Back to the workbook menu" action="ppaction://hlinksldjump"/>
          </p:cNvPr>
          <p:cNvPicPr>
            <a:picLocks noChangeAspect="1"/>
          </p:cNvPicPr>
          <p:nvPr/>
        </p:nvPicPr>
        <p:blipFill>
          <a:blip r:embed="rId1"/>
          <a:stretch>
            <a:fillRect/>
          </a:stretch>
        </p:blipFill>
        <p:spPr>
          <a:xfrm>
            <a:off x="11365992" y="6336792"/>
            <a:ext cx="365760" cy="365760"/>
          </a:xfrm>
          <a:prstGeom prst="rect">
            <a:avLst/>
          </a:prstGeom>
        </p:spPr>
      </p:pic>
      <p:sp>
        <p:nvSpPr>
          <p:cNvPr id="5" name="Goal"/>
          <p:cNvSpPr txBox="1"/>
          <p:nvPr/>
        </p:nvSpPr>
        <p:spPr>
          <a:xfrm>
            <a:off x="548640" y="1161288"/>
            <a:ext cx="11094415" cy="384048"/>
          </a:xfrm>
          <a:prstGeom prst="rect">
            <a:avLst/>
          </a:prstGeom>
          <a:noFill/>
          <a:ln/>
        </p:spPr>
        <p:txBody>
          <a:bodyPr wrap="square" lIns="0" tIns="0" rIns="0" bIns="0" rtlCol="0" anchor="ctr"/>
          <a:lstStyle/>
          <a:p>
            <a:pPr indent="0" marL="0">
              <a:buNone/>
            </a:pPr>
            <a:r>
              <a:rPr lang="en-US" sz="1400" b="1" dirty="0">
                <a:solidFill>
                  <a:srgbClr val="2B7043"/>
                </a:solidFill>
              </a:rPr>
              <a:t>Goal:  </a:t>
            </a:r>
            <a:r>
              <a:rPr lang="en-US" sz="1400" dirty="0">
                <a:solidFill>
                  <a:srgbClr val="2B2B2B"/>
                </a:solidFill>
              </a:rPr>
              <a:t>The LIBRARY LAN (192.168.40.0/24) gets its addresses from SRV2, a DHCP server in another subnet.</a:t>
            </a:r>
            <a:endParaRPr lang="en-US" sz="1400" dirty="0"/>
          </a:p>
        </p:txBody>
      </p:sp>
      <p:sp>
        <p:nvSpPr>
          <p:cNvPr id="6" name="Shape 3"/>
          <p:cNvSpPr/>
          <p:nvPr/>
        </p:nvSpPr>
        <p:spPr>
          <a:xfrm>
            <a:off x="1417320" y="2377440"/>
            <a:ext cx="3931920" cy="914"/>
          </a:xfrm>
          <a:prstGeom prst="line">
            <a:avLst/>
          </a:prstGeom>
          <a:noFill/>
          <a:ln w="28575">
            <a:solidFill>
              <a:srgbClr val="3A3A3A"/>
            </a:solidFill>
            <a:prstDash val="solid"/>
          </a:ln>
        </p:spPr>
      </p:sp>
      <p:sp>
        <p:nvSpPr>
          <p:cNvPr id="7" name="Shape 4"/>
          <p:cNvSpPr/>
          <p:nvPr/>
        </p:nvSpPr>
        <p:spPr>
          <a:xfrm>
            <a:off x="5989320" y="2377440"/>
            <a:ext cx="4023360" cy="914"/>
          </a:xfrm>
          <a:prstGeom prst="line">
            <a:avLst/>
          </a:prstGeom>
          <a:noFill/>
          <a:ln w="28575">
            <a:solidFill>
              <a:srgbClr val="3A3A3A"/>
            </a:solidFill>
            <a:prstDash val="solid"/>
          </a:ln>
        </p:spPr>
      </p:sp>
      <p:pic>
        <p:nvPicPr>
          <p:cNvPr id="8" name="Image 1" descr="LIB-PC">    </p:cNvPr>
          <p:cNvPicPr>
            <a:picLocks noChangeAspect="1"/>
          </p:cNvPicPr>
          <p:nvPr/>
        </p:nvPicPr>
        <p:blipFill>
          <a:blip r:embed="rId3"/>
          <a:stretch>
            <a:fillRect/>
          </a:stretch>
        </p:blipFill>
        <p:spPr>
          <a:xfrm>
            <a:off x="822960" y="2103120"/>
            <a:ext cx="548640" cy="548640"/>
          </a:xfrm>
          <a:prstGeom prst="rect">
            <a:avLst/>
          </a:prstGeom>
        </p:spPr>
      </p:pic>
      <p:sp>
        <p:nvSpPr>
          <p:cNvPr id="9" name="Text 5"/>
          <p:cNvSpPr txBox="1"/>
          <p:nvPr/>
        </p:nvSpPr>
        <p:spPr>
          <a:xfrm>
            <a:off x="365760" y="2633472"/>
            <a:ext cx="1463040" cy="274320"/>
          </a:xfrm>
          <a:prstGeom prst="rect">
            <a:avLst/>
          </a:prstGeom>
          <a:noFill/>
          <a:ln/>
        </p:spPr>
        <p:txBody>
          <a:bodyPr wrap="square" lIns="0" tIns="0" rIns="0" bIns="0" rtlCol="0" anchor="t"/>
          <a:lstStyle/>
          <a:p>
            <a:pPr algn="ctr" indent="0" marL="0">
              <a:buNone/>
            </a:pPr>
            <a:r>
              <a:rPr lang="en-US" sz="1200" b="1" dirty="0">
                <a:solidFill>
                  <a:srgbClr val="2B2B2B"/>
                </a:solidFill>
              </a:rPr>
              <a:t>LIB-PC</a:t>
            </a:r>
            <a:endParaRPr lang="en-US" sz="1200" dirty="0"/>
          </a:p>
        </p:txBody>
      </p:sp>
      <p:pic>
        <p:nvPicPr>
          <p:cNvPr id="10" name="Image 2" descr="R1">    </p:cNvPr>
          <p:cNvPicPr>
            <a:picLocks noChangeAspect="1"/>
          </p:cNvPicPr>
          <p:nvPr/>
        </p:nvPicPr>
        <p:blipFill>
          <a:blip r:embed="rId4"/>
          <a:stretch>
            <a:fillRect/>
          </a:stretch>
        </p:blipFill>
        <p:spPr>
          <a:xfrm>
            <a:off x="5394960" y="2103120"/>
            <a:ext cx="548640" cy="548640"/>
          </a:xfrm>
          <a:prstGeom prst="rect">
            <a:avLst/>
          </a:prstGeom>
        </p:spPr>
      </p:pic>
      <p:sp>
        <p:nvSpPr>
          <p:cNvPr id="11" name="Text 6"/>
          <p:cNvSpPr txBox="1"/>
          <p:nvPr/>
        </p:nvSpPr>
        <p:spPr>
          <a:xfrm>
            <a:off x="4937760" y="2633472"/>
            <a:ext cx="1463040" cy="274320"/>
          </a:xfrm>
          <a:prstGeom prst="rect">
            <a:avLst/>
          </a:prstGeom>
          <a:noFill/>
          <a:ln/>
        </p:spPr>
        <p:txBody>
          <a:bodyPr wrap="square" lIns="0" tIns="0" rIns="0" bIns="0" rtlCol="0" anchor="t"/>
          <a:lstStyle/>
          <a:p>
            <a:pPr algn="ctr" indent="0" marL="0">
              <a:buNone/>
            </a:pPr>
            <a:r>
              <a:rPr lang="en-US" sz="1200" b="1" dirty="0">
                <a:solidFill>
                  <a:srgbClr val="2B2B2B"/>
                </a:solidFill>
              </a:rPr>
              <a:t>R1</a:t>
            </a:r>
            <a:endParaRPr lang="en-US" sz="1200" dirty="0"/>
          </a:p>
        </p:txBody>
      </p:sp>
      <p:pic>
        <p:nvPicPr>
          <p:cNvPr id="12" name="Image 3" descr="SRV2">    </p:cNvPr>
          <p:cNvPicPr>
            <a:picLocks noChangeAspect="1"/>
          </p:cNvPicPr>
          <p:nvPr/>
        </p:nvPicPr>
        <p:blipFill>
          <a:blip r:embed="rId5"/>
          <a:stretch>
            <a:fillRect/>
          </a:stretch>
        </p:blipFill>
        <p:spPr>
          <a:xfrm>
            <a:off x="10049256" y="2093976"/>
            <a:ext cx="566928" cy="566928"/>
          </a:xfrm>
          <a:prstGeom prst="rect">
            <a:avLst/>
          </a:prstGeom>
        </p:spPr>
      </p:pic>
      <p:sp>
        <p:nvSpPr>
          <p:cNvPr id="13" name="Text 7"/>
          <p:cNvSpPr txBox="1"/>
          <p:nvPr/>
        </p:nvSpPr>
        <p:spPr>
          <a:xfrm>
            <a:off x="9601200" y="2642616"/>
            <a:ext cx="1463040" cy="457200"/>
          </a:xfrm>
          <a:prstGeom prst="rect">
            <a:avLst/>
          </a:prstGeom>
          <a:noFill/>
          <a:ln/>
        </p:spPr>
        <p:txBody>
          <a:bodyPr wrap="square" lIns="0" tIns="0" rIns="0" bIns="0" rtlCol="0" anchor="t"/>
          <a:lstStyle/>
          <a:p>
            <a:pPr algn="ctr" indent="0" marL="0">
              <a:buNone/>
            </a:pPr>
            <a:r>
              <a:rPr lang="en-US" sz="1200" b="1" dirty="0">
                <a:solidFill>
                  <a:srgbClr val="2B2B2B"/>
                </a:solidFill>
              </a:rPr>
              <a:t>SRV2</a:t>
            </a:r>
            <a:endParaRPr lang="en-US" sz="1200" dirty="0"/>
          </a:p>
          <a:p>
            <a:pPr algn="ctr" indent="0" marL="0">
              <a:buNone/>
            </a:pPr>
            <a:r>
              <a:rPr lang="en-US" sz="1000" dirty="0">
                <a:solidFill>
                  <a:srgbClr val="6B6B6B"/>
                </a:solidFill>
              </a:rPr>
              <a:t>192.168.50.11</a:t>
            </a:r>
            <a:endParaRPr lang="en-US" sz="1200" dirty="0"/>
          </a:p>
        </p:txBody>
      </p:sp>
      <p:sp>
        <p:nvSpPr>
          <p:cNvPr id="14" name="Shape 8"/>
          <p:cNvSpPr/>
          <p:nvPr/>
        </p:nvSpPr>
        <p:spPr>
          <a:xfrm>
            <a:off x="1463040" y="1993392"/>
            <a:ext cx="3840480" cy="914"/>
          </a:xfrm>
          <a:prstGeom prst="line">
            <a:avLst/>
          </a:prstGeom>
          <a:noFill/>
          <a:ln w="28575">
            <a:solidFill>
              <a:srgbClr val="2B6CB0"/>
            </a:solidFill>
            <a:prstDash val="solid"/>
            <a:tailEnd type="triangle"/>
          </a:ln>
        </p:spPr>
      </p:sp>
      <p:sp>
        <p:nvSpPr>
          <p:cNvPr id="15" name="Shape 9"/>
          <p:cNvSpPr/>
          <p:nvPr/>
        </p:nvSpPr>
        <p:spPr>
          <a:xfrm>
            <a:off x="6035040" y="1993392"/>
            <a:ext cx="3931920" cy="914"/>
          </a:xfrm>
          <a:prstGeom prst="line">
            <a:avLst/>
          </a:prstGeom>
          <a:noFill/>
          <a:ln w="28575">
            <a:solidFill>
              <a:srgbClr val="2B7043"/>
            </a:solidFill>
            <a:prstDash val="solid"/>
            <a:tailEnd type="triangle"/>
          </a:ln>
        </p:spPr>
      </p:sp>
      <p:sp>
        <p:nvSpPr>
          <p:cNvPr id="16" name="Text 10"/>
          <p:cNvSpPr txBox="1"/>
          <p:nvPr/>
        </p:nvSpPr>
        <p:spPr>
          <a:xfrm>
            <a:off x="1645920" y="1664208"/>
            <a:ext cx="3657600" cy="237744"/>
          </a:xfrm>
          <a:prstGeom prst="rect">
            <a:avLst/>
          </a:prstGeom>
          <a:noFill/>
          <a:ln/>
        </p:spPr>
        <p:txBody>
          <a:bodyPr wrap="square" lIns="254" tIns="254" rIns="254" bIns="254" rtlCol="0" anchor="ctr"/>
          <a:lstStyle/>
          <a:p>
            <a:pPr algn="ctr" indent="0" marL="0">
              <a:buNone/>
            </a:pPr>
            <a:r>
              <a:rPr lang="en-US" sz="1200" b="1" dirty="0">
                <a:solidFill>
                  <a:srgbClr val="2B6CB0"/>
                </a:solidFill>
              </a:rPr>
              <a:t>DHCP Discover — a broadcast</a:t>
            </a:r>
            <a:endParaRPr lang="en-US" sz="1200" dirty="0"/>
          </a:p>
        </p:txBody>
      </p:sp>
      <p:sp>
        <p:nvSpPr>
          <p:cNvPr id="17" name="Text 11"/>
          <p:cNvSpPr txBox="1"/>
          <p:nvPr/>
        </p:nvSpPr>
        <p:spPr>
          <a:xfrm>
            <a:off x="6217920" y="1664208"/>
            <a:ext cx="3931920" cy="237744"/>
          </a:xfrm>
          <a:prstGeom prst="rect">
            <a:avLst/>
          </a:prstGeom>
          <a:noFill/>
          <a:ln/>
        </p:spPr>
        <p:txBody>
          <a:bodyPr wrap="square" lIns="254" tIns="254" rIns="254" bIns="254" rtlCol="0" anchor="ctr"/>
          <a:lstStyle/>
          <a:p>
            <a:pPr algn="ctr" indent="0" marL="0">
              <a:buNone/>
            </a:pPr>
            <a:r>
              <a:rPr lang="en-US" sz="1200" b="1" dirty="0">
                <a:solidFill>
                  <a:srgbClr val="2B7043"/>
                </a:solidFill>
              </a:rPr>
              <a:t>forwarded as a unicast to 192.168.50.11</a:t>
            </a:r>
            <a:endParaRPr lang="en-US" sz="1200" dirty="0"/>
          </a:p>
        </p:txBody>
      </p:sp>
      <p:sp>
        <p:nvSpPr>
          <p:cNvPr id="18" name="Text 12"/>
          <p:cNvSpPr txBox="1"/>
          <p:nvPr/>
        </p:nvSpPr>
        <p:spPr>
          <a:xfrm>
            <a:off x="1645920" y="2423160"/>
            <a:ext cx="3657600" cy="237744"/>
          </a:xfrm>
          <a:prstGeom prst="rect">
            <a:avLst/>
          </a:prstGeom>
          <a:noFill/>
          <a:ln/>
        </p:spPr>
        <p:txBody>
          <a:bodyPr wrap="square" lIns="254" tIns="254" rIns="254" bIns="254" rtlCol="0" anchor="ctr"/>
          <a:lstStyle/>
          <a:p>
            <a:pPr algn="ctr" indent="0" marL="0">
              <a:buNone/>
            </a:pPr>
            <a:r>
              <a:rPr lang="en-US" sz="1100" dirty="0">
                <a:solidFill>
                  <a:srgbClr val="6B6B6B"/>
                </a:solidFill>
              </a:rPr>
              <a:t>LIBRARY LAN 192.168.40.0/24</a:t>
            </a:r>
            <a:endParaRPr lang="en-US" sz="1100" dirty="0"/>
          </a:p>
        </p:txBody>
      </p:sp>
      <p:sp>
        <p:nvSpPr>
          <p:cNvPr id="19" name="Text 13"/>
          <p:cNvSpPr txBox="1"/>
          <p:nvPr/>
        </p:nvSpPr>
        <p:spPr>
          <a:xfrm>
            <a:off x="4206240" y="2423160"/>
            <a:ext cx="1097280" cy="237744"/>
          </a:xfrm>
          <a:prstGeom prst="rect">
            <a:avLst/>
          </a:prstGeom>
          <a:noFill/>
          <a:ln/>
        </p:spPr>
        <p:txBody>
          <a:bodyPr wrap="square" lIns="254" tIns="254" rIns="254" bIns="254" rtlCol="0" anchor="ctr"/>
          <a:lstStyle/>
          <a:p>
            <a:pPr algn="r" indent="0" marL="0">
              <a:buNone/>
            </a:pPr>
            <a:r>
              <a:rPr lang="en-US" sz="1100" dirty="0">
                <a:solidFill>
                  <a:srgbClr val="2B2B2B"/>
                </a:solidFill>
              </a:rPr>
              <a:t>G0/0/2  .40.1</a:t>
            </a:r>
            <a:endParaRPr lang="en-US" sz="1100" dirty="0"/>
          </a:p>
        </p:txBody>
      </p:sp>
      <p:sp>
        <p:nvSpPr>
          <p:cNvPr id="20" name="Text 14"/>
          <p:cNvSpPr txBox="1"/>
          <p:nvPr/>
        </p:nvSpPr>
        <p:spPr>
          <a:xfrm>
            <a:off x="6035040" y="2423160"/>
            <a:ext cx="1188720" cy="237744"/>
          </a:xfrm>
          <a:prstGeom prst="rect">
            <a:avLst/>
          </a:prstGeom>
          <a:noFill/>
          <a:ln/>
        </p:spPr>
        <p:txBody>
          <a:bodyPr wrap="square" lIns="254" tIns="254" rIns="254" bIns="254" rtlCol="0" anchor="ctr"/>
          <a:lstStyle/>
          <a:p>
            <a:pPr algn="l" indent="0" marL="0">
              <a:buNone/>
            </a:pPr>
            <a:r>
              <a:rPr lang="en-US" sz="1100" dirty="0">
                <a:solidFill>
                  <a:srgbClr val="2B2B2B"/>
                </a:solidFill>
              </a:rPr>
              <a:t>G0/0/0  .50.1</a:t>
            </a:r>
            <a:endParaRPr lang="en-US" sz="1100" dirty="0"/>
          </a:p>
        </p:txBody>
      </p:sp>
      <p:sp>
        <p:nvSpPr>
          <p:cNvPr id="21" name="Text 15"/>
          <p:cNvSpPr txBox="1"/>
          <p:nvPr/>
        </p:nvSpPr>
        <p:spPr>
          <a:xfrm>
            <a:off x="7223760" y="2423160"/>
            <a:ext cx="2743200" cy="237744"/>
          </a:xfrm>
          <a:prstGeom prst="rect">
            <a:avLst/>
          </a:prstGeom>
          <a:noFill/>
          <a:ln/>
        </p:spPr>
        <p:txBody>
          <a:bodyPr wrap="square" lIns="254" tIns="254" rIns="254" bIns="254" rtlCol="0" anchor="ctr"/>
          <a:lstStyle/>
          <a:p>
            <a:pPr algn="ctr" indent="0" marL="0">
              <a:buNone/>
            </a:pPr>
            <a:r>
              <a:rPr lang="en-US" sz="1100" dirty="0">
                <a:solidFill>
                  <a:srgbClr val="6B6B6B"/>
                </a:solidFill>
              </a:rPr>
              <a:t>SERVER LAN 192.168.50.0/24</a:t>
            </a:r>
            <a:endParaRPr lang="en-US" sz="1100" dirty="0"/>
          </a:p>
        </p:txBody>
      </p:sp>
      <p:sp>
        <p:nvSpPr>
          <p:cNvPr id="22" name="Command header"/>
          <p:cNvSpPr/>
          <p:nvPr/>
        </p:nvSpPr>
        <p:spPr>
          <a:xfrm>
            <a:off x="548640" y="3063240"/>
            <a:ext cx="6153912" cy="310896"/>
          </a:xfrm>
          <a:prstGeom prst="rect">
            <a:avLst/>
          </a:prstGeom>
          <a:solidFill>
            <a:srgbClr val="1B2B22"/>
          </a:solidFill>
          <a:ln/>
        </p:spPr>
        <p:txBody>
          <a:bodyPr wrap="square" lIns="109728" tIns="45720" rIns="109728" bIns="45720" rtlCol="0" anchor="ctr"/>
          <a:lstStyle/>
          <a:p>
            <a:pPr indent="0" marL="0">
              <a:buNone/>
            </a:pPr>
            <a:r>
              <a:rPr lang="en-US" sz="1100" dirty="0">
                <a:solidFill>
                  <a:srgbClr val="E0605A"/>
                </a:solidFill>
              </a:rPr>
              <a:t>●  </a:t>
            </a:r>
            <a:r>
              <a:rPr lang="en-US" sz="1100" dirty="0">
                <a:solidFill>
                  <a:srgbClr val="E8B92E"/>
                </a:solidFill>
              </a:rPr>
              <a:t>●  </a:t>
            </a:r>
            <a:r>
              <a:rPr lang="en-US" sz="1100" dirty="0">
                <a:solidFill>
                  <a:srgbClr val="4CAF50"/>
                </a:solidFill>
              </a:rPr>
              <a:t>●   </a:t>
            </a:r>
            <a:r>
              <a:rPr lang="en-US" sz="1100" b="1" dirty="0">
                <a:solidFill>
                  <a:srgbClr val="C9D6CC"/>
                </a:solidFill>
              </a:rPr>
              <a:t>R1  —  type the white text, then press Enter</a:t>
            </a:r>
            <a:endParaRPr lang="en-US" sz="1100" dirty="0"/>
          </a:p>
        </p:txBody>
      </p:sp>
      <p:sp>
        <p:nvSpPr>
          <p:cNvPr id="23" name="Meaning header"/>
          <p:cNvSpPr/>
          <p:nvPr/>
        </p:nvSpPr>
        <p:spPr>
          <a:xfrm>
            <a:off x="6720840" y="3063240"/>
            <a:ext cx="4922215" cy="310896"/>
          </a:xfrm>
          <a:prstGeom prst="rect">
            <a:avLst/>
          </a:prstGeom>
          <a:solidFill>
            <a:srgbClr val="E8F1EA"/>
          </a:solidFill>
          <a:ln/>
        </p:spPr>
        <p:txBody>
          <a:bodyPr wrap="square" lIns="109728" tIns="45720" rIns="109728" bIns="45720" rtlCol="0" anchor="ctr"/>
          <a:lstStyle/>
          <a:p>
            <a:pPr indent="0" marL="0">
              <a:buNone/>
            </a:pPr>
            <a:r>
              <a:rPr lang="en-US" sz="1200" b="1" dirty="0">
                <a:solidFill>
                  <a:srgbClr val="1E5631"/>
                </a:solidFill>
              </a:rPr>
              <a:t>What it does</a:t>
            </a:r>
            <a:endParaRPr lang="en-US" sz="1200" dirty="0"/>
          </a:p>
        </p:txBody>
      </p:sp>
      <p:sp>
        <p:nvSpPr>
          <p:cNvPr id="24" name="Command 01"/>
          <p:cNvSpPr/>
          <p:nvPr/>
        </p:nvSpPr>
        <p:spPr>
          <a:xfrm>
            <a:off x="548640" y="3392424"/>
            <a:ext cx="6153912" cy="627644"/>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R1(config)# </a:t>
            </a:r>
            <a:r>
              <a:rPr lang="en-US" sz="1200" b="1" dirty="0">
                <a:solidFill>
                  <a:srgbClr val="FFFFFF"/>
                </a:solidFill>
                <a:latin typeface="Courier New" pitchFamily="34" charset="0"/>
                <a:ea typeface="Courier New" pitchFamily="34" charset="-122"/>
                <a:cs typeface="Courier New" pitchFamily="34" charset="-120"/>
              </a:rPr>
              <a:t>interface g0/0/2</a:t>
            </a:r>
            <a:endParaRPr lang="en-US" sz="1200" dirty="0"/>
          </a:p>
          <a:p>
            <a:pPr indent="0" marL="0">
              <a:buNone/>
            </a:pPr>
            <a:r>
              <a:rPr lang="en-US" sz="1200" dirty="0">
                <a:solidFill>
                  <a:srgbClr val="8FC9A0"/>
                </a:solidFill>
                <a:latin typeface="Courier New" pitchFamily="34" charset="0"/>
                <a:ea typeface="Courier New" pitchFamily="34" charset="-122"/>
                <a:cs typeface="Courier New" pitchFamily="34" charset="-120"/>
              </a:rPr>
              <a:t>R1(config-if)# </a:t>
            </a:r>
            <a:r>
              <a:rPr lang="en-US" sz="1200" b="1" dirty="0">
                <a:solidFill>
                  <a:srgbClr val="FFFFFF"/>
                </a:solidFill>
                <a:latin typeface="Courier New" pitchFamily="34" charset="0"/>
                <a:ea typeface="Courier New" pitchFamily="34" charset="-122"/>
                <a:cs typeface="Courier New" pitchFamily="34" charset="-120"/>
              </a:rPr>
              <a:t>ip address 192.168.40.1 255.255.255.0</a:t>
            </a:r>
            <a:endParaRPr lang="en-US" sz="1200" dirty="0"/>
          </a:p>
          <a:p>
            <a:pPr indent="0" marL="0">
              <a:buNone/>
            </a:pPr>
            <a:r>
              <a:rPr lang="en-US" sz="1200" dirty="0">
                <a:solidFill>
                  <a:srgbClr val="8FC9A0"/>
                </a:solidFill>
                <a:latin typeface="Courier New" pitchFamily="34" charset="0"/>
                <a:ea typeface="Courier New" pitchFamily="34" charset="-122"/>
                <a:cs typeface="Courier New" pitchFamily="34" charset="-120"/>
              </a:rPr>
              <a:t>R1(config-if)# </a:t>
            </a:r>
            <a:r>
              <a:rPr lang="en-US" sz="1200" b="1" dirty="0">
                <a:solidFill>
                  <a:srgbClr val="FFFFFF"/>
                </a:solidFill>
                <a:latin typeface="Courier New" pitchFamily="34" charset="0"/>
                <a:ea typeface="Courier New" pitchFamily="34" charset="-122"/>
                <a:cs typeface="Courier New" pitchFamily="34" charset="-120"/>
              </a:rPr>
              <a:t>no shutdown</a:t>
            </a:r>
            <a:endParaRPr lang="en-US" sz="1200" dirty="0"/>
          </a:p>
        </p:txBody>
      </p:sp>
      <p:sp>
        <p:nvSpPr>
          <p:cNvPr id="25" name="Reveal 01 meaning"/>
          <p:cNvSpPr/>
          <p:nvPr/>
        </p:nvSpPr>
        <p:spPr>
          <a:xfrm>
            <a:off x="6720840" y="3392424"/>
            <a:ext cx="4922215" cy="627644"/>
          </a:xfrm>
          <a:prstGeom prst="rect">
            <a:avLst/>
          </a:prstGeom>
          <a:solidFill>
            <a:srgbClr val="F2F8F3"/>
          </a:solidFill>
          <a:ln/>
        </p:spPr>
        <p:txBody>
          <a:bodyPr wrap="square" lIns="109728" tIns="45720" rIns="109728" bIns="45720" rtlCol="0" anchor="ctr"/>
          <a:lstStyle/>
          <a:p>
            <a:pPr indent="0" marL="0">
              <a:buNone/>
            </a:pPr>
            <a:r>
              <a:rPr lang="en-US" sz="1400" dirty="0">
                <a:solidFill>
                  <a:srgbClr val="2B2B2B"/>
                </a:solidFill>
              </a:rPr>
              <a:t>The LIBRARY port — the clients’ gateway. (On a 4331, add a GLC-T module to G0/0/2 first.)</a:t>
            </a:r>
            <a:endParaRPr lang="en-US" sz="1400" dirty="0"/>
          </a:p>
        </p:txBody>
      </p:sp>
      <p:sp>
        <p:nvSpPr>
          <p:cNvPr id="26" name="Command 02"/>
          <p:cNvSpPr/>
          <p:nvPr/>
        </p:nvSpPr>
        <p:spPr>
          <a:xfrm>
            <a:off x="548640" y="4038356"/>
            <a:ext cx="6153912" cy="76084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R1(config-if)# </a:t>
            </a:r>
            <a:r>
              <a:rPr lang="en-US" sz="1200" b="1" dirty="0">
                <a:solidFill>
                  <a:srgbClr val="FFFFFF"/>
                </a:solidFill>
                <a:latin typeface="Courier New" pitchFamily="34" charset="0"/>
                <a:ea typeface="Courier New" pitchFamily="34" charset="-122"/>
                <a:cs typeface="Courier New" pitchFamily="34" charset="-120"/>
              </a:rPr>
              <a:t>ip helper-address 192.168.50.11</a:t>
            </a:r>
            <a:endParaRPr lang="en-US" sz="1200" dirty="0"/>
          </a:p>
        </p:txBody>
      </p:sp>
      <p:sp>
        <p:nvSpPr>
          <p:cNvPr id="27" name="Reveal 02 meaning"/>
          <p:cNvSpPr/>
          <p:nvPr/>
        </p:nvSpPr>
        <p:spPr>
          <a:xfrm>
            <a:off x="6720840" y="4038356"/>
            <a:ext cx="4922215" cy="760849"/>
          </a:xfrm>
          <a:prstGeom prst="rect">
            <a:avLst/>
          </a:prstGeom>
          <a:solidFill>
            <a:srgbClr val="FFFFFF"/>
          </a:solidFill>
          <a:ln/>
        </p:spPr>
        <p:txBody>
          <a:bodyPr wrap="square" lIns="109728" tIns="45720" rIns="109728" bIns="45720" rtlCol="0" anchor="ctr"/>
          <a:lstStyle/>
          <a:p>
            <a:pPr indent="0" marL="0">
              <a:buNone/>
            </a:pPr>
            <a:r>
              <a:rPr lang="en-US" sz="1400" dirty="0">
                <a:solidFill>
                  <a:srgbClr val="2B2B2B"/>
                </a:solidFill>
              </a:rPr>
              <a:t>Routers drop broadcasts. This catches the DHCP broadcast and forwards it to SRV2, stamped with 192.168.40.1 so SRV2 picks the right pool.</a:t>
            </a:r>
            <a:endParaRPr lang="en-US" sz="1400" dirty="0"/>
          </a:p>
        </p:txBody>
      </p:sp>
      <p:sp>
        <p:nvSpPr>
          <p:cNvPr id="28" name="Card"/>
          <p:cNvSpPr/>
          <p:nvPr/>
        </p:nvSpPr>
        <p:spPr>
          <a:xfrm>
            <a:off x="548640" y="4956048"/>
            <a:ext cx="7086600" cy="1261872"/>
          </a:xfrm>
          <a:prstGeom prst="roundRect">
            <a:avLst>
              <a:gd name="adj" fmla="val 5797"/>
            </a:avLst>
          </a:prstGeom>
          <a:solidFill>
            <a:srgbClr val="F2F8F3"/>
          </a:solidFill>
          <a:ln w="12700">
            <a:solidFill>
              <a:srgbClr val="B7C9BA"/>
            </a:solidFill>
            <a:prstDash val="solid"/>
          </a:ln>
        </p:spPr>
      </p:sp>
      <p:sp>
        <p:nvSpPr>
          <p:cNvPr id="29" name="Text 23"/>
          <p:cNvSpPr txBox="1"/>
          <p:nvPr/>
        </p:nvSpPr>
        <p:spPr>
          <a:xfrm>
            <a:off x="694944" y="5058461"/>
            <a:ext cx="6793992" cy="1057046"/>
          </a:xfrm>
          <a:prstGeom prst="rect">
            <a:avLst/>
          </a:prstGeom>
          <a:noFill/>
          <a:ln/>
        </p:spPr>
        <p:txBody>
          <a:bodyPr wrap="square" lIns="0" tIns="0" rIns="0" bIns="0" rtlCol="0" anchor="t"/>
          <a:lstStyle/>
          <a:p>
            <a:pPr indent="0" marL="0">
              <a:buNone/>
            </a:pPr>
            <a:r>
              <a:rPr lang="en-US" sz="1400" b="1" dirty="0">
                <a:solidFill>
                  <a:srgbClr val="1E5631"/>
                </a:solidFill>
              </a:rPr>
              <a:t>On SRV2: Services › DHCP</a:t>
            </a:r>
            <a:endParaRPr lang="en-US" sz="1300" dirty="0"/>
          </a:p>
          <a:p>
            <a:pPr indent="0" marL="0">
              <a:buNone/>
            </a:pPr>
            <a:r>
              <a:rPr lang="en-US" sz="1300" dirty="0">
                <a:solidFill>
                  <a:srgbClr val="2B2B2B"/>
                </a:solidFill>
              </a:rPr>
              <a:t>Service </a:t>
            </a:r>
            <a:r>
              <a:rPr lang="en-US" sz="1300" b="1" dirty="0">
                <a:solidFill>
                  <a:srgbClr val="2B2B2B"/>
                </a:solidFill>
              </a:rPr>
              <a:t>On</a:t>
            </a:r>
            <a:r>
              <a:rPr lang="en-US" sz="1300" dirty="0">
                <a:solidFill>
                  <a:srgbClr val="2B2B2B"/>
                </a:solidFill>
              </a:rPr>
              <a:t> • Pool Name </a:t>
            </a:r>
            <a:r>
              <a:rPr lang="en-US" sz="1300" b="1" dirty="0">
                <a:solidFill>
                  <a:srgbClr val="2B2B2B"/>
                </a:solidFill>
              </a:rPr>
              <a:t>LIB-POOL</a:t>
            </a:r>
            <a:r>
              <a:rPr lang="en-US" sz="1300" dirty="0">
                <a:solidFill>
                  <a:srgbClr val="2B2B2B"/>
                </a:solidFill>
              </a:rPr>
              <a:t> • Default Gateway </a:t>
            </a:r>
            <a:r>
              <a:rPr lang="en-US" sz="1300" b="1" dirty="0">
                <a:solidFill>
                  <a:srgbClr val="2B2B2B"/>
                </a:solidFill>
              </a:rPr>
              <a:t>192.168.40.1</a:t>
            </a:r>
            <a:r>
              <a:rPr lang="en-US" sz="1300" dirty="0">
                <a:solidFill>
                  <a:srgbClr val="2B2B2B"/>
                </a:solidFill>
              </a:rPr>
              <a:t> • DNS Server </a:t>
            </a:r>
            <a:r>
              <a:rPr lang="en-US" sz="1300" b="1" dirty="0">
                <a:solidFill>
                  <a:srgbClr val="2B2B2B"/>
                </a:solidFill>
              </a:rPr>
              <a:t>192.168.50.10</a:t>
            </a:r>
            <a:r>
              <a:rPr lang="en-US" sz="1300" dirty="0">
                <a:solidFill>
                  <a:srgbClr val="2B2B2B"/>
                </a:solidFill>
              </a:rPr>
              <a:t> • Start IP </a:t>
            </a:r>
            <a:r>
              <a:rPr lang="en-US" sz="1300" b="1" dirty="0">
                <a:solidFill>
                  <a:srgbClr val="2B2B2B"/>
                </a:solidFill>
              </a:rPr>
              <a:t>192.168.40.100</a:t>
            </a:r>
            <a:r>
              <a:rPr lang="en-US" sz="1300" dirty="0">
                <a:solidFill>
                  <a:srgbClr val="2B2B2B"/>
                </a:solidFill>
              </a:rPr>
              <a:t> • Mask </a:t>
            </a:r>
            <a:r>
              <a:rPr lang="en-US" sz="1300" b="1" dirty="0">
                <a:solidFill>
                  <a:srgbClr val="2B2B2B"/>
                </a:solidFill>
              </a:rPr>
              <a:t>255.255.255.0</a:t>
            </a:r>
            <a:r>
              <a:rPr lang="en-US" sz="1300" dirty="0">
                <a:solidFill>
                  <a:srgbClr val="2B2B2B"/>
                </a:solidFill>
              </a:rPr>
              <a:t> • Maximum Users </a:t>
            </a:r>
            <a:r>
              <a:rPr lang="en-US" sz="1300" b="1" dirty="0">
                <a:solidFill>
                  <a:srgbClr val="2B2B2B"/>
                </a:solidFill>
              </a:rPr>
              <a:t>50</a:t>
            </a:r>
            <a:r>
              <a:rPr lang="en-US" sz="1300" dirty="0">
                <a:solidFill>
                  <a:srgbClr val="2B2B2B"/>
                </a:solidFill>
              </a:rPr>
              <a:t> → </a:t>
            </a:r>
            <a:r>
              <a:rPr lang="en-US" sz="1300" b="1" dirty="0">
                <a:solidFill>
                  <a:srgbClr val="2B2B2B"/>
                </a:solidFill>
              </a:rPr>
              <a:t>Add</a:t>
            </a:r>
            <a:endParaRPr lang="en-US" sz="1300" dirty="0"/>
          </a:p>
        </p:txBody>
      </p:sp>
      <p:sp>
        <p:nvSpPr>
          <p:cNvPr id="30" name="Card"/>
          <p:cNvSpPr/>
          <p:nvPr/>
        </p:nvSpPr>
        <p:spPr>
          <a:xfrm>
            <a:off x="7863840" y="4956048"/>
            <a:ext cx="3776472" cy="1261872"/>
          </a:xfrm>
          <a:prstGeom prst="roundRect">
            <a:avLst>
              <a:gd name="adj" fmla="val 5797"/>
            </a:avLst>
          </a:prstGeom>
          <a:solidFill>
            <a:srgbClr val="FBEAEA"/>
          </a:solidFill>
          <a:ln w="12700">
            <a:solidFill>
              <a:srgbClr val="E9B8B5"/>
            </a:solidFill>
            <a:prstDash val="solid"/>
          </a:ln>
        </p:spPr>
      </p:sp>
      <p:sp>
        <p:nvSpPr>
          <p:cNvPr id="31" name="Text 25"/>
          <p:cNvSpPr txBox="1"/>
          <p:nvPr/>
        </p:nvSpPr>
        <p:spPr>
          <a:xfrm>
            <a:off x="8010144" y="5058461"/>
            <a:ext cx="3483864" cy="1057046"/>
          </a:xfrm>
          <a:prstGeom prst="rect">
            <a:avLst/>
          </a:prstGeom>
          <a:noFill/>
          <a:ln/>
        </p:spPr>
        <p:txBody>
          <a:bodyPr wrap="square" lIns="0" tIns="0" rIns="0" bIns="0" rtlCol="0" anchor="t"/>
          <a:lstStyle/>
          <a:p>
            <a:pPr indent="0" marL="0">
              <a:buNone/>
            </a:pPr>
            <a:r>
              <a:rPr lang="en-US" sz="1400" b="1" dirty="0">
                <a:solidFill>
                  <a:srgbClr val="8B1A1A"/>
                </a:solidFill>
              </a:rPr>
              <a:t>Watch out</a:t>
            </a:r>
            <a:endParaRPr lang="en-US" sz="1300" dirty="0"/>
          </a:p>
          <a:p>
            <a:pPr indent="0" marL="0">
              <a:buNone/>
            </a:pPr>
            <a:r>
              <a:rPr lang="en-US" sz="1300" dirty="0">
                <a:solidFill>
                  <a:srgbClr val="2B2B2B"/>
                </a:solidFill>
              </a:rPr>
              <a:t>Helper goes on the port facing the </a:t>
            </a:r>
            <a:r>
              <a:rPr lang="en-US" sz="1300" b="1" dirty="0">
                <a:solidFill>
                  <a:srgbClr val="2B2B2B"/>
                </a:solidFill>
              </a:rPr>
              <a:t>clients</a:t>
            </a:r>
            <a:r>
              <a:rPr lang="en-US" sz="1300" dirty="0">
                <a:solidFill>
                  <a:srgbClr val="2B2B2B"/>
                </a:solidFill>
              </a:rPr>
              <a:t>. SRV2 needs gateway 192.168.50.1 to reply.</a:t>
            </a:r>
            <a:endParaRPr lang="en-US" sz="1300" dirty="0"/>
          </a:p>
        </p:txBody>
      </p:sp>
      <p:sp>
        <p:nvSpPr>
          <p:cNvPr id="32" name="Slide Number Placeholder 0"/>
          <p:cNvSpPr>
            <a:spLocks noGrp="1"/>
          </p:cNvSpPr>
          <p:nvPr>
            <p:ph type="sldNum" sz="quarter" idx="4294967295"/>
          </p:nvPr>
        </p:nvSpPr>
        <p:spPr>
          <a:xfrm>
            <a:off x="10698480" y="6464808"/>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r"/>
            <a:fld id="{F7021451-1387-4CA6-816F-3879F97B5CBC}" type="slidenum">
              <a:rPr b="0" lang="en-US"/>
              <a:t>47</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7"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1"/>
          <p:cNvSpPr/>
          <p:nvPr>
            <p:ph idx="102" type="body" hasCustomPrompt="1"/>
          </p:nvPr>
        </p:nvSpPr>
        <p:spPr>
          <a:xfrm>
            <a:off x="548640" y="274320"/>
            <a:ext cx="9966960" cy="256032"/>
          </a:xfrm>
          <a:prstGeom prst="rect">
            <a:avLst/>
          </a:prstGeom>
          <a:noFill/>
          <a:ln/>
        </p:spPr>
        <p:txBody>
          <a:bodyPr wrap="square" lIns="0" tIns="0" rIns="0" bIns="0" rtlCol="0" anchor="ctr"/>
          <a:lstStyle/>
          <a:p>
            <a:pPr algn="l" indent="0" marL="0">
              <a:buNone/>
            </a:pPr>
            <a:r>
              <a:rPr lang="en-US" sz="1100" b="1" spc="100" kern="0" dirty="0">
                <a:solidFill>
                  <a:schemeClr val="accent2"/>
                </a:solidFill>
              </a:rPr>
              <a:t>06  •  DHCP</a:t>
            </a:r>
            <a:endParaRPr lang="en-US" sz="1100" dirty="0"/>
          </a:p>
        </p:txBody>
      </p:sp>
      <p:sp>
        <p:nvSpPr>
          <p:cNvPr id="3" name="Text 1"/>
          <p:cNvSpPr/>
          <p:nvPr>
            <p:ph idx="103" type="title" hasCustomPrompt="1"/>
          </p:nvPr>
        </p:nvSpPr>
        <p:spPr>
          <a:xfrm>
            <a:off x="548640" y="548640"/>
            <a:ext cx="10149840" cy="548640"/>
          </a:xfrm>
          <a:prstGeom prst="rect">
            <a:avLst/>
          </a:prstGeom>
          <a:noFill/>
          <a:ln/>
        </p:spPr>
        <p:txBody>
          <a:bodyPr wrap="square" lIns="0" tIns="0" rIns="0" bIns="0" rtlCol="0" anchor="ctr"/>
          <a:lstStyle/>
          <a:p>
            <a:pPr algn="l" indent="0" marL="0">
              <a:buNone/>
            </a:pPr>
            <a:r>
              <a:rPr lang="en-US" sz="2600" b="1" dirty="0">
                <a:solidFill>
                  <a:schemeClr val="accent1"/>
                </a:solidFill>
              </a:rPr>
              <a:t>How to fix common DHCP problems</a:t>
            </a:r>
            <a:endParaRPr lang="en-US" sz="2600" dirty="0"/>
          </a:p>
        </p:txBody>
      </p:sp>
      <p:pic>
        <p:nvPicPr>
          <p:cNvPr id="4" name="Home button" descr="Home: back to the workbook menu">
            <a:hlinkClick r:id="rId2" tooltip="Back to the workbook menu" action="ppaction://hlinksldjump"/>
          </p:cNvPr>
          <p:cNvPicPr>
            <a:picLocks noChangeAspect="1"/>
          </p:cNvPicPr>
          <p:nvPr/>
        </p:nvPicPr>
        <p:blipFill>
          <a:blip r:embed="rId1"/>
          <a:stretch>
            <a:fillRect/>
          </a:stretch>
        </p:blipFill>
        <p:spPr>
          <a:xfrm>
            <a:off x="11365992" y="6336792"/>
            <a:ext cx="365760" cy="365760"/>
          </a:xfrm>
          <a:prstGeom prst="rect">
            <a:avLst/>
          </a:prstGeom>
        </p:spPr>
      </p:pic>
      <p:sp>
        <p:nvSpPr>
          <p:cNvPr id="5" name="Goal"/>
          <p:cNvSpPr txBox="1"/>
          <p:nvPr/>
        </p:nvSpPr>
        <p:spPr>
          <a:xfrm>
            <a:off x="548640" y="1161288"/>
            <a:ext cx="11094415" cy="384048"/>
          </a:xfrm>
          <a:prstGeom prst="rect">
            <a:avLst/>
          </a:prstGeom>
          <a:noFill/>
          <a:ln/>
        </p:spPr>
        <p:txBody>
          <a:bodyPr wrap="square" lIns="0" tIns="0" rIns="0" bIns="0" rtlCol="0" anchor="ctr"/>
          <a:lstStyle/>
          <a:p>
            <a:pPr indent="0" marL="0">
              <a:buNone/>
            </a:pPr>
            <a:r>
              <a:rPr lang="en-US" sz="1400" b="1" dirty="0">
                <a:solidFill>
                  <a:srgbClr val="2B7043"/>
                </a:solidFill>
              </a:rPr>
              <a:t>Goal:  </a:t>
            </a:r>
            <a:r>
              <a:rPr lang="en-US" sz="1400" dirty="0">
                <a:solidFill>
                  <a:srgbClr val="2B2B2B"/>
                </a:solidFill>
              </a:rPr>
              <a:t>Most DHCP faults are not in the pool at all — they are VLAN, trunk, gateway or relay mistakes.</a:t>
            </a:r>
            <a:endParaRPr lang="en-US" sz="1400" dirty="0"/>
          </a:p>
        </p:txBody>
      </p:sp>
      <p:graphicFrame>
        <p:nvGraphicFramePr>
          <p:cNvPr id="49" name="dhcp faults"/>
          <p:cNvGraphicFramePr>
            <a:graphicFrameLocks noGrp="1"/>
          </p:cNvGraphicFramePr>
          <p:nvPr>
            <p:extLst>
              <p:ext uri="{D42A27DB-BD31-4B8C-83A1-F6EECF244321}">
                <p14:modId xmlns:p14="http://schemas.microsoft.com/office/powerpoint/2010/main" val="1579011935"/>
              </p:ext>
            </p:extLst>
          </p:nvPr>
        </p:nvGraphicFramePr>
        <p:xfrm>
          <a:off x="548640" y="1691640"/>
          <a:ext cx="11091672" cy="914400"/>
        </p:xfrm>
        <a:graphic>
          <a:graphicData uri="http://schemas.openxmlformats.org/drawingml/2006/table">
            <a:tbl>
              <a:tblPr/>
              <a:tblGrid>
                <a:gridCol w="2926080"/>
                <a:gridCol w="3154680"/>
                <a:gridCol w="5010912"/>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you see</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1E563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Most likely cause</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1E563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How to fix it</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1E5631"/>
                    </a:solidFill>
                  </a:tcPr>
                </a:tc>
              </a:tr>
              <a:tr h="0">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PC address is </a:t>
                      </a:r>
                      <a:r>
                        <a:rPr lang="en-US" sz="1300" b="1" dirty="0">
                          <a:solidFill>
                            <a:srgbClr val="2B2B2B"/>
                          </a:solidFill>
                          <a:latin typeface="Calibri" pitchFamily="34" charset="0"/>
                          <a:ea typeface="Calibri" pitchFamily="34" charset="-122"/>
                          <a:cs typeface="Calibri" pitchFamily="34" charset="-120"/>
                        </a:rPr>
                        <a:t>169.254.x.x</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No DHCP reply reached the PC</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Check the pool </a:t>
                      </a:r>
                      <a:r>
                        <a:rPr lang="en-US" sz="1200" b="1" dirty="0">
                          <a:solidFill>
                            <a:srgbClr val="1E5631"/>
                          </a:solidFill>
                          <a:latin typeface="Courier New" pitchFamily="34" charset="0"/>
                          <a:ea typeface="Courier New" pitchFamily="34" charset="-122"/>
                          <a:cs typeface="Courier New" pitchFamily="34" charset="-120"/>
                        </a:rPr>
                        <a:t>network</a:t>
                      </a:r>
                      <a:r>
                        <a:rPr lang="en-US" sz="1300" dirty="0">
                          <a:solidFill>
                            <a:srgbClr val="2B2B2B"/>
                          </a:solidFill>
                          <a:latin typeface="Calibri" pitchFamily="34" charset="0"/>
                          <a:ea typeface="Calibri" pitchFamily="34" charset="-122"/>
                          <a:cs typeface="Calibri" pitchFamily="34" charset="-120"/>
                        </a:rPr>
                        <a:t>, the port’s VLAN, the trunk’s allowed VLANs, and the helper address</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r>
              <a:tr h="0">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PC has an address but cannot leave its subnet</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Wrong </a:t>
                      </a:r>
                      <a:r>
                        <a:rPr lang="en-US" sz="1200" b="1" dirty="0">
                          <a:solidFill>
                            <a:srgbClr val="1E5631"/>
                          </a:solidFill>
                          <a:latin typeface="Courier New" pitchFamily="34" charset="0"/>
                          <a:ea typeface="Courier New" pitchFamily="34" charset="-122"/>
                          <a:cs typeface="Courier New" pitchFamily="34" charset="-120"/>
                        </a:rPr>
                        <a:t>default-router</a:t>
                      </a:r>
                      <a:r>
                        <a:rPr lang="en-US" sz="1300" dirty="0">
                          <a:solidFill>
                            <a:srgbClr val="2B2B2B"/>
                          </a:solidFill>
                          <a:latin typeface="Calibri" pitchFamily="34" charset="0"/>
                          <a:ea typeface="Calibri" pitchFamily="34" charset="-122"/>
                          <a:cs typeface="Calibri" pitchFamily="34" charset="-120"/>
                        </a:rPr>
                        <a:t> in the pool</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Set it to the router’s address in that subnet, then renew the lease</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PC gets an address from the wrong subnet</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Its switch port is in the wrong VLAN</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200" b="1" dirty="0">
                          <a:solidFill>
                            <a:srgbClr val="1E5631"/>
                          </a:solidFill>
                          <a:latin typeface="Courier New" pitchFamily="34" charset="0"/>
                          <a:ea typeface="Courier New" pitchFamily="34" charset="-122"/>
                          <a:cs typeface="Courier New" pitchFamily="34" charset="-120"/>
                        </a:rPr>
                        <a:t>switchport access vlan</a:t>
                      </a:r>
                      <a:r>
                        <a:rPr lang="en-US" sz="1300" dirty="0">
                          <a:solidFill>
                            <a:srgbClr val="2B2B2B"/>
                          </a:solidFill>
                          <a:latin typeface="Calibri" pitchFamily="34" charset="0"/>
                          <a:ea typeface="Calibri" pitchFamily="34" charset="-122"/>
                          <a:cs typeface="Calibri" pitchFamily="34" charset="-120"/>
                        </a:rPr>
                        <a:t> with the right VLAN number</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r>
              <a:tr h="0">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Two devices with the same address</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A static device’s address is not excluded</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Add </a:t>
                      </a:r>
                      <a:r>
                        <a:rPr lang="en-US" sz="1200" b="1" dirty="0">
                          <a:solidFill>
                            <a:srgbClr val="1E5631"/>
                          </a:solidFill>
                          <a:latin typeface="Courier New" pitchFamily="34" charset="0"/>
                          <a:ea typeface="Courier New" pitchFamily="34" charset="-122"/>
                          <a:cs typeface="Courier New" pitchFamily="34" charset="-120"/>
                        </a:rPr>
                        <a:t>ip dhcp excluded-address</a:t>
                      </a:r>
                      <a:r>
                        <a:rPr lang="en-US" sz="1300" dirty="0">
                          <a:solidFill>
                            <a:srgbClr val="2B2B2B"/>
                          </a:solidFill>
                          <a:latin typeface="Calibri" pitchFamily="34" charset="0"/>
                          <a:ea typeface="Calibri" pitchFamily="34" charset="-122"/>
                          <a:cs typeface="Calibri" pitchFamily="34" charset="-120"/>
                        </a:rPr>
                        <a:t> for it, then renew the PCs</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Websites work by IP but not by name</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Missing or wrong </a:t>
                      </a:r>
                      <a:r>
                        <a:rPr lang="en-US" sz="1200" b="1" dirty="0">
                          <a:solidFill>
                            <a:srgbClr val="1E5631"/>
                          </a:solidFill>
                          <a:latin typeface="Courier New" pitchFamily="34" charset="0"/>
                          <a:ea typeface="Courier New" pitchFamily="34" charset="-122"/>
                          <a:cs typeface="Courier New" pitchFamily="34" charset="-120"/>
                        </a:rPr>
                        <a:t>dns-server</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Fix </a:t>
                      </a:r>
                      <a:r>
                        <a:rPr lang="en-US" sz="1200" b="1" dirty="0">
                          <a:solidFill>
                            <a:srgbClr val="1E5631"/>
                          </a:solidFill>
                          <a:latin typeface="Courier New" pitchFamily="34" charset="0"/>
                          <a:ea typeface="Courier New" pitchFamily="34" charset="-122"/>
                          <a:cs typeface="Courier New" pitchFamily="34" charset="-120"/>
                        </a:rPr>
                        <a:t>dns-server</a:t>
                      </a:r>
                      <a:r>
                        <a:rPr lang="en-US" sz="1300" dirty="0">
                          <a:solidFill>
                            <a:srgbClr val="2B2B2B"/>
                          </a:solidFill>
                          <a:latin typeface="Calibri" pitchFamily="34" charset="0"/>
                          <a:ea typeface="Calibri" pitchFamily="34" charset="-122"/>
                          <a:cs typeface="Calibri" pitchFamily="34" charset="-120"/>
                        </a:rPr>
                        <a:t> in the pool and renew the lease</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r>
              <a:tr h="0">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Relay clients get nothing</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Helper on the wrong port, or the server has no route back</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Helper on the client-side port; give the server a default gateway</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r>
            </a:tbl>
          </a:graphicData>
        </a:graphic>
      </p:graphicFrame>
      <p:sp>
        <p:nvSpPr>
          <p:cNvPr id="7" name="tip box"/>
          <p:cNvSpPr/>
          <p:nvPr/>
        </p:nvSpPr>
        <p:spPr>
          <a:xfrm>
            <a:off x="548640" y="5504688"/>
            <a:ext cx="11094415" cy="749808"/>
          </a:xfrm>
          <a:prstGeom prst="roundRect">
            <a:avLst>
              <a:gd name="adj" fmla="val 9756"/>
            </a:avLst>
          </a:prstGeom>
          <a:solidFill>
            <a:srgbClr val="E6EEF8"/>
          </a:solidFill>
          <a:ln w="12700">
            <a:solidFill>
              <a:srgbClr val="B8C9E0"/>
            </a:solidFill>
            <a:prstDash val="solid"/>
          </a:ln>
        </p:spPr>
      </p:sp>
      <p:pic>
        <p:nvPicPr>
          <p:cNvPr id="8" name="tip icon" descr="Tip:">    </p:cNvPr>
          <p:cNvPicPr>
            <a:picLocks noChangeAspect="1"/>
          </p:cNvPicPr>
          <p:nvPr/>
        </p:nvPicPr>
        <p:blipFill>
          <a:blip r:embed="rId3"/>
          <a:stretch>
            <a:fillRect/>
          </a:stretch>
        </p:blipFill>
        <p:spPr>
          <a:xfrm>
            <a:off x="694944" y="5733288"/>
            <a:ext cx="292608" cy="292608"/>
          </a:xfrm>
          <a:prstGeom prst="rect">
            <a:avLst/>
          </a:prstGeom>
        </p:spPr>
      </p:pic>
      <p:sp>
        <p:nvSpPr>
          <p:cNvPr id="9" name="tip text"/>
          <p:cNvSpPr txBox="1"/>
          <p:nvPr/>
        </p:nvSpPr>
        <p:spPr>
          <a:xfrm>
            <a:off x="1097280" y="5541264"/>
            <a:ext cx="10436047" cy="676656"/>
          </a:xfrm>
          <a:prstGeom prst="rect">
            <a:avLst/>
          </a:prstGeom>
          <a:noFill/>
          <a:ln/>
        </p:spPr>
        <p:txBody>
          <a:bodyPr wrap="square" lIns="0" tIns="0" rIns="0" bIns="0" rtlCol="0" anchor="ctr"/>
          <a:lstStyle/>
          <a:p>
            <a:pPr indent="0" marL="0">
              <a:buNone/>
            </a:pPr>
            <a:r>
              <a:rPr lang="en-US" sz="1400" b="1" dirty="0">
                <a:solidFill>
                  <a:srgbClr val="1F4E8C"/>
                </a:solidFill>
              </a:rPr>
              <a:t>Tip:  </a:t>
            </a:r>
            <a:r>
              <a:rPr lang="en-US" sz="1400" dirty="0">
                <a:solidFill>
                  <a:srgbClr val="2B2B2B"/>
                </a:solidFill>
              </a:rPr>
              <a:t>Prove every fix: </a:t>
            </a:r>
            <a:r>
              <a:rPr lang="en-US" sz="1300" b="1" dirty="0">
                <a:solidFill>
                  <a:srgbClr val="1E5631"/>
                </a:solidFill>
                <a:latin typeface="Courier New" pitchFamily="34" charset="0"/>
                <a:ea typeface="Courier New" pitchFamily="34" charset="-122"/>
                <a:cs typeface="Courier New" pitchFamily="34" charset="-120"/>
              </a:rPr>
              <a:t>ipconfig /renew</a:t>
            </a:r>
            <a:r>
              <a:rPr lang="en-US" sz="1400" dirty="0">
                <a:solidFill>
                  <a:srgbClr val="2B2B2B"/>
                </a:solidFill>
              </a:rPr>
              <a:t> on the PC, then </a:t>
            </a:r>
            <a:r>
              <a:rPr lang="en-US" sz="1300" b="1" dirty="0">
                <a:solidFill>
                  <a:srgbClr val="1E5631"/>
                </a:solidFill>
                <a:latin typeface="Courier New" pitchFamily="34" charset="0"/>
                <a:ea typeface="Courier New" pitchFamily="34" charset="-122"/>
                <a:cs typeface="Courier New" pitchFamily="34" charset="-120"/>
              </a:rPr>
              <a:t>show ip dhcp binding</a:t>
            </a:r>
            <a:r>
              <a:rPr lang="en-US" sz="1400" dirty="0">
                <a:solidFill>
                  <a:srgbClr val="2B2B2B"/>
                </a:solidFill>
              </a:rPr>
              <a:t> on the router.</a:t>
            </a:r>
            <a:endParaRPr lang="en-US" sz="1400" dirty="0"/>
          </a:p>
        </p:txBody>
      </p:sp>
      <p:sp>
        <p:nvSpPr>
          <p:cNvPr id="25" name="Slide Number Placeholder 0"/>
          <p:cNvSpPr>
            <a:spLocks noGrp="1"/>
          </p:cNvSpPr>
          <p:nvPr>
            <p:ph type="sldNum" sz="quarter" idx="4294967295"/>
          </p:nvPr>
        </p:nvSpPr>
        <p:spPr>
          <a:xfrm>
            <a:off x="10698480" y="6464808"/>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1"/>
          <p:cNvSpPr/>
          <p:nvPr>
            <p:ph idx="101" type="body" hasCustomPrompt="1"/>
          </p:nvPr>
        </p:nvSpPr>
        <p:spPr>
          <a:xfrm>
            <a:off x="548640" y="685800"/>
            <a:ext cx="3200400" cy="1143000"/>
          </a:xfrm>
          <a:prstGeom prst="rect">
            <a:avLst/>
          </a:prstGeom>
          <a:noFill/>
          <a:ln/>
        </p:spPr>
        <p:txBody>
          <a:bodyPr wrap="square" lIns="0" tIns="0" rIns="0" bIns="0" rtlCol="0" anchor="b"/>
          <a:lstStyle/>
          <a:p>
            <a:pPr algn="l" indent="0" marL="0">
              <a:buNone/>
            </a:pPr>
            <a:r>
              <a:rPr lang="en-US" sz="7200" b="1" dirty="0">
                <a:solidFill>
                  <a:schemeClr val="accent3"/>
                </a:solidFill>
                <a:latin typeface="Cambria" pitchFamily="34" charset="0"/>
                <a:ea typeface="Cambria" pitchFamily="34" charset="-122"/>
                <a:cs typeface="Cambria" pitchFamily="34" charset="-120"/>
              </a:rPr>
              <a:t>07</a:t>
            </a:r>
            <a:endParaRPr lang="en-US" sz="7200" dirty="0"/>
          </a:p>
        </p:txBody>
      </p:sp>
      <p:sp>
        <p:nvSpPr>
          <p:cNvPr id="3" name="Text 1"/>
          <p:cNvSpPr/>
          <p:nvPr>
            <p:ph idx="102" type="title" hasCustomPrompt="1"/>
          </p:nvPr>
        </p:nvSpPr>
        <p:spPr>
          <a:xfrm>
            <a:off x="548640" y="2011680"/>
            <a:ext cx="6492240" cy="1600200"/>
          </a:xfrm>
          <a:prstGeom prst="rect">
            <a:avLst/>
          </a:prstGeom>
          <a:noFill/>
          <a:ln/>
        </p:spPr>
        <p:txBody>
          <a:bodyPr wrap="square" lIns="0" tIns="0" rIns="0" bIns="0" rtlCol="0" anchor="t"/>
          <a:lstStyle/>
          <a:p>
            <a:pPr algn="l" indent="0" marL="0">
              <a:buNone/>
            </a:pPr>
            <a:r>
              <a:rPr lang="en-US" sz="3400" b="1" dirty="0">
                <a:solidFill>
                  <a:srgbClr val="FFFFFF"/>
                </a:solidFill>
              </a:rPr>
              <a:t>How to connect networks with routing</a:t>
            </a:r>
            <a:endParaRPr lang="en-US" sz="3400" dirty="0"/>
          </a:p>
        </p:txBody>
      </p:sp>
      <p:sp>
        <p:nvSpPr>
          <p:cNvPr id="4" name="Text 1"/>
          <p:cNvSpPr/>
          <p:nvPr>
            <p:ph idx="103" type="body" hasCustomPrompt="1"/>
          </p:nvPr>
        </p:nvSpPr>
        <p:spPr>
          <a:xfrm>
            <a:off x="548640" y="3703320"/>
            <a:ext cx="6309360" cy="1188720"/>
          </a:xfrm>
          <a:prstGeom prst="rect">
            <a:avLst/>
          </a:prstGeom>
          <a:noFill/>
          <a:ln/>
        </p:spPr>
        <p:txBody>
          <a:bodyPr wrap="square" lIns="0" tIns="0" rIns="0" bIns="0" rtlCol="0" anchor="t"/>
          <a:lstStyle/>
          <a:p>
            <a:pPr algn="l" indent="0" marL="0">
              <a:buNone/>
            </a:pPr>
            <a:r>
              <a:rPr lang="en-US" sz="1600" dirty="0">
                <a:solidFill>
                  <a:srgbClr val="CFE3D4"/>
                </a:solidFill>
              </a:rPr>
              <a:t>Teach routers where every network is — by hand with static routes, or automatically with OSPF, RIP and EIGRP. (Lab 3)</a:t>
            </a:r>
            <a:endParaRPr lang="en-US" sz="1600" dirty="0"/>
          </a:p>
        </p:txBody>
      </p:sp>
      <p:sp>
        <p:nvSpPr>
          <p:cNvPr id="5" name="Shape 3"/>
          <p:cNvSpPr/>
          <p:nvPr/>
        </p:nvSpPr>
        <p:spPr>
          <a:xfrm>
            <a:off x="7452360" y="1884045"/>
            <a:ext cx="4187952" cy="3089910"/>
          </a:xfrm>
          <a:prstGeom prst="roundRect">
            <a:avLst>
              <a:gd name="adj" fmla="val 2959"/>
            </a:avLst>
          </a:prstGeom>
          <a:solidFill>
            <a:srgbClr val="1B2B22">
              <a:alpha val="75000"/>
            </a:srgbClr>
          </a:solidFill>
          <a:ln w="12700">
            <a:solidFill>
              <a:srgbClr val="24663A"/>
            </a:solidFill>
            <a:prstDash val="solid"/>
          </a:ln>
        </p:spPr>
      </p:sp>
      <p:sp>
        <p:nvSpPr>
          <p:cNvPr id="6" name="Text 4"/>
          <p:cNvSpPr txBox="1"/>
          <p:nvPr/>
        </p:nvSpPr>
        <p:spPr>
          <a:xfrm>
            <a:off x="7726680" y="2140077"/>
            <a:ext cx="3639312" cy="320040"/>
          </a:xfrm>
          <a:prstGeom prst="rect">
            <a:avLst/>
          </a:prstGeom>
          <a:noFill/>
          <a:ln/>
        </p:spPr>
        <p:txBody>
          <a:bodyPr wrap="square" lIns="0" tIns="0" rIns="0" bIns="0" rtlCol="0" anchor="ctr"/>
          <a:lstStyle/>
          <a:p>
            <a:pPr indent="0" marL="0">
              <a:buNone/>
            </a:pPr>
            <a:r>
              <a:rPr lang="en-US" sz="1500" b="1" dirty="0">
                <a:solidFill>
                  <a:srgbClr val="E8B92E"/>
                </a:solidFill>
              </a:rPr>
              <a:t>In this part, learn how to:</a:t>
            </a:r>
            <a:endParaRPr lang="en-US" sz="1500" dirty="0"/>
          </a:p>
        </p:txBody>
      </p:sp>
      <p:sp>
        <p:nvSpPr>
          <p:cNvPr id="7" name="Text 5"/>
          <p:cNvSpPr txBox="1"/>
          <p:nvPr/>
        </p:nvSpPr>
        <p:spPr>
          <a:xfrm>
            <a:off x="7726680" y="2615565"/>
            <a:ext cx="3730752" cy="217551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FFFFFF"/>
                </a:solidFill>
              </a:rPr>
              <a:t>set up the routing lab</a:t>
            </a:r>
            <a:endParaRPr lang="en-US" sz="1500" dirty="0"/>
          </a:p>
          <a:p>
            <a:pPr marL="203200" indent="-203200">
              <a:spcAft>
                <a:spcPts val="800"/>
              </a:spcAft>
              <a:buSzPct val="100000"/>
              <a:buChar char="•"/>
            </a:pPr>
            <a:r>
              <a:rPr lang="en-US" sz="1500" dirty="0">
                <a:solidFill>
                  <a:srgbClr val="FFFFFF"/>
                </a:solidFill>
              </a:rPr>
              <a:t>read a routing table</a:t>
            </a:r>
            <a:endParaRPr lang="en-US" sz="1500" dirty="0"/>
          </a:p>
          <a:p>
            <a:pPr marL="203200" indent="-203200">
              <a:spcAft>
                <a:spcPts val="800"/>
              </a:spcAft>
              <a:buSzPct val="100000"/>
              <a:buChar char="•"/>
            </a:pPr>
            <a:r>
              <a:rPr lang="en-US" sz="1500" dirty="0">
                <a:solidFill>
                  <a:srgbClr val="FFFFFF"/>
                </a:solidFill>
              </a:rPr>
              <a:t>configure static and default routes</a:t>
            </a:r>
            <a:endParaRPr lang="en-US" sz="1500" dirty="0"/>
          </a:p>
          <a:p>
            <a:pPr marL="203200" indent="-203200">
              <a:spcAft>
                <a:spcPts val="800"/>
              </a:spcAft>
              <a:buSzPct val="100000"/>
              <a:buChar char="•"/>
            </a:pPr>
            <a:r>
              <a:rPr lang="en-US" sz="1500" dirty="0">
                <a:solidFill>
                  <a:srgbClr val="FFFFFF"/>
                </a:solidFill>
              </a:rPr>
              <a:t>configure single-area OSPF</a:t>
            </a:r>
            <a:endParaRPr lang="en-US" sz="1500" dirty="0"/>
          </a:p>
          <a:p>
            <a:pPr marL="203200" indent="-203200">
              <a:spcAft>
                <a:spcPts val="800"/>
              </a:spcAft>
              <a:buSzPct val="100000"/>
              <a:buChar char="•"/>
            </a:pPr>
            <a:r>
              <a:rPr lang="en-US" sz="1500" dirty="0">
                <a:solidFill>
                  <a:srgbClr val="FFFFFF"/>
                </a:solidFill>
              </a:rPr>
              <a:t>configure RIPv2 and EIGRP</a:t>
            </a:r>
            <a:endParaRPr lang="en-US" sz="1500" dirty="0"/>
          </a:p>
          <a:p>
            <a:pPr marL="203200" indent="-203200">
              <a:spcAft>
                <a:spcPts val="800"/>
              </a:spcAft>
              <a:buSzPct val="100000"/>
              <a:buChar char="•"/>
            </a:pPr>
            <a:r>
              <a:rPr lang="en-US" sz="1500" dirty="0">
                <a:solidFill>
                  <a:srgbClr val="FFFFFF"/>
                </a:solidFill>
              </a:rPr>
              <a:t>check and troubleshoot routing</a:t>
            </a:r>
            <a:endParaRPr lang="en-US" sz="1500" dirty="0"/>
          </a:p>
        </p:txBody>
      </p:sp>
      <p:sp>
        <p:nvSpPr>
          <p:cNvPr id="8" name="Shape 6"/>
          <p:cNvSpPr/>
          <p:nvPr/>
        </p:nvSpPr>
        <p:spPr>
          <a:xfrm>
            <a:off x="548640" y="5989320"/>
            <a:ext cx="914400" cy="566928"/>
          </a:xfrm>
          <a:prstGeom prst="roundRect">
            <a:avLst>
              <a:gd name="adj" fmla="val 9677"/>
            </a:avLst>
          </a:prstGeom>
          <a:solidFill>
            <a:srgbClr val="FFFFFF"/>
          </a:solidFill>
          <a:ln/>
        </p:spPr>
      </p:sp>
      <p:pic>
        <p:nvPicPr>
          <p:cNvPr id="9" name="Image 0" descr="Kabete National Polytechnic logo">    </p:cNvPr>
          <p:cNvPicPr>
            <a:picLocks noChangeAspect="1"/>
          </p:cNvPicPr>
          <p:nvPr/>
        </p:nvPicPr>
        <p:blipFill>
          <a:blip r:embed="rId1"/>
          <a:stretch>
            <a:fillRect/>
          </a:stretch>
        </p:blipFill>
        <p:spPr>
          <a:xfrm>
            <a:off x="594360" y="6022175"/>
            <a:ext cx="822960" cy="501218"/>
          </a:xfrm>
          <a:prstGeom prst="rect">
            <a:avLst/>
          </a:prstGeom>
        </p:spPr>
      </p:pic>
      <p:pic>
        <p:nvPicPr>
          <p:cNvPr id="10" name="Home button" descr="Home: back to the workbook menu">
            <a:hlinkClick r:id="rId3" tooltip="Back to the workbook menu" action="ppaction://hlinksldjump"/>
          </p:cNvPr>
          <p:cNvPicPr>
            <a:picLocks noChangeAspect="1"/>
          </p:cNvPicPr>
          <p:nvPr/>
        </p:nvPicPr>
        <p:blipFill>
          <a:blip r:embed="rId2"/>
          <a:stretch>
            <a:fillRect/>
          </a:stretch>
        </p:blipFill>
        <p:spPr>
          <a:xfrm>
            <a:off x="11365992" y="6336792"/>
            <a:ext cx="365760" cy="365760"/>
          </a:xfrm>
          <a:prstGeom prst="rect">
            <a:avLst/>
          </a:prstGeom>
        </p:spPr>
      </p:pic>
      <p:sp>
        <p:nvSpPr>
          <p:cNvPr id="25" name="Slide Number Placeholder 0"/>
          <p:cNvSpPr>
            <a:spLocks noGrp="1"/>
          </p:cNvSpPr>
          <p:nvPr>
            <p:ph type="sldNum" sz="quarter" idx="4294967295"/>
          </p:nvPr>
        </p:nvSpPr>
        <p:spPr>
          <a:xfrm>
            <a:off x="10698480" y="6464808"/>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CFE3D4"/>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1"/>
          <p:cNvSpPr/>
          <p:nvPr>
            <p:ph idx="102" type="body" hasCustomPrompt="1"/>
          </p:nvPr>
        </p:nvSpPr>
        <p:spPr>
          <a:xfrm>
            <a:off x="548640" y="274320"/>
            <a:ext cx="9966960" cy="256032"/>
          </a:xfrm>
          <a:prstGeom prst="rect">
            <a:avLst/>
          </a:prstGeom>
          <a:noFill/>
          <a:ln/>
        </p:spPr>
        <p:txBody>
          <a:bodyPr wrap="square" lIns="0" tIns="0" rIns="0" bIns="0" rtlCol="0" anchor="ctr"/>
          <a:lstStyle/>
          <a:p>
            <a:pPr algn="l" indent="0" marL="0">
              <a:buNone/>
            </a:pPr>
            <a:r>
              <a:rPr lang="en-US" sz="1100" b="1" spc="100" kern="0" dirty="0">
                <a:solidFill>
                  <a:schemeClr val="accent2"/>
                </a:solidFill>
              </a:rPr>
              <a:t>07  •  ROUTING  •  LAB 3</a:t>
            </a:r>
            <a:endParaRPr lang="en-US" sz="1100" dirty="0"/>
          </a:p>
        </p:txBody>
      </p:sp>
      <p:sp>
        <p:nvSpPr>
          <p:cNvPr id="3" name="Text 1"/>
          <p:cNvSpPr/>
          <p:nvPr>
            <p:ph idx="103" type="title" hasCustomPrompt="1"/>
          </p:nvPr>
        </p:nvSpPr>
        <p:spPr>
          <a:xfrm>
            <a:off x="548640" y="548640"/>
            <a:ext cx="10149840" cy="548640"/>
          </a:xfrm>
          <a:prstGeom prst="rect">
            <a:avLst/>
          </a:prstGeom>
          <a:noFill/>
          <a:ln/>
        </p:spPr>
        <p:txBody>
          <a:bodyPr wrap="square" lIns="0" tIns="0" rIns="0" bIns="0" rtlCol="0" anchor="ctr"/>
          <a:lstStyle/>
          <a:p>
            <a:pPr algn="l" indent="0" marL="0">
              <a:buNone/>
            </a:pPr>
            <a:r>
              <a:rPr lang="en-US" sz="2600" b="1" dirty="0">
                <a:solidFill>
                  <a:schemeClr val="accent1"/>
                </a:solidFill>
              </a:rPr>
              <a:t>How to set up the routing lab (Lab 3 topology)</a:t>
            </a:r>
            <a:endParaRPr lang="en-US" sz="2600" dirty="0"/>
          </a:p>
        </p:txBody>
      </p:sp>
      <p:pic>
        <p:nvPicPr>
          <p:cNvPr id="4" name="Home button" descr="Home: back to the workbook menu">
            <a:hlinkClick r:id="rId2" tooltip="Back to the workbook menu" action="ppaction://hlinksldjump"/>
          </p:cNvPr>
          <p:cNvPicPr>
            <a:picLocks noChangeAspect="1"/>
          </p:cNvPicPr>
          <p:nvPr/>
        </p:nvPicPr>
        <p:blipFill>
          <a:blip r:embed="rId1"/>
          <a:stretch>
            <a:fillRect/>
          </a:stretch>
        </p:blipFill>
        <p:spPr>
          <a:xfrm>
            <a:off x="11365992" y="6336792"/>
            <a:ext cx="365760" cy="365760"/>
          </a:xfrm>
          <a:prstGeom prst="rect">
            <a:avLst/>
          </a:prstGeom>
        </p:spPr>
      </p:pic>
      <p:sp>
        <p:nvSpPr>
          <p:cNvPr id="5" name="Goal"/>
          <p:cNvSpPr txBox="1"/>
          <p:nvPr/>
        </p:nvSpPr>
        <p:spPr>
          <a:xfrm>
            <a:off x="548640" y="1161288"/>
            <a:ext cx="11094415" cy="384048"/>
          </a:xfrm>
          <a:prstGeom prst="rect">
            <a:avLst/>
          </a:prstGeom>
          <a:noFill/>
          <a:ln/>
        </p:spPr>
        <p:txBody>
          <a:bodyPr wrap="square" lIns="0" tIns="0" rIns="0" bIns="0" rtlCol="0" anchor="ctr"/>
          <a:lstStyle/>
          <a:p>
            <a:pPr indent="0" marL="0">
              <a:buNone/>
            </a:pPr>
            <a:r>
              <a:rPr lang="en-US" sz="1400" b="1" dirty="0">
                <a:solidFill>
                  <a:srgbClr val="2B7043"/>
                </a:solidFill>
              </a:rPr>
              <a:t>Goal:  </a:t>
            </a:r>
            <a:r>
              <a:rPr lang="en-US" sz="1400" dirty="0">
                <a:solidFill>
                  <a:srgbClr val="2B2B2B"/>
                </a:solidFill>
              </a:rPr>
              <a:t>Three routers, three LANs, three point-to-point links. Every link is its own /30 subnet.</a:t>
            </a:r>
            <a:endParaRPr lang="en-US" sz="1400" dirty="0"/>
          </a:p>
        </p:txBody>
      </p:sp>
      <p:sp>
        <p:nvSpPr>
          <p:cNvPr id="6" name="Shape 3"/>
          <p:cNvSpPr/>
          <p:nvPr/>
        </p:nvSpPr>
        <p:spPr>
          <a:xfrm>
            <a:off x="1874520" y="2331720"/>
            <a:ext cx="3017520" cy="914"/>
          </a:xfrm>
          <a:prstGeom prst="line">
            <a:avLst/>
          </a:prstGeom>
          <a:noFill/>
          <a:ln w="31750">
            <a:solidFill>
              <a:srgbClr val="3A3A3A"/>
            </a:solidFill>
            <a:prstDash val="solid"/>
          </a:ln>
        </p:spPr>
      </p:sp>
      <p:sp>
        <p:nvSpPr>
          <p:cNvPr id="7" name="Shape 4"/>
          <p:cNvSpPr/>
          <p:nvPr/>
        </p:nvSpPr>
        <p:spPr>
          <a:xfrm flipH="1">
            <a:off x="3383280" y="2331720"/>
            <a:ext cx="1508760" cy="1965960"/>
          </a:xfrm>
          <a:prstGeom prst="line">
            <a:avLst/>
          </a:prstGeom>
          <a:noFill/>
          <a:ln w="31750">
            <a:solidFill>
              <a:srgbClr val="3A3A3A"/>
            </a:solidFill>
            <a:prstDash val="solid"/>
          </a:ln>
        </p:spPr>
      </p:sp>
      <p:sp>
        <p:nvSpPr>
          <p:cNvPr id="8" name="Shape 5"/>
          <p:cNvSpPr/>
          <p:nvPr/>
        </p:nvSpPr>
        <p:spPr>
          <a:xfrm>
            <a:off x="1874520" y="2331720"/>
            <a:ext cx="1508760" cy="1965960"/>
          </a:xfrm>
          <a:prstGeom prst="line">
            <a:avLst/>
          </a:prstGeom>
          <a:noFill/>
          <a:ln w="31750">
            <a:solidFill>
              <a:srgbClr val="3A3A3A"/>
            </a:solidFill>
            <a:prstDash val="solid"/>
          </a:ln>
        </p:spPr>
      </p:sp>
      <p:sp>
        <p:nvSpPr>
          <p:cNvPr id="9" name="Shape 6"/>
          <p:cNvSpPr/>
          <p:nvPr/>
        </p:nvSpPr>
        <p:spPr>
          <a:xfrm flipH="1">
            <a:off x="868680" y="2331720"/>
            <a:ext cx="1005840" cy="1097280"/>
          </a:xfrm>
          <a:prstGeom prst="line">
            <a:avLst/>
          </a:prstGeom>
          <a:noFill/>
          <a:ln w="22225">
            <a:solidFill>
              <a:srgbClr val="2F855A"/>
            </a:solidFill>
            <a:prstDash val="solid"/>
          </a:ln>
        </p:spPr>
      </p:sp>
      <p:sp>
        <p:nvSpPr>
          <p:cNvPr id="10" name="Shape 7"/>
          <p:cNvSpPr/>
          <p:nvPr/>
        </p:nvSpPr>
        <p:spPr>
          <a:xfrm>
            <a:off x="4892040" y="2331720"/>
            <a:ext cx="1005840" cy="1097280"/>
          </a:xfrm>
          <a:prstGeom prst="line">
            <a:avLst/>
          </a:prstGeom>
          <a:noFill/>
          <a:ln w="22225">
            <a:solidFill>
              <a:srgbClr val="2F855A"/>
            </a:solidFill>
            <a:prstDash val="solid"/>
          </a:ln>
        </p:spPr>
      </p:sp>
      <p:sp>
        <p:nvSpPr>
          <p:cNvPr id="11" name="Shape 8"/>
          <p:cNvSpPr/>
          <p:nvPr/>
        </p:nvSpPr>
        <p:spPr>
          <a:xfrm>
            <a:off x="3383280" y="4297680"/>
            <a:ext cx="914" cy="1143000"/>
          </a:xfrm>
          <a:prstGeom prst="line">
            <a:avLst/>
          </a:prstGeom>
          <a:noFill/>
          <a:ln w="22225">
            <a:solidFill>
              <a:srgbClr val="2F855A"/>
            </a:solidFill>
            <a:prstDash val="solid"/>
          </a:ln>
        </p:spPr>
      </p:sp>
      <p:pic>
        <p:nvPicPr>
          <p:cNvPr id="12" name="Image 1" descr="R1">    </p:cNvPr>
          <p:cNvPicPr>
            <a:picLocks noChangeAspect="1"/>
          </p:cNvPicPr>
          <p:nvPr/>
        </p:nvPicPr>
        <p:blipFill>
          <a:blip r:embed="rId3"/>
          <a:stretch>
            <a:fillRect/>
          </a:stretch>
        </p:blipFill>
        <p:spPr>
          <a:xfrm>
            <a:off x="1591056" y="2048256"/>
            <a:ext cx="566928" cy="566928"/>
          </a:xfrm>
          <a:prstGeom prst="rect">
            <a:avLst/>
          </a:prstGeom>
        </p:spPr>
      </p:pic>
      <p:sp>
        <p:nvSpPr>
          <p:cNvPr id="13" name="Text 9"/>
          <p:cNvSpPr txBox="1"/>
          <p:nvPr/>
        </p:nvSpPr>
        <p:spPr>
          <a:xfrm>
            <a:off x="1143000" y="1773936"/>
            <a:ext cx="1463040" cy="274320"/>
          </a:xfrm>
          <a:prstGeom prst="rect">
            <a:avLst/>
          </a:prstGeom>
          <a:noFill/>
          <a:ln/>
        </p:spPr>
        <p:txBody>
          <a:bodyPr wrap="square" lIns="0" tIns="0" rIns="0" bIns="0" rtlCol="0" anchor="t"/>
          <a:lstStyle/>
          <a:p>
            <a:pPr algn="ctr" indent="0" marL="0">
              <a:buNone/>
            </a:pPr>
            <a:r>
              <a:rPr lang="en-US" sz="1200" b="1" dirty="0">
                <a:solidFill>
                  <a:srgbClr val="2B2B2B"/>
                </a:solidFill>
              </a:rPr>
              <a:t>R1</a:t>
            </a:r>
            <a:endParaRPr lang="en-US" sz="1200" dirty="0"/>
          </a:p>
        </p:txBody>
      </p:sp>
      <p:pic>
        <p:nvPicPr>
          <p:cNvPr id="14" name="Image 2" descr="R2">    </p:cNvPr>
          <p:cNvPicPr>
            <a:picLocks noChangeAspect="1"/>
          </p:cNvPicPr>
          <p:nvPr/>
        </p:nvPicPr>
        <p:blipFill>
          <a:blip r:embed="rId4"/>
          <a:stretch>
            <a:fillRect/>
          </a:stretch>
        </p:blipFill>
        <p:spPr>
          <a:xfrm>
            <a:off x="4608576" y="2048256"/>
            <a:ext cx="566928" cy="566928"/>
          </a:xfrm>
          <a:prstGeom prst="rect">
            <a:avLst/>
          </a:prstGeom>
        </p:spPr>
      </p:pic>
      <p:sp>
        <p:nvSpPr>
          <p:cNvPr id="15" name="Text 10"/>
          <p:cNvSpPr txBox="1"/>
          <p:nvPr/>
        </p:nvSpPr>
        <p:spPr>
          <a:xfrm>
            <a:off x="4160520" y="1773936"/>
            <a:ext cx="1463040" cy="274320"/>
          </a:xfrm>
          <a:prstGeom prst="rect">
            <a:avLst/>
          </a:prstGeom>
          <a:noFill/>
          <a:ln/>
        </p:spPr>
        <p:txBody>
          <a:bodyPr wrap="square" lIns="0" tIns="0" rIns="0" bIns="0" rtlCol="0" anchor="t"/>
          <a:lstStyle/>
          <a:p>
            <a:pPr algn="ctr" indent="0" marL="0">
              <a:buNone/>
            </a:pPr>
            <a:r>
              <a:rPr lang="en-US" sz="1200" b="1" dirty="0">
                <a:solidFill>
                  <a:srgbClr val="2B2B2B"/>
                </a:solidFill>
              </a:rPr>
              <a:t>R2</a:t>
            </a:r>
            <a:endParaRPr lang="en-US" sz="1200" dirty="0"/>
          </a:p>
        </p:txBody>
      </p:sp>
      <p:pic>
        <p:nvPicPr>
          <p:cNvPr id="16" name="Image 3" descr="R3">    </p:cNvPr>
          <p:cNvPicPr>
            <a:picLocks noChangeAspect="1"/>
          </p:cNvPicPr>
          <p:nvPr/>
        </p:nvPicPr>
        <p:blipFill>
          <a:blip r:embed="rId5"/>
          <a:stretch>
            <a:fillRect/>
          </a:stretch>
        </p:blipFill>
        <p:spPr>
          <a:xfrm>
            <a:off x="3099816" y="4014216"/>
            <a:ext cx="566928" cy="566928"/>
          </a:xfrm>
          <a:prstGeom prst="rect">
            <a:avLst/>
          </a:prstGeom>
        </p:spPr>
      </p:pic>
      <p:sp>
        <p:nvSpPr>
          <p:cNvPr id="17" name="Text 11"/>
          <p:cNvSpPr txBox="1"/>
          <p:nvPr/>
        </p:nvSpPr>
        <p:spPr>
          <a:xfrm>
            <a:off x="3712464" y="4160520"/>
            <a:ext cx="457200" cy="274320"/>
          </a:xfrm>
          <a:prstGeom prst="rect">
            <a:avLst/>
          </a:prstGeom>
          <a:noFill/>
          <a:ln/>
        </p:spPr>
        <p:txBody>
          <a:bodyPr wrap="square" lIns="0" tIns="0" rIns="0" bIns="0" rtlCol="0" anchor="t"/>
          <a:lstStyle/>
          <a:p>
            <a:pPr algn="l" indent="0" marL="0">
              <a:buNone/>
            </a:pPr>
            <a:r>
              <a:rPr lang="en-US" sz="1200" b="1" dirty="0">
                <a:solidFill>
                  <a:srgbClr val="2B2B2B"/>
                </a:solidFill>
              </a:rPr>
              <a:t>R3</a:t>
            </a:r>
            <a:endParaRPr lang="en-US" sz="1200" dirty="0"/>
          </a:p>
        </p:txBody>
      </p:sp>
      <p:pic>
        <p:nvPicPr>
          <p:cNvPr id="18" name="Image 4" descr="PC1">    </p:cNvPr>
          <p:cNvPicPr>
            <a:picLocks noChangeAspect="1"/>
          </p:cNvPicPr>
          <p:nvPr/>
        </p:nvPicPr>
        <p:blipFill>
          <a:blip r:embed="rId6"/>
          <a:stretch>
            <a:fillRect/>
          </a:stretch>
        </p:blipFill>
        <p:spPr>
          <a:xfrm>
            <a:off x="640080" y="3200400"/>
            <a:ext cx="457200" cy="457200"/>
          </a:xfrm>
          <a:prstGeom prst="rect">
            <a:avLst/>
          </a:prstGeom>
        </p:spPr>
      </p:pic>
      <p:sp>
        <p:nvSpPr>
          <p:cNvPr id="19" name="Text 12"/>
          <p:cNvSpPr txBox="1"/>
          <p:nvPr/>
        </p:nvSpPr>
        <p:spPr>
          <a:xfrm>
            <a:off x="137160" y="3639312"/>
            <a:ext cx="1463040" cy="457200"/>
          </a:xfrm>
          <a:prstGeom prst="rect">
            <a:avLst/>
          </a:prstGeom>
          <a:noFill/>
          <a:ln/>
        </p:spPr>
        <p:txBody>
          <a:bodyPr wrap="square" lIns="0" tIns="0" rIns="0" bIns="0" rtlCol="0" anchor="t"/>
          <a:lstStyle/>
          <a:p>
            <a:pPr algn="ctr" indent="0" marL="0">
              <a:buNone/>
            </a:pPr>
            <a:r>
              <a:rPr lang="en-US" sz="1200" b="1" dirty="0">
                <a:solidFill>
                  <a:srgbClr val="2B2B2B"/>
                </a:solidFill>
              </a:rPr>
              <a:t>PC1</a:t>
            </a:r>
            <a:endParaRPr lang="en-US" sz="1200" dirty="0"/>
          </a:p>
          <a:p>
            <a:pPr algn="ctr" indent="0" marL="0">
              <a:buNone/>
            </a:pPr>
            <a:r>
              <a:rPr lang="en-US" sz="1000" dirty="0">
                <a:solidFill>
                  <a:srgbClr val="6B6B6B"/>
                </a:solidFill>
              </a:rPr>
              <a:t>172.16.1.10</a:t>
            </a:r>
            <a:endParaRPr lang="en-US" sz="1200" dirty="0"/>
          </a:p>
        </p:txBody>
      </p:sp>
      <p:pic>
        <p:nvPicPr>
          <p:cNvPr id="20" name="Image 5" descr="PC2">    </p:cNvPr>
          <p:cNvPicPr>
            <a:picLocks noChangeAspect="1"/>
          </p:cNvPicPr>
          <p:nvPr/>
        </p:nvPicPr>
        <p:blipFill>
          <a:blip r:embed="rId7"/>
          <a:stretch>
            <a:fillRect/>
          </a:stretch>
        </p:blipFill>
        <p:spPr>
          <a:xfrm>
            <a:off x="5669280" y="3200400"/>
            <a:ext cx="457200" cy="457200"/>
          </a:xfrm>
          <a:prstGeom prst="rect">
            <a:avLst/>
          </a:prstGeom>
        </p:spPr>
      </p:pic>
      <p:sp>
        <p:nvSpPr>
          <p:cNvPr id="21" name="Text 13"/>
          <p:cNvSpPr txBox="1"/>
          <p:nvPr/>
        </p:nvSpPr>
        <p:spPr>
          <a:xfrm>
            <a:off x="5166360" y="3639312"/>
            <a:ext cx="1463040" cy="457200"/>
          </a:xfrm>
          <a:prstGeom prst="rect">
            <a:avLst/>
          </a:prstGeom>
          <a:noFill/>
          <a:ln/>
        </p:spPr>
        <p:txBody>
          <a:bodyPr wrap="square" lIns="0" tIns="0" rIns="0" bIns="0" rtlCol="0" anchor="t"/>
          <a:lstStyle/>
          <a:p>
            <a:pPr algn="ctr" indent="0" marL="0">
              <a:buNone/>
            </a:pPr>
            <a:r>
              <a:rPr lang="en-US" sz="1200" b="1" dirty="0">
                <a:solidFill>
                  <a:srgbClr val="2B2B2B"/>
                </a:solidFill>
              </a:rPr>
              <a:t>PC2</a:t>
            </a:r>
            <a:endParaRPr lang="en-US" sz="1200" dirty="0"/>
          </a:p>
          <a:p>
            <a:pPr algn="ctr" indent="0" marL="0">
              <a:buNone/>
            </a:pPr>
            <a:r>
              <a:rPr lang="en-US" sz="1000" dirty="0">
                <a:solidFill>
                  <a:srgbClr val="6B6B6B"/>
                </a:solidFill>
              </a:rPr>
              <a:t>172.16.2.10</a:t>
            </a:r>
            <a:endParaRPr lang="en-US" sz="1200" dirty="0"/>
          </a:p>
        </p:txBody>
      </p:sp>
      <p:pic>
        <p:nvPicPr>
          <p:cNvPr id="22" name="Image 6" descr="PC3">    </p:cNvPr>
          <p:cNvPicPr>
            <a:picLocks noChangeAspect="1"/>
          </p:cNvPicPr>
          <p:nvPr/>
        </p:nvPicPr>
        <p:blipFill>
          <a:blip r:embed="rId8"/>
          <a:stretch>
            <a:fillRect/>
          </a:stretch>
        </p:blipFill>
        <p:spPr>
          <a:xfrm>
            <a:off x="3154680" y="5212080"/>
            <a:ext cx="457200" cy="457200"/>
          </a:xfrm>
          <a:prstGeom prst="rect">
            <a:avLst/>
          </a:prstGeom>
        </p:spPr>
      </p:pic>
      <p:sp>
        <p:nvSpPr>
          <p:cNvPr id="23" name="Text 14"/>
          <p:cNvSpPr txBox="1"/>
          <p:nvPr/>
        </p:nvSpPr>
        <p:spPr>
          <a:xfrm>
            <a:off x="3657600" y="5212080"/>
            <a:ext cx="1097280" cy="457200"/>
          </a:xfrm>
          <a:prstGeom prst="rect">
            <a:avLst/>
          </a:prstGeom>
          <a:noFill/>
          <a:ln/>
        </p:spPr>
        <p:txBody>
          <a:bodyPr wrap="square" lIns="0" tIns="0" rIns="0" bIns="0" rtlCol="0" anchor="t"/>
          <a:lstStyle/>
          <a:p>
            <a:pPr algn="l" indent="0" marL="0">
              <a:buNone/>
            </a:pPr>
            <a:r>
              <a:rPr lang="en-US" sz="1200" b="1" dirty="0">
                <a:solidFill>
                  <a:srgbClr val="2B2B2B"/>
                </a:solidFill>
              </a:rPr>
              <a:t>PC3</a:t>
            </a:r>
            <a:endParaRPr lang="en-US" sz="1200" dirty="0"/>
          </a:p>
          <a:p>
            <a:pPr algn="l" indent="0" marL="0">
              <a:buNone/>
            </a:pPr>
            <a:r>
              <a:rPr lang="en-US" sz="1000" dirty="0">
                <a:solidFill>
                  <a:srgbClr val="6B6B6B"/>
                </a:solidFill>
              </a:rPr>
              <a:t>172.16.3.10</a:t>
            </a:r>
            <a:endParaRPr lang="en-US" sz="1200" dirty="0"/>
          </a:p>
        </p:txBody>
      </p:sp>
      <p:sp>
        <p:nvSpPr>
          <p:cNvPr id="24" name="Text 15"/>
          <p:cNvSpPr txBox="1"/>
          <p:nvPr/>
        </p:nvSpPr>
        <p:spPr>
          <a:xfrm>
            <a:off x="2788920" y="2011680"/>
            <a:ext cx="1188720" cy="237744"/>
          </a:xfrm>
          <a:prstGeom prst="rect">
            <a:avLst/>
          </a:prstGeom>
          <a:noFill/>
          <a:ln/>
        </p:spPr>
        <p:txBody>
          <a:bodyPr wrap="square" lIns="254" tIns="254" rIns="254" bIns="254" rtlCol="0" anchor="ctr"/>
          <a:lstStyle/>
          <a:p>
            <a:pPr algn="ctr" indent="0" marL="0">
              <a:buNone/>
            </a:pPr>
            <a:r>
              <a:rPr lang="en-US" sz="1100" b="1" dirty="0">
                <a:solidFill>
                  <a:srgbClr val="1B2B22"/>
                </a:solidFill>
              </a:rPr>
              <a:t>10.0.0.0/30</a:t>
            </a:r>
            <a:endParaRPr lang="en-US" sz="1100" dirty="0"/>
          </a:p>
        </p:txBody>
      </p:sp>
      <p:sp>
        <p:nvSpPr>
          <p:cNvPr id="25" name="Text 16"/>
          <p:cNvSpPr txBox="1"/>
          <p:nvPr/>
        </p:nvSpPr>
        <p:spPr>
          <a:xfrm>
            <a:off x="4297680" y="3246120"/>
            <a:ext cx="1097280" cy="237744"/>
          </a:xfrm>
          <a:prstGeom prst="rect">
            <a:avLst/>
          </a:prstGeom>
          <a:noFill/>
          <a:ln/>
        </p:spPr>
        <p:txBody>
          <a:bodyPr wrap="square" lIns="254" tIns="254" rIns="254" bIns="254" rtlCol="0" anchor="ctr"/>
          <a:lstStyle/>
          <a:p>
            <a:pPr algn="l" indent="0" marL="0">
              <a:buNone/>
            </a:pPr>
            <a:r>
              <a:rPr lang="en-US" sz="1100" b="1" dirty="0">
                <a:solidFill>
                  <a:srgbClr val="1B2B22"/>
                </a:solidFill>
              </a:rPr>
              <a:t>10.0.0.4/30</a:t>
            </a:r>
            <a:endParaRPr lang="en-US" sz="1100" dirty="0"/>
          </a:p>
        </p:txBody>
      </p:sp>
      <p:sp>
        <p:nvSpPr>
          <p:cNvPr id="26" name="Text 17"/>
          <p:cNvSpPr txBox="1"/>
          <p:nvPr/>
        </p:nvSpPr>
        <p:spPr>
          <a:xfrm>
            <a:off x="1417320" y="3246120"/>
            <a:ext cx="1188720" cy="237744"/>
          </a:xfrm>
          <a:prstGeom prst="rect">
            <a:avLst/>
          </a:prstGeom>
          <a:noFill/>
          <a:ln/>
        </p:spPr>
        <p:txBody>
          <a:bodyPr wrap="square" lIns="254" tIns="254" rIns="254" bIns="254" rtlCol="0" anchor="ctr"/>
          <a:lstStyle/>
          <a:p>
            <a:pPr algn="r" indent="0" marL="0">
              <a:buNone/>
            </a:pPr>
            <a:r>
              <a:rPr lang="en-US" sz="1100" b="1" dirty="0">
                <a:solidFill>
                  <a:srgbClr val="1B2B22"/>
                </a:solidFill>
              </a:rPr>
              <a:t>10.0.0.8/30</a:t>
            </a:r>
            <a:endParaRPr lang="en-US" sz="1100" dirty="0"/>
          </a:p>
        </p:txBody>
      </p:sp>
      <p:sp>
        <p:nvSpPr>
          <p:cNvPr id="27" name="Text 18"/>
          <p:cNvSpPr txBox="1"/>
          <p:nvPr/>
        </p:nvSpPr>
        <p:spPr>
          <a:xfrm>
            <a:off x="320040" y="4343400"/>
            <a:ext cx="1737360" cy="237744"/>
          </a:xfrm>
          <a:prstGeom prst="rect">
            <a:avLst/>
          </a:prstGeom>
          <a:noFill/>
          <a:ln/>
        </p:spPr>
        <p:txBody>
          <a:bodyPr wrap="square" lIns="254" tIns="254" rIns="254" bIns="254" rtlCol="0" anchor="ctr"/>
          <a:lstStyle/>
          <a:p>
            <a:pPr algn="ctr" indent="0" marL="0">
              <a:buNone/>
            </a:pPr>
            <a:r>
              <a:rPr lang="en-US" sz="1000" b="1" dirty="0">
                <a:solidFill>
                  <a:srgbClr val="2F855A"/>
                </a:solidFill>
              </a:rPr>
              <a:t>LAN 1  172.16.1.0/24</a:t>
            </a:r>
            <a:endParaRPr lang="en-US" sz="1000" dirty="0"/>
          </a:p>
        </p:txBody>
      </p:sp>
      <p:sp>
        <p:nvSpPr>
          <p:cNvPr id="28" name="Text 19"/>
          <p:cNvSpPr txBox="1"/>
          <p:nvPr/>
        </p:nvSpPr>
        <p:spPr>
          <a:xfrm>
            <a:off x="4846320" y="4343400"/>
            <a:ext cx="1645920" cy="237744"/>
          </a:xfrm>
          <a:prstGeom prst="rect">
            <a:avLst/>
          </a:prstGeom>
          <a:noFill/>
          <a:ln/>
        </p:spPr>
        <p:txBody>
          <a:bodyPr wrap="square" lIns="254" tIns="254" rIns="254" bIns="254" rtlCol="0" anchor="ctr"/>
          <a:lstStyle/>
          <a:p>
            <a:pPr algn="ctr" indent="0" marL="0">
              <a:buNone/>
            </a:pPr>
            <a:r>
              <a:rPr lang="en-US" sz="1000" b="1" dirty="0">
                <a:solidFill>
                  <a:srgbClr val="2F855A"/>
                </a:solidFill>
              </a:rPr>
              <a:t>LAN 2  172.16.2.0/24</a:t>
            </a:r>
            <a:endParaRPr lang="en-US" sz="1000" dirty="0"/>
          </a:p>
        </p:txBody>
      </p:sp>
      <p:sp>
        <p:nvSpPr>
          <p:cNvPr id="29" name="Text 20"/>
          <p:cNvSpPr txBox="1"/>
          <p:nvPr/>
        </p:nvSpPr>
        <p:spPr>
          <a:xfrm>
            <a:off x="1280160" y="5349240"/>
            <a:ext cx="1737360" cy="237744"/>
          </a:xfrm>
          <a:prstGeom prst="rect">
            <a:avLst/>
          </a:prstGeom>
          <a:noFill/>
          <a:ln/>
        </p:spPr>
        <p:txBody>
          <a:bodyPr wrap="square" lIns="254" tIns="254" rIns="254" bIns="254" rtlCol="0" anchor="ctr"/>
          <a:lstStyle/>
          <a:p>
            <a:pPr algn="r" indent="0" marL="0">
              <a:buNone/>
            </a:pPr>
            <a:r>
              <a:rPr lang="en-US" sz="1000" b="1" dirty="0">
                <a:solidFill>
                  <a:srgbClr val="2F855A"/>
                </a:solidFill>
              </a:rPr>
              <a:t>LAN 3  172.16.3.0/24</a:t>
            </a:r>
            <a:endParaRPr lang="en-US" sz="1000" dirty="0"/>
          </a:p>
        </p:txBody>
      </p:sp>
      <p:graphicFrame>
        <p:nvGraphicFramePr>
          <p:cNvPr id="51" name="lab3 table"/>
          <p:cNvGraphicFramePr>
            <a:graphicFrameLocks noGrp="1"/>
          </p:cNvGraphicFramePr>
          <p:nvPr>
            <p:extLst>
              <p:ext uri="{D42A27DB-BD31-4B8C-83A1-F6EECF244321}">
                <p14:modId xmlns:p14="http://schemas.microsoft.com/office/powerpoint/2010/main" val="1579011935"/>
              </p:ext>
            </p:extLst>
          </p:nvPr>
        </p:nvGraphicFramePr>
        <p:xfrm>
          <a:off x="6583680" y="1691640"/>
          <a:ext cx="5056632" cy="914400"/>
        </p:xfrm>
        <a:graphic>
          <a:graphicData uri="http://schemas.openxmlformats.org/drawingml/2006/table">
            <a:tbl>
              <a:tblPr/>
              <a:tblGrid>
                <a:gridCol w="640080"/>
                <a:gridCol w="1417320"/>
                <a:gridCol w="1499616"/>
                <a:gridCol w="1499616"/>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Router</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1E563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G0/0/0 (LAN)</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1E563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G0/0/1</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1E563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G0/0/2</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1E5631"/>
                    </a:solidFill>
                  </a:tcPr>
                </a:tc>
              </a:tr>
              <a:tr h="0">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R1</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172.16.1.1 /24</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10.0.0.1 /30 → R2</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10.0.0.9 /30 → R3</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r>
              <a:tr h="0">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R2</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172.16.2.1 /24</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10.0.0.2 /30 → R1</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10.0.0.5 /30 → R3</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R3</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172.16.3.1 /24</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10.0.0.6 /30 → R2</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10.0.0.10 /30 → R1</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r>
            </a:tbl>
          </a:graphicData>
        </a:graphic>
      </p:graphicFrame>
      <p:sp>
        <p:nvSpPr>
          <p:cNvPr id="31" name="Card"/>
          <p:cNvSpPr/>
          <p:nvPr/>
        </p:nvSpPr>
        <p:spPr>
          <a:xfrm>
            <a:off x="6583680" y="3611880"/>
            <a:ext cx="5056632" cy="2606040"/>
          </a:xfrm>
          <a:prstGeom prst="roundRect">
            <a:avLst>
              <a:gd name="adj" fmla="val 2807"/>
            </a:avLst>
          </a:prstGeom>
          <a:solidFill>
            <a:srgbClr val="F2F8F3"/>
          </a:solidFill>
          <a:ln w="12700">
            <a:solidFill>
              <a:srgbClr val="B7C9BA"/>
            </a:solidFill>
            <a:prstDash val="solid"/>
          </a:ln>
        </p:spPr>
      </p:sp>
      <p:sp>
        <p:nvSpPr>
          <p:cNvPr id="32" name="Text 22"/>
          <p:cNvSpPr txBox="1"/>
          <p:nvPr/>
        </p:nvSpPr>
        <p:spPr>
          <a:xfrm>
            <a:off x="6729984" y="3714293"/>
            <a:ext cx="4764024" cy="2401214"/>
          </a:xfrm>
          <a:prstGeom prst="rect">
            <a:avLst/>
          </a:prstGeom>
          <a:noFill/>
          <a:ln/>
        </p:spPr>
        <p:txBody>
          <a:bodyPr wrap="square" lIns="0" tIns="0" rIns="0" bIns="0" rtlCol="0" anchor="t"/>
          <a:lstStyle/>
          <a:p>
            <a:pPr indent="0" marL="0">
              <a:buNone/>
            </a:pPr>
            <a:r>
              <a:rPr lang="en-US" sz="1400" b="1" dirty="0">
                <a:solidFill>
                  <a:srgbClr val="1E5631"/>
                </a:solidFill>
              </a:rPr>
              <a:t>Order of work</a:t>
            </a:r>
            <a:endParaRPr lang="en-US" sz="1300" dirty="0"/>
          </a:p>
          <a:p>
            <a:pPr marL="228600" indent="-228600">
              <a:spcAft>
                <a:spcPts val="200"/>
              </a:spcAft>
              <a:buSzPct val="100000"/>
              <a:buFont typeface="+mj-lt"/>
              <a:buAutoNum type="arabicPeriod" startAt="1"/>
            </a:pPr>
            <a:r>
              <a:rPr lang="en-US" sz="1300" dirty="0">
                <a:solidFill>
                  <a:srgbClr val="2B2B2B"/>
                </a:solidFill>
              </a:rPr>
              <a:t>Router–router links: cross-over cables. Add a GLC-T module to each G0/0/2.</a:t>
            </a:r>
            <a:endParaRPr lang="en-US" sz="1300" dirty="0"/>
          </a:p>
          <a:p>
            <a:pPr marL="228600" indent="-228600">
              <a:spcAft>
                <a:spcPts val="200"/>
              </a:spcAft>
              <a:buSzPct val="100000"/>
              <a:buFont typeface="+mj-lt"/>
              <a:buAutoNum type="arabicPeriod" startAt="1"/>
            </a:pPr>
            <a:r>
              <a:rPr lang="en-US" sz="1300" dirty="0">
                <a:solidFill>
                  <a:srgbClr val="2B2B2B"/>
                </a:solidFill>
              </a:rPr>
              <a:t>Address every interface and </a:t>
            </a:r>
            <a:r>
              <a:rPr lang="en-US" sz="1200" b="1" dirty="0">
                <a:solidFill>
                  <a:srgbClr val="1E5631"/>
                </a:solidFill>
                <a:latin typeface="Courier New" pitchFamily="34" charset="0"/>
                <a:ea typeface="Courier New" pitchFamily="34" charset="-122"/>
                <a:cs typeface="Courier New" pitchFamily="34" charset="-120"/>
              </a:rPr>
              <a:t>no shutdown</a:t>
            </a:r>
            <a:r>
              <a:rPr lang="en-US" sz="1300" dirty="0">
                <a:solidFill>
                  <a:srgbClr val="2B2B2B"/>
                </a:solidFill>
              </a:rPr>
              <a:t>; PCs use their router’s .1 as gateway.</a:t>
            </a:r>
            <a:endParaRPr lang="en-US" sz="1300" dirty="0"/>
          </a:p>
          <a:p>
            <a:pPr marL="228600" indent="-228600">
              <a:spcAft>
                <a:spcPts val="200"/>
              </a:spcAft>
              <a:buSzPct val="100000"/>
              <a:buFont typeface="+mj-lt"/>
              <a:buAutoNum type="arabicPeriod" startAt="1"/>
            </a:pPr>
            <a:r>
              <a:rPr lang="en-US" sz="1300" dirty="0">
                <a:solidFill>
                  <a:srgbClr val="2B2B2B"/>
                </a:solidFill>
              </a:rPr>
              <a:t>Ping each neighbour across every /30 link before any routing.</a:t>
            </a:r>
            <a:endParaRPr lang="en-US" sz="1300" dirty="0"/>
          </a:p>
          <a:p>
            <a:pPr marL="228600" indent="-228600">
              <a:spcAft>
                <a:spcPts val="200"/>
              </a:spcAft>
              <a:buSzPct val="100000"/>
              <a:buFont typeface="+mj-lt"/>
              <a:buAutoNum type="arabicPeriod" startAt="1"/>
            </a:pPr>
            <a:r>
              <a:rPr lang="en-US" sz="1300" dirty="0">
                <a:solidFill>
                  <a:srgbClr val="2B2B2B"/>
                </a:solidFill>
              </a:rPr>
              <a:t>Then: static → OSPF → RIP → EIGRP. Remove each before the next, e.g. </a:t>
            </a:r>
            <a:r>
              <a:rPr lang="en-US" sz="1200" b="1" dirty="0">
                <a:solidFill>
                  <a:srgbClr val="1E5631"/>
                </a:solidFill>
                <a:latin typeface="Courier New" pitchFamily="34" charset="0"/>
                <a:ea typeface="Courier New" pitchFamily="34" charset="-122"/>
                <a:cs typeface="Courier New" pitchFamily="34" charset="-120"/>
              </a:rPr>
              <a:t>no router ospf 10</a:t>
            </a:r>
            <a:r>
              <a:rPr lang="en-US" sz="1300" dirty="0">
                <a:solidFill>
                  <a:srgbClr val="2B2B2B"/>
                </a:solidFill>
              </a:rPr>
              <a:t>.</a:t>
            </a:r>
            <a:endParaRPr lang="en-US" sz="1300" dirty="0"/>
          </a:p>
        </p:txBody>
      </p:sp>
      <p:sp>
        <p:nvSpPr>
          <p:cNvPr id="52" name="Slide Number Placeholder 0"/>
          <p:cNvSpPr>
            <a:spLocks noGrp="1"/>
          </p:cNvSpPr>
          <p:nvPr>
            <p:ph type="sldNum" sz="quarter" idx="4294967295"/>
          </p:nvPr>
        </p:nvSpPr>
        <p:spPr>
          <a:xfrm>
            <a:off x="10698480" y="6464808"/>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1"/>
          <p:cNvSpPr/>
          <p:nvPr>
            <p:ph idx="102" type="body" hasCustomPrompt="1"/>
          </p:nvPr>
        </p:nvSpPr>
        <p:spPr>
          <a:xfrm>
            <a:off x="548640" y="274320"/>
            <a:ext cx="9966960" cy="256032"/>
          </a:xfrm>
          <a:prstGeom prst="rect">
            <a:avLst/>
          </a:prstGeom>
          <a:noFill/>
          <a:ln/>
        </p:spPr>
        <p:txBody>
          <a:bodyPr wrap="square" lIns="0" tIns="0" rIns="0" bIns="0" rtlCol="0" anchor="ctr"/>
          <a:lstStyle/>
          <a:p>
            <a:pPr algn="l" indent="0" marL="0">
              <a:buNone/>
            </a:pPr>
            <a:r>
              <a:rPr lang="en-US" sz="1100" b="1" spc="100" kern="0" dirty="0">
                <a:solidFill>
                  <a:schemeClr val="accent2"/>
                </a:solidFill>
              </a:rPr>
              <a:t>07  •  ROUTING  •  LAB 3</a:t>
            </a:r>
            <a:endParaRPr lang="en-US" sz="1100" dirty="0"/>
          </a:p>
        </p:txBody>
      </p:sp>
      <p:sp>
        <p:nvSpPr>
          <p:cNvPr id="3" name="Text 1"/>
          <p:cNvSpPr/>
          <p:nvPr>
            <p:ph idx="103" type="title" hasCustomPrompt="1"/>
          </p:nvPr>
        </p:nvSpPr>
        <p:spPr>
          <a:xfrm>
            <a:off x="548640" y="548640"/>
            <a:ext cx="10149840" cy="548640"/>
          </a:xfrm>
          <a:prstGeom prst="rect">
            <a:avLst/>
          </a:prstGeom>
          <a:noFill/>
          <a:ln/>
        </p:spPr>
        <p:txBody>
          <a:bodyPr wrap="square" lIns="0" tIns="0" rIns="0" bIns="0" rtlCol="0" anchor="ctr"/>
          <a:lstStyle/>
          <a:p>
            <a:pPr algn="l" indent="0" marL="0">
              <a:buNone/>
            </a:pPr>
            <a:r>
              <a:rPr lang="en-US" sz="2600" b="1" dirty="0">
                <a:solidFill>
                  <a:schemeClr val="accent1"/>
                </a:solidFill>
              </a:rPr>
              <a:t>How to read a routing table</a:t>
            </a:r>
            <a:endParaRPr lang="en-US" sz="2600" dirty="0"/>
          </a:p>
        </p:txBody>
      </p:sp>
      <p:pic>
        <p:nvPicPr>
          <p:cNvPr id="4" name="Home button" descr="Home: back to the workbook menu">
            <a:hlinkClick r:id="rId2" tooltip="Back to the workbook menu" action="ppaction://hlinksldjump"/>
          </p:cNvPr>
          <p:cNvPicPr>
            <a:picLocks noChangeAspect="1"/>
          </p:cNvPicPr>
          <p:nvPr/>
        </p:nvPicPr>
        <p:blipFill>
          <a:blip r:embed="rId1"/>
          <a:stretch>
            <a:fillRect/>
          </a:stretch>
        </p:blipFill>
        <p:spPr>
          <a:xfrm>
            <a:off x="11365992" y="6336792"/>
            <a:ext cx="365760" cy="365760"/>
          </a:xfrm>
          <a:prstGeom prst="rect">
            <a:avLst/>
          </a:prstGeom>
        </p:spPr>
      </p:pic>
      <p:sp>
        <p:nvSpPr>
          <p:cNvPr id="5" name="Goal"/>
          <p:cNvSpPr txBox="1"/>
          <p:nvPr/>
        </p:nvSpPr>
        <p:spPr>
          <a:xfrm>
            <a:off x="548640" y="1161288"/>
            <a:ext cx="11094415" cy="384048"/>
          </a:xfrm>
          <a:prstGeom prst="rect">
            <a:avLst/>
          </a:prstGeom>
          <a:noFill/>
          <a:ln/>
        </p:spPr>
        <p:txBody>
          <a:bodyPr wrap="square" lIns="0" tIns="0" rIns="0" bIns="0" rtlCol="0" anchor="ctr"/>
          <a:lstStyle/>
          <a:p>
            <a:pPr indent="0" marL="0">
              <a:buNone/>
            </a:pPr>
            <a:r>
              <a:rPr lang="en-US" sz="1400" b="1" dirty="0">
                <a:solidFill>
                  <a:srgbClr val="2B7043"/>
                </a:solidFill>
              </a:rPr>
              <a:t>Goal:  </a:t>
            </a:r>
            <a:r>
              <a:rPr lang="en-US" sz="1400" b="1" dirty="0">
                <a:solidFill>
                  <a:srgbClr val="1E5631"/>
                </a:solidFill>
                <a:latin typeface="Courier New" pitchFamily="34" charset="0"/>
                <a:ea typeface="Courier New" pitchFamily="34" charset="-122"/>
                <a:cs typeface="Courier New" pitchFamily="34" charset="-120"/>
              </a:rPr>
              <a:t>show ip route</a:t>
            </a:r>
            <a:r>
              <a:rPr lang="en-US" sz="1400" dirty="0">
                <a:solidFill>
                  <a:srgbClr val="2B2B2B"/>
                </a:solidFill>
              </a:rPr>
              <a:t> is the router’s map. Each line tells you how a network was learned and which way to send packets.</a:t>
            </a:r>
            <a:endParaRPr lang="en-US" sz="1400" dirty="0"/>
          </a:p>
        </p:txBody>
      </p:sp>
      <p:sp>
        <p:nvSpPr>
          <p:cNvPr id="6" name="Terminal window"/>
          <p:cNvSpPr/>
          <p:nvPr/>
        </p:nvSpPr>
        <p:spPr>
          <a:xfrm>
            <a:off x="548640" y="1664208"/>
            <a:ext cx="6903720" cy="3611880"/>
          </a:xfrm>
          <a:prstGeom prst="roundRect">
            <a:avLst>
              <a:gd name="adj" fmla="val 2025"/>
            </a:avLst>
          </a:prstGeom>
          <a:solidFill>
            <a:srgbClr val="1B2B22"/>
          </a:solidFill>
          <a:ln w="6350">
            <a:solidFill>
              <a:srgbClr val="1B2B22"/>
            </a:solidFill>
            <a:prstDash val="solid"/>
          </a:ln>
        </p:spPr>
      </p:sp>
      <p:sp>
        <p:nvSpPr>
          <p:cNvPr id="7" name="Shape 4"/>
          <p:cNvSpPr/>
          <p:nvPr/>
        </p:nvSpPr>
        <p:spPr>
          <a:xfrm>
            <a:off x="713232" y="1783080"/>
            <a:ext cx="109728" cy="109728"/>
          </a:xfrm>
          <a:prstGeom prst="ellipse">
            <a:avLst/>
          </a:prstGeom>
          <a:solidFill>
            <a:srgbClr val="E0605A"/>
          </a:solidFill>
          <a:ln/>
        </p:spPr>
      </p:sp>
      <p:sp>
        <p:nvSpPr>
          <p:cNvPr id="8" name="Shape 5"/>
          <p:cNvSpPr/>
          <p:nvPr/>
        </p:nvSpPr>
        <p:spPr>
          <a:xfrm>
            <a:off x="896112" y="1783080"/>
            <a:ext cx="109728" cy="109728"/>
          </a:xfrm>
          <a:prstGeom prst="ellipse">
            <a:avLst/>
          </a:prstGeom>
          <a:solidFill>
            <a:srgbClr val="E8B92E"/>
          </a:solidFill>
          <a:ln/>
        </p:spPr>
      </p:sp>
      <p:sp>
        <p:nvSpPr>
          <p:cNvPr id="9" name="Shape 6"/>
          <p:cNvSpPr/>
          <p:nvPr/>
        </p:nvSpPr>
        <p:spPr>
          <a:xfrm>
            <a:off x="1078992" y="1783080"/>
            <a:ext cx="109728" cy="109728"/>
          </a:xfrm>
          <a:prstGeom prst="ellipse">
            <a:avLst/>
          </a:prstGeom>
          <a:solidFill>
            <a:srgbClr val="4CAF50"/>
          </a:solidFill>
          <a:ln/>
        </p:spPr>
      </p:sp>
      <p:sp>
        <p:nvSpPr>
          <p:cNvPr id="10" name="Text 7"/>
          <p:cNvSpPr txBox="1"/>
          <p:nvPr/>
        </p:nvSpPr>
        <p:spPr>
          <a:xfrm>
            <a:off x="1325880" y="1709928"/>
            <a:ext cx="5989320" cy="256032"/>
          </a:xfrm>
          <a:prstGeom prst="rect">
            <a:avLst/>
          </a:prstGeom>
          <a:noFill/>
          <a:ln/>
        </p:spPr>
        <p:txBody>
          <a:bodyPr wrap="square" lIns="0" tIns="0" rIns="0" bIns="0" rtlCol="0" anchor="ctr"/>
          <a:lstStyle/>
          <a:p>
            <a:pPr indent="0" marL="0">
              <a:buNone/>
            </a:pPr>
            <a:r>
              <a:rPr lang="en-US" sz="1100" b="1" dirty="0">
                <a:solidFill>
                  <a:srgbClr val="C9D6CC"/>
                </a:solidFill>
              </a:rPr>
              <a:t>R1  ›  CLI  (shortened — OSPF running)</a:t>
            </a:r>
            <a:endParaRPr lang="en-US" sz="1100" dirty="0"/>
          </a:p>
        </p:txBody>
      </p:sp>
      <p:sp>
        <p:nvSpPr>
          <p:cNvPr id="11" name="Terminal text"/>
          <p:cNvSpPr txBox="1"/>
          <p:nvPr/>
        </p:nvSpPr>
        <p:spPr>
          <a:xfrm>
            <a:off x="731520" y="2048256"/>
            <a:ext cx="6583680" cy="3136392"/>
          </a:xfrm>
          <a:prstGeom prst="rect">
            <a:avLst/>
          </a:prstGeom>
          <a:noFill/>
          <a:ln/>
        </p:spPr>
        <p:txBody>
          <a:bodyPr wrap="square" lIns="0" tIns="0" rIns="0" bIns="0" rtlCol="0" anchor="t"/>
          <a:lstStyle/>
          <a:p>
            <a:pPr indent="0" marL="0">
              <a:lnSpc>
                <a:spcPct val="100000"/>
              </a:lnSpc>
              <a:buNone/>
            </a:pPr>
            <a:r>
              <a:rPr lang="en-US" sz="1100" dirty="0">
                <a:solidFill>
                  <a:srgbClr val="8FC9A0"/>
                </a:solidFill>
                <a:latin typeface="Courier New" pitchFamily="34" charset="0"/>
                <a:ea typeface="Courier New" pitchFamily="34" charset="-122"/>
                <a:cs typeface="Courier New" pitchFamily="34" charset="-120"/>
              </a:rPr>
              <a:t>R1# </a:t>
            </a:r>
            <a:r>
              <a:rPr lang="en-US" sz="1100" b="1" dirty="0">
                <a:solidFill>
                  <a:srgbClr val="FFFFFF"/>
                </a:solidFill>
                <a:latin typeface="Courier New" pitchFamily="34" charset="0"/>
                <a:ea typeface="Courier New" pitchFamily="34" charset="-122"/>
                <a:cs typeface="Courier New" pitchFamily="34" charset="-120"/>
              </a:rPr>
              <a:t>show ip route</a:t>
            </a:r>
            <a:endParaRPr lang="en-US" sz="1100" dirty="0"/>
          </a:p>
          <a:p>
            <a:pPr indent="0" marL="0">
              <a:lnSpc>
                <a:spcPct val="100000"/>
              </a:lnSpc>
              <a:buNone/>
            </a:pPr>
            <a:r>
              <a:rPr lang="en-US" sz="1100" dirty="0">
                <a:solidFill>
                  <a:srgbClr val="D5E2D8"/>
                </a:solidFill>
                <a:latin typeface="Courier New" pitchFamily="34" charset="0"/>
                <a:ea typeface="Courier New" pitchFamily="34" charset="-122"/>
                <a:cs typeface="Courier New" pitchFamily="34" charset="-120"/>
              </a:rPr>
              <a:t>Codes: L - local, C - connected, S - static, R - RIP,</a:t>
            </a:r>
            <a:endParaRPr lang="en-US" sz="1100" dirty="0"/>
          </a:p>
          <a:p>
            <a:pPr indent="0" marL="0">
              <a:lnSpc>
                <a:spcPct val="100000"/>
              </a:lnSpc>
              <a:buNone/>
            </a:pPr>
            <a:r>
              <a:rPr lang="en-US" sz="1100" dirty="0">
                <a:solidFill>
                  <a:srgbClr val="D5E2D8"/>
                </a:solidFill>
                <a:latin typeface="Courier New" pitchFamily="34" charset="0"/>
                <a:ea typeface="Courier New" pitchFamily="34" charset="-122"/>
                <a:cs typeface="Courier New" pitchFamily="34" charset="-120"/>
              </a:rPr>
              <a:t>       O - OSPF, D - EIGRP, * - candidate default</a:t>
            </a:r>
            <a:endParaRPr lang="en-US" sz="1100" dirty="0"/>
          </a:p>
          <a:p>
            <a:pPr indent="0" marL="0">
              <a:lnSpc>
                <a:spcPct val="100000"/>
              </a:lnSpc>
              <a:buNone/>
            </a:pPr>
            <a:r>
              <a:rPr lang="en-US" sz="1100" dirty="0">
                <a:solidFill>
                  <a:srgbClr val="D5E2D8"/>
                </a:solidFill>
                <a:latin typeface="Courier New" pitchFamily="34" charset="0"/>
                <a:ea typeface="Courier New" pitchFamily="34" charset="-122"/>
                <a:cs typeface="Courier New" pitchFamily="34" charset="-120"/>
              </a:rPr>
              <a:t>Gateway of last resort is </a:t>
            </a:r>
            <a:r>
              <a:rPr lang="en-US" sz="1100" b="1" dirty="0">
                <a:solidFill>
                  <a:srgbClr val="E8B92E"/>
                </a:solidFill>
                <a:latin typeface="Courier New" pitchFamily="34" charset="0"/>
                <a:ea typeface="Courier New" pitchFamily="34" charset="-122"/>
                <a:cs typeface="Courier New" pitchFamily="34" charset="-120"/>
              </a:rPr>
              <a:t>not set</a:t>
            </a:r>
            <a:endParaRPr lang="en-US" sz="1100" dirty="0"/>
          </a:p>
          <a:p>
            <a:pPr indent="0" marL="0">
              <a:lnSpc>
                <a:spcPct val="100000"/>
              </a:lnSpc>
              <a:buNone/>
            </a:pPr>
            <a:r>
              <a:rPr lang="en-US" sz="1100" dirty="0">
                <a:solidFill>
                  <a:srgbClr val="D5E2D8"/>
                </a:solidFill>
                <a:latin typeface="Courier New" pitchFamily="34" charset="0"/>
                <a:ea typeface="Courier New" pitchFamily="34" charset="-122"/>
                <a:cs typeface="Courier New" pitchFamily="34" charset="-120"/>
              </a:rPr>
              <a:t> </a:t>
            </a:r>
            <a:endParaRPr lang="en-US" sz="1100" dirty="0"/>
          </a:p>
          <a:p>
            <a:pPr indent="0" marL="0">
              <a:lnSpc>
                <a:spcPct val="100000"/>
              </a:lnSpc>
              <a:buNone/>
            </a:pPr>
            <a:r>
              <a:rPr lang="en-US" sz="1100" dirty="0">
                <a:solidFill>
                  <a:srgbClr val="D5E2D8"/>
                </a:solidFill>
                <a:latin typeface="Courier New" pitchFamily="34" charset="0"/>
                <a:ea typeface="Courier New" pitchFamily="34" charset="-122"/>
                <a:cs typeface="Courier New" pitchFamily="34" charset="-120"/>
              </a:rPr>
              <a:t>C    10.0.0.0/30 is directly connected, GigabitEthernet0/0/1</a:t>
            </a:r>
            <a:endParaRPr lang="en-US" sz="1100" dirty="0"/>
          </a:p>
          <a:p>
            <a:pPr indent="0" marL="0">
              <a:lnSpc>
                <a:spcPct val="100000"/>
              </a:lnSpc>
              <a:buNone/>
            </a:pPr>
            <a:r>
              <a:rPr lang="en-US" sz="1100" dirty="0">
                <a:solidFill>
                  <a:srgbClr val="D5E2D8"/>
                </a:solidFill>
                <a:latin typeface="Courier New" pitchFamily="34" charset="0"/>
                <a:ea typeface="Courier New" pitchFamily="34" charset="-122"/>
                <a:cs typeface="Courier New" pitchFamily="34" charset="-120"/>
              </a:rPr>
              <a:t>L    10.0.0.1/32 is directly connected, GigabitEthernet0/0/1</a:t>
            </a:r>
            <a:endParaRPr lang="en-US" sz="1100" dirty="0"/>
          </a:p>
          <a:p>
            <a:pPr indent="0" marL="0">
              <a:lnSpc>
                <a:spcPct val="100000"/>
              </a:lnSpc>
              <a:buNone/>
            </a:pPr>
            <a:r>
              <a:rPr lang="en-US" sz="1100" dirty="0">
                <a:solidFill>
                  <a:srgbClr val="D5E2D8"/>
                </a:solidFill>
                <a:latin typeface="Courier New" pitchFamily="34" charset="0"/>
                <a:ea typeface="Courier New" pitchFamily="34" charset="-122"/>
                <a:cs typeface="Courier New" pitchFamily="34" charset="-120"/>
              </a:rPr>
              <a:t>C    172.16.1.0/24 is directly connected, GigabitEthernet0/0/0</a:t>
            </a:r>
            <a:endParaRPr lang="en-US" sz="1100" dirty="0"/>
          </a:p>
          <a:p>
            <a:pPr indent="0" marL="0">
              <a:lnSpc>
                <a:spcPct val="100000"/>
              </a:lnSpc>
              <a:buNone/>
            </a:pPr>
            <a:r>
              <a:rPr lang="en-US" sz="1100" dirty="0">
                <a:solidFill>
                  <a:srgbClr val="D5E2D8"/>
                </a:solidFill>
                <a:latin typeface="Courier New" pitchFamily="34" charset="0"/>
                <a:ea typeface="Courier New" pitchFamily="34" charset="-122"/>
                <a:cs typeface="Courier New" pitchFamily="34" charset="-120"/>
              </a:rPr>
              <a:t>L    172.16.1.1/32 is directly connected, GigabitEthernet0/0/0</a:t>
            </a:r>
            <a:endParaRPr lang="en-US" sz="1100" dirty="0"/>
          </a:p>
          <a:p>
            <a:pPr indent="0" marL="0">
              <a:lnSpc>
                <a:spcPct val="100000"/>
              </a:lnSpc>
              <a:buNone/>
            </a:pPr>
            <a:r>
              <a:rPr lang="en-US" sz="1100" b="1" dirty="0">
                <a:solidFill>
                  <a:srgbClr val="E8B92E"/>
                </a:solidFill>
                <a:latin typeface="Courier New" pitchFamily="34" charset="0"/>
                <a:ea typeface="Courier New" pitchFamily="34" charset="-122"/>
                <a:cs typeface="Courier New" pitchFamily="34" charset="-120"/>
              </a:rPr>
              <a:t>O</a:t>
            </a:r>
            <a:r>
              <a:rPr lang="en-US" sz="1100" dirty="0">
                <a:solidFill>
                  <a:srgbClr val="D5E2D8"/>
                </a:solidFill>
                <a:latin typeface="Courier New" pitchFamily="34" charset="0"/>
                <a:ea typeface="Courier New" pitchFamily="34" charset="-122"/>
                <a:cs typeface="Courier New" pitchFamily="34" charset="-120"/>
              </a:rPr>
              <a:t>    172.16.2.0/24 </a:t>
            </a:r>
            <a:r>
              <a:rPr lang="en-US" sz="1100" b="1" dirty="0">
                <a:solidFill>
                  <a:srgbClr val="E8B92E"/>
                </a:solidFill>
                <a:latin typeface="Courier New" pitchFamily="34" charset="0"/>
                <a:ea typeface="Courier New" pitchFamily="34" charset="-122"/>
                <a:cs typeface="Courier New" pitchFamily="34" charset="-120"/>
              </a:rPr>
              <a:t>[110/2]</a:t>
            </a:r>
            <a:r>
              <a:rPr lang="en-US" sz="1100" dirty="0">
                <a:solidFill>
                  <a:srgbClr val="D5E2D8"/>
                </a:solidFill>
                <a:latin typeface="Courier New" pitchFamily="34" charset="0"/>
                <a:ea typeface="Courier New" pitchFamily="34" charset="-122"/>
                <a:cs typeface="Courier New" pitchFamily="34" charset="-120"/>
              </a:rPr>
              <a:t> via </a:t>
            </a:r>
            <a:r>
              <a:rPr lang="en-US" sz="1100" b="1" dirty="0">
                <a:solidFill>
                  <a:srgbClr val="E8B92E"/>
                </a:solidFill>
                <a:latin typeface="Courier New" pitchFamily="34" charset="0"/>
                <a:ea typeface="Courier New" pitchFamily="34" charset="-122"/>
                <a:cs typeface="Courier New" pitchFamily="34" charset="-120"/>
              </a:rPr>
              <a:t>10.0.0.2</a:t>
            </a:r>
            <a:r>
              <a:rPr lang="en-US" sz="1100" dirty="0">
                <a:solidFill>
                  <a:srgbClr val="D5E2D8"/>
                </a:solidFill>
                <a:latin typeface="Courier New" pitchFamily="34" charset="0"/>
                <a:ea typeface="Courier New" pitchFamily="34" charset="-122"/>
                <a:cs typeface="Courier New" pitchFamily="34" charset="-120"/>
              </a:rPr>
              <a:t>, 00:01:12, </a:t>
            </a:r>
            <a:r>
              <a:rPr lang="en-US" sz="1100" b="1" dirty="0">
                <a:solidFill>
                  <a:srgbClr val="E8B92E"/>
                </a:solidFill>
                <a:latin typeface="Courier New" pitchFamily="34" charset="0"/>
                <a:ea typeface="Courier New" pitchFamily="34" charset="-122"/>
                <a:cs typeface="Courier New" pitchFamily="34" charset="-120"/>
              </a:rPr>
              <a:t>GigabitEthernet0/0/1</a:t>
            </a:r>
            <a:endParaRPr lang="en-US" sz="1100" dirty="0"/>
          </a:p>
          <a:p>
            <a:pPr indent="0" marL="0">
              <a:lnSpc>
                <a:spcPct val="100000"/>
              </a:lnSpc>
              <a:buNone/>
            </a:pPr>
            <a:r>
              <a:rPr lang="en-US" sz="1100" dirty="0">
                <a:solidFill>
                  <a:srgbClr val="D5E2D8"/>
                </a:solidFill>
                <a:latin typeface="Courier New" pitchFamily="34" charset="0"/>
                <a:ea typeface="Courier New" pitchFamily="34" charset="-122"/>
                <a:cs typeface="Courier New" pitchFamily="34" charset="-120"/>
              </a:rPr>
              <a:t>O    172.16.3.0/24 [110/2] via 10.0.0.10, 00:01:12, GigabitEthernet0/0/2</a:t>
            </a:r>
            <a:endParaRPr lang="en-US" sz="1100" dirty="0"/>
          </a:p>
        </p:txBody>
      </p:sp>
      <p:sp>
        <p:nvSpPr>
          <p:cNvPr id="12" name="Card"/>
          <p:cNvSpPr/>
          <p:nvPr/>
        </p:nvSpPr>
        <p:spPr>
          <a:xfrm>
            <a:off x="7680960" y="1664208"/>
            <a:ext cx="3959352" cy="850392"/>
          </a:xfrm>
          <a:prstGeom prst="roundRect">
            <a:avLst>
              <a:gd name="adj" fmla="val 8602"/>
            </a:avLst>
          </a:prstGeom>
          <a:solidFill>
            <a:srgbClr val="F2F8F3"/>
          </a:solidFill>
          <a:ln w="12700">
            <a:solidFill>
              <a:srgbClr val="B7C9BA"/>
            </a:solidFill>
            <a:prstDash val="solid"/>
          </a:ln>
        </p:spPr>
      </p:sp>
      <p:sp>
        <p:nvSpPr>
          <p:cNvPr id="13" name="Text 10"/>
          <p:cNvSpPr txBox="1"/>
          <p:nvPr/>
        </p:nvSpPr>
        <p:spPr>
          <a:xfrm>
            <a:off x="7790688" y="1741018"/>
            <a:ext cx="3739896" cy="696773"/>
          </a:xfrm>
          <a:prstGeom prst="rect">
            <a:avLst/>
          </a:prstGeom>
          <a:noFill/>
          <a:ln/>
        </p:spPr>
        <p:txBody>
          <a:bodyPr wrap="square" lIns="0" tIns="0" rIns="0" bIns="0" rtlCol="0" anchor="t"/>
          <a:lstStyle/>
          <a:p>
            <a:pPr indent="0" marL="0">
              <a:buNone/>
            </a:pPr>
            <a:r>
              <a:rPr lang="en-US" sz="1300" b="1" dirty="0">
                <a:solidFill>
                  <a:srgbClr val="1E5631"/>
                </a:solidFill>
              </a:rPr>
              <a:t>Code letter</a:t>
            </a:r>
            <a:endParaRPr lang="en-US" sz="1200" dirty="0"/>
          </a:p>
          <a:p>
            <a:pPr indent="0" marL="0">
              <a:buNone/>
            </a:pPr>
            <a:r>
              <a:rPr lang="en-US" sz="1200" dirty="0">
                <a:solidFill>
                  <a:srgbClr val="2B2B2B"/>
                </a:solidFill>
              </a:rPr>
              <a:t>How the route was learned: C connected, L the router’s own address, S static, O OSPF, R RIP, D EIGRP, S* default.</a:t>
            </a:r>
            <a:endParaRPr lang="en-US" sz="1200" dirty="0"/>
          </a:p>
        </p:txBody>
      </p:sp>
      <p:sp>
        <p:nvSpPr>
          <p:cNvPr id="14" name="Card"/>
          <p:cNvSpPr/>
          <p:nvPr/>
        </p:nvSpPr>
        <p:spPr>
          <a:xfrm>
            <a:off x="7680960" y="2578608"/>
            <a:ext cx="3959352" cy="850392"/>
          </a:xfrm>
          <a:prstGeom prst="roundRect">
            <a:avLst>
              <a:gd name="adj" fmla="val 8602"/>
            </a:avLst>
          </a:prstGeom>
          <a:solidFill>
            <a:srgbClr val="F2F8F3"/>
          </a:solidFill>
          <a:ln w="12700">
            <a:solidFill>
              <a:srgbClr val="B7C9BA"/>
            </a:solidFill>
            <a:prstDash val="solid"/>
          </a:ln>
        </p:spPr>
      </p:sp>
      <p:sp>
        <p:nvSpPr>
          <p:cNvPr id="15" name="Text 12"/>
          <p:cNvSpPr txBox="1"/>
          <p:nvPr/>
        </p:nvSpPr>
        <p:spPr>
          <a:xfrm>
            <a:off x="7790688" y="2655418"/>
            <a:ext cx="3739896" cy="696773"/>
          </a:xfrm>
          <a:prstGeom prst="rect">
            <a:avLst/>
          </a:prstGeom>
          <a:noFill/>
          <a:ln/>
        </p:spPr>
        <p:txBody>
          <a:bodyPr wrap="square" lIns="0" tIns="0" rIns="0" bIns="0" rtlCol="0" anchor="t"/>
          <a:lstStyle/>
          <a:p>
            <a:pPr indent="0" marL="0">
              <a:buNone/>
            </a:pPr>
            <a:r>
              <a:rPr lang="en-US" sz="1300" b="1" dirty="0">
                <a:solidFill>
                  <a:srgbClr val="1E5631"/>
                </a:solidFill>
              </a:rPr>
              <a:t>[110/2]</a:t>
            </a:r>
            <a:endParaRPr lang="en-US" sz="1200" dirty="0"/>
          </a:p>
          <a:p>
            <a:pPr indent="0" marL="0">
              <a:buNone/>
            </a:pPr>
            <a:r>
              <a:rPr lang="en-US" sz="1200" dirty="0">
                <a:solidFill>
                  <a:srgbClr val="2B2B2B"/>
                </a:solidFill>
              </a:rPr>
              <a:t>[administrative distance / metric]. Lower distance = more trusted source; lower metric = better path.</a:t>
            </a:r>
            <a:endParaRPr lang="en-US" sz="1200" dirty="0"/>
          </a:p>
        </p:txBody>
      </p:sp>
      <p:sp>
        <p:nvSpPr>
          <p:cNvPr id="16" name="Card"/>
          <p:cNvSpPr/>
          <p:nvPr/>
        </p:nvSpPr>
        <p:spPr>
          <a:xfrm>
            <a:off x="7680960" y="3493008"/>
            <a:ext cx="3959352" cy="850392"/>
          </a:xfrm>
          <a:prstGeom prst="roundRect">
            <a:avLst>
              <a:gd name="adj" fmla="val 8602"/>
            </a:avLst>
          </a:prstGeom>
          <a:solidFill>
            <a:srgbClr val="F2F8F3"/>
          </a:solidFill>
          <a:ln w="12700">
            <a:solidFill>
              <a:srgbClr val="B7C9BA"/>
            </a:solidFill>
            <a:prstDash val="solid"/>
          </a:ln>
        </p:spPr>
      </p:sp>
      <p:sp>
        <p:nvSpPr>
          <p:cNvPr id="17" name="Text 14"/>
          <p:cNvSpPr txBox="1"/>
          <p:nvPr/>
        </p:nvSpPr>
        <p:spPr>
          <a:xfrm>
            <a:off x="7790688" y="3569818"/>
            <a:ext cx="3739896" cy="696773"/>
          </a:xfrm>
          <a:prstGeom prst="rect">
            <a:avLst/>
          </a:prstGeom>
          <a:noFill/>
          <a:ln/>
        </p:spPr>
        <p:txBody>
          <a:bodyPr wrap="square" lIns="0" tIns="0" rIns="0" bIns="0" rtlCol="0" anchor="t"/>
          <a:lstStyle/>
          <a:p>
            <a:pPr indent="0" marL="0">
              <a:buNone/>
            </a:pPr>
            <a:r>
              <a:rPr lang="en-US" sz="1300" b="1" dirty="0">
                <a:solidFill>
                  <a:srgbClr val="1E5631"/>
                </a:solidFill>
              </a:rPr>
              <a:t>via 10.0.0.2  •  G0/0/1</a:t>
            </a:r>
            <a:endParaRPr lang="en-US" sz="1200" dirty="0"/>
          </a:p>
          <a:p>
            <a:pPr indent="0" marL="0">
              <a:buNone/>
            </a:pPr>
            <a:r>
              <a:rPr lang="en-US" sz="1200" dirty="0">
                <a:solidFill>
                  <a:srgbClr val="2B2B2B"/>
                </a:solidFill>
              </a:rPr>
              <a:t>The next-hop router, and the port the packet leaves by.</a:t>
            </a:r>
            <a:endParaRPr lang="en-US" sz="1200" dirty="0"/>
          </a:p>
        </p:txBody>
      </p:sp>
      <p:sp>
        <p:nvSpPr>
          <p:cNvPr id="18" name="Card"/>
          <p:cNvSpPr/>
          <p:nvPr/>
        </p:nvSpPr>
        <p:spPr>
          <a:xfrm>
            <a:off x="7680960" y="4407408"/>
            <a:ext cx="3959352" cy="850392"/>
          </a:xfrm>
          <a:prstGeom prst="roundRect">
            <a:avLst>
              <a:gd name="adj" fmla="val 8602"/>
            </a:avLst>
          </a:prstGeom>
          <a:solidFill>
            <a:srgbClr val="F2F8F3"/>
          </a:solidFill>
          <a:ln w="12700">
            <a:solidFill>
              <a:srgbClr val="B7C9BA"/>
            </a:solidFill>
            <a:prstDash val="solid"/>
          </a:ln>
        </p:spPr>
      </p:sp>
      <p:sp>
        <p:nvSpPr>
          <p:cNvPr id="19" name="Text 16"/>
          <p:cNvSpPr txBox="1"/>
          <p:nvPr/>
        </p:nvSpPr>
        <p:spPr>
          <a:xfrm>
            <a:off x="7790688" y="4484218"/>
            <a:ext cx="3739896" cy="696773"/>
          </a:xfrm>
          <a:prstGeom prst="rect">
            <a:avLst/>
          </a:prstGeom>
          <a:noFill/>
          <a:ln/>
        </p:spPr>
        <p:txBody>
          <a:bodyPr wrap="square" lIns="0" tIns="0" rIns="0" bIns="0" rtlCol="0" anchor="t"/>
          <a:lstStyle/>
          <a:p>
            <a:pPr indent="0" marL="0">
              <a:buNone/>
            </a:pPr>
            <a:r>
              <a:rPr lang="en-US" sz="1300" b="1" dirty="0">
                <a:solidFill>
                  <a:srgbClr val="1E5631"/>
                </a:solidFill>
              </a:rPr>
              <a:t>Gateway of last resort</a:t>
            </a:r>
            <a:endParaRPr lang="en-US" sz="1200" dirty="0"/>
          </a:p>
          <a:p>
            <a:pPr indent="0" marL="0">
              <a:buNone/>
            </a:pPr>
            <a:r>
              <a:rPr lang="en-US" sz="1200" dirty="0">
                <a:solidFill>
                  <a:srgbClr val="2B2B2B"/>
                </a:solidFill>
              </a:rPr>
              <a:t>The default route. “not set” = packets to unknown networks are dropped.</a:t>
            </a:r>
            <a:endParaRPr lang="en-US" sz="1200" dirty="0"/>
          </a:p>
        </p:txBody>
      </p:sp>
      <p:sp>
        <p:nvSpPr>
          <p:cNvPr id="20" name="Text 17"/>
          <p:cNvSpPr txBox="1"/>
          <p:nvPr/>
        </p:nvSpPr>
        <p:spPr>
          <a:xfrm>
            <a:off x="548640" y="5440680"/>
            <a:ext cx="4297680" cy="457200"/>
          </a:xfrm>
          <a:prstGeom prst="rect">
            <a:avLst/>
          </a:prstGeom>
          <a:noFill/>
          <a:ln/>
        </p:spPr>
        <p:txBody>
          <a:bodyPr wrap="square" lIns="0" tIns="0" rIns="0" bIns="0" rtlCol="0" anchor="ctr"/>
          <a:lstStyle/>
          <a:p>
            <a:pPr indent="0" marL="0">
              <a:buNone/>
            </a:pPr>
            <a:r>
              <a:rPr lang="en-US" sz="1400" b="1" dirty="0">
                <a:solidFill>
                  <a:srgbClr val="1E5631"/>
                </a:solidFill>
              </a:rPr>
              <a:t>Administrative distance — the lower number wins:</a:t>
            </a:r>
            <a:endParaRPr lang="en-US" sz="1400" dirty="0"/>
          </a:p>
        </p:txBody>
      </p:sp>
      <p:sp>
        <p:nvSpPr>
          <p:cNvPr id="21" name="Shape 18"/>
          <p:cNvSpPr/>
          <p:nvPr/>
        </p:nvSpPr>
        <p:spPr>
          <a:xfrm>
            <a:off x="4892040" y="5440680"/>
            <a:ext cx="1261872" cy="457200"/>
          </a:xfrm>
          <a:prstGeom prst="roundRect">
            <a:avLst>
              <a:gd name="adj" fmla="val 12000"/>
            </a:avLst>
          </a:prstGeom>
          <a:solidFill>
            <a:srgbClr val="1E5631"/>
          </a:solidFill>
          <a:ln w="9525">
            <a:solidFill>
              <a:srgbClr val="B7C9BA"/>
            </a:solidFill>
            <a:prstDash val="solid"/>
          </a:ln>
        </p:spPr>
      </p:sp>
      <p:sp>
        <p:nvSpPr>
          <p:cNvPr id="22" name="Text 19"/>
          <p:cNvSpPr txBox="1"/>
          <p:nvPr/>
        </p:nvSpPr>
        <p:spPr>
          <a:xfrm>
            <a:off x="4892040" y="5440680"/>
            <a:ext cx="1261872" cy="457200"/>
          </a:xfrm>
          <a:prstGeom prst="rect">
            <a:avLst/>
          </a:prstGeom>
          <a:noFill/>
          <a:ln/>
        </p:spPr>
        <p:txBody>
          <a:bodyPr wrap="square" lIns="0" tIns="0" rIns="0" bIns="0" rtlCol="0" anchor="ctr"/>
          <a:lstStyle/>
          <a:p>
            <a:pPr algn="ctr" indent="0" marL="0">
              <a:buNone/>
            </a:pPr>
            <a:r>
              <a:rPr lang="en-US" sz="1600" b="1" dirty="0">
                <a:solidFill>
                  <a:srgbClr val="E8B92E"/>
                </a:solidFill>
                <a:latin typeface="Cambria" pitchFamily="34" charset="0"/>
                <a:ea typeface="Cambria" pitchFamily="34" charset="-122"/>
                <a:cs typeface="Cambria" pitchFamily="34" charset="-120"/>
              </a:rPr>
              <a:t>0  </a:t>
            </a:r>
            <a:r>
              <a:rPr lang="en-US" sz="1200" dirty="0">
                <a:solidFill>
                  <a:srgbClr val="FFFFFF"/>
                </a:solidFill>
              </a:rPr>
              <a:t>Connected</a:t>
            </a:r>
            <a:endParaRPr lang="en-US" sz="1600" dirty="0"/>
          </a:p>
        </p:txBody>
      </p:sp>
      <p:sp>
        <p:nvSpPr>
          <p:cNvPr id="23" name="Shape 20"/>
          <p:cNvSpPr/>
          <p:nvPr/>
        </p:nvSpPr>
        <p:spPr>
          <a:xfrm>
            <a:off x="6263640" y="5440680"/>
            <a:ext cx="1261872" cy="457200"/>
          </a:xfrm>
          <a:prstGeom prst="roundRect">
            <a:avLst>
              <a:gd name="adj" fmla="val 12000"/>
            </a:avLst>
          </a:prstGeom>
          <a:solidFill>
            <a:srgbClr val="E8F1EA"/>
          </a:solidFill>
          <a:ln w="9525">
            <a:solidFill>
              <a:srgbClr val="B7C9BA"/>
            </a:solidFill>
            <a:prstDash val="solid"/>
          </a:ln>
        </p:spPr>
      </p:sp>
      <p:sp>
        <p:nvSpPr>
          <p:cNvPr id="24" name="Text 21"/>
          <p:cNvSpPr txBox="1"/>
          <p:nvPr/>
        </p:nvSpPr>
        <p:spPr>
          <a:xfrm>
            <a:off x="6263640" y="5440680"/>
            <a:ext cx="1261872" cy="457200"/>
          </a:xfrm>
          <a:prstGeom prst="rect">
            <a:avLst/>
          </a:prstGeom>
          <a:noFill/>
          <a:ln/>
        </p:spPr>
        <p:txBody>
          <a:bodyPr wrap="square" lIns="0" tIns="0" rIns="0" bIns="0" rtlCol="0" anchor="ctr"/>
          <a:lstStyle/>
          <a:p>
            <a:pPr algn="ctr" indent="0" marL="0">
              <a:buNone/>
            </a:pPr>
            <a:r>
              <a:rPr lang="en-US" sz="1600" b="1" dirty="0">
                <a:solidFill>
                  <a:srgbClr val="1E5631"/>
                </a:solidFill>
                <a:latin typeface="Cambria" pitchFamily="34" charset="0"/>
                <a:ea typeface="Cambria" pitchFamily="34" charset="-122"/>
                <a:cs typeface="Cambria" pitchFamily="34" charset="-120"/>
              </a:rPr>
              <a:t>1  </a:t>
            </a:r>
            <a:r>
              <a:rPr lang="en-US" sz="1200" dirty="0">
                <a:solidFill>
                  <a:srgbClr val="2B2B2B"/>
                </a:solidFill>
              </a:rPr>
              <a:t>Static</a:t>
            </a:r>
            <a:endParaRPr lang="en-US" sz="1600" dirty="0"/>
          </a:p>
        </p:txBody>
      </p:sp>
      <p:sp>
        <p:nvSpPr>
          <p:cNvPr id="25" name="Shape 22"/>
          <p:cNvSpPr/>
          <p:nvPr/>
        </p:nvSpPr>
        <p:spPr>
          <a:xfrm>
            <a:off x="7635240" y="5440680"/>
            <a:ext cx="1261872" cy="457200"/>
          </a:xfrm>
          <a:prstGeom prst="roundRect">
            <a:avLst>
              <a:gd name="adj" fmla="val 12000"/>
            </a:avLst>
          </a:prstGeom>
          <a:solidFill>
            <a:srgbClr val="E8F1EA"/>
          </a:solidFill>
          <a:ln w="9525">
            <a:solidFill>
              <a:srgbClr val="B7C9BA"/>
            </a:solidFill>
            <a:prstDash val="solid"/>
          </a:ln>
        </p:spPr>
      </p:sp>
      <p:sp>
        <p:nvSpPr>
          <p:cNvPr id="26" name="Text 23"/>
          <p:cNvSpPr txBox="1"/>
          <p:nvPr/>
        </p:nvSpPr>
        <p:spPr>
          <a:xfrm>
            <a:off x="7635240" y="5440680"/>
            <a:ext cx="1261872" cy="457200"/>
          </a:xfrm>
          <a:prstGeom prst="rect">
            <a:avLst/>
          </a:prstGeom>
          <a:noFill/>
          <a:ln/>
        </p:spPr>
        <p:txBody>
          <a:bodyPr wrap="square" lIns="0" tIns="0" rIns="0" bIns="0" rtlCol="0" anchor="ctr"/>
          <a:lstStyle/>
          <a:p>
            <a:pPr algn="ctr" indent="0" marL="0">
              <a:buNone/>
            </a:pPr>
            <a:r>
              <a:rPr lang="en-US" sz="1600" b="1" dirty="0">
                <a:solidFill>
                  <a:srgbClr val="1E5631"/>
                </a:solidFill>
                <a:latin typeface="Cambria" pitchFamily="34" charset="0"/>
                <a:ea typeface="Cambria" pitchFamily="34" charset="-122"/>
                <a:cs typeface="Cambria" pitchFamily="34" charset="-120"/>
              </a:rPr>
              <a:t>90  </a:t>
            </a:r>
            <a:r>
              <a:rPr lang="en-US" sz="1200" dirty="0">
                <a:solidFill>
                  <a:srgbClr val="2B2B2B"/>
                </a:solidFill>
              </a:rPr>
              <a:t>EIGRP</a:t>
            </a:r>
            <a:endParaRPr lang="en-US" sz="1600" dirty="0"/>
          </a:p>
        </p:txBody>
      </p:sp>
      <p:sp>
        <p:nvSpPr>
          <p:cNvPr id="27" name="Shape 24"/>
          <p:cNvSpPr/>
          <p:nvPr/>
        </p:nvSpPr>
        <p:spPr>
          <a:xfrm>
            <a:off x="9006840" y="5440680"/>
            <a:ext cx="1261872" cy="457200"/>
          </a:xfrm>
          <a:prstGeom prst="roundRect">
            <a:avLst>
              <a:gd name="adj" fmla="val 12000"/>
            </a:avLst>
          </a:prstGeom>
          <a:solidFill>
            <a:srgbClr val="E8F1EA"/>
          </a:solidFill>
          <a:ln w="9525">
            <a:solidFill>
              <a:srgbClr val="B7C9BA"/>
            </a:solidFill>
            <a:prstDash val="solid"/>
          </a:ln>
        </p:spPr>
      </p:sp>
      <p:sp>
        <p:nvSpPr>
          <p:cNvPr id="28" name="Text 25"/>
          <p:cNvSpPr txBox="1"/>
          <p:nvPr/>
        </p:nvSpPr>
        <p:spPr>
          <a:xfrm>
            <a:off x="9006840" y="5440680"/>
            <a:ext cx="1261872" cy="457200"/>
          </a:xfrm>
          <a:prstGeom prst="rect">
            <a:avLst/>
          </a:prstGeom>
          <a:noFill/>
          <a:ln/>
        </p:spPr>
        <p:txBody>
          <a:bodyPr wrap="square" lIns="0" tIns="0" rIns="0" bIns="0" rtlCol="0" anchor="ctr"/>
          <a:lstStyle/>
          <a:p>
            <a:pPr algn="ctr" indent="0" marL="0">
              <a:buNone/>
            </a:pPr>
            <a:r>
              <a:rPr lang="en-US" sz="1600" b="1" dirty="0">
                <a:solidFill>
                  <a:srgbClr val="1E5631"/>
                </a:solidFill>
                <a:latin typeface="Cambria" pitchFamily="34" charset="0"/>
                <a:ea typeface="Cambria" pitchFamily="34" charset="-122"/>
                <a:cs typeface="Cambria" pitchFamily="34" charset="-120"/>
              </a:rPr>
              <a:t>110  </a:t>
            </a:r>
            <a:r>
              <a:rPr lang="en-US" sz="1200" dirty="0">
                <a:solidFill>
                  <a:srgbClr val="2B2B2B"/>
                </a:solidFill>
              </a:rPr>
              <a:t>OSPF</a:t>
            </a:r>
            <a:endParaRPr lang="en-US" sz="1600" dirty="0"/>
          </a:p>
        </p:txBody>
      </p:sp>
      <p:sp>
        <p:nvSpPr>
          <p:cNvPr id="29" name="Shape 26"/>
          <p:cNvSpPr/>
          <p:nvPr/>
        </p:nvSpPr>
        <p:spPr>
          <a:xfrm>
            <a:off x="10378440" y="5440680"/>
            <a:ext cx="1261872" cy="457200"/>
          </a:xfrm>
          <a:prstGeom prst="roundRect">
            <a:avLst>
              <a:gd name="adj" fmla="val 12000"/>
            </a:avLst>
          </a:prstGeom>
          <a:solidFill>
            <a:srgbClr val="E8F1EA"/>
          </a:solidFill>
          <a:ln w="9525">
            <a:solidFill>
              <a:srgbClr val="B7C9BA"/>
            </a:solidFill>
            <a:prstDash val="solid"/>
          </a:ln>
        </p:spPr>
      </p:sp>
      <p:sp>
        <p:nvSpPr>
          <p:cNvPr id="30" name="Text 27"/>
          <p:cNvSpPr txBox="1"/>
          <p:nvPr/>
        </p:nvSpPr>
        <p:spPr>
          <a:xfrm>
            <a:off x="10378440" y="5440680"/>
            <a:ext cx="1261872" cy="457200"/>
          </a:xfrm>
          <a:prstGeom prst="rect">
            <a:avLst/>
          </a:prstGeom>
          <a:noFill/>
          <a:ln/>
        </p:spPr>
        <p:txBody>
          <a:bodyPr wrap="square" lIns="0" tIns="0" rIns="0" bIns="0" rtlCol="0" anchor="ctr"/>
          <a:lstStyle/>
          <a:p>
            <a:pPr algn="ctr" indent="0" marL="0">
              <a:buNone/>
            </a:pPr>
            <a:r>
              <a:rPr lang="en-US" sz="1600" b="1" dirty="0">
                <a:solidFill>
                  <a:srgbClr val="1E5631"/>
                </a:solidFill>
                <a:latin typeface="Cambria" pitchFamily="34" charset="0"/>
                <a:ea typeface="Cambria" pitchFamily="34" charset="-122"/>
                <a:cs typeface="Cambria" pitchFamily="34" charset="-120"/>
              </a:rPr>
              <a:t>120  </a:t>
            </a:r>
            <a:r>
              <a:rPr lang="en-US" sz="1200" dirty="0">
                <a:solidFill>
                  <a:srgbClr val="2B2B2B"/>
                </a:solidFill>
              </a:rPr>
              <a:t>RIP</a:t>
            </a:r>
            <a:endParaRPr lang="en-US" sz="1600" dirty="0"/>
          </a:p>
        </p:txBody>
      </p:sp>
      <p:sp>
        <p:nvSpPr>
          <p:cNvPr id="31" name="Text 28"/>
          <p:cNvSpPr txBox="1"/>
          <p:nvPr/>
        </p:nvSpPr>
        <p:spPr>
          <a:xfrm>
            <a:off x="548640" y="5943600"/>
            <a:ext cx="11094415" cy="411480"/>
          </a:xfrm>
          <a:prstGeom prst="rect">
            <a:avLst/>
          </a:prstGeom>
          <a:noFill/>
          <a:ln/>
        </p:spPr>
        <p:txBody>
          <a:bodyPr wrap="square" lIns="0" tIns="0" rIns="0" bIns="0" rtlCol="0" anchor="ctr"/>
          <a:lstStyle/>
          <a:p>
            <a:pPr indent="0" marL="0">
              <a:buNone/>
            </a:pPr>
            <a:r>
              <a:rPr lang="en-US" sz="1200" dirty="0">
                <a:solidFill>
                  <a:srgbClr val="6B6B6B"/>
                </a:solidFill>
              </a:rPr>
              <a:t>If two methods know the same network, only the lowest distance goes into the table — that is why each lab part removes the previous method.</a:t>
            </a:r>
            <a:endParaRPr lang="en-US" sz="1200" dirty="0"/>
          </a:p>
        </p:txBody>
      </p:sp>
      <p:sp>
        <p:nvSpPr>
          <p:cNvPr id="32" name="Slide Number Placeholder 0"/>
          <p:cNvSpPr>
            <a:spLocks noGrp="1"/>
          </p:cNvSpPr>
          <p:nvPr>
            <p:ph type="sldNum" sz="quarter" idx="4294967295"/>
          </p:nvPr>
        </p:nvSpPr>
        <p:spPr>
          <a:xfrm>
            <a:off x="10698480" y="6464808"/>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1"/>
          <p:cNvSpPr/>
          <p:nvPr>
            <p:ph idx="102" type="body" hasCustomPrompt="1"/>
          </p:nvPr>
        </p:nvSpPr>
        <p:spPr>
          <a:xfrm>
            <a:off x="548640" y="274320"/>
            <a:ext cx="9966960" cy="256032"/>
          </a:xfrm>
          <a:prstGeom prst="rect">
            <a:avLst/>
          </a:prstGeom>
          <a:noFill/>
          <a:ln/>
        </p:spPr>
        <p:txBody>
          <a:bodyPr wrap="square" lIns="0" tIns="0" rIns="0" bIns="0" rtlCol="0" anchor="ctr"/>
          <a:lstStyle/>
          <a:p>
            <a:pPr algn="l" indent="0" marL="0">
              <a:buNone/>
            </a:pPr>
            <a:r>
              <a:rPr lang="en-US" sz="1100" b="1" spc="100" kern="0" dirty="0">
                <a:solidFill>
                  <a:schemeClr val="accent2"/>
                </a:solidFill>
              </a:rPr>
              <a:t>07  •  ROUTING  •  LAB 3</a:t>
            </a:r>
            <a:endParaRPr lang="en-US" sz="1100" dirty="0"/>
          </a:p>
        </p:txBody>
      </p:sp>
      <p:sp>
        <p:nvSpPr>
          <p:cNvPr id="3" name="Text 1"/>
          <p:cNvSpPr/>
          <p:nvPr>
            <p:ph idx="103" type="title" hasCustomPrompt="1"/>
          </p:nvPr>
        </p:nvSpPr>
        <p:spPr>
          <a:xfrm>
            <a:off x="548640" y="548640"/>
            <a:ext cx="10149840" cy="548640"/>
          </a:xfrm>
          <a:prstGeom prst="rect">
            <a:avLst/>
          </a:prstGeom>
          <a:noFill/>
          <a:ln/>
        </p:spPr>
        <p:txBody>
          <a:bodyPr wrap="square" lIns="0" tIns="0" rIns="0" bIns="0" rtlCol="0" anchor="ctr"/>
          <a:lstStyle/>
          <a:p>
            <a:pPr algn="l" indent="0" marL="0">
              <a:buNone/>
            </a:pPr>
            <a:r>
              <a:rPr lang="en-US" sz="2600" b="1" dirty="0">
                <a:solidFill>
                  <a:schemeClr val="accent1"/>
                </a:solidFill>
              </a:rPr>
              <a:t>How to configure static routes</a:t>
            </a:r>
            <a:endParaRPr lang="en-US" sz="2600" dirty="0"/>
          </a:p>
        </p:txBody>
      </p:sp>
      <p:pic>
        <p:nvPicPr>
          <p:cNvPr id="4" name="Home button" descr="Home: back to the workbook menu">
            <a:hlinkClick r:id="rId2" tooltip="Back to the workbook menu" action="ppaction://hlinksldjump"/>
          </p:cNvPr>
          <p:cNvPicPr>
            <a:picLocks noChangeAspect="1"/>
          </p:cNvPicPr>
          <p:nvPr/>
        </p:nvPicPr>
        <p:blipFill>
          <a:blip r:embed="rId1"/>
          <a:stretch>
            <a:fillRect/>
          </a:stretch>
        </p:blipFill>
        <p:spPr>
          <a:xfrm>
            <a:off x="11365992" y="6336792"/>
            <a:ext cx="365760" cy="365760"/>
          </a:xfrm>
          <a:prstGeom prst="rect">
            <a:avLst/>
          </a:prstGeom>
        </p:spPr>
      </p:pic>
      <p:sp>
        <p:nvSpPr>
          <p:cNvPr id="5" name="Goal"/>
          <p:cNvSpPr txBox="1"/>
          <p:nvPr/>
        </p:nvSpPr>
        <p:spPr>
          <a:xfrm>
            <a:off x="548640" y="1161288"/>
            <a:ext cx="11094415" cy="384048"/>
          </a:xfrm>
          <a:prstGeom prst="rect">
            <a:avLst/>
          </a:prstGeom>
          <a:noFill/>
          <a:ln/>
        </p:spPr>
        <p:txBody>
          <a:bodyPr wrap="square" lIns="0" tIns="0" rIns="0" bIns="0" rtlCol="0" anchor="ctr"/>
          <a:lstStyle/>
          <a:p>
            <a:pPr indent="0" marL="0">
              <a:buNone/>
            </a:pPr>
            <a:r>
              <a:rPr lang="en-US" sz="1400" b="1" dirty="0">
                <a:solidFill>
                  <a:srgbClr val="2B7043"/>
                </a:solidFill>
              </a:rPr>
              <a:t>Goal:  </a:t>
            </a:r>
            <a:r>
              <a:rPr lang="en-US" sz="1400" dirty="0">
                <a:solidFill>
                  <a:srgbClr val="2B2B2B"/>
                </a:solidFill>
              </a:rPr>
              <a:t>Tell each router by hand where the networks it is not connected to are (Lab 3, part A).</a:t>
            </a:r>
            <a:endParaRPr lang="en-US" sz="1400" dirty="0"/>
          </a:p>
        </p:txBody>
      </p:sp>
      <p:sp>
        <p:nvSpPr>
          <p:cNvPr id="6" name="Command header"/>
          <p:cNvSpPr/>
          <p:nvPr/>
        </p:nvSpPr>
        <p:spPr>
          <a:xfrm>
            <a:off x="548640" y="1664208"/>
            <a:ext cx="6153912" cy="310896"/>
          </a:xfrm>
          <a:prstGeom prst="rect">
            <a:avLst/>
          </a:prstGeom>
          <a:solidFill>
            <a:srgbClr val="1B2B22"/>
          </a:solidFill>
          <a:ln/>
        </p:spPr>
        <p:txBody>
          <a:bodyPr wrap="square" lIns="109728" tIns="45720" rIns="109728" bIns="45720" rtlCol="0" anchor="ctr"/>
          <a:lstStyle/>
          <a:p>
            <a:pPr indent="0" marL="0">
              <a:buNone/>
            </a:pPr>
            <a:r>
              <a:rPr lang="en-US" sz="1100" dirty="0">
                <a:solidFill>
                  <a:srgbClr val="E0605A"/>
                </a:solidFill>
              </a:rPr>
              <a:t>●  </a:t>
            </a:r>
            <a:r>
              <a:rPr lang="en-US" sz="1100" dirty="0">
                <a:solidFill>
                  <a:srgbClr val="E8B92E"/>
                </a:solidFill>
              </a:rPr>
              <a:t>●  </a:t>
            </a:r>
            <a:r>
              <a:rPr lang="en-US" sz="1100" dirty="0">
                <a:solidFill>
                  <a:srgbClr val="4CAF50"/>
                </a:solidFill>
              </a:rPr>
              <a:t>●   </a:t>
            </a:r>
            <a:r>
              <a:rPr lang="en-US" sz="1100" b="1" dirty="0">
                <a:solidFill>
                  <a:srgbClr val="C9D6CC"/>
                </a:solidFill>
              </a:rPr>
              <a:t>R1 / R2 / R3  —  type the white text, then press Enter</a:t>
            </a:r>
            <a:endParaRPr lang="en-US" sz="1100" dirty="0"/>
          </a:p>
        </p:txBody>
      </p:sp>
      <p:sp>
        <p:nvSpPr>
          <p:cNvPr id="7" name="Meaning header"/>
          <p:cNvSpPr/>
          <p:nvPr/>
        </p:nvSpPr>
        <p:spPr>
          <a:xfrm>
            <a:off x="6720840" y="1664208"/>
            <a:ext cx="4922215" cy="310896"/>
          </a:xfrm>
          <a:prstGeom prst="rect">
            <a:avLst/>
          </a:prstGeom>
          <a:solidFill>
            <a:srgbClr val="E8F1EA"/>
          </a:solidFill>
          <a:ln/>
        </p:spPr>
        <p:txBody>
          <a:bodyPr wrap="square" lIns="109728" tIns="45720" rIns="109728" bIns="45720" rtlCol="0" anchor="ctr"/>
          <a:lstStyle/>
          <a:p>
            <a:pPr indent="0" marL="0">
              <a:buNone/>
            </a:pPr>
            <a:r>
              <a:rPr lang="en-US" sz="1200" b="1" dirty="0">
                <a:solidFill>
                  <a:srgbClr val="1E5631"/>
                </a:solidFill>
              </a:rPr>
              <a:t>What it does</a:t>
            </a:r>
            <a:endParaRPr lang="en-US" sz="1200" dirty="0"/>
          </a:p>
        </p:txBody>
      </p:sp>
      <p:sp>
        <p:nvSpPr>
          <p:cNvPr id="8" name="Command 01"/>
          <p:cNvSpPr/>
          <p:nvPr/>
        </p:nvSpPr>
        <p:spPr>
          <a:xfrm>
            <a:off x="548640" y="1993392"/>
            <a:ext cx="6153912" cy="54380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R1(config)# </a:t>
            </a:r>
            <a:r>
              <a:rPr lang="en-US" sz="1200" b="1" dirty="0">
                <a:solidFill>
                  <a:srgbClr val="FFFFFF"/>
                </a:solidFill>
                <a:latin typeface="Courier New" pitchFamily="34" charset="0"/>
                <a:ea typeface="Courier New" pitchFamily="34" charset="-122"/>
                <a:cs typeface="Courier New" pitchFamily="34" charset="-120"/>
              </a:rPr>
              <a:t>ip route 172.16.2.0 255.255.255.0 10.0.0.2</a:t>
            </a:r>
            <a:endParaRPr lang="en-US" sz="1200" dirty="0"/>
          </a:p>
        </p:txBody>
      </p:sp>
      <p:sp>
        <p:nvSpPr>
          <p:cNvPr id="9" name="Reveal 01 meaning"/>
          <p:cNvSpPr/>
          <p:nvPr/>
        </p:nvSpPr>
        <p:spPr>
          <a:xfrm>
            <a:off x="6720840" y="1993392"/>
            <a:ext cx="4922215" cy="543809"/>
          </a:xfrm>
          <a:prstGeom prst="rect">
            <a:avLst/>
          </a:prstGeom>
          <a:solidFill>
            <a:srgbClr val="F2F8F3"/>
          </a:solidFill>
          <a:ln/>
        </p:spPr>
        <p:txBody>
          <a:bodyPr wrap="square" lIns="109728" tIns="45720" rIns="109728" bIns="45720" rtlCol="0" anchor="ctr"/>
          <a:lstStyle/>
          <a:p>
            <a:pPr indent="0" marL="0">
              <a:buNone/>
            </a:pPr>
            <a:r>
              <a:rPr lang="en-US" sz="1400" dirty="0">
                <a:solidFill>
                  <a:srgbClr val="2B2B2B"/>
                </a:solidFill>
              </a:rPr>
              <a:t>To reach LAN 2, send packets to R2 (10.0.0.2, its address on our shared link). Parts: network, mask, next hop.</a:t>
            </a:r>
            <a:endParaRPr lang="en-US" sz="1400" dirty="0"/>
          </a:p>
        </p:txBody>
      </p:sp>
      <p:sp>
        <p:nvSpPr>
          <p:cNvPr id="10" name="Command 02"/>
          <p:cNvSpPr/>
          <p:nvPr/>
        </p:nvSpPr>
        <p:spPr>
          <a:xfrm>
            <a:off x="548640" y="2555489"/>
            <a:ext cx="6153912" cy="326768"/>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R1(config)# </a:t>
            </a:r>
            <a:r>
              <a:rPr lang="en-US" sz="1200" b="1" dirty="0">
                <a:solidFill>
                  <a:srgbClr val="FFFFFF"/>
                </a:solidFill>
                <a:latin typeface="Courier New" pitchFamily="34" charset="0"/>
                <a:ea typeface="Courier New" pitchFamily="34" charset="-122"/>
                <a:cs typeface="Courier New" pitchFamily="34" charset="-120"/>
              </a:rPr>
              <a:t>ip route 172.16.3.0 255.255.255.0 10.0.0.10</a:t>
            </a:r>
            <a:endParaRPr lang="en-US" sz="1200" dirty="0"/>
          </a:p>
        </p:txBody>
      </p:sp>
      <p:sp>
        <p:nvSpPr>
          <p:cNvPr id="11" name="Reveal 02 meaning"/>
          <p:cNvSpPr/>
          <p:nvPr/>
        </p:nvSpPr>
        <p:spPr>
          <a:xfrm>
            <a:off x="6720840" y="2555489"/>
            <a:ext cx="4922215" cy="326768"/>
          </a:xfrm>
          <a:prstGeom prst="rect">
            <a:avLst/>
          </a:prstGeom>
          <a:solidFill>
            <a:srgbClr val="FFFFFF"/>
          </a:solidFill>
          <a:ln/>
        </p:spPr>
        <p:txBody>
          <a:bodyPr wrap="square" lIns="109728" tIns="45720" rIns="109728" bIns="45720" rtlCol="0" anchor="ctr"/>
          <a:lstStyle/>
          <a:p>
            <a:pPr indent="0" marL="0">
              <a:buNone/>
            </a:pPr>
            <a:r>
              <a:rPr lang="en-US" sz="1400" dirty="0">
                <a:solidFill>
                  <a:srgbClr val="2B2B2B"/>
                </a:solidFill>
              </a:rPr>
              <a:t>To reach LAN 3, send packets to R3.</a:t>
            </a:r>
            <a:endParaRPr lang="en-US" sz="1400" dirty="0"/>
          </a:p>
        </p:txBody>
      </p:sp>
      <p:sp>
        <p:nvSpPr>
          <p:cNvPr id="12" name="Command 03"/>
          <p:cNvSpPr/>
          <p:nvPr/>
        </p:nvSpPr>
        <p:spPr>
          <a:xfrm>
            <a:off x="548640" y="2900545"/>
            <a:ext cx="6153912" cy="54380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R1(config)# </a:t>
            </a:r>
            <a:r>
              <a:rPr lang="en-US" sz="1200" b="1" dirty="0">
                <a:solidFill>
                  <a:srgbClr val="FFFFFF"/>
                </a:solidFill>
                <a:latin typeface="Courier New" pitchFamily="34" charset="0"/>
                <a:ea typeface="Courier New" pitchFamily="34" charset="-122"/>
                <a:cs typeface="Courier New" pitchFamily="34" charset="-120"/>
              </a:rPr>
              <a:t>ip route 172.16.2.0 255.255.255.0 10.0.0.10 5</a:t>
            </a:r>
            <a:endParaRPr lang="en-US" sz="1200" dirty="0"/>
          </a:p>
        </p:txBody>
      </p:sp>
      <p:sp>
        <p:nvSpPr>
          <p:cNvPr id="13" name="Reveal 03 meaning"/>
          <p:cNvSpPr/>
          <p:nvPr/>
        </p:nvSpPr>
        <p:spPr>
          <a:xfrm>
            <a:off x="6720840" y="2900545"/>
            <a:ext cx="4922215" cy="543809"/>
          </a:xfrm>
          <a:prstGeom prst="rect">
            <a:avLst/>
          </a:prstGeom>
          <a:solidFill>
            <a:srgbClr val="F2F8F3"/>
          </a:solidFill>
          <a:ln/>
        </p:spPr>
        <p:txBody>
          <a:bodyPr wrap="square" lIns="109728" tIns="45720" rIns="109728" bIns="45720" rtlCol="0" anchor="ctr"/>
          <a:lstStyle/>
          <a:p>
            <a:pPr indent="0" marL="0">
              <a:buNone/>
            </a:pPr>
            <a:r>
              <a:rPr lang="en-US" sz="1400" dirty="0">
                <a:solidFill>
                  <a:srgbClr val="2B2B2B"/>
                </a:solidFill>
              </a:rPr>
              <a:t>A floating static route: a backup path to LAN 2 via R3 with distance 5, used only if the main route (distance 1) fails.</a:t>
            </a:r>
            <a:endParaRPr lang="en-US" sz="1400" dirty="0"/>
          </a:p>
        </p:txBody>
      </p:sp>
      <p:sp>
        <p:nvSpPr>
          <p:cNvPr id="14" name="Command 04"/>
          <p:cNvSpPr/>
          <p:nvPr/>
        </p:nvSpPr>
        <p:spPr>
          <a:xfrm>
            <a:off x="548640" y="3462642"/>
            <a:ext cx="6153912" cy="627644"/>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R2(config)# </a:t>
            </a:r>
            <a:r>
              <a:rPr lang="en-US" sz="1200" b="1" dirty="0">
                <a:solidFill>
                  <a:srgbClr val="FFFFFF"/>
                </a:solidFill>
                <a:latin typeface="Courier New" pitchFamily="34" charset="0"/>
                <a:ea typeface="Courier New" pitchFamily="34" charset="-122"/>
                <a:cs typeface="Courier New" pitchFamily="34" charset="-120"/>
              </a:rPr>
              <a:t>ip route 172.16.1.0 255.255.255.0 10.0.0.1</a:t>
            </a:r>
            <a:endParaRPr lang="en-US" sz="1200" dirty="0"/>
          </a:p>
          <a:p>
            <a:pPr indent="0" marL="0">
              <a:buNone/>
            </a:pPr>
            <a:r>
              <a:rPr lang="en-US" sz="1200" dirty="0">
                <a:solidFill>
                  <a:srgbClr val="8FC9A0"/>
                </a:solidFill>
                <a:latin typeface="Courier New" pitchFamily="34" charset="0"/>
                <a:ea typeface="Courier New" pitchFamily="34" charset="-122"/>
                <a:cs typeface="Courier New" pitchFamily="34" charset="-120"/>
              </a:rPr>
              <a:t>R2(config)# </a:t>
            </a:r>
            <a:r>
              <a:rPr lang="en-US" sz="1200" b="1" dirty="0">
                <a:solidFill>
                  <a:srgbClr val="FFFFFF"/>
                </a:solidFill>
                <a:latin typeface="Courier New" pitchFamily="34" charset="0"/>
                <a:ea typeface="Courier New" pitchFamily="34" charset="-122"/>
                <a:cs typeface="Courier New" pitchFamily="34" charset="-120"/>
              </a:rPr>
              <a:t>ip route 172.16.3.0 255.255.255.0 10.0.0.6</a:t>
            </a:r>
            <a:endParaRPr lang="en-US" sz="1200" dirty="0"/>
          </a:p>
          <a:p>
            <a:pPr indent="0" marL="0">
              <a:buNone/>
            </a:pPr>
            <a:r>
              <a:rPr lang="en-US" sz="1200" dirty="0">
                <a:solidFill>
                  <a:srgbClr val="8FC9A0"/>
                </a:solidFill>
                <a:latin typeface="Courier New" pitchFamily="34" charset="0"/>
                <a:ea typeface="Courier New" pitchFamily="34" charset="-122"/>
                <a:cs typeface="Courier New" pitchFamily="34" charset="-120"/>
              </a:rPr>
              <a:t>R2(config)# </a:t>
            </a:r>
            <a:r>
              <a:rPr lang="en-US" sz="1200" b="1" dirty="0">
                <a:solidFill>
                  <a:srgbClr val="FFFFFF"/>
                </a:solidFill>
                <a:latin typeface="Courier New" pitchFamily="34" charset="0"/>
                <a:ea typeface="Courier New" pitchFamily="34" charset="-122"/>
                <a:cs typeface="Courier New" pitchFamily="34" charset="-120"/>
              </a:rPr>
              <a:t>ip route 172.16.1.0 255.255.255.0 10.0.0.6 5</a:t>
            </a:r>
            <a:endParaRPr lang="en-US" sz="1200" dirty="0"/>
          </a:p>
        </p:txBody>
      </p:sp>
      <p:sp>
        <p:nvSpPr>
          <p:cNvPr id="15" name="Reveal 04 meaning"/>
          <p:cNvSpPr/>
          <p:nvPr/>
        </p:nvSpPr>
        <p:spPr>
          <a:xfrm>
            <a:off x="6720840" y="3462642"/>
            <a:ext cx="4922215" cy="627644"/>
          </a:xfrm>
          <a:prstGeom prst="rect">
            <a:avLst/>
          </a:prstGeom>
          <a:solidFill>
            <a:srgbClr val="FFFFFF"/>
          </a:solidFill>
          <a:ln/>
        </p:spPr>
        <p:txBody>
          <a:bodyPr wrap="square" lIns="109728" tIns="45720" rIns="109728" bIns="45720" rtlCol="0" anchor="ctr"/>
          <a:lstStyle/>
          <a:p>
            <a:pPr indent="0" marL="0">
              <a:buNone/>
            </a:pPr>
            <a:r>
              <a:rPr lang="en-US" sz="1400" dirty="0">
                <a:solidFill>
                  <a:srgbClr val="2B2B2B"/>
                </a:solidFill>
              </a:rPr>
              <a:t>R2 needs routes too — every router needs a route there and back — plus its own floating backup to LAN 1 via R3.</a:t>
            </a:r>
            <a:endParaRPr lang="en-US" sz="1400" dirty="0"/>
          </a:p>
        </p:txBody>
      </p:sp>
      <p:sp>
        <p:nvSpPr>
          <p:cNvPr id="16" name="Command 05"/>
          <p:cNvSpPr/>
          <p:nvPr/>
        </p:nvSpPr>
        <p:spPr>
          <a:xfrm>
            <a:off x="548640" y="4108574"/>
            <a:ext cx="6153912" cy="455005"/>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R3(config)# </a:t>
            </a:r>
            <a:r>
              <a:rPr lang="en-US" sz="1200" b="1" dirty="0">
                <a:solidFill>
                  <a:srgbClr val="FFFFFF"/>
                </a:solidFill>
                <a:latin typeface="Courier New" pitchFamily="34" charset="0"/>
                <a:ea typeface="Courier New" pitchFamily="34" charset="-122"/>
                <a:cs typeface="Courier New" pitchFamily="34" charset="-120"/>
              </a:rPr>
              <a:t>ip route 172.16.1.0 255.255.255.0 10.0.0.9</a:t>
            </a:r>
            <a:endParaRPr lang="en-US" sz="1200" dirty="0"/>
          </a:p>
          <a:p>
            <a:pPr indent="0" marL="0">
              <a:buNone/>
            </a:pPr>
            <a:r>
              <a:rPr lang="en-US" sz="1200" dirty="0">
                <a:solidFill>
                  <a:srgbClr val="8FC9A0"/>
                </a:solidFill>
                <a:latin typeface="Courier New" pitchFamily="34" charset="0"/>
                <a:ea typeface="Courier New" pitchFamily="34" charset="-122"/>
                <a:cs typeface="Courier New" pitchFamily="34" charset="-120"/>
              </a:rPr>
              <a:t>R3(config)# </a:t>
            </a:r>
            <a:r>
              <a:rPr lang="en-US" sz="1200" b="1" dirty="0">
                <a:solidFill>
                  <a:srgbClr val="FFFFFF"/>
                </a:solidFill>
                <a:latin typeface="Courier New" pitchFamily="34" charset="0"/>
                <a:ea typeface="Courier New" pitchFamily="34" charset="-122"/>
                <a:cs typeface="Courier New" pitchFamily="34" charset="-120"/>
              </a:rPr>
              <a:t>ip route 172.16.2.0 255.255.255.0 10.0.0.5</a:t>
            </a:r>
            <a:endParaRPr lang="en-US" sz="1200" dirty="0"/>
          </a:p>
        </p:txBody>
      </p:sp>
      <p:sp>
        <p:nvSpPr>
          <p:cNvPr id="17" name="Reveal 05 meaning"/>
          <p:cNvSpPr/>
          <p:nvPr/>
        </p:nvSpPr>
        <p:spPr>
          <a:xfrm>
            <a:off x="6720840" y="4108574"/>
            <a:ext cx="4922215" cy="455005"/>
          </a:xfrm>
          <a:prstGeom prst="rect">
            <a:avLst/>
          </a:prstGeom>
          <a:solidFill>
            <a:srgbClr val="F2F8F3"/>
          </a:solidFill>
          <a:ln/>
        </p:spPr>
        <p:txBody>
          <a:bodyPr wrap="square" lIns="109728" tIns="45720" rIns="109728" bIns="45720" rtlCol="0" anchor="ctr"/>
          <a:lstStyle/>
          <a:p>
            <a:pPr indent="0" marL="0">
              <a:buNone/>
            </a:pPr>
            <a:r>
              <a:rPr lang="en-US" sz="1400" dirty="0">
                <a:solidFill>
                  <a:srgbClr val="2B2B2B"/>
                </a:solidFill>
              </a:rPr>
              <a:t>R3’s routes to LAN 1 and LAN 2.</a:t>
            </a:r>
            <a:endParaRPr lang="en-US" sz="1400" dirty="0"/>
          </a:p>
        </p:txBody>
      </p:sp>
      <p:sp>
        <p:nvSpPr>
          <p:cNvPr id="18" name="Reveal 99 check box"/>
          <p:cNvSpPr/>
          <p:nvPr/>
        </p:nvSpPr>
        <p:spPr>
          <a:xfrm>
            <a:off x="548640" y="5504688"/>
            <a:ext cx="5410048" cy="749808"/>
          </a:xfrm>
          <a:prstGeom prst="roundRect">
            <a:avLst>
              <a:gd name="adj" fmla="val 9756"/>
            </a:avLst>
          </a:prstGeom>
          <a:solidFill>
            <a:srgbClr val="E8F1EA"/>
          </a:solidFill>
          <a:ln w="12700">
            <a:solidFill>
              <a:srgbClr val="B7C9BA"/>
            </a:solidFill>
            <a:prstDash val="solid"/>
          </a:ln>
        </p:spPr>
      </p:sp>
      <p:pic>
        <p:nvPicPr>
          <p:cNvPr id="19" name="Reveal 99 check icon" descr="Check it:">    </p:cNvPr>
          <p:cNvPicPr>
            <a:picLocks noChangeAspect="1"/>
          </p:cNvPicPr>
          <p:nvPr/>
        </p:nvPicPr>
        <p:blipFill>
          <a:blip r:embed="rId3"/>
          <a:stretch>
            <a:fillRect/>
          </a:stretch>
        </p:blipFill>
        <p:spPr>
          <a:xfrm>
            <a:off x="694944" y="5733288"/>
            <a:ext cx="292608" cy="292608"/>
          </a:xfrm>
          <a:prstGeom prst="rect">
            <a:avLst/>
          </a:prstGeom>
        </p:spPr>
      </p:pic>
      <p:sp>
        <p:nvSpPr>
          <p:cNvPr id="20" name="Reveal 99 check text"/>
          <p:cNvSpPr txBox="1"/>
          <p:nvPr/>
        </p:nvSpPr>
        <p:spPr>
          <a:xfrm>
            <a:off x="1097280" y="5541264"/>
            <a:ext cx="4751680" cy="676656"/>
          </a:xfrm>
          <a:prstGeom prst="rect">
            <a:avLst/>
          </a:prstGeom>
          <a:noFill/>
          <a:ln/>
        </p:spPr>
        <p:txBody>
          <a:bodyPr wrap="square" lIns="0" tIns="0" rIns="0" bIns="0" rtlCol="0" anchor="ctr"/>
          <a:lstStyle/>
          <a:p>
            <a:pPr indent="0" marL="0">
              <a:buNone/>
            </a:pPr>
            <a:r>
              <a:rPr lang="en-US" sz="1400" b="1" dirty="0">
                <a:solidFill>
                  <a:srgbClr val="1E5631"/>
                </a:solidFill>
              </a:rPr>
              <a:t>Check it:  </a:t>
            </a:r>
            <a:r>
              <a:rPr lang="en-US" sz="1300" b="1" dirty="0">
                <a:solidFill>
                  <a:srgbClr val="1E5631"/>
                </a:solidFill>
                <a:latin typeface="Courier New" pitchFamily="34" charset="0"/>
                <a:ea typeface="Courier New" pitchFamily="34" charset="-122"/>
                <a:cs typeface="Courier New" pitchFamily="34" charset="-120"/>
              </a:rPr>
              <a:t>show ip route static</a:t>
            </a:r>
            <a:r>
              <a:rPr lang="en-US" sz="1400" dirty="0">
                <a:solidFill>
                  <a:srgbClr val="2B2B2B"/>
                </a:solidFill>
              </a:rPr>
              <a:t> shows S routes; PC1 pings PC2 and PC3. Shut R1 G0/0/1: the floating routes take over.</a:t>
            </a:r>
            <a:endParaRPr lang="en-US" sz="1400" dirty="0"/>
          </a:p>
        </p:txBody>
      </p:sp>
      <p:sp>
        <p:nvSpPr>
          <p:cNvPr id="21" name="Reveal 99 watch box"/>
          <p:cNvSpPr/>
          <p:nvPr/>
        </p:nvSpPr>
        <p:spPr>
          <a:xfrm>
            <a:off x="6233008" y="5504688"/>
            <a:ext cx="5410048" cy="749808"/>
          </a:xfrm>
          <a:prstGeom prst="roundRect">
            <a:avLst>
              <a:gd name="adj" fmla="val 9756"/>
            </a:avLst>
          </a:prstGeom>
          <a:solidFill>
            <a:srgbClr val="FBEAEA"/>
          </a:solidFill>
          <a:ln w="12700">
            <a:solidFill>
              <a:srgbClr val="E9B8B5"/>
            </a:solidFill>
            <a:prstDash val="solid"/>
          </a:ln>
        </p:spPr>
      </p:sp>
      <p:pic>
        <p:nvPicPr>
          <p:cNvPr id="22" name="Reveal 99 watch icon" descr="Watch out:">    </p:cNvPr>
          <p:cNvPicPr>
            <a:picLocks noChangeAspect="1"/>
          </p:cNvPicPr>
          <p:nvPr/>
        </p:nvPicPr>
        <p:blipFill>
          <a:blip r:embed="rId4"/>
          <a:stretch>
            <a:fillRect/>
          </a:stretch>
        </p:blipFill>
        <p:spPr>
          <a:xfrm>
            <a:off x="6379312" y="5733288"/>
            <a:ext cx="292608" cy="292608"/>
          </a:xfrm>
          <a:prstGeom prst="rect">
            <a:avLst/>
          </a:prstGeom>
        </p:spPr>
      </p:pic>
      <p:sp>
        <p:nvSpPr>
          <p:cNvPr id="23" name="Reveal 99 watch text"/>
          <p:cNvSpPr txBox="1"/>
          <p:nvPr/>
        </p:nvSpPr>
        <p:spPr>
          <a:xfrm>
            <a:off x="6781648" y="5541264"/>
            <a:ext cx="4751680" cy="676656"/>
          </a:xfrm>
          <a:prstGeom prst="rect">
            <a:avLst/>
          </a:prstGeom>
          <a:noFill/>
          <a:ln/>
        </p:spPr>
        <p:txBody>
          <a:bodyPr wrap="square" lIns="0" tIns="0" rIns="0" bIns="0" rtlCol="0" anchor="ctr"/>
          <a:lstStyle/>
          <a:p>
            <a:pPr indent="0" marL="0">
              <a:buNone/>
            </a:pPr>
            <a:r>
              <a:rPr lang="en-US" sz="1400" b="1" dirty="0">
                <a:solidFill>
                  <a:srgbClr val="8B1A1A"/>
                </a:solidFill>
              </a:rPr>
              <a:t>Watch out:  </a:t>
            </a:r>
            <a:r>
              <a:rPr lang="en-US" sz="1400" dirty="0">
                <a:solidFill>
                  <a:srgbClr val="2B2B2B"/>
                </a:solidFill>
              </a:rPr>
              <a:t>The next hop is the neighbour’s address on the shared link — never your own address or the neighbour’s LAN address.</a:t>
            </a:r>
            <a:endParaRPr lang="en-US" sz="1400" dirty="0"/>
          </a:p>
        </p:txBody>
      </p:sp>
      <p:sp>
        <p:nvSpPr>
          <p:cNvPr id="25" name="Slide Number Placeholder 0"/>
          <p:cNvSpPr>
            <a:spLocks noGrp="1"/>
          </p:cNvSpPr>
          <p:nvPr>
            <p:ph type="sldNum" sz="quarter" idx="4294967295"/>
          </p:nvPr>
        </p:nvSpPr>
        <p:spPr>
          <a:xfrm>
            <a:off x="10698480" y="6464808"/>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r"/>
            <a:fld id="{F7021451-1387-4CA6-816F-3879F97B5CBC}" type="slidenum">
              <a:rPr b="0" lang="en-US"/>
              <a:t>52</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4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0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400"/>
                                        <p:tgtEl>
                                          <p:spTgt spid="1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400"/>
                                        <p:tgtEl>
                                          <p:spTgt spid="1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fade">
                                      <p:cBhvr>
                                        <p:cTn id="38" dur="400"/>
                                        <p:tgtEl>
                                          <p:spTgt spid="20"/>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fade">
                                      <p:cBhvr>
                                        <p:cTn id="41" dur="400"/>
                                        <p:tgtEl>
                                          <p:spTgt spid="21"/>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fade">
                                      <p:cBhvr>
                                        <p:cTn id="44" dur="400"/>
                                        <p:tgtEl>
                                          <p:spTgt spid="22"/>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3" grpId="0" animBg="1"/>
      <p:bldP spid="15" grpId="0" animBg="1"/>
      <p:bldP spid="17" grpId="0" animBg="1"/>
      <p:bldP spid="18" grpId="0" animBg="1"/>
      <p:bldP spid="20" grpId="0" animBg="1"/>
      <p:bldP spid="21" grpId="0" animBg="1"/>
      <p:bldP spid="23"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1"/>
          <p:cNvSpPr/>
          <p:nvPr>
            <p:ph idx="102" type="body" hasCustomPrompt="1"/>
          </p:nvPr>
        </p:nvSpPr>
        <p:spPr>
          <a:xfrm>
            <a:off x="548640" y="274320"/>
            <a:ext cx="9966960" cy="256032"/>
          </a:xfrm>
          <a:prstGeom prst="rect">
            <a:avLst/>
          </a:prstGeom>
          <a:noFill/>
          <a:ln/>
        </p:spPr>
        <p:txBody>
          <a:bodyPr wrap="square" lIns="0" tIns="0" rIns="0" bIns="0" rtlCol="0" anchor="ctr"/>
          <a:lstStyle/>
          <a:p>
            <a:pPr algn="l" indent="0" marL="0">
              <a:buNone/>
            </a:pPr>
            <a:r>
              <a:rPr lang="en-US" sz="1100" b="1" spc="100" kern="0" dirty="0">
                <a:solidFill>
                  <a:schemeClr val="accent2"/>
                </a:solidFill>
              </a:rPr>
              <a:t>07  •  ROUTING</a:t>
            </a:r>
            <a:endParaRPr lang="en-US" sz="1100" dirty="0"/>
          </a:p>
        </p:txBody>
      </p:sp>
      <p:sp>
        <p:nvSpPr>
          <p:cNvPr id="3" name="Text 1"/>
          <p:cNvSpPr/>
          <p:nvPr>
            <p:ph idx="103" type="title" hasCustomPrompt="1"/>
          </p:nvPr>
        </p:nvSpPr>
        <p:spPr>
          <a:xfrm>
            <a:off x="548640" y="548640"/>
            <a:ext cx="10149840" cy="548640"/>
          </a:xfrm>
          <a:prstGeom prst="rect">
            <a:avLst/>
          </a:prstGeom>
          <a:noFill/>
          <a:ln/>
        </p:spPr>
        <p:txBody>
          <a:bodyPr wrap="square" lIns="0" tIns="0" rIns="0" bIns="0" rtlCol="0" anchor="ctr"/>
          <a:lstStyle/>
          <a:p>
            <a:pPr algn="l" indent="0" marL="0">
              <a:buNone/>
            </a:pPr>
            <a:r>
              <a:rPr lang="en-US" sz="2600" b="1" dirty="0">
                <a:solidFill>
                  <a:schemeClr val="accent1"/>
                </a:solidFill>
              </a:rPr>
              <a:t>How to configure a default route</a:t>
            </a:r>
            <a:endParaRPr lang="en-US" sz="2600" dirty="0"/>
          </a:p>
        </p:txBody>
      </p:sp>
      <p:pic>
        <p:nvPicPr>
          <p:cNvPr id="4" name="Home button" descr="Home: back to the workbook menu">
            <a:hlinkClick r:id="rId2" tooltip="Back to the workbook menu" action="ppaction://hlinksldjump"/>
          </p:cNvPr>
          <p:cNvPicPr>
            <a:picLocks noChangeAspect="1"/>
          </p:cNvPicPr>
          <p:nvPr/>
        </p:nvPicPr>
        <p:blipFill>
          <a:blip r:embed="rId1"/>
          <a:stretch>
            <a:fillRect/>
          </a:stretch>
        </p:blipFill>
        <p:spPr>
          <a:xfrm>
            <a:off x="11365992" y="6336792"/>
            <a:ext cx="365760" cy="365760"/>
          </a:xfrm>
          <a:prstGeom prst="rect">
            <a:avLst/>
          </a:prstGeom>
        </p:spPr>
      </p:pic>
      <p:sp>
        <p:nvSpPr>
          <p:cNvPr id="5" name="Goal"/>
          <p:cNvSpPr txBox="1"/>
          <p:nvPr/>
        </p:nvSpPr>
        <p:spPr>
          <a:xfrm>
            <a:off x="548640" y="1161288"/>
            <a:ext cx="11094415" cy="384048"/>
          </a:xfrm>
          <a:prstGeom prst="rect">
            <a:avLst/>
          </a:prstGeom>
          <a:noFill/>
          <a:ln/>
        </p:spPr>
        <p:txBody>
          <a:bodyPr wrap="square" lIns="0" tIns="0" rIns="0" bIns="0" rtlCol="0" anchor="ctr"/>
          <a:lstStyle/>
          <a:p>
            <a:pPr indent="0" marL="0">
              <a:buNone/>
            </a:pPr>
            <a:r>
              <a:rPr lang="en-US" sz="1400" b="1" dirty="0">
                <a:solidFill>
                  <a:srgbClr val="2B7043"/>
                </a:solidFill>
              </a:rPr>
              <a:t>Goal:  </a:t>
            </a:r>
            <a:r>
              <a:rPr lang="en-US" sz="1400" dirty="0">
                <a:solidFill>
                  <a:srgbClr val="2B2B2B"/>
                </a:solidFill>
              </a:rPr>
              <a:t>A default route catches every destination the router doesn’t know — usually “all Internet traffic: go to the ISP”.</a:t>
            </a:r>
            <a:endParaRPr lang="en-US" sz="1400" dirty="0"/>
          </a:p>
        </p:txBody>
      </p:sp>
      <p:sp>
        <p:nvSpPr>
          <p:cNvPr id="6" name="Command header"/>
          <p:cNvSpPr/>
          <p:nvPr/>
        </p:nvSpPr>
        <p:spPr>
          <a:xfrm>
            <a:off x="548640" y="1664208"/>
            <a:ext cx="6153912" cy="310896"/>
          </a:xfrm>
          <a:prstGeom prst="rect">
            <a:avLst/>
          </a:prstGeom>
          <a:solidFill>
            <a:srgbClr val="1B2B22"/>
          </a:solidFill>
          <a:ln/>
        </p:spPr>
        <p:txBody>
          <a:bodyPr wrap="square" lIns="109728" tIns="45720" rIns="109728" bIns="45720" rtlCol="0" anchor="ctr"/>
          <a:lstStyle/>
          <a:p>
            <a:pPr indent="0" marL="0">
              <a:buNone/>
            </a:pPr>
            <a:r>
              <a:rPr lang="en-US" sz="1100" dirty="0">
                <a:solidFill>
                  <a:srgbClr val="E0605A"/>
                </a:solidFill>
              </a:rPr>
              <a:t>●  </a:t>
            </a:r>
            <a:r>
              <a:rPr lang="en-US" sz="1100" dirty="0">
                <a:solidFill>
                  <a:srgbClr val="E8B92E"/>
                </a:solidFill>
              </a:rPr>
              <a:t>●  </a:t>
            </a:r>
            <a:r>
              <a:rPr lang="en-US" sz="1100" dirty="0">
                <a:solidFill>
                  <a:srgbClr val="4CAF50"/>
                </a:solidFill>
              </a:rPr>
              <a:t>●   </a:t>
            </a:r>
            <a:r>
              <a:rPr lang="en-US" sz="1100" b="1" dirty="0">
                <a:solidFill>
                  <a:srgbClr val="C9D6CC"/>
                </a:solidFill>
              </a:rPr>
              <a:t>R1 / R2  —  type the white text, then press Enter</a:t>
            </a:r>
            <a:endParaRPr lang="en-US" sz="1100" dirty="0"/>
          </a:p>
        </p:txBody>
      </p:sp>
      <p:sp>
        <p:nvSpPr>
          <p:cNvPr id="7" name="Meaning header"/>
          <p:cNvSpPr/>
          <p:nvPr/>
        </p:nvSpPr>
        <p:spPr>
          <a:xfrm>
            <a:off x="6720840" y="1664208"/>
            <a:ext cx="4922215" cy="310896"/>
          </a:xfrm>
          <a:prstGeom prst="rect">
            <a:avLst/>
          </a:prstGeom>
          <a:solidFill>
            <a:srgbClr val="E8F1EA"/>
          </a:solidFill>
          <a:ln/>
        </p:spPr>
        <p:txBody>
          <a:bodyPr wrap="square" lIns="109728" tIns="45720" rIns="109728" bIns="45720" rtlCol="0" anchor="ctr"/>
          <a:lstStyle/>
          <a:p>
            <a:pPr indent="0" marL="0">
              <a:buNone/>
            </a:pPr>
            <a:r>
              <a:rPr lang="en-US" sz="1200" b="1" dirty="0">
                <a:solidFill>
                  <a:srgbClr val="1E5631"/>
                </a:solidFill>
              </a:rPr>
              <a:t>What it does</a:t>
            </a:r>
            <a:endParaRPr lang="en-US" sz="1200" dirty="0"/>
          </a:p>
        </p:txBody>
      </p:sp>
      <p:sp>
        <p:nvSpPr>
          <p:cNvPr id="8" name="Command 01"/>
          <p:cNvSpPr/>
          <p:nvPr/>
        </p:nvSpPr>
        <p:spPr>
          <a:xfrm>
            <a:off x="548640" y="1993392"/>
            <a:ext cx="6153912" cy="54380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R1(config)# </a:t>
            </a:r>
            <a:r>
              <a:rPr lang="en-US" sz="1200" b="1" dirty="0">
                <a:solidFill>
                  <a:srgbClr val="FFFFFF"/>
                </a:solidFill>
                <a:latin typeface="Courier New" pitchFamily="34" charset="0"/>
                <a:ea typeface="Courier New" pitchFamily="34" charset="-122"/>
                <a:cs typeface="Courier New" pitchFamily="34" charset="-120"/>
              </a:rPr>
              <a:t>ip route 0.0.0.0 0.0.0.0 203.0.113.1</a:t>
            </a:r>
            <a:endParaRPr lang="en-US" sz="1200" dirty="0"/>
          </a:p>
        </p:txBody>
      </p:sp>
      <p:sp>
        <p:nvSpPr>
          <p:cNvPr id="9" name="Reveal 01 meaning"/>
          <p:cNvSpPr/>
          <p:nvPr/>
        </p:nvSpPr>
        <p:spPr>
          <a:xfrm>
            <a:off x="6720840" y="1993392"/>
            <a:ext cx="4922215" cy="543809"/>
          </a:xfrm>
          <a:prstGeom prst="rect">
            <a:avLst/>
          </a:prstGeom>
          <a:solidFill>
            <a:srgbClr val="F2F8F3"/>
          </a:solidFill>
          <a:ln/>
        </p:spPr>
        <p:txBody>
          <a:bodyPr wrap="square" lIns="109728" tIns="45720" rIns="109728" bIns="45720" rtlCol="0" anchor="ctr"/>
          <a:lstStyle/>
          <a:p>
            <a:pPr indent="0" marL="0">
              <a:buNone/>
            </a:pPr>
            <a:r>
              <a:rPr lang="en-US" sz="1400" dirty="0">
                <a:solidFill>
                  <a:srgbClr val="2B2B2B"/>
                </a:solidFill>
              </a:rPr>
              <a:t>“Anything I don’t know, send to the ISP router 203.0.113.1.” </a:t>
            </a:r>
            <a:r>
              <a:rPr lang="en-US" sz="1300" b="1" dirty="0">
                <a:solidFill>
                  <a:srgbClr val="1E5631"/>
                </a:solidFill>
                <a:latin typeface="Courier New" pitchFamily="34" charset="0"/>
                <a:ea typeface="Courier New" pitchFamily="34" charset="-122"/>
                <a:cs typeface="Courier New" pitchFamily="34" charset="-120"/>
              </a:rPr>
              <a:t>0.0.0.0 0.0.0.0</a:t>
            </a:r>
            <a:r>
              <a:rPr lang="en-US" sz="1400" dirty="0">
                <a:solidFill>
                  <a:srgbClr val="2B2B2B"/>
                </a:solidFill>
              </a:rPr>
              <a:t> matches every address.</a:t>
            </a:r>
            <a:endParaRPr lang="en-US" sz="1400" dirty="0"/>
          </a:p>
        </p:txBody>
      </p:sp>
      <p:sp>
        <p:nvSpPr>
          <p:cNvPr id="10" name="Command 02"/>
          <p:cNvSpPr/>
          <p:nvPr/>
        </p:nvSpPr>
        <p:spPr>
          <a:xfrm>
            <a:off x="548640" y="2555489"/>
            <a:ext cx="6153912" cy="54380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R2(config)# </a:t>
            </a:r>
            <a:r>
              <a:rPr lang="en-US" sz="1200" b="1" dirty="0">
                <a:solidFill>
                  <a:srgbClr val="FFFFFF"/>
                </a:solidFill>
                <a:latin typeface="Courier New" pitchFamily="34" charset="0"/>
                <a:ea typeface="Courier New" pitchFamily="34" charset="-122"/>
                <a:cs typeface="Courier New" pitchFamily="34" charset="-120"/>
              </a:rPr>
              <a:t>ip route 0.0.0.0 0.0.0.0 10.0.0.1</a:t>
            </a:r>
            <a:endParaRPr lang="en-US" sz="1200" dirty="0"/>
          </a:p>
        </p:txBody>
      </p:sp>
      <p:sp>
        <p:nvSpPr>
          <p:cNvPr id="11" name="Reveal 02 meaning"/>
          <p:cNvSpPr/>
          <p:nvPr/>
        </p:nvSpPr>
        <p:spPr>
          <a:xfrm>
            <a:off x="6720840" y="2555489"/>
            <a:ext cx="4922215" cy="543809"/>
          </a:xfrm>
          <a:prstGeom prst="rect">
            <a:avLst/>
          </a:prstGeom>
          <a:solidFill>
            <a:srgbClr val="FFFFFF"/>
          </a:solidFill>
          <a:ln/>
        </p:spPr>
        <p:txBody>
          <a:bodyPr wrap="square" lIns="109728" tIns="45720" rIns="109728" bIns="45720" rtlCol="0" anchor="ctr"/>
          <a:lstStyle/>
          <a:p>
            <a:pPr indent="0" marL="0">
              <a:buNone/>
            </a:pPr>
            <a:r>
              <a:rPr lang="en-US" sz="1400" dirty="0">
                <a:solidFill>
                  <a:srgbClr val="2B2B2B"/>
                </a:solidFill>
              </a:rPr>
              <a:t>A branch router with only one way out needs just this one route instead of many static routes.</a:t>
            </a:r>
            <a:endParaRPr lang="en-US" sz="1400" dirty="0"/>
          </a:p>
        </p:txBody>
      </p:sp>
      <p:sp>
        <p:nvSpPr>
          <p:cNvPr id="12" name="Command 03"/>
          <p:cNvSpPr/>
          <p:nvPr/>
        </p:nvSpPr>
        <p:spPr>
          <a:xfrm>
            <a:off x="548640" y="3117586"/>
            <a:ext cx="6153912" cy="54380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R1(config)# </a:t>
            </a:r>
            <a:r>
              <a:rPr lang="en-US" sz="1200" b="1" dirty="0">
                <a:solidFill>
                  <a:srgbClr val="FFFFFF"/>
                </a:solidFill>
                <a:latin typeface="Courier New" pitchFamily="34" charset="0"/>
                <a:ea typeface="Courier New" pitchFamily="34" charset="-122"/>
                <a:cs typeface="Courier New" pitchFamily="34" charset="-120"/>
              </a:rPr>
              <a:t>router ospf 10</a:t>
            </a:r>
            <a:endParaRPr lang="en-US" sz="1200" dirty="0"/>
          </a:p>
          <a:p>
            <a:pPr indent="0" marL="0">
              <a:buNone/>
            </a:pPr>
            <a:r>
              <a:rPr lang="en-US" sz="1200" dirty="0">
                <a:solidFill>
                  <a:srgbClr val="8FC9A0"/>
                </a:solidFill>
                <a:latin typeface="Courier New" pitchFamily="34" charset="0"/>
                <a:ea typeface="Courier New" pitchFamily="34" charset="-122"/>
                <a:cs typeface="Courier New" pitchFamily="34" charset="-120"/>
              </a:rPr>
              <a:t>R1(config-router)# </a:t>
            </a:r>
            <a:r>
              <a:rPr lang="en-US" sz="1200" b="1" dirty="0">
                <a:solidFill>
                  <a:srgbClr val="FFFFFF"/>
                </a:solidFill>
                <a:latin typeface="Courier New" pitchFamily="34" charset="0"/>
                <a:ea typeface="Courier New" pitchFamily="34" charset="-122"/>
                <a:cs typeface="Courier New" pitchFamily="34" charset="-120"/>
              </a:rPr>
              <a:t>default-information originate</a:t>
            </a:r>
            <a:endParaRPr lang="en-US" sz="1200" dirty="0"/>
          </a:p>
        </p:txBody>
      </p:sp>
      <p:sp>
        <p:nvSpPr>
          <p:cNvPr id="13" name="Reveal 03 meaning"/>
          <p:cNvSpPr/>
          <p:nvPr/>
        </p:nvSpPr>
        <p:spPr>
          <a:xfrm>
            <a:off x="6720840" y="3117586"/>
            <a:ext cx="4922215" cy="543809"/>
          </a:xfrm>
          <a:prstGeom prst="rect">
            <a:avLst/>
          </a:prstGeom>
          <a:solidFill>
            <a:srgbClr val="F2F8F3"/>
          </a:solidFill>
          <a:ln/>
        </p:spPr>
        <p:txBody>
          <a:bodyPr wrap="square" lIns="109728" tIns="45720" rIns="109728" bIns="45720" rtlCol="0" anchor="ctr"/>
          <a:lstStyle/>
          <a:p>
            <a:pPr indent="0" marL="0">
              <a:buNone/>
            </a:pPr>
            <a:r>
              <a:rPr lang="en-US" sz="1400" dirty="0">
                <a:solidFill>
                  <a:srgbClr val="2B2B2B"/>
                </a:solidFill>
              </a:rPr>
              <a:t>With OSPF running, R1 shares its default route, so the other routers learn it automatically (as O*E2).</a:t>
            </a:r>
            <a:endParaRPr lang="en-US" sz="1400" dirty="0"/>
          </a:p>
        </p:txBody>
      </p:sp>
      <p:sp>
        <p:nvSpPr>
          <p:cNvPr id="14" name="Command 04"/>
          <p:cNvSpPr/>
          <p:nvPr/>
        </p:nvSpPr>
        <p:spPr>
          <a:xfrm>
            <a:off x="548640" y="3679683"/>
            <a:ext cx="6153912" cy="54380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 </a:t>
            </a:r>
            <a:r>
              <a:rPr lang="en-US" sz="1200" b="1" dirty="0">
                <a:solidFill>
                  <a:srgbClr val="FFFFFF"/>
                </a:solidFill>
                <a:latin typeface="Courier New" pitchFamily="34" charset="0"/>
                <a:ea typeface="Courier New" pitchFamily="34" charset="-122"/>
                <a:cs typeface="Courier New" pitchFamily="34" charset="-120"/>
              </a:rPr>
              <a:t>show ip route</a:t>
            </a:r>
            <a:endParaRPr lang="en-US" sz="1200" dirty="0"/>
          </a:p>
        </p:txBody>
      </p:sp>
      <p:sp>
        <p:nvSpPr>
          <p:cNvPr id="15" name="Reveal 04 meaning"/>
          <p:cNvSpPr/>
          <p:nvPr/>
        </p:nvSpPr>
        <p:spPr>
          <a:xfrm>
            <a:off x="6720840" y="3679683"/>
            <a:ext cx="4922215" cy="543809"/>
          </a:xfrm>
          <a:prstGeom prst="rect">
            <a:avLst/>
          </a:prstGeom>
          <a:solidFill>
            <a:srgbClr val="FFFFFF"/>
          </a:solidFill>
          <a:ln/>
        </p:spPr>
        <p:txBody>
          <a:bodyPr wrap="square" lIns="109728" tIns="45720" rIns="109728" bIns="45720" rtlCol="0" anchor="ctr"/>
          <a:lstStyle/>
          <a:p>
            <a:pPr indent="0" marL="0">
              <a:buNone/>
            </a:pPr>
            <a:r>
              <a:rPr lang="en-US" sz="1400" dirty="0">
                <a:solidFill>
                  <a:srgbClr val="2B2B2B"/>
                </a:solidFill>
              </a:rPr>
              <a:t>Look for </a:t>
            </a:r>
            <a:r>
              <a:rPr lang="en-US" sz="1300" b="1" dirty="0">
                <a:solidFill>
                  <a:srgbClr val="1E5631"/>
                </a:solidFill>
                <a:latin typeface="Courier New" pitchFamily="34" charset="0"/>
                <a:ea typeface="Courier New" pitchFamily="34" charset="-122"/>
                <a:cs typeface="Courier New" pitchFamily="34" charset="-120"/>
              </a:rPr>
              <a:t>S* 0.0.0.0/0 [1/0] via 203.0.113.1</a:t>
            </a:r>
            <a:r>
              <a:rPr lang="en-US" sz="1400" dirty="0">
                <a:solidFill>
                  <a:srgbClr val="2B2B2B"/>
                </a:solidFill>
              </a:rPr>
              <a:t> and “Gateway of last resort is 203.0.113.1”.</a:t>
            </a:r>
            <a:endParaRPr lang="en-US" sz="1400" dirty="0"/>
          </a:p>
        </p:txBody>
      </p:sp>
      <p:sp>
        <p:nvSpPr>
          <p:cNvPr id="16" name="Reveal 99 check box"/>
          <p:cNvSpPr/>
          <p:nvPr/>
        </p:nvSpPr>
        <p:spPr>
          <a:xfrm>
            <a:off x="548640" y="5504688"/>
            <a:ext cx="5410048" cy="749808"/>
          </a:xfrm>
          <a:prstGeom prst="roundRect">
            <a:avLst>
              <a:gd name="adj" fmla="val 9756"/>
            </a:avLst>
          </a:prstGeom>
          <a:solidFill>
            <a:srgbClr val="E8F1EA"/>
          </a:solidFill>
          <a:ln w="12700">
            <a:solidFill>
              <a:srgbClr val="B7C9BA"/>
            </a:solidFill>
            <a:prstDash val="solid"/>
          </a:ln>
        </p:spPr>
      </p:sp>
      <p:pic>
        <p:nvPicPr>
          <p:cNvPr id="17" name="Reveal 99 check icon" descr="Check it:">    </p:cNvPr>
          <p:cNvPicPr>
            <a:picLocks noChangeAspect="1"/>
          </p:cNvPicPr>
          <p:nvPr/>
        </p:nvPicPr>
        <p:blipFill>
          <a:blip r:embed="rId3"/>
          <a:stretch>
            <a:fillRect/>
          </a:stretch>
        </p:blipFill>
        <p:spPr>
          <a:xfrm>
            <a:off x="694944" y="5733288"/>
            <a:ext cx="292608" cy="292608"/>
          </a:xfrm>
          <a:prstGeom prst="rect">
            <a:avLst/>
          </a:prstGeom>
        </p:spPr>
      </p:pic>
      <p:sp>
        <p:nvSpPr>
          <p:cNvPr id="18" name="Reveal 99 check text"/>
          <p:cNvSpPr txBox="1"/>
          <p:nvPr/>
        </p:nvSpPr>
        <p:spPr>
          <a:xfrm>
            <a:off x="1097280" y="5541264"/>
            <a:ext cx="4751680" cy="676656"/>
          </a:xfrm>
          <a:prstGeom prst="rect">
            <a:avLst/>
          </a:prstGeom>
          <a:noFill/>
          <a:ln/>
        </p:spPr>
        <p:txBody>
          <a:bodyPr wrap="square" lIns="0" tIns="0" rIns="0" bIns="0" rtlCol="0" anchor="ctr"/>
          <a:lstStyle/>
          <a:p>
            <a:pPr indent="0" marL="0">
              <a:buNone/>
            </a:pPr>
            <a:r>
              <a:rPr lang="en-US" sz="1400" b="1" dirty="0">
                <a:solidFill>
                  <a:srgbClr val="1E5631"/>
                </a:solidFill>
              </a:rPr>
              <a:t>Check it:  </a:t>
            </a:r>
            <a:r>
              <a:rPr lang="en-US" sz="1400" dirty="0">
                <a:solidFill>
                  <a:srgbClr val="2B2B2B"/>
                </a:solidFill>
              </a:rPr>
              <a:t>From a PC, </a:t>
            </a:r>
            <a:r>
              <a:rPr lang="en-US" sz="1300" b="1" dirty="0">
                <a:solidFill>
                  <a:srgbClr val="1E5631"/>
                </a:solidFill>
                <a:latin typeface="Courier New" pitchFamily="34" charset="0"/>
                <a:ea typeface="Courier New" pitchFamily="34" charset="-122"/>
                <a:cs typeface="Courier New" pitchFamily="34" charset="-120"/>
              </a:rPr>
              <a:t>tracert</a:t>
            </a:r>
            <a:r>
              <a:rPr lang="en-US" sz="1400" dirty="0">
                <a:solidFill>
                  <a:srgbClr val="2B2B2B"/>
                </a:solidFill>
              </a:rPr>
              <a:t> to an Internet server: the trace passes R1 and then the ISP router.</a:t>
            </a:r>
            <a:endParaRPr lang="en-US" sz="1400" dirty="0"/>
          </a:p>
        </p:txBody>
      </p:sp>
      <p:sp>
        <p:nvSpPr>
          <p:cNvPr id="19" name="Reveal 99 watch box"/>
          <p:cNvSpPr/>
          <p:nvPr/>
        </p:nvSpPr>
        <p:spPr>
          <a:xfrm>
            <a:off x="6233008" y="5504688"/>
            <a:ext cx="5410048" cy="749808"/>
          </a:xfrm>
          <a:prstGeom prst="roundRect">
            <a:avLst>
              <a:gd name="adj" fmla="val 9756"/>
            </a:avLst>
          </a:prstGeom>
          <a:solidFill>
            <a:srgbClr val="FBEAEA"/>
          </a:solidFill>
          <a:ln w="12700">
            <a:solidFill>
              <a:srgbClr val="E9B8B5"/>
            </a:solidFill>
            <a:prstDash val="solid"/>
          </a:ln>
        </p:spPr>
      </p:sp>
      <p:pic>
        <p:nvPicPr>
          <p:cNvPr id="20" name="Reveal 99 watch icon" descr="Watch out:">    </p:cNvPr>
          <p:cNvPicPr>
            <a:picLocks noChangeAspect="1"/>
          </p:cNvPicPr>
          <p:nvPr/>
        </p:nvPicPr>
        <p:blipFill>
          <a:blip r:embed="rId4"/>
          <a:stretch>
            <a:fillRect/>
          </a:stretch>
        </p:blipFill>
        <p:spPr>
          <a:xfrm>
            <a:off x="6379312" y="5733288"/>
            <a:ext cx="292608" cy="292608"/>
          </a:xfrm>
          <a:prstGeom prst="rect">
            <a:avLst/>
          </a:prstGeom>
        </p:spPr>
      </p:pic>
      <p:sp>
        <p:nvSpPr>
          <p:cNvPr id="21" name="Reveal 99 watch text"/>
          <p:cNvSpPr txBox="1"/>
          <p:nvPr/>
        </p:nvSpPr>
        <p:spPr>
          <a:xfrm>
            <a:off x="6781648" y="5541264"/>
            <a:ext cx="4751680" cy="676656"/>
          </a:xfrm>
          <a:prstGeom prst="rect">
            <a:avLst/>
          </a:prstGeom>
          <a:noFill/>
          <a:ln/>
        </p:spPr>
        <p:txBody>
          <a:bodyPr wrap="square" lIns="0" tIns="0" rIns="0" bIns="0" rtlCol="0" anchor="ctr"/>
          <a:lstStyle/>
          <a:p>
            <a:pPr indent="0" marL="0">
              <a:buNone/>
            </a:pPr>
            <a:r>
              <a:rPr lang="en-US" sz="1400" b="1" dirty="0">
                <a:solidFill>
                  <a:srgbClr val="8B1A1A"/>
                </a:solidFill>
              </a:rPr>
              <a:t>Watch out:  </a:t>
            </a:r>
            <a:r>
              <a:rPr lang="en-US" sz="1400" dirty="0">
                <a:solidFill>
                  <a:srgbClr val="2B2B2B"/>
                </a:solidFill>
              </a:rPr>
              <a:t>Point the default route only at the real exit. Two routers defaulting to each other bounce packets until they expire.</a:t>
            </a:r>
            <a:endParaRPr lang="en-US" sz="1400" dirty="0"/>
          </a:p>
        </p:txBody>
      </p:sp>
      <p:sp>
        <p:nvSpPr>
          <p:cNvPr id="25" name="Slide Number Placeholder 0"/>
          <p:cNvSpPr>
            <a:spLocks noGrp="1"/>
          </p:cNvSpPr>
          <p:nvPr>
            <p:ph type="sldNum" sz="quarter" idx="4294967295"/>
          </p:nvPr>
        </p:nvSpPr>
        <p:spPr>
          <a:xfrm>
            <a:off x="10698480" y="6464808"/>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r"/>
            <a:fld id="{F7021451-1387-4CA6-816F-3879F97B5CBC}" type="slidenum">
              <a:rPr b="0" lang="en-US"/>
              <a:t>53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4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400"/>
                                        <p:tgtEl>
                                          <p:spTgt spid="16"/>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fade">
                                      <p:cBhvr>
                                        <p:cTn id="30" dur="400"/>
                                        <p:tgtEl>
                                          <p:spTgt spid="17"/>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fade">
                                      <p:cBhvr>
                                        <p:cTn id="33" dur="400"/>
                                        <p:tgtEl>
                                          <p:spTgt spid="18"/>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6" dur="400"/>
                                        <p:tgtEl>
                                          <p:spTgt spid="19"/>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fade">
                                      <p:cBhvr>
                                        <p:cTn id="39" dur="400"/>
                                        <p:tgtEl>
                                          <p:spTgt spid="20"/>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fade">
                                      <p:cBhvr>
                                        <p:cTn id="42"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3" grpId="0" animBg="1"/>
      <p:bldP spid="15" grpId="0" animBg="1"/>
      <p:bldP spid="16" grpId="0" animBg="1"/>
      <p:bldP spid="18" grpId="0" animBg="1"/>
      <p:bldP spid="19" grpId="0" animBg="1"/>
      <p:bldP spid="21"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1"/>
          <p:cNvSpPr/>
          <p:nvPr>
            <p:ph idx="102" type="body" hasCustomPrompt="1"/>
          </p:nvPr>
        </p:nvSpPr>
        <p:spPr>
          <a:xfrm>
            <a:off x="548640" y="274320"/>
            <a:ext cx="9966960" cy="256032"/>
          </a:xfrm>
          <a:prstGeom prst="rect">
            <a:avLst/>
          </a:prstGeom>
          <a:noFill/>
          <a:ln/>
        </p:spPr>
        <p:txBody>
          <a:bodyPr wrap="square" lIns="0" tIns="0" rIns="0" bIns="0" rtlCol="0" anchor="ctr"/>
          <a:lstStyle/>
          <a:p>
            <a:pPr algn="l" indent="0" marL="0">
              <a:buNone/>
            </a:pPr>
            <a:r>
              <a:rPr lang="en-US" sz="1100" b="1" spc="100" kern="0" dirty="0">
                <a:solidFill>
                  <a:schemeClr val="accent2"/>
                </a:solidFill>
              </a:rPr>
              <a:t>07  •  ROUTING  •  LAB 3</a:t>
            </a:r>
            <a:endParaRPr lang="en-US" sz="1100" dirty="0"/>
          </a:p>
        </p:txBody>
      </p:sp>
      <p:sp>
        <p:nvSpPr>
          <p:cNvPr id="3" name="Text 1"/>
          <p:cNvSpPr/>
          <p:nvPr>
            <p:ph idx="103" type="title" hasCustomPrompt="1"/>
          </p:nvPr>
        </p:nvSpPr>
        <p:spPr>
          <a:xfrm>
            <a:off x="548640" y="548640"/>
            <a:ext cx="10149840" cy="548640"/>
          </a:xfrm>
          <a:prstGeom prst="rect">
            <a:avLst/>
          </a:prstGeom>
          <a:noFill/>
          <a:ln/>
        </p:spPr>
        <p:txBody>
          <a:bodyPr wrap="square" lIns="0" tIns="0" rIns="0" bIns="0" rtlCol="0" anchor="ctr"/>
          <a:lstStyle/>
          <a:p>
            <a:pPr algn="l" indent="0" marL="0">
              <a:buNone/>
            </a:pPr>
            <a:r>
              <a:rPr lang="en-US" sz="2600" b="1" dirty="0">
                <a:solidFill>
                  <a:schemeClr val="accent1"/>
                </a:solidFill>
              </a:rPr>
              <a:t>How to configure OSPF (single area) (1 of 2)</a:t>
            </a:r>
            <a:endParaRPr lang="en-US" sz="2600" dirty="0"/>
          </a:p>
        </p:txBody>
      </p:sp>
      <p:pic>
        <p:nvPicPr>
          <p:cNvPr id="4" name="Home button" descr="Home: back to the workbook menu">
            <a:hlinkClick r:id="rId2" tooltip="Back to the workbook menu" action="ppaction://hlinksldjump"/>
          </p:cNvPr>
          <p:cNvPicPr>
            <a:picLocks noChangeAspect="1"/>
          </p:cNvPicPr>
          <p:nvPr/>
        </p:nvPicPr>
        <p:blipFill>
          <a:blip r:embed="rId1"/>
          <a:stretch>
            <a:fillRect/>
          </a:stretch>
        </p:blipFill>
        <p:spPr>
          <a:xfrm>
            <a:off x="11365992" y="6336792"/>
            <a:ext cx="365760" cy="365760"/>
          </a:xfrm>
          <a:prstGeom prst="rect">
            <a:avLst/>
          </a:prstGeom>
        </p:spPr>
      </p:pic>
      <p:sp>
        <p:nvSpPr>
          <p:cNvPr id="5" name="Goal"/>
          <p:cNvSpPr txBox="1"/>
          <p:nvPr/>
        </p:nvSpPr>
        <p:spPr>
          <a:xfrm>
            <a:off x="548640" y="1161288"/>
            <a:ext cx="11094415" cy="384048"/>
          </a:xfrm>
          <a:prstGeom prst="rect">
            <a:avLst/>
          </a:prstGeom>
          <a:noFill/>
          <a:ln/>
        </p:spPr>
        <p:txBody>
          <a:bodyPr wrap="square" lIns="0" tIns="0" rIns="0" bIns="0" rtlCol="0" anchor="ctr"/>
          <a:lstStyle/>
          <a:p>
            <a:pPr indent="0" marL="0">
              <a:buNone/>
            </a:pPr>
            <a:r>
              <a:rPr lang="en-US" sz="1400" b="1" dirty="0">
                <a:solidFill>
                  <a:srgbClr val="2B7043"/>
                </a:solidFill>
              </a:rPr>
              <a:t>Goal:  </a:t>
            </a:r>
            <a:r>
              <a:rPr lang="en-US" sz="1400" dirty="0">
                <a:solidFill>
                  <a:srgbClr val="2B2B2B"/>
                </a:solidFill>
              </a:rPr>
              <a:t>OSPF lets routers find every network by themselves and reroute when a link fails (Lab 3, part B — R1 shown).</a:t>
            </a:r>
            <a:endParaRPr lang="en-US" sz="1400" dirty="0"/>
          </a:p>
        </p:txBody>
      </p:sp>
      <p:sp>
        <p:nvSpPr>
          <p:cNvPr id="6" name="Command header"/>
          <p:cNvSpPr/>
          <p:nvPr/>
        </p:nvSpPr>
        <p:spPr>
          <a:xfrm>
            <a:off x="548640" y="1664208"/>
            <a:ext cx="6153912" cy="310896"/>
          </a:xfrm>
          <a:prstGeom prst="rect">
            <a:avLst/>
          </a:prstGeom>
          <a:solidFill>
            <a:srgbClr val="1B2B22"/>
          </a:solidFill>
          <a:ln/>
        </p:spPr>
        <p:txBody>
          <a:bodyPr wrap="square" lIns="109728" tIns="45720" rIns="109728" bIns="45720" rtlCol="0" anchor="ctr"/>
          <a:lstStyle/>
          <a:p>
            <a:pPr indent="0" marL="0">
              <a:buNone/>
            </a:pPr>
            <a:r>
              <a:rPr lang="en-US" sz="1100" dirty="0">
                <a:solidFill>
                  <a:srgbClr val="E0605A"/>
                </a:solidFill>
              </a:rPr>
              <a:t>●  </a:t>
            </a:r>
            <a:r>
              <a:rPr lang="en-US" sz="1100" dirty="0">
                <a:solidFill>
                  <a:srgbClr val="E8B92E"/>
                </a:solidFill>
              </a:rPr>
              <a:t>●  </a:t>
            </a:r>
            <a:r>
              <a:rPr lang="en-US" sz="1100" dirty="0">
                <a:solidFill>
                  <a:srgbClr val="4CAF50"/>
                </a:solidFill>
              </a:rPr>
              <a:t>●   </a:t>
            </a:r>
            <a:r>
              <a:rPr lang="en-US" sz="1100" b="1" dirty="0">
                <a:solidFill>
                  <a:srgbClr val="C9D6CC"/>
                </a:solidFill>
              </a:rPr>
              <a:t>R1  —  type the white text, then press Enter</a:t>
            </a:r>
            <a:endParaRPr lang="en-US" sz="1100" dirty="0"/>
          </a:p>
        </p:txBody>
      </p:sp>
      <p:sp>
        <p:nvSpPr>
          <p:cNvPr id="7" name="Meaning header"/>
          <p:cNvSpPr/>
          <p:nvPr/>
        </p:nvSpPr>
        <p:spPr>
          <a:xfrm>
            <a:off x="6720840" y="1664208"/>
            <a:ext cx="4922215" cy="310896"/>
          </a:xfrm>
          <a:prstGeom prst="rect">
            <a:avLst/>
          </a:prstGeom>
          <a:solidFill>
            <a:srgbClr val="E8F1EA"/>
          </a:solidFill>
          <a:ln/>
        </p:spPr>
        <p:txBody>
          <a:bodyPr wrap="square" lIns="109728" tIns="45720" rIns="109728" bIns="45720" rtlCol="0" anchor="ctr"/>
          <a:lstStyle/>
          <a:p>
            <a:pPr indent="0" marL="0">
              <a:buNone/>
            </a:pPr>
            <a:r>
              <a:rPr lang="en-US" sz="1200" b="1" dirty="0">
                <a:solidFill>
                  <a:srgbClr val="1E5631"/>
                </a:solidFill>
              </a:rPr>
              <a:t>What it does</a:t>
            </a:r>
            <a:endParaRPr lang="en-US" sz="1200" dirty="0"/>
          </a:p>
        </p:txBody>
      </p:sp>
      <p:sp>
        <p:nvSpPr>
          <p:cNvPr id="8" name="Command 01"/>
          <p:cNvSpPr/>
          <p:nvPr/>
        </p:nvSpPr>
        <p:spPr>
          <a:xfrm>
            <a:off x="548640" y="1993392"/>
            <a:ext cx="6153912" cy="54380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R1(config)# </a:t>
            </a:r>
            <a:r>
              <a:rPr lang="en-US" sz="1200" b="1" dirty="0">
                <a:solidFill>
                  <a:srgbClr val="FFFFFF"/>
                </a:solidFill>
                <a:latin typeface="Courier New" pitchFamily="34" charset="0"/>
                <a:ea typeface="Courier New" pitchFamily="34" charset="-122"/>
                <a:cs typeface="Courier New" pitchFamily="34" charset="-120"/>
              </a:rPr>
              <a:t>router ospf 10</a:t>
            </a:r>
            <a:endParaRPr lang="en-US" sz="1200" dirty="0"/>
          </a:p>
        </p:txBody>
      </p:sp>
      <p:sp>
        <p:nvSpPr>
          <p:cNvPr id="9" name="Reveal 01 meaning"/>
          <p:cNvSpPr/>
          <p:nvPr/>
        </p:nvSpPr>
        <p:spPr>
          <a:xfrm>
            <a:off x="6720840" y="1993392"/>
            <a:ext cx="4922215" cy="543809"/>
          </a:xfrm>
          <a:prstGeom prst="rect">
            <a:avLst/>
          </a:prstGeom>
          <a:solidFill>
            <a:srgbClr val="F2F8F3"/>
          </a:solidFill>
          <a:ln/>
        </p:spPr>
        <p:txBody>
          <a:bodyPr wrap="square" lIns="109728" tIns="45720" rIns="109728" bIns="45720" rtlCol="0" anchor="ctr"/>
          <a:lstStyle/>
          <a:p>
            <a:pPr indent="0" marL="0">
              <a:buNone/>
            </a:pPr>
            <a:r>
              <a:rPr lang="en-US" sz="1400" dirty="0">
                <a:solidFill>
                  <a:srgbClr val="2B2B2B"/>
                </a:solidFill>
              </a:rPr>
              <a:t>Start OSPF process 10. The number is local — neighbours don’t need to match it.</a:t>
            </a:r>
            <a:endParaRPr lang="en-US" sz="1400" dirty="0"/>
          </a:p>
        </p:txBody>
      </p:sp>
      <p:sp>
        <p:nvSpPr>
          <p:cNvPr id="10" name="Command 02"/>
          <p:cNvSpPr/>
          <p:nvPr/>
        </p:nvSpPr>
        <p:spPr>
          <a:xfrm>
            <a:off x="548640" y="2555489"/>
            <a:ext cx="6153912" cy="54380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R1(config-router)# </a:t>
            </a:r>
            <a:r>
              <a:rPr lang="en-US" sz="1200" b="1" dirty="0">
                <a:solidFill>
                  <a:srgbClr val="FFFFFF"/>
                </a:solidFill>
                <a:latin typeface="Courier New" pitchFamily="34" charset="0"/>
                <a:ea typeface="Courier New" pitchFamily="34" charset="-122"/>
                <a:cs typeface="Courier New" pitchFamily="34" charset="-120"/>
              </a:rPr>
              <a:t>router-id 1.1.1.1</a:t>
            </a:r>
            <a:endParaRPr lang="en-US" sz="1200" dirty="0"/>
          </a:p>
        </p:txBody>
      </p:sp>
      <p:sp>
        <p:nvSpPr>
          <p:cNvPr id="11" name="Reveal 02 meaning"/>
          <p:cNvSpPr/>
          <p:nvPr/>
        </p:nvSpPr>
        <p:spPr>
          <a:xfrm>
            <a:off x="6720840" y="2555489"/>
            <a:ext cx="4922215" cy="543809"/>
          </a:xfrm>
          <a:prstGeom prst="rect">
            <a:avLst/>
          </a:prstGeom>
          <a:solidFill>
            <a:srgbClr val="FFFFFF"/>
          </a:solidFill>
          <a:ln/>
        </p:spPr>
        <p:txBody>
          <a:bodyPr wrap="square" lIns="109728" tIns="45720" rIns="109728" bIns="45720" rtlCol="0" anchor="ctr"/>
          <a:lstStyle/>
          <a:p>
            <a:pPr indent="0" marL="0">
              <a:buNone/>
            </a:pPr>
            <a:r>
              <a:rPr lang="en-US" sz="1400" dirty="0">
                <a:solidFill>
                  <a:srgbClr val="2B2B2B"/>
                </a:solidFill>
              </a:rPr>
              <a:t>A unique ID for R1 (R2 = 2.2.2.2, R3 = 3.3.3.3) that makes outputs easy to read.</a:t>
            </a:r>
            <a:endParaRPr lang="en-US" sz="1400" dirty="0"/>
          </a:p>
        </p:txBody>
      </p:sp>
      <p:sp>
        <p:nvSpPr>
          <p:cNvPr id="12" name="Command 03"/>
          <p:cNvSpPr/>
          <p:nvPr/>
        </p:nvSpPr>
        <p:spPr>
          <a:xfrm>
            <a:off x="548640" y="3117586"/>
            <a:ext cx="6153912" cy="54380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R1(config-router)# </a:t>
            </a:r>
            <a:r>
              <a:rPr lang="en-US" sz="1200" b="1" dirty="0">
                <a:solidFill>
                  <a:srgbClr val="FFFFFF"/>
                </a:solidFill>
                <a:latin typeface="Courier New" pitchFamily="34" charset="0"/>
                <a:ea typeface="Courier New" pitchFamily="34" charset="-122"/>
                <a:cs typeface="Courier New" pitchFamily="34" charset="-120"/>
              </a:rPr>
              <a:t>network 172.16.1.0 0.0.0.255 area 0</a:t>
            </a:r>
            <a:endParaRPr lang="en-US" sz="1200" dirty="0"/>
          </a:p>
        </p:txBody>
      </p:sp>
      <p:sp>
        <p:nvSpPr>
          <p:cNvPr id="13" name="Reveal 03 meaning"/>
          <p:cNvSpPr/>
          <p:nvPr/>
        </p:nvSpPr>
        <p:spPr>
          <a:xfrm>
            <a:off x="6720840" y="3117586"/>
            <a:ext cx="4922215" cy="543809"/>
          </a:xfrm>
          <a:prstGeom prst="rect">
            <a:avLst/>
          </a:prstGeom>
          <a:solidFill>
            <a:srgbClr val="F2F8F3"/>
          </a:solidFill>
          <a:ln/>
        </p:spPr>
        <p:txBody>
          <a:bodyPr wrap="square" lIns="109728" tIns="45720" rIns="109728" bIns="45720" rtlCol="0" anchor="ctr"/>
          <a:lstStyle/>
          <a:p>
            <a:pPr indent="0" marL="0">
              <a:buNone/>
            </a:pPr>
            <a:r>
              <a:rPr lang="en-US" sz="1400" dirty="0">
                <a:solidFill>
                  <a:srgbClr val="2B2B2B"/>
                </a:solidFill>
              </a:rPr>
              <a:t>Run OSPF on the port in 172.16.1.0/24 and put it in area 0. </a:t>
            </a:r>
            <a:r>
              <a:rPr lang="en-US" sz="1300" b="1" dirty="0">
                <a:solidFill>
                  <a:srgbClr val="1E5631"/>
                </a:solidFill>
                <a:latin typeface="Courier New" pitchFamily="34" charset="0"/>
                <a:ea typeface="Courier New" pitchFamily="34" charset="-122"/>
                <a:cs typeface="Courier New" pitchFamily="34" charset="-120"/>
              </a:rPr>
              <a:t>0.0.0.255</a:t>
            </a:r>
            <a:r>
              <a:rPr lang="en-US" sz="1400" dirty="0">
                <a:solidFill>
                  <a:srgbClr val="2B2B2B"/>
                </a:solidFill>
              </a:rPr>
              <a:t> is the wildcard of 255.255.255.0.</a:t>
            </a:r>
            <a:endParaRPr lang="en-US" sz="1400" dirty="0"/>
          </a:p>
        </p:txBody>
      </p:sp>
      <p:sp>
        <p:nvSpPr>
          <p:cNvPr id="14" name="Command 04"/>
          <p:cNvSpPr/>
          <p:nvPr/>
        </p:nvSpPr>
        <p:spPr>
          <a:xfrm>
            <a:off x="548640" y="3679683"/>
            <a:ext cx="6153912" cy="455005"/>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R1(config-router)# </a:t>
            </a:r>
            <a:r>
              <a:rPr lang="en-US" sz="1200" b="1" dirty="0">
                <a:solidFill>
                  <a:srgbClr val="FFFFFF"/>
                </a:solidFill>
                <a:latin typeface="Courier New" pitchFamily="34" charset="0"/>
                <a:ea typeface="Courier New" pitchFamily="34" charset="-122"/>
                <a:cs typeface="Courier New" pitchFamily="34" charset="-120"/>
              </a:rPr>
              <a:t>network 10.0.0.0 0.0.0.3 area 0</a:t>
            </a:r>
            <a:endParaRPr lang="en-US" sz="1200" dirty="0"/>
          </a:p>
          <a:p>
            <a:pPr indent="0" marL="0">
              <a:buNone/>
            </a:pPr>
            <a:r>
              <a:rPr lang="en-US" sz="1200" dirty="0">
                <a:solidFill>
                  <a:srgbClr val="8FC9A0"/>
                </a:solidFill>
                <a:latin typeface="Courier New" pitchFamily="34" charset="0"/>
                <a:ea typeface="Courier New" pitchFamily="34" charset="-122"/>
                <a:cs typeface="Courier New" pitchFamily="34" charset="-120"/>
              </a:rPr>
              <a:t>R1(config-router)# </a:t>
            </a:r>
            <a:r>
              <a:rPr lang="en-US" sz="1200" b="1" dirty="0">
                <a:solidFill>
                  <a:srgbClr val="FFFFFF"/>
                </a:solidFill>
                <a:latin typeface="Courier New" pitchFamily="34" charset="0"/>
                <a:ea typeface="Courier New" pitchFamily="34" charset="-122"/>
                <a:cs typeface="Courier New" pitchFamily="34" charset="-120"/>
              </a:rPr>
              <a:t>network 10.0.0.8 0.0.0.3 area 0</a:t>
            </a:r>
            <a:endParaRPr lang="en-US" sz="1200" dirty="0"/>
          </a:p>
        </p:txBody>
      </p:sp>
      <p:sp>
        <p:nvSpPr>
          <p:cNvPr id="15" name="Reveal 04 meaning"/>
          <p:cNvSpPr/>
          <p:nvPr/>
        </p:nvSpPr>
        <p:spPr>
          <a:xfrm>
            <a:off x="6720840" y="3679683"/>
            <a:ext cx="4922215" cy="455005"/>
          </a:xfrm>
          <a:prstGeom prst="rect">
            <a:avLst/>
          </a:prstGeom>
          <a:solidFill>
            <a:srgbClr val="FFFFFF"/>
          </a:solidFill>
          <a:ln/>
        </p:spPr>
        <p:txBody>
          <a:bodyPr wrap="square" lIns="109728" tIns="45720" rIns="109728" bIns="45720" rtlCol="0" anchor="ctr"/>
          <a:lstStyle/>
          <a:p>
            <a:pPr indent="0" marL="0">
              <a:buNone/>
            </a:pPr>
            <a:r>
              <a:rPr lang="en-US" sz="1400" dirty="0">
                <a:solidFill>
                  <a:srgbClr val="2B2B2B"/>
                </a:solidFill>
              </a:rPr>
              <a:t>Run OSPF on both /30 links (wildcard </a:t>
            </a:r>
            <a:r>
              <a:rPr lang="en-US" sz="1300" b="1" dirty="0">
                <a:solidFill>
                  <a:srgbClr val="1E5631"/>
                </a:solidFill>
                <a:latin typeface="Courier New" pitchFamily="34" charset="0"/>
                <a:ea typeface="Courier New" pitchFamily="34" charset="-122"/>
                <a:cs typeface="Courier New" pitchFamily="34" charset="-120"/>
              </a:rPr>
              <a:t>0.0.0.3</a:t>
            </a:r>
            <a:r>
              <a:rPr lang="en-US" sz="1400" dirty="0">
                <a:solidFill>
                  <a:srgbClr val="2B2B2B"/>
                </a:solidFill>
              </a:rPr>
              <a:t>).</a:t>
            </a:r>
            <a:endParaRPr lang="en-US" sz="1400" dirty="0"/>
          </a:p>
        </p:txBody>
      </p:sp>
      <p:sp>
        <p:nvSpPr>
          <p:cNvPr id="16" name="Command 05"/>
          <p:cNvSpPr/>
          <p:nvPr/>
        </p:nvSpPr>
        <p:spPr>
          <a:xfrm>
            <a:off x="548640" y="4152976"/>
            <a:ext cx="6153912" cy="326768"/>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R1(config-router)# </a:t>
            </a:r>
            <a:r>
              <a:rPr lang="en-US" sz="1200" b="1" dirty="0">
                <a:solidFill>
                  <a:srgbClr val="FFFFFF"/>
                </a:solidFill>
                <a:latin typeface="Courier New" pitchFamily="34" charset="0"/>
                <a:ea typeface="Courier New" pitchFamily="34" charset="-122"/>
                <a:cs typeface="Courier New" pitchFamily="34" charset="-120"/>
              </a:rPr>
              <a:t>passive-interface g0/0/0</a:t>
            </a:r>
            <a:endParaRPr lang="en-US" sz="1200" dirty="0"/>
          </a:p>
        </p:txBody>
      </p:sp>
      <p:sp>
        <p:nvSpPr>
          <p:cNvPr id="17" name="Reveal 05 meaning"/>
          <p:cNvSpPr/>
          <p:nvPr/>
        </p:nvSpPr>
        <p:spPr>
          <a:xfrm>
            <a:off x="6720840" y="4152976"/>
            <a:ext cx="4922215" cy="326768"/>
          </a:xfrm>
          <a:prstGeom prst="rect">
            <a:avLst/>
          </a:prstGeom>
          <a:solidFill>
            <a:srgbClr val="F2F8F3"/>
          </a:solidFill>
          <a:ln/>
        </p:spPr>
        <p:txBody>
          <a:bodyPr wrap="square" lIns="109728" tIns="45720" rIns="109728" bIns="45720" rtlCol="0" anchor="ctr"/>
          <a:lstStyle/>
          <a:p>
            <a:pPr indent="0" marL="0">
              <a:buNone/>
            </a:pPr>
            <a:r>
              <a:rPr lang="en-US" sz="1400" dirty="0">
                <a:solidFill>
                  <a:srgbClr val="2B2B2B"/>
                </a:solidFill>
              </a:rPr>
              <a:t>No OSPF hellos to the PCs, but the LAN is still advertised.</a:t>
            </a:r>
            <a:endParaRPr lang="en-US" sz="1400" dirty="0"/>
          </a:p>
        </p:txBody>
      </p:sp>
      <p:sp>
        <p:nvSpPr>
          <p:cNvPr id="18" name="Reveal 99 check box"/>
          <p:cNvSpPr/>
          <p:nvPr/>
        </p:nvSpPr>
        <p:spPr>
          <a:xfrm>
            <a:off x="548640" y="5504688"/>
            <a:ext cx="5410048" cy="749808"/>
          </a:xfrm>
          <a:prstGeom prst="roundRect">
            <a:avLst>
              <a:gd name="adj" fmla="val 9756"/>
            </a:avLst>
          </a:prstGeom>
          <a:solidFill>
            <a:srgbClr val="E8F1EA"/>
          </a:solidFill>
          <a:ln w="12700">
            <a:solidFill>
              <a:srgbClr val="B7C9BA"/>
            </a:solidFill>
            <a:prstDash val="solid"/>
          </a:ln>
        </p:spPr>
      </p:sp>
      <p:pic>
        <p:nvPicPr>
          <p:cNvPr id="19" name="Reveal 99 check icon" descr="Check it:">    </p:cNvPr>
          <p:cNvPicPr>
            <a:picLocks noChangeAspect="1"/>
          </p:cNvPicPr>
          <p:nvPr/>
        </p:nvPicPr>
        <p:blipFill>
          <a:blip r:embed="rId3"/>
          <a:stretch>
            <a:fillRect/>
          </a:stretch>
        </p:blipFill>
        <p:spPr>
          <a:xfrm>
            <a:off x="694944" y="5733288"/>
            <a:ext cx="292608" cy="292608"/>
          </a:xfrm>
          <a:prstGeom prst="rect">
            <a:avLst/>
          </a:prstGeom>
        </p:spPr>
      </p:pic>
      <p:sp>
        <p:nvSpPr>
          <p:cNvPr id="20" name="Reveal 99 check text"/>
          <p:cNvSpPr txBox="1"/>
          <p:nvPr/>
        </p:nvSpPr>
        <p:spPr>
          <a:xfrm>
            <a:off x="1097280" y="5541264"/>
            <a:ext cx="4751680" cy="676656"/>
          </a:xfrm>
          <a:prstGeom prst="rect">
            <a:avLst/>
          </a:prstGeom>
          <a:noFill/>
          <a:ln/>
        </p:spPr>
        <p:txBody>
          <a:bodyPr wrap="square" lIns="0" tIns="0" rIns="0" bIns="0" rtlCol="0" anchor="ctr"/>
          <a:lstStyle/>
          <a:p>
            <a:pPr indent="0" marL="0">
              <a:buNone/>
            </a:pPr>
            <a:r>
              <a:rPr lang="en-US" sz="1400" b="1" dirty="0">
                <a:solidFill>
                  <a:srgbClr val="1E5631"/>
                </a:solidFill>
              </a:rPr>
              <a:t>Check it:  </a:t>
            </a:r>
            <a:r>
              <a:rPr lang="en-US" sz="1300" b="1" dirty="0">
                <a:solidFill>
                  <a:srgbClr val="1E5631"/>
                </a:solidFill>
                <a:latin typeface="Courier New" pitchFamily="34" charset="0"/>
                <a:ea typeface="Courier New" pitchFamily="34" charset="-122"/>
                <a:cs typeface="Courier New" pitchFamily="34" charset="-120"/>
              </a:rPr>
              <a:t>show ip ospf neighbor</a:t>
            </a:r>
            <a:r>
              <a:rPr lang="en-US" sz="1400" dirty="0">
                <a:solidFill>
                  <a:srgbClr val="2B2B2B"/>
                </a:solidFill>
              </a:rPr>
              <a:t> → 2.2.2.2 and 3.3.3.3 in FULL state; </a:t>
            </a:r>
            <a:r>
              <a:rPr lang="en-US" sz="1300" b="1" dirty="0">
                <a:solidFill>
                  <a:srgbClr val="1E5631"/>
                </a:solidFill>
                <a:latin typeface="Courier New" pitchFamily="34" charset="0"/>
                <a:ea typeface="Courier New" pitchFamily="34" charset="-122"/>
                <a:cs typeface="Courier New" pitchFamily="34" charset="-120"/>
              </a:rPr>
              <a:t>show ip route ospf</a:t>
            </a:r>
            <a:r>
              <a:rPr lang="en-US" sz="1400" dirty="0">
                <a:solidFill>
                  <a:srgbClr val="2B2B2B"/>
                </a:solidFill>
              </a:rPr>
              <a:t> → O routes.</a:t>
            </a:r>
            <a:endParaRPr lang="en-US" sz="1400" dirty="0"/>
          </a:p>
        </p:txBody>
      </p:sp>
      <p:sp>
        <p:nvSpPr>
          <p:cNvPr id="21" name="Reveal 99 watch box"/>
          <p:cNvSpPr/>
          <p:nvPr/>
        </p:nvSpPr>
        <p:spPr>
          <a:xfrm>
            <a:off x="6233008" y="5504688"/>
            <a:ext cx="5410048" cy="749808"/>
          </a:xfrm>
          <a:prstGeom prst="roundRect">
            <a:avLst>
              <a:gd name="adj" fmla="val 9756"/>
            </a:avLst>
          </a:prstGeom>
          <a:solidFill>
            <a:srgbClr val="FBEAEA"/>
          </a:solidFill>
          <a:ln w="12700">
            <a:solidFill>
              <a:srgbClr val="E9B8B5"/>
            </a:solidFill>
            <a:prstDash val="solid"/>
          </a:ln>
        </p:spPr>
      </p:sp>
      <p:pic>
        <p:nvPicPr>
          <p:cNvPr id="22" name="Reveal 99 watch icon" descr="Watch out:">    </p:cNvPr>
          <p:cNvPicPr>
            <a:picLocks noChangeAspect="1"/>
          </p:cNvPicPr>
          <p:nvPr/>
        </p:nvPicPr>
        <p:blipFill>
          <a:blip r:embed="rId4"/>
          <a:stretch>
            <a:fillRect/>
          </a:stretch>
        </p:blipFill>
        <p:spPr>
          <a:xfrm>
            <a:off x="6379312" y="5733288"/>
            <a:ext cx="292608" cy="292608"/>
          </a:xfrm>
          <a:prstGeom prst="rect">
            <a:avLst/>
          </a:prstGeom>
        </p:spPr>
      </p:pic>
      <p:sp>
        <p:nvSpPr>
          <p:cNvPr id="23" name="Reveal 99 watch text"/>
          <p:cNvSpPr txBox="1"/>
          <p:nvPr/>
        </p:nvSpPr>
        <p:spPr>
          <a:xfrm>
            <a:off x="6781648" y="5541264"/>
            <a:ext cx="4751680" cy="676656"/>
          </a:xfrm>
          <a:prstGeom prst="rect">
            <a:avLst/>
          </a:prstGeom>
          <a:noFill/>
          <a:ln/>
        </p:spPr>
        <p:txBody>
          <a:bodyPr wrap="square" lIns="0" tIns="0" rIns="0" bIns="0" rtlCol="0" anchor="ctr"/>
          <a:lstStyle/>
          <a:p>
            <a:pPr indent="0" marL="0">
              <a:buNone/>
            </a:pPr>
            <a:r>
              <a:rPr lang="en-US" sz="1400" b="1" dirty="0">
                <a:solidFill>
                  <a:srgbClr val="8B1A1A"/>
                </a:solidFill>
              </a:rPr>
              <a:t>Watch out:  </a:t>
            </a:r>
            <a:r>
              <a:rPr lang="en-US" sz="1400" dirty="0">
                <a:solidFill>
                  <a:srgbClr val="2B2B2B"/>
                </a:solidFill>
              </a:rPr>
              <a:t>Remove the static routes first (</a:t>
            </a:r>
            <a:r>
              <a:rPr lang="en-US" sz="1300" b="1" dirty="0">
                <a:solidFill>
                  <a:srgbClr val="1E5631"/>
                </a:solidFill>
                <a:latin typeface="Courier New" pitchFamily="34" charset="0"/>
                <a:ea typeface="Courier New" pitchFamily="34" charset="-122"/>
                <a:cs typeface="Courier New" pitchFamily="34" charset="-120"/>
              </a:rPr>
              <a:t>no ip route …</a:t>
            </a:r>
            <a:r>
              <a:rPr lang="en-US" sz="1400" dirty="0">
                <a:solidFill>
                  <a:srgbClr val="2B2B2B"/>
                </a:solidFill>
              </a:rPr>
              <a:t>) — with distance 1 they would hide the OSPF routes.</a:t>
            </a:r>
            <a:endParaRPr lang="en-US" sz="1400" dirty="0"/>
          </a:p>
        </p:txBody>
      </p:sp>
      <p:sp>
        <p:nvSpPr>
          <p:cNvPr id="25" name="Slide Number Placeholder 0"/>
          <p:cNvSpPr>
            <a:spLocks noGrp="1"/>
          </p:cNvSpPr>
          <p:nvPr>
            <p:ph type="sldNum" sz="quarter" idx="4294967295"/>
          </p:nvPr>
        </p:nvSpPr>
        <p:spPr>
          <a:xfrm>
            <a:off x="10698480" y="6464808"/>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r"/>
            <a:fld id="{F7021451-1387-4CA6-816F-3879F97B5CBC}" type="slidenum">
              <a:rPr b="0" lang="en-US"/>
              <a:t>54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4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0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400"/>
                                        <p:tgtEl>
                                          <p:spTgt spid="1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400"/>
                                        <p:tgtEl>
                                          <p:spTgt spid="1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fade">
                                      <p:cBhvr>
                                        <p:cTn id="38" dur="400"/>
                                        <p:tgtEl>
                                          <p:spTgt spid="20"/>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fade">
                                      <p:cBhvr>
                                        <p:cTn id="41" dur="400"/>
                                        <p:tgtEl>
                                          <p:spTgt spid="21"/>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fade">
                                      <p:cBhvr>
                                        <p:cTn id="44" dur="400"/>
                                        <p:tgtEl>
                                          <p:spTgt spid="22"/>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3" grpId="0" animBg="1"/>
      <p:bldP spid="15" grpId="0" animBg="1"/>
      <p:bldP spid="17" grpId="0" animBg="1"/>
      <p:bldP spid="18" grpId="0" animBg="1"/>
      <p:bldP spid="20" grpId="0" animBg="1"/>
      <p:bldP spid="21" grpId="0" animBg="1"/>
      <p:bldP spid="23"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1"/>
          <p:cNvSpPr/>
          <p:nvPr>
            <p:ph idx="102" type="body" hasCustomPrompt="1"/>
          </p:nvPr>
        </p:nvSpPr>
        <p:spPr>
          <a:xfrm>
            <a:off x="548640" y="274320"/>
            <a:ext cx="9966960" cy="256032"/>
          </a:xfrm>
          <a:prstGeom prst="rect">
            <a:avLst/>
          </a:prstGeom>
          <a:noFill/>
          <a:ln/>
        </p:spPr>
        <p:txBody>
          <a:bodyPr wrap="square" lIns="0" tIns="0" rIns="0" bIns="0" rtlCol="0" anchor="ctr"/>
          <a:lstStyle/>
          <a:p>
            <a:pPr algn="l" indent="0" marL="0">
              <a:buNone/>
            </a:pPr>
            <a:r>
              <a:rPr lang="en-US" sz="1100" b="1" spc="100" kern="0" dirty="0">
                <a:solidFill>
                  <a:schemeClr val="accent2"/>
                </a:solidFill>
              </a:rPr>
              <a:t>07  •  ROUTING  •  LAB 3</a:t>
            </a:r>
            <a:endParaRPr lang="en-US" sz="1100" dirty="0"/>
          </a:p>
        </p:txBody>
      </p:sp>
      <p:sp>
        <p:nvSpPr>
          <p:cNvPr id="3" name="Text 1"/>
          <p:cNvSpPr/>
          <p:nvPr>
            <p:ph idx="103" type="title" hasCustomPrompt="1"/>
          </p:nvPr>
        </p:nvSpPr>
        <p:spPr>
          <a:xfrm>
            <a:off x="548640" y="548640"/>
            <a:ext cx="10149840" cy="548640"/>
          </a:xfrm>
          <a:prstGeom prst="rect">
            <a:avLst/>
          </a:prstGeom>
          <a:noFill/>
          <a:ln/>
        </p:spPr>
        <p:txBody>
          <a:bodyPr wrap="square" lIns="0" tIns="0" rIns="0" bIns="0" rtlCol="0" anchor="ctr"/>
          <a:lstStyle/>
          <a:p>
            <a:pPr algn="l" indent="0" marL="0">
              <a:buNone/>
            </a:pPr>
            <a:r>
              <a:rPr lang="en-US" sz="2600" b="1" dirty="0">
                <a:solidFill>
                  <a:schemeClr val="accent1"/>
                </a:solidFill>
              </a:rPr>
              <a:t>How to configure OSPF (single area) (2 of 2)</a:t>
            </a:r>
            <a:endParaRPr lang="en-US" sz="2600" dirty="0"/>
          </a:p>
        </p:txBody>
      </p:sp>
      <p:pic>
        <p:nvPicPr>
          <p:cNvPr id="4" name="Home button" descr="Home: back to the workbook menu">
            <a:hlinkClick r:id="rId2" tooltip="Back to the workbook menu" action="ppaction://hlinksldjump"/>
          </p:cNvPr>
          <p:cNvPicPr>
            <a:picLocks noChangeAspect="1"/>
          </p:cNvPicPr>
          <p:nvPr/>
        </p:nvPicPr>
        <p:blipFill>
          <a:blip r:embed="rId1"/>
          <a:stretch>
            <a:fillRect/>
          </a:stretch>
        </p:blipFill>
        <p:spPr>
          <a:xfrm>
            <a:off x="11365992" y="6336792"/>
            <a:ext cx="365760" cy="365760"/>
          </a:xfrm>
          <a:prstGeom prst="rect">
            <a:avLst/>
          </a:prstGeom>
        </p:spPr>
      </p:pic>
      <p:sp>
        <p:nvSpPr>
          <p:cNvPr id="5" name="Goal"/>
          <p:cNvSpPr txBox="1"/>
          <p:nvPr/>
        </p:nvSpPr>
        <p:spPr>
          <a:xfrm>
            <a:off x="548640" y="1161288"/>
            <a:ext cx="11094415" cy="384048"/>
          </a:xfrm>
          <a:prstGeom prst="rect">
            <a:avLst/>
          </a:prstGeom>
          <a:noFill/>
          <a:ln/>
        </p:spPr>
        <p:txBody>
          <a:bodyPr wrap="square" lIns="0" tIns="0" rIns="0" bIns="0" rtlCol="0" anchor="ctr"/>
          <a:lstStyle/>
          <a:p>
            <a:pPr indent="0" marL="0">
              <a:buNone/>
            </a:pPr>
            <a:r>
              <a:rPr lang="en-US" sz="1400" b="1" dirty="0">
                <a:solidFill>
                  <a:srgbClr val="2B7043"/>
                </a:solidFill>
              </a:rPr>
              <a:t>Goal:  </a:t>
            </a:r>
            <a:r>
              <a:rPr lang="en-US" sz="1400" dirty="0">
                <a:solidFill>
                  <a:srgbClr val="2B2B2B"/>
                </a:solidFill>
              </a:rPr>
              <a:t>The same pattern on R2 and R3: their own router ID, their own LAN and their two links.</a:t>
            </a:r>
            <a:endParaRPr lang="en-US" sz="1400" dirty="0"/>
          </a:p>
        </p:txBody>
      </p:sp>
      <p:sp>
        <p:nvSpPr>
          <p:cNvPr id="6" name="Terminal window"/>
          <p:cNvSpPr/>
          <p:nvPr/>
        </p:nvSpPr>
        <p:spPr>
          <a:xfrm>
            <a:off x="548640" y="1664208"/>
            <a:ext cx="5440680" cy="2514600"/>
          </a:xfrm>
          <a:prstGeom prst="roundRect">
            <a:avLst>
              <a:gd name="adj" fmla="val 2909"/>
            </a:avLst>
          </a:prstGeom>
          <a:solidFill>
            <a:srgbClr val="1B2B22"/>
          </a:solidFill>
          <a:ln w="6350">
            <a:solidFill>
              <a:srgbClr val="1B2B22"/>
            </a:solidFill>
            <a:prstDash val="solid"/>
          </a:ln>
        </p:spPr>
      </p:sp>
      <p:sp>
        <p:nvSpPr>
          <p:cNvPr id="7" name="Shape 4"/>
          <p:cNvSpPr/>
          <p:nvPr/>
        </p:nvSpPr>
        <p:spPr>
          <a:xfrm>
            <a:off x="713232" y="1783080"/>
            <a:ext cx="109728" cy="109728"/>
          </a:xfrm>
          <a:prstGeom prst="ellipse">
            <a:avLst/>
          </a:prstGeom>
          <a:solidFill>
            <a:srgbClr val="E0605A"/>
          </a:solidFill>
          <a:ln/>
        </p:spPr>
      </p:sp>
      <p:sp>
        <p:nvSpPr>
          <p:cNvPr id="8" name="Shape 5"/>
          <p:cNvSpPr/>
          <p:nvPr/>
        </p:nvSpPr>
        <p:spPr>
          <a:xfrm>
            <a:off x="896112" y="1783080"/>
            <a:ext cx="109728" cy="109728"/>
          </a:xfrm>
          <a:prstGeom prst="ellipse">
            <a:avLst/>
          </a:prstGeom>
          <a:solidFill>
            <a:srgbClr val="E8B92E"/>
          </a:solidFill>
          <a:ln/>
        </p:spPr>
      </p:sp>
      <p:sp>
        <p:nvSpPr>
          <p:cNvPr id="9" name="Shape 6"/>
          <p:cNvSpPr/>
          <p:nvPr/>
        </p:nvSpPr>
        <p:spPr>
          <a:xfrm>
            <a:off x="1078992" y="1783080"/>
            <a:ext cx="109728" cy="109728"/>
          </a:xfrm>
          <a:prstGeom prst="ellipse">
            <a:avLst/>
          </a:prstGeom>
          <a:solidFill>
            <a:srgbClr val="4CAF50"/>
          </a:solidFill>
          <a:ln/>
        </p:spPr>
      </p:sp>
      <p:sp>
        <p:nvSpPr>
          <p:cNvPr id="10" name="Text 7"/>
          <p:cNvSpPr txBox="1"/>
          <p:nvPr/>
        </p:nvSpPr>
        <p:spPr>
          <a:xfrm>
            <a:off x="1325880" y="1709928"/>
            <a:ext cx="4526280" cy="256032"/>
          </a:xfrm>
          <a:prstGeom prst="rect">
            <a:avLst/>
          </a:prstGeom>
          <a:noFill/>
          <a:ln/>
        </p:spPr>
        <p:txBody>
          <a:bodyPr wrap="square" lIns="0" tIns="0" rIns="0" bIns="0" rtlCol="0" anchor="ctr"/>
          <a:lstStyle/>
          <a:p>
            <a:pPr indent="0" marL="0">
              <a:buNone/>
            </a:pPr>
            <a:r>
              <a:rPr lang="en-US" sz="1100" b="1" dirty="0">
                <a:solidFill>
                  <a:srgbClr val="C9D6CC"/>
                </a:solidFill>
              </a:rPr>
              <a:t>R2  ›  CLI</a:t>
            </a:r>
            <a:endParaRPr lang="en-US" sz="1100" dirty="0"/>
          </a:p>
        </p:txBody>
      </p:sp>
      <p:sp>
        <p:nvSpPr>
          <p:cNvPr id="11" name="Terminal text"/>
          <p:cNvSpPr txBox="1"/>
          <p:nvPr/>
        </p:nvSpPr>
        <p:spPr>
          <a:xfrm>
            <a:off x="731520" y="2048256"/>
            <a:ext cx="5120640" cy="2039112"/>
          </a:xfrm>
          <a:prstGeom prst="rect">
            <a:avLst/>
          </a:prstGeom>
          <a:noFill/>
          <a:ln/>
        </p:spPr>
        <p:txBody>
          <a:bodyPr wrap="square" lIns="0" tIns="0" rIns="0" bIns="0" rtlCol="0" anchor="t"/>
          <a:lstStyle/>
          <a:p>
            <a:pPr indent="0" marL="0">
              <a:lnSpc>
                <a:spcPct val="100000"/>
              </a:lnSpc>
              <a:buNone/>
            </a:pPr>
            <a:r>
              <a:rPr lang="en-US" sz="1100" dirty="0">
                <a:solidFill>
                  <a:srgbClr val="8FC9A0"/>
                </a:solidFill>
                <a:latin typeface="Courier New" pitchFamily="34" charset="0"/>
                <a:ea typeface="Courier New" pitchFamily="34" charset="-122"/>
                <a:cs typeface="Courier New" pitchFamily="34" charset="-120"/>
              </a:rPr>
              <a:t>R2(config)# </a:t>
            </a:r>
            <a:r>
              <a:rPr lang="en-US" sz="1100" b="1" dirty="0">
                <a:solidFill>
                  <a:srgbClr val="FFFFFF"/>
                </a:solidFill>
                <a:latin typeface="Courier New" pitchFamily="34" charset="0"/>
                <a:ea typeface="Courier New" pitchFamily="34" charset="-122"/>
                <a:cs typeface="Courier New" pitchFamily="34" charset="-120"/>
              </a:rPr>
              <a:t>router ospf 10</a:t>
            </a:r>
            <a:endParaRPr lang="en-US" sz="1100" dirty="0"/>
          </a:p>
          <a:p>
            <a:pPr indent="0" marL="0">
              <a:lnSpc>
                <a:spcPct val="100000"/>
              </a:lnSpc>
              <a:buNone/>
            </a:pPr>
            <a:r>
              <a:rPr lang="en-US" sz="1100" dirty="0">
                <a:solidFill>
                  <a:srgbClr val="8FC9A0"/>
                </a:solidFill>
                <a:latin typeface="Courier New" pitchFamily="34" charset="0"/>
                <a:ea typeface="Courier New" pitchFamily="34" charset="-122"/>
                <a:cs typeface="Courier New" pitchFamily="34" charset="-120"/>
              </a:rPr>
              <a:t>R2(config-router)# </a:t>
            </a:r>
            <a:r>
              <a:rPr lang="en-US" sz="1100" b="1" dirty="0">
                <a:solidFill>
                  <a:srgbClr val="FFFFFF"/>
                </a:solidFill>
                <a:latin typeface="Courier New" pitchFamily="34" charset="0"/>
                <a:ea typeface="Courier New" pitchFamily="34" charset="-122"/>
                <a:cs typeface="Courier New" pitchFamily="34" charset="-120"/>
              </a:rPr>
              <a:t>router-id 2.2.2.2</a:t>
            </a:r>
            <a:endParaRPr lang="en-US" sz="1100" dirty="0"/>
          </a:p>
          <a:p>
            <a:pPr indent="0" marL="0">
              <a:lnSpc>
                <a:spcPct val="100000"/>
              </a:lnSpc>
              <a:buNone/>
            </a:pPr>
            <a:r>
              <a:rPr lang="en-US" sz="1100" dirty="0">
                <a:solidFill>
                  <a:srgbClr val="8FC9A0"/>
                </a:solidFill>
                <a:latin typeface="Courier New" pitchFamily="34" charset="0"/>
                <a:ea typeface="Courier New" pitchFamily="34" charset="-122"/>
                <a:cs typeface="Courier New" pitchFamily="34" charset="-120"/>
              </a:rPr>
              <a:t>R2(config-router)# </a:t>
            </a:r>
            <a:r>
              <a:rPr lang="en-US" sz="1100" b="1" dirty="0">
                <a:solidFill>
                  <a:srgbClr val="FFFFFF"/>
                </a:solidFill>
                <a:latin typeface="Courier New" pitchFamily="34" charset="0"/>
                <a:ea typeface="Courier New" pitchFamily="34" charset="-122"/>
                <a:cs typeface="Courier New" pitchFamily="34" charset="-120"/>
              </a:rPr>
              <a:t>network 172.16.2.0 0.0.0.255 area 0</a:t>
            </a:r>
            <a:endParaRPr lang="en-US" sz="1100" dirty="0"/>
          </a:p>
          <a:p>
            <a:pPr indent="0" marL="0">
              <a:lnSpc>
                <a:spcPct val="100000"/>
              </a:lnSpc>
              <a:buNone/>
            </a:pPr>
            <a:r>
              <a:rPr lang="en-US" sz="1100" dirty="0">
                <a:solidFill>
                  <a:srgbClr val="8FC9A0"/>
                </a:solidFill>
                <a:latin typeface="Courier New" pitchFamily="34" charset="0"/>
                <a:ea typeface="Courier New" pitchFamily="34" charset="-122"/>
                <a:cs typeface="Courier New" pitchFamily="34" charset="-120"/>
              </a:rPr>
              <a:t>R2(config-router)# </a:t>
            </a:r>
            <a:r>
              <a:rPr lang="en-US" sz="1100" b="1" dirty="0">
                <a:solidFill>
                  <a:srgbClr val="FFFFFF"/>
                </a:solidFill>
                <a:latin typeface="Courier New" pitchFamily="34" charset="0"/>
                <a:ea typeface="Courier New" pitchFamily="34" charset="-122"/>
                <a:cs typeface="Courier New" pitchFamily="34" charset="-120"/>
              </a:rPr>
              <a:t>network 10.0.0.0 0.0.0.3 area 0</a:t>
            </a:r>
            <a:endParaRPr lang="en-US" sz="1100" dirty="0"/>
          </a:p>
          <a:p>
            <a:pPr indent="0" marL="0">
              <a:lnSpc>
                <a:spcPct val="100000"/>
              </a:lnSpc>
              <a:buNone/>
            </a:pPr>
            <a:r>
              <a:rPr lang="en-US" sz="1100" dirty="0">
                <a:solidFill>
                  <a:srgbClr val="8FC9A0"/>
                </a:solidFill>
                <a:latin typeface="Courier New" pitchFamily="34" charset="0"/>
                <a:ea typeface="Courier New" pitchFamily="34" charset="-122"/>
                <a:cs typeface="Courier New" pitchFamily="34" charset="-120"/>
              </a:rPr>
              <a:t>R2(config-router)# </a:t>
            </a:r>
            <a:r>
              <a:rPr lang="en-US" sz="1100" b="1" dirty="0">
                <a:solidFill>
                  <a:srgbClr val="FFFFFF"/>
                </a:solidFill>
                <a:latin typeface="Courier New" pitchFamily="34" charset="0"/>
                <a:ea typeface="Courier New" pitchFamily="34" charset="-122"/>
                <a:cs typeface="Courier New" pitchFamily="34" charset="-120"/>
              </a:rPr>
              <a:t>network 10.0.0.4 0.0.0.3 area 0</a:t>
            </a:r>
            <a:endParaRPr lang="en-US" sz="1100" dirty="0"/>
          </a:p>
          <a:p>
            <a:pPr indent="0" marL="0">
              <a:lnSpc>
                <a:spcPct val="100000"/>
              </a:lnSpc>
              <a:buNone/>
            </a:pPr>
            <a:r>
              <a:rPr lang="en-US" sz="1100" dirty="0">
                <a:solidFill>
                  <a:srgbClr val="8FC9A0"/>
                </a:solidFill>
                <a:latin typeface="Courier New" pitchFamily="34" charset="0"/>
                <a:ea typeface="Courier New" pitchFamily="34" charset="-122"/>
                <a:cs typeface="Courier New" pitchFamily="34" charset="-120"/>
              </a:rPr>
              <a:t>R2(config-router)# </a:t>
            </a:r>
            <a:r>
              <a:rPr lang="en-US" sz="1100" b="1" dirty="0">
                <a:solidFill>
                  <a:srgbClr val="FFFFFF"/>
                </a:solidFill>
                <a:latin typeface="Courier New" pitchFamily="34" charset="0"/>
                <a:ea typeface="Courier New" pitchFamily="34" charset="-122"/>
                <a:cs typeface="Courier New" pitchFamily="34" charset="-120"/>
              </a:rPr>
              <a:t>passive-interface g0/0/0</a:t>
            </a:r>
            <a:endParaRPr lang="en-US" sz="1100" dirty="0"/>
          </a:p>
        </p:txBody>
      </p:sp>
      <p:sp>
        <p:nvSpPr>
          <p:cNvPr id="12" name="Terminal window"/>
          <p:cNvSpPr/>
          <p:nvPr/>
        </p:nvSpPr>
        <p:spPr>
          <a:xfrm>
            <a:off x="6199632" y="1664208"/>
            <a:ext cx="5440680" cy="2514600"/>
          </a:xfrm>
          <a:prstGeom prst="roundRect">
            <a:avLst>
              <a:gd name="adj" fmla="val 2909"/>
            </a:avLst>
          </a:prstGeom>
          <a:solidFill>
            <a:srgbClr val="1B2B22"/>
          </a:solidFill>
          <a:ln w="6350">
            <a:solidFill>
              <a:srgbClr val="1B2B22"/>
            </a:solidFill>
            <a:prstDash val="solid"/>
          </a:ln>
        </p:spPr>
      </p:sp>
      <p:sp>
        <p:nvSpPr>
          <p:cNvPr id="13" name="Shape 10"/>
          <p:cNvSpPr/>
          <p:nvPr/>
        </p:nvSpPr>
        <p:spPr>
          <a:xfrm>
            <a:off x="6364224" y="1783080"/>
            <a:ext cx="109728" cy="109728"/>
          </a:xfrm>
          <a:prstGeom prst="ellipse">
            <a:avLst/>
          </a:prstGeom>
          <a:solidFill>
            <a:srgbClr val="E0605A"/>
          </a:solidFill>
          <a:ln/>
        </p:spPr>
      </p:sp>
      <p:sp>
        <p:nvSpPr>
          <p:cNvPr id="14" name="Shape 11"/>
          <p:cNvSpPr/>
          <p:nvPr/>
        </p:nvSpPr>
        <p:spPr>
          <a:xfrm>
            <a:off x="6547104" y="1783080"/>
            <a:ext cx="109728" cy="109728"/>
          </a:xfrm>
          <a:prstGeom prst="ellipse">
            <a:avLst/>
          </a:prstGeom>
          <a:solidFill>
            <a:srgbClr val="E8B92E"/>
          </a:solidFill>
          <a:ln/>
        </p:spPr>
      </p:sp>
      <p:sp>
        <p:nvSpPr>
          <p:cNvPr id="15" name="Shape 12"/>
          <p:cNvSpPr/>
          <p:nvPr/>
        </p:nvSpPr>
        <p:spPr>
          <a:xfrm>
            <a:off x="6729984" y="1783080"/>
            <a:ext cx="109728" cy="109728"/>
          </a:xfrm>
          <a:prstGeom prst="ellipse">
            <a:avLst/>
          </a:prstGeom>
          <a:solidFill>
            <a:srgbClr val="4CAF50"/>
          </a:solidFill>
          <a:ln/>
        </p:spPr>
      </p:sp>
      <p:sp>
        <p:nvSpPr>
          <p:cNvPr id="16" name="Text 13"/>
          <p:cNvSpPr txBox="1"/>
          <p:nvPr/>
        </p:nvSpPr>
        <p:spPr>
          <a:xfrm>
            <a:off x="6976872" y="1709928"/>
            <a:ext cx="4526280" cy="256032"/>
          </a:xfrm>
          <a:prstGeom prst="rect">
            <a:avLst/>
          </a:prstGeom>
          <a:noFill/>
          <a:ln/>
        </p:spPr>
        <p:txBody>
          <a:bodyPr wrap="square" lIns="0" tIns="0" rIns="0" bIns="0" rtlCol="0" anchor="ctr"/>
          <a:lstStyle/>
          <a:p>
            <a:pPr indent="0" marL="0">
              <a:buNone/>
            </a:pPr>
            <a:r>
              <a:rPr lang="en-US" sz="1100" b="1" dirty="0">
                <a:solidFill>
                  <a:srgbClr val="C9D6CC"/>
                </a:solidFill>
              </a:rPr>
              <a:t>R3  ›  CLI</a:t>
            </a:r>
            <a:endParaRPr lang="en-US" sz="1100" dirty="0"/>
          </a:p>
        </p:txBody>
      </p:sp>
      <p:sp>
        <p:nvSpPr>
          <p:cNvPr id="17" name="Terminal text"/>
          <p:cNvSpPr txBox="1"/>
          <p:nvPr/>
        </p:nvSpPr>
        <p:spPr>
          <a:xfrm>
            <a:off x="6382512" y="2048256"/>
            <a:ext cx="5120640" cy="2039112"/>
          </a:xfrm>
          <a:prstGeom prst="rect">
            <a:avLst/>
          </a:prstGeom>
          <a:noFill/>
          <a:ln/>
        </p:spPr>
        <p:txBody>
          <a:bodyPr wrap="square" lIns="0" tIns="0" rIns="0" bIns="0" rtlCol="0" anchor="t"/>
          <a:lstStyle/>
          <a:p>
            <a:pPr indent="0" marL="0">
              <a:lnSpc>
                <a:spcPct val="100000"/>
              </a:lnSpc>
              <a:buNone/>
            </a:pPr>
            <a:r>
              <a:rPr lang="en-US" sz="1100" dirty="0">
                <a:solidFill>
                  <a:srgbClr val="8FC9A0"/>
                </a:solidFill>
                <a:latin typeface="Courier New" pitchFamily="34" charset="0"/>
                <a:ea typeface="Courier New" pitchFamily="34" charset="-122"/>
                <a:cs typeface="Courier New" pitchFamily="34" charset="-120"/>
              </a:rPr>
              <a:t>R3(config)# </a:t>
            </a:r>
            <a:r>
              <a:rPr lang="en-US" sz="1100" b="1" dirty="0">
                <a:solidFill>
                  <a:srgbClr val="FFFFFF"/>
                </a:solidFill>
                <a:latin typeface="Courier New" pitchFamily="34" charset="0"/>
                <a:ea typeface="Courier New" pitchFamily="34" charset="-122"/>
                <a:cs typeface="Courier New" pitchFamily="34" charset="-120"/>
              </a:rPr>
              <a:t>router ospf 10</a:t>
            </a:r>
            <a:endParaRPr lang="en-US" sz="1100" dirty="0"/>
          </a:p>
          <a:p>
            <a:pPr indent="0" marL="0">
              <a:lnSpc>
                <a:spcPct val="100000"/>
              </a:lnSpc>
              <a:buNone/>
            </a:pPr>
            <a:r>
              <a:rPr lang="en-US" sz="1100" dirty="0">
                <a:solidFill>
                  <a:srgbClr val="8FC9A0"/>
                </a:solidFill>
                <a:latin typeface="Courier New" pitchFamily="34" charset="0"/>
                <a:ea typeface="Courier New" pitchFamily="34" charset="-122"/>
                <a:cs typeface="Courier New" pitchFamily="34" charset="-120"/>
              </a:rPr>
              <a:t>R3(config-router)# </a:t>
            </a:r>
            <a:r>
              <a:rPr lang="en-US" sz="1100" b="1" dirty="0">
                <a:solidFill>
                  <a:srgbClr val="FFFFFF"/>
                </a:solidFill>
                <a:latin typeface="Courier New" pitchFamily="34" charset="0"/>
                <a:ea typeface="Courier New" pitchFamily="34" charset="-122"/>
                <a:cs typeface="Courier New" pitchFamily="34" charset="-120"/>
              </a:rPr>
              <a:t>router-id 3.3.3.3</a:t>
            </a:r>
            <a:endParaRPr lang="en-US" sz="1100" dirty="0"/>
          </a:p>
          <a:p>
            <a:pPr indent="0" marL="0">
              <a:lnSpc>
                <a:spcPct val="100000"/>
              </a:lnSpc>
              <a:buNone/>
            </a:pPr>
            <a:r>
              <a:rPr lang="en-US" sz="1100" dirty="0">
                <a:solidFill>
                  <a:srgbClr val="8FC9A0"/>
                </a:solidFill>
                <a:latin typeface="Courier New" pitchFamily="34" charset="0"/>
                <a:ea typeface="Courier New" pitchFamily="34" charset="-122"/>
                <a:cs typeface="Courier New" pitchFamily="34" charset="-120"/>
              </a:rPr>
              <a:t>R3(config-router)# </a:t>
            </a:r>
            <a:r>
              <a:rPr lang="en-US" sz="1100" b="1" dirty="0">
                <a:solidFill>
                  <a:srgbClr val="FFFFFF"/>
                </a:solidFill>
                <a:latin typeface="Courier New" pitchFamily="34" charset="0"/>
                <a:ea typeface="Courier New" pitchFamily="34" charset="-122"/>
                <a:cs typeface="Courier New" pitchFamily="34" charset="-120"/>
              </a:rPr>
              <a:t>network 172.16.3.0 0.0.0.255 area 0</a:t>
            </a:r>
            <a:endParaRPr lang="en-US" sz="1100" dirty="0"/>
          </a:p>
          <a:p>
            <a:pPr indent="0" marL="0">
              <a:lnSpc>
                <a:spcPct val="100000"/>
              </a:lnSpc>
              <a:buNone/>
            </a:pPr>
            <a:r>
              <a:rPr lang="en-US" sz="1100" dirty="0">
                <a:solidFill>
                  <a:srgbClr val="8FC9A0"/>
                </a:solidFill>
                <a:latin typeface="Courier New" pitchFamily="34" charset="0"/>
                <a:ea typeface="Courier New" pitchFamily="34" charset="-122"/>
                <a:cs typeface="Courier New" pitchFamily="34" charset="-120"/>
              </a:rPr>
              <a:t>R3(config-router)# </a:t>
            </a:r>
            <a:r>
              <a:rPr lang="en-US" sz="1100" b="1" dirty="0">
                <a:solidFill>
                  <a:srgbClr val="FFFFFF"/>
                </a:solidFill>
                <a:latin typeface="Courier New" pitchFamily="34" charset="0"/>
                <a:ea typeface="Courier New" pitchFamily="34" charset="-122"/>
                <a:cs typeface="Courier New" pitchFamily="34" charset="-120"/>
              </a:rPr>
              <a:t>network 10.0.0.4 0.0.0.3 area 0</a:t>
            </a:r>
            <a:endParaRPr lang="en-US" sz="1100" dirty="0"/>
          </a:p>
          <a:p>
            <a:pPr indent="0" marL="0">
              <a:lnSpc>
                <a:spcPct val="100000"/>
              </a:lnSpc>
              <a:buNone/>
            </a:pPr>
            <a:r>
              <a:rPr lang="en-US" sz="1100" dirty="0">
                <a:solidFill>
                  <a:srgbClr val="8FC9A0"/>
                </a:solidFill>
                <a:latin typeface="Courier New" pitchFamily="34" charset="0"/>
                <a:ea typeface="Courier New" pitchFamily="34" charset="-122"/>
                <a:cs typeface="Courier New" pitchFamily="34" charset="-120"/>
              </a:rPr>
              <a:t>R3(config-router)# </a:t>
            </a:r>
            <a:r>
              <a:rPr lang="en-US" sz="1100" b="1" dirty="0">
                <a:solidFill>
                  <a:srgbClr val="FFFFFF"/>
                </a:solidFill>
                <a:latin typeface="Courier New" pitchFamily="34" charset="0"/>
                <a:ea typeface="Courier New" pitchFamily="34" charset="-122"/>
                <a:cs typeface="Courier New" pitchFamily="34" charset="-120"/>
              </a:rPr>
              <a:t>network 10.0.0.8 0.0.0.3 area 0</a:t>
            </a:r>
            <a:endParaRPr lang="en-US" sz="1100" dirty="0"/>
          </a:p>
          <a:p>
            <a:pPr indent="0" marL="0">
              <a:lnSpc>
                <a:spcPct val="100000"/>
              </a:lnSpc>
              <a:buNone/>
            </a:pPr>
            <a:r>
              <a:rPr lang="en-US" sz="1100" dirty="0">
                <a:solidFill>
                  <a:srgbClr val="8FC9A0"/>
                </a:solidFill>
                <a:latin typeface="Courier New" pitchFamily="34" charset="0"/>
                <a:ea typeface="Courier New" pitchFamily="34" charset="-122"/>
                <a:cs typeface="Courier New" pitchFamily="34" charset="-120"/>
              </a:rPr>
              <a:t>R3(config-router)# </a:t>
            </a:r>
            <a:r>
              <a:rPr lang="en-US" sz="1100" b="1" dirty="0">
                <a:solidFill>
                  <a:srgbClr val="FFFFFF"/>
                </a:solidFill>
                <a:latin typeface="Courier New" pitchFamily="34" charset="0"/>
                <a:ea typeface="Courier New" pitchFamily="34" charset="-122"/>
                <a:cs typeface="Courier New" pitchFamily="34" charset="-120"/>
              </a:rPr>
              <a:t>passive-interface g0/0/0</a:t>
            </a:r>
            <a:endParaRPr lang="en-US" sz="1100" dirty="0"/>
          </a:p>
        </p:txBody>
      </p:sp>
      <p:sp>
        <p:nvSpPr>
          <p:cNvPr id="18" name="Text 15"/>
          <p:cNvSpPr txBox="1"/>
          <p:nvPr/>
        </p:nvSpPr>
        <p:spPr>
          <a:xfrm>
            <a:off x="548640" y="4370832"/>
            <a:ext cx="5486400" cy="320040"/>
          </a:xfrm>
          <a:prstGeom prst="rect">
            <a:avLst/>
          </a:prstGeom>
          <a:noFill/>
          <a:ln/>
        </p:spPr>
        <p:txBody>
          <a:bodyPr wrap="square" lIns="0" tIns="0" rIns="0" bIns="0" rtlCol="0" anchor="ctr"/>
          <a:lstStyle/>
          <a:p>
            <a:pPr indent="0" marL="0">
              <a:buNone/>
            </a:pPr>
            <a:r>
              <a:rPr lang="en-US" sz="1400" b="1" dirty="0">
                <a:solidFill>
                  <a:srgbClr val="1E5631"/>
                </a:solidFill>
              </a:rPr>
              <a:t>Work out the wildcard:  255.255.255.255 − subnet mask</a:t>
            </a:r>
            <a:endParaRPr lang="en-US" sz="1400" dirty="0"/>
          </a:p>
        </p:txBody>
      </p:sp>
      <p:graphicFrame>
        <p:nvGraphicFramePr>
          <p:cNvPr id="56" name="wildcards"/>
          <p:cNvGraphicFramePr>
            <a:graphicFrameLocks noGrp="1"/>
          </p:cNvGraphicFramePr>
          <p:nvPr>
            <p:extLst>
              <p:ext uri="{D42A27DB-BD31-4B8C-83A1-F6EECF244321}">
                <p14:modId xmlns:p14="http://schemas.microsoft.com/office/powerpoint/2010/main" val="1579011935"/>
              </p:ext>
            </p:extLst>
          </p:nvPr>
        </p:nvGraphicFramePr>
        <p:xfrm>
          <a:off x="548640" y="4754880"/>
          <a:ext cx="5440680" cy="914400"/>
        </p:xfrm>
        <a:graphic>
          <a:graphicData uri="http://schemas.openxmlformats.org/drawingml/2006/table">
            <a:tbl>
              <a:tblPr/>
              <a:tblGrid>
                <a:gridCol w="914400"/>
                <a:gridCol w="2377440"/>
                <a:gridCol w="2148840"/>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Prefix</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1E563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Subnet mask</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1E563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Wildcard</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1E5631"/>
                    </a:solidFill>
                  </a:tcPr>
                </a:tc>
              </a:tr>
              <a:tr h="0">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/24</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100" b="1" dirty="0">
                          <a:solidFill>
                            <a:srgbClr val="1E5631"/>
                          </a:solidFill>
                          <a:latin typeface="Courier New" pitchFamily="34" charset="0"/>
                          <a:ea typeface="Courier New" pitchFamily="34" charset="-122"/>
                          <a:cs typeface="Courier New" pitchFamily="34" charset="-120"/>
                        </a:rPr>
                        <a:t>255.255.255.0</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100" b="1" dirty="0">
                          <a:solidFill>
                            <a:srgbClr val="1E5631"/>
                          </a:solidFill>
                          <a:latin typeface="Courier New" pitchFamily="34" charset="0"/>
                          <a:ea typeface="Courier New" pitchFamily="34" charset="-122"/>
                          <a:cs typeface="Courier New" pitchFamily="34" charset="-120"/>
                        </a:rPr>
                        <a:t>0.0.0.255</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r>
              <a:tr h="0">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/26</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c>
                  <a:txBody>
                    <a:bodyPr/>
                    <a:lstStyle/>
                    <a:p>
                      <a:pPr indent="0" marL="0">
                        <a:buNone/>
                      </a:pPr>
                      <a:r>
                        <a:rPr lang="en-US" sz="1100" b="1" dirty="0">
                          <a:solidFill>
                            <a:srgbClr val="1E5631"/>
                          </a:solidFill>
                          <a:latin typeface="Courier New" pitchFamily="34" charset="0"/>
                          <a:ea typeface="Courier New" pitchFamily="34" charset="-122"/>
                          <a:cs typeface="Courier New" pitchFamily="34" charset="-120"/>
                        </a:rPr>
                        <a:t>255.255.255.192</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c>
                  <a:txBody>
                    <a:bodyPr/>
                    <a:lstStyle/>
                    <a:p>
                      <a:pPr indent="0" marL="0">
                        <a:buNone/>
                      </a:pPr>
                      <a:r>
                        <a:rPr lang="en-US" sz="1100" b="1" dirty="0">
                          <a:solidFill>
                            <a:srgbClr val="1E5631"/>
                          </a:solidFill>
                          <a:latin typeface="Courier New" pitchFamily="34" charset="0"/>
                          <a:ea typeface="Courier New" pitchFamily="34" charset="-122"/>
                          <a:cs typeface="Courier New" pitchFamily="34" charset="-120"/>
                        </a:rPr>
                        <a:t>0.0.0.63</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/30</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100" b="1" dirty="0">
                          <a:solidFill>
                            <a:srgbClr val="1E5631"/>
                          </a:solidFill>
                          <a:latin typeface="Courier New" pitchFamily="34" charset="0"/>
                          <a:ea typeface="Courier New" pitchFamily="34" charset="-122"/>
                          <a:cs typeface="Courier New" pitchFamily="34" charset="-120"/>
                        </a:rPr>
                        <a:t>255.255.255.252</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100" b="1" dirty="0">
                          <a:solidFill>
                            <a:srgbClr val="1E5631"/>
                          </a:solidFill>
                          <a:latin typeface="Courier New" pitchFamily="34" charset="0"/>
                          <a:ea typeface="Courier New" pitchFamily="34" charset="-122"/>
                          <a:cs typeface="Courier New" pitchFamily="34" charset="-120"/>
                        </a:rPr>
                        <a:t>0.0.0.3</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r>
            </a:tbl>
          </a:graphicData>
        </a:graphic>
      </p:graphicFrame>
      <p:sp>
        <p:nvSpPr>
          <p:cNvPr id="20" name="Card"/>
          <p:cNvSpPr/>
          <p:nvPr/>
        </p:nvSpPr>
        <p:spPr>
          <a:xfrm>
            <a:off x="6199632" y="4370832"/>
            <a:ext cx="5440680" cy="1847088"/>
          </a:xfrm>
          <a:prstGeom prst="roundRect">
            <a:avLst>
              <a:gd name="adj" fmla="val 3960"/>
            </a:avLst>
          </a:prstGeom>
          <a:solidFill>
            <a:srgbClr val="E8F1EA"/>
          </a:solidFill>
          <a:ln w="12700">
            <a:solidFill>
              <a:srgbClr val="B7C9BA"/>
            </a:solidFill>
            <a:prstDash val="solid"/>
          </a:ln>
        </p:spPr>
      </p:sp>
      <p:sp>
        <p:nvSpPr>
          <p:cNvPr id="21" name="Text 17"/>
          <p:cNvSpPr txBox="1"/>
          <p:nvPr/>
        </p:nvSpPr>
        <p:spPr>
          <a:xfrm>
            <a:off x="6345936" y="4473245"/>
            <a:ext cx="5148072" cy="1642262"/>
          </a:xfrm>
          <a:prstGeom prst="rect">
            <a:avLst/>
          </a:prstGeom>
          <a:noFill/>
          <a:ln/>
        </p:spPr>
        <p:txBody>
          <a:bodyPr wrap="square" lIns="0" tIns="0" rIns="0" bIns="0" rtlCol="0" anchor="t"/>
          <a:lstStyle/>
          <a:p>
            <a:pPr indent="0" marL="0">
              <a:buNone/>
            </a:pPr>
            <a:r>
              <a:rPr lang="en-US" sz="1400" b="1" dirty="0">
                <a:solidFill>
                  <a:srgbClr val="1E5631"/>
                </a:solidFill>
              </a:rPr>
              <a:t>Check it on every router</a:t>
            </a:r>
            <a:endParaRPr lang="en-US" sz="1300" dirty="0"/>
          </a:p>
          <a:p>
            <a:pPr marL="203200" indent="-203200">
              <a:spcAft>
                <a:spcPts val="200"/>
              </a:spcAft>
              <a:buSzPct val="100000"/>
              <a:buChar char="•"/>
            </a:pPr>
            <a:r>
              <a:rPr lang="en-US" sz="1200" b="1" dirty="0">
                <a:solidFill>
                  <a:srgbClr val="1E5631"/>
                </a:solidFill>
                <a:latin typeface="Courier New" pitchFamily="34" charset="0"/>
                <a:ea typeface="Courier New" pitchFamily="34" charset="-122"/>
                <a:cs typeface="Courier New" pitchFamily="34" charset="-120"/>
              </a:rPr>
              <a:t>show ip protocols</a:t>
            </a:r>
            <a:r>
              <a:rPr lang="en-US" sz="1300" dirty="0">
                <a:solidFill>
                  <a:srgbClr val="2B2B2B"/>
                </a:solidFill>
              </a:rPr>
              <a:t> lists the networks OSPF is running on</a:t>
            </a:r>
            <a:endParaRPr lang="en-US" sz="1300" dirty="0"/>
          </a:p>
          <a:p>
            <a:pPr marL="203200" indent="-203200">
              <a:spcAft>
                <a:spcPts val="200"/>
              </a:spcAft>
              <a:buSzPct val="100000"/>
              <a:buChar char="•"/>
            </a:pPr>
            <a:r>
              <a:rPr lang="en-US" sz="1200" b="1" dirty="0">
                <a:solidFill>
                  <a:srgbClr val="1E5631"/>
                </a:solidFill>
                <a:latin typeface="Courier New" pitchFamily="34" charset="0"/>
                <a:ea typeface="Courier New" pitchFamily="34" charset="-122"/>
                <a:cs typeface="Courier New" pitchFamily="34" charset="-120"/>
              </a:rPr>
              <a:t>show ip ospf neighbor</a:t>
            </a:r>
            <a:r>
              <a:rPr lang="en-US" sz="1300" dirty="0">
                <a:solidFill>
                  <a:srgbClr val="2B2B2B"/>
                </a:solidFill>
              </a:rPr>
              <a:t> shows two neighbours in FULL state</a:t>
            </a:r>
            <a:endParaRPr lang="en-US" sz="1300" dirty="0"/>
          </a:p>
          <a:p>
            <a:pPr marL="203200" indent="-203200">
              <a:spcAft>
                <a:spcPts val="200"/>
              </a:spcAft>
              <a:buSzPct val="100000"/>
              <a:buChar char="•"/>
            </a:pPr>
            <a:r>
              <a:rPr lang="en-US" sz="1300" dirty="0">
                <a:solidFill>
                  <a:srgbClr val="2B2B2B"/>
                </a:solidFill>
              </a:rPr>
              <a:t>Each PC can ping the other two PCs</a:t>
            </a:r>
            <a:endParaRPr lang="en-US" sz="1300" dirty="0"/>
          </a:p>
        </p:txBody>
      </p:sp>
      <p:sp>
        <p:nvSpPr>
          <p:cNvPr id="25" name="Slide Number Placeholder 0"/>
          <p:cNvSpPr>
            <a:spLocks noGrp="1"/>
          </p:cNvSpPr>
          <p:nvPr>
            <p:ph type="sldNum" sz="quarter" idx="4294967295"/>
          </p:nvPr>
        </p:nvSpPr>
        <p:spPr>
          <a:xfrm>
            <a:off x="10698480" y="6464808"/>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1"/>
          <p:cNvSpPr/>
          <p:nvPr>
            <p:ph idx="102" type="body" hasCustomPrompt="1"/>
          </p:nvPr>
        </p:nvSpPr>
        <p:spPr>
          <a:xfrm>
            <a:off x="548640" y="274320"/>
            <a:ext cx="9966960" cy="256032"/>
          </a:xfrm>
          <a:prstGeom prst="rect">
            <a:avLst/>
          </a:prstGeom>
          <a:noFill/>
          <a:ln/>
        </p:spPr>
        <p:txBody>
          <a:bodyPr wrap="square" lIns="0" tIns="0" rIns="0" bIns="0" rtlCol="0" anchor="ctr"/>
          <a:lstStyle/>
          <a:p>
            <a:pPr algn="l" indent="0" marL="0">
              <a:buNone/>
            </a:pPr>
            <a:r>
              <a:rPr lang="en-US" sz="1100" b="1" spc="100" kern="0" dirty="0">
                <a:solidFill>
                  <a:schemeClr val="accent2"/>
                </a:solidFill>
              </a:rPr>
              <a:t>07  •  ROUTING  •  LAB 3</a:t>
            </a:r>
            <a:endParaRPr lang="en-US" sz="1100" dirty="0"/>
          </a:p>
        </p:txBody>
      </p:sp>
      <p:sp>
        <p:nvSpPr>
          <p:cNvPr id="3" name="Text 1"/>
          <p:cNvSpPr/>
          <p:nvPr>
            <p:ph idx="103" type="title" hasCustomPrompt="1"/>
          </p:nvPr>
        </p:nvSpPr>
        <p:spPr>
          <a:xfrm>
            <a:off x="548640" y="548640"/>
            <a:ext cx="10149840" cy="548640"/>
          </a:xfrm>
          <a:prstGeom prst="rect">
            <a:avLst/>
          </a:prstGeom>
          <a:noFill/>
          <a:ln/>
        </p:spPr>
        <p:txBody>
          <a:bodyPr wrap="square" lIns="0" tIns="0" rIns="0" bIns="0" rtlCol="0" anchor="ctr"/>
          <a:lstStyle/>
          <a:p>
            <a:pPr algn="l" indent="0" marL="0">
              <a:buNone/>
            </a:pPr>
            <a:r>
              <a:rPr lang="en-US" sz="2600" b="1" dirty="0">
                <a:solidFill>
                  <a:schemeClr val="accent1"/>
                </a:solidFill>
              </a:rPr>
              <a:t>How to check OSPF neighbours and routes</a:t>
            </a:r>
            <a:endParaRPr lang="en-US" sz="2600" dirty="0"/>
          </a:p>
        </p:txBody>
      </p:sp>
      <p:pic>
        <p:nvPicPr>
          <p:cNvPr id="4" name="Home button" descr="Home: back to the workbook menu">
            <a:hlinkClick r:id="rId2" tooltip="Back to the workbook menu" action="ppaction://hlinksldjump"/>
          </p:cNvPr>
          <p:cNvPicPr>
            <a:picLocks noChangeAspect="1"/>
          </p:cNvPicPr>
          <p:nvPr/>
        </p:nvPicPr>
        <p:blipFill>
          <a:blip r:embed="rId1"/>
          <a:stretch>
            <a:fillRect/>
          </a:stretch>
        </p:blipFill>
        <p:spPr>
          <a:xfrm>
            <a:off x="11365992" y="6336792"/>
            <a:ext cx="365760" cy="365760"/>
          </a:xfrm>
          <a:prstGeom prst="rect">
            <a:avLst/>
          </a:prstGeom>
        </p:spPr>
      </p:pic>
      <p:sp>
        <p:nvSpPr>
          <p:cNvPr id="5" name="Goal"/>
          <p:cNvSpPr txBox="1"/>
          <p:nvPr/>
        </p:nvSpPr>
        <p:spPr>
          <a:xfrm>
            <a:off x="548640" y="1161288"/>
            <a:ext cx="11094415" cy="384048"/>
          </a:xfrm>
          <a:prstGeom prst="rect">
            <a:avLst/>
          </a:prstGeom>
          <a:noFill/>
          <a:ln/>
        </p:spPr>
        <p:txBody>
          <a:bodyPr wrap="square" lIns="0" tIns="0" rIns="0" bIns="0" rtlCol="0" anchor="ctr"/>
          <a:lstStyle/>
          <a:p>
            <a:pPr indent="0" marL="0">
              <a:buNone/>
            </a:pPr>
            <a:r>
              <a:rPr lang="en-US" sz="1400" b="1" dirty="0">
                <a:solidFill>
                  <a:srgbClr val="2B7043"/>
                </a:solidFill>
              </a:rPr>
              <a:t>Goal:  </a:t>
            </a:r>
            <a:r>
              <a:rPr lang="en-US" sz="1400" dirty="0">
                <a:solidFill>
                  <a:srgbClr val="2B2B2B"/>
                </a:solidFill>
              </a:rPr>
              <a:t>Two commands prove OSPF works: the neighbours are FULL and the remote LANs appear as O routes.</a:t>
            </a:r>
            <a:endParaRPr lang="en-US" sz="1400" dirty="0"/>
          </a:p>
        </p:txBody>
      </p:sp>
      <p:sp>
        <p:nvSpPr>
          <p:cNvPr id="6" name="Terminal window"/>
          <p:cNvSpPr/>
          <p:nvPr/>
        </p:nvSpPr>
        <p:spPr>
          <a:xfrm>
            <a:off x="548640" y="1664208"/>
            <a:ext cx="11094415" cy="2697480"/>
          </a:xfrm>
          <a:prstGeom prst="roundRect">
            <a:avLst>
              <a:gd name="adj" fmla="val 2712"/>
            </a:avLst>
          </a:prstGeom>
          <a:solidFill>
            <a:srgbClr val="1B2B22"/>
          </a:solidFill>
          <a:ln w="6350">
            <a:solidFill>
              <a:srgbClr val="1B2B22"/>
            </a:solidFill>
            <a:prstDash val="solid"/>
          </a:ln>
        </p:spPr>
      </p:sp>
      <p:sp>
        <p:nvSpPr>
          <p:cNvPr id="7" name="Shape 4"/>
          <p:cNvSpPr/>
          <p:nvPr/>
        </p:nvSpPr>
        <p:spPr>
          <a:xfrm>
            <a:off x="713232" y="1783080"/>
            <a:ext cx="109728" cy="109728"/>
          </a:xfrm>
          <a:prstGeom prst="ellipse">
            <a:avLst/>
          </a:prstGeom>
          <a:solidFill>
            <a:srgbClr val="E0605A"/>
          </a:solidFill>
          <a:ln/>
        </p:spPr>
      </p:sp>
      <p:sp>
        <p:nvSpPr>
          <p:cNvPr id="8" name="Shape 5"/>
          <p:cNvSpPr/>
          <p:nvPr/>
        </p:nvSpPr>
        <p:spPr>
          <a:xfrm>
            <a:off x="896112" y="1783080"/>
            <a:ext cx="109728" cy="109728"/>
          </a:xfrm>
          <a:prstGeom prst="ellipse">
            <a:avLst/>
          </a:prstGeom>
          <a:solidFill>
            <a:srgbClr val="E8B92E"/>
          </a:solidFill>
          <a:ln/>
        </p:spPr>
      </p:sp>
      <p:sp>
        <p:nvSpPr>
          <p:cNvPr id="9" name="Shape 6"/>
          <p:cNvSpPr/>
          <p:nvPr/>
        </p:nvSpPr>
        <p:spPr>
          <a:xfrm>
            <a:off x="1078992" y="1783080"/>
            <a:ext cx="109728" cy="109728"/>
          </a:xfrm>
          <a:prstGeom prst="ellipse">
            <a:avLst/>
          </a:prstGeom>
          <a:solidFill>
            <a:srgbClr val="4CAF50"/>
          </a:solidFill>
          <a:ln/>
        </p:spPr>
      </p:sp>
      <p:sp>
        <p:nvSpPr>
          <p:cNvPr id="10" name="Text 7"/>
          <p:cNvSpPr txBox="1"/>
          <p:nvPr/>
        </p:nvSpPr>
        <p:spPr>
          <a:xfrm>
            <a:off x="1325880" y="1709928"/>
            <a:ext cx="10180015" cy="256032"/>
          </a:xfrm>
          <a:prstGeom prst="rect">
            <a:avLst/>
          </a:prstGeom>
          <a:noFill/>
          <a:ln/>
        </p:spPr>
        <p:txBody>
          <a:bodyPr wrap="square" lIns="0" tIns="0" rIns="0" bIns="0" rtlCol="0" anchor="ctr"/>
          <a:lstStyle/>
          <a:p>
            <a:pPr indent="0" marL="0">
              <a:buNone/>
            </a:pPr>
            <a:r>
              <a:rPr lang="en-US" sz="1100" b="1" dirty="0">
                <a:solidFill>
                  <a:srgbClr val="C9D6CC"/>
                </a:solidFill>
              </a:rPr>
              <a:t>R1  ›  CLI</a:t>
            </a:r>
            <a:endParaRPr lang="en-US" sz="1100" dirty="0"/>
          </a:p>
        </p:txBody>
      </p:sp>
      <p:sp>
        <p:nvSpPr>
          <p:cNvPr id="11" name="Terminal text"/>
          <p:cNvSpPr txBox="1"/>
          <p:nvPr/>
        </p:nvSpPr>
        <p:spPr>
          <a:xfrm>
            <a:off x="731520" y="2048256"/>
            <a:ext cx="10774375" cy="2221992"/>
          </a:xfrm>
          <a:prstGeom prst="rect">
            <a:avLst/>
          </a:prstGeom>
          <a:noFill/>
          <a:ln/>
        </p:spPr>
        <p:txBody>
          <a:bodyPr wrap="square" lIns="0" tIns="0" rIns="0" bIns="0" rtlCol="0" anchor="t"/>
          <a:lstStyle/>
          <a:p>
            <a:pPr indent="0" marL="0">
              <a:lnSpc>
                <a:spcPct val="100000"/>
              </a:lnSpc>
              <a:buNone/>
            </a:pPr>
            <a:r>
              <a:rPr lang="en-US" sz="1100" dirty="0">
                <a:solidFill>
                  <a:srgbClr val="8FC9A0"/>
                </a:solidFill>
                <a:latin typeface="Courier New" pitchFamily="34" charset="0"/>
                <a:ea typeface="Courier New" pitchFamily="34" charset="-122"/>
                <a:cs typeface="Courier New" pitchFamily="34" charset="-120"/>
              </a:rPr>
              <a:t>R1# </a:t>
            </a:r>
            <a:r>
              <a:rPr lang="en-US" sz="1100" b="1" dirty="0">
                <a:solidFill>
                  <a:srgbClr val="FFFFFF"/>
                </a:solidFill>
                <a:latin typeface="Courier New" pitchFamily="34" charset="0"/>
                <a:ea typeface="Courier New" pitchFamily="34" charset="-122"/>
                <a:cs typeface="Courier New" pitchFamily="34" charset="-120"/>
              </a:rPr>
              <a:t>show ip ospf neighbor</a:t>
            </a:r>
            <a:endParaRPr lang="en-US" sz="1100" dirty="0"/>
          </a:p>
          <a:p>
            <a:pPr indent="0" marL="0">
              <a:lnSpc>
                <a:spcPct val="100000"/>
              </a:lnSpc>
              <a:buNone/>
            </a:pPr>
            <a:r>
              <a:rPr lang="en-US" sz="1100" dirty="0">
                <a:solidFill>
                  <a:srgbClr val="D5E2D8"/>
                </a:solidFill>
                <a:latin typeface="Courier New" pitchFamily="34" charset="0"/>
                <a:ea typeface="Courier New" pitchFamily="34" charset="-122"/>
                <a:cs typeface="Courier New" pitchFamily="34" charset="-120"/>
              </a:rPr>
              <a:t>Neighbor ID     Pri   State           Dead Time   Address         Interface</a:t>
            </a:r>
            <a:endParaRPr lang="en-US" sz="1100" dirty="0"/>
          </a:p>
          <a:p>
            <a:pPr indent="0" marL="0">
              <a:lnSpc>
                <a:spcPct val="100000"/>
              </a:lnSpc>
              <a:buNone/>
            </a:pPr>
            <a:r>
              <a:rPr lang="en-US" sz="1100" b="1" dirty="0">
                <a:solidFill>
                  <a:srgbClr val="E8B92E"/>
                </a:solidFill>
                <a:latin typeface="Courier New" pitchFamily="34" charset="0"/>
                <a:ea typeface="Courier New" pitchFamily="34" charset="-122"/>
                <a:cs typeface="Courier New" pitchFamily="34" charset="-120"/>
              </a:rPr>
              <a:t>2.2.2.2</a:t>
            </a:r>
            <a:r>
              <a:rPr lang="en-US" sz="1100" dirty="0">
                <a:solidFill>
                  <a:srgbClr val="D5E2D8"/>
                </a:solidFill>
                <a:latin typeface="Courier New" pitchFamily="34" charset="0"/>
                <a:ea typeface="Courier New" pitchFamily="34" charset="-122"/>
                <a:cs typeface="Courier New" pitchFamily="34" charset="-120"/>
              </a:rPr>
              <a:t>           1   </a:t>
            </a:r>
            <a:r>
              <a:rPr lang="en-US" sz="1100" b="1" dirty="0">
                <a:solidFill>
                  <a:srgbClr val="E8B92E"/>
                </a:solidFill>
                <a:latin typeface="Courier New" pitchFamily="34" charset="0"/>
                <a:ea typeface="Courier New" pitchFamily="34" charset="-122"/>
                <a:cs typeface="Courier New" pitchFamily="34" charset="-120"/>
              </a:rPr>
              <a:t>FULL</a:t>
            </a:r>
            <a:r>
              <a:rPr lang="en-US" sz="1100" dirty="0">
                <a:solidFill>
                  <a:srgbClr val="D5E2D8"/>
                </a:solidFill>
                <a:latin typeface="Courier New" pitchFamily="34" charset="0"/>
                <a:ea typeface="Courier New" pitchFamily="34" charset="-122"/>
                <a:cs typeface="Courier New" pitchFamily="34" charset="-120"/>
              </a:rPr>
              <a:t>/DR         00:00:35    10.0.0.2        GigabitEthernet0/0/1</a:t>
            </a:r>
            <a:endParaRPr lang="en-US" sz="1100" dirty="0"/>
          </a:p>
          <a:p>
            <a:pPr indent="0" marL="0">
              <a:lnSpc>
                <a:spcPct val="100000"/>
              </a:lnSpc>
              <a:buNone/>
            </a:pPr>
            <a:r>
              <a:rPr lang="en-US" sz="1100" dirty="0">
                <a:solidFill>
                  <a:srgbClr val="D5E2D8"/>
                </a:solidFill>
                <a:latin typeface="Courier New" pitchFamily="34" charset="0"/>
                <a:ea typeface="Courier New" pitchFamily="34" charset="-122"/>
                <a:cs typeface="Courier New" pitchFamily="34" charset="-120"/>
              </a:rPr>
              <a:t>3.3.3.3           1   </a:t>
            </a:r>
            <a:r>
              <a:rPr lang="en-US" sz="1100" b="1" dirty="0">
                <a:solidFill>
                  <a:srgbClr val="E8B92E"/>
                </a:solidFill>
                <a:latin typeface="Courier New" pitchFamily="34" charset="0"/>
                <a:ea typeface="Courier New" pitchFamily="34" charset="-122"/>
                <a:cs typeface="Courier New" pitchFamily="34" charset="-120"/>
              </a:rPr>
              <a:t>FULL</a:t>
            </a:r>
            <a:r>
              <a:rPr lang="en-US" sz="1100" dirty="0">
                <a:solidFill>
                  <a:srgbClr val="D5E2D8"/>
                </a:solidFill>
                <a:latin typeface="Courier New" pitchFamily="34" charset="0"/>
                <a:ea typeface="Courier New" pitchFamily="34" charset="-122"/>
                <a:cs typeface="Courier New" pitchFamily="34" charset="-120"/>
              </a:rPr>
              <a:t>/BDR        00:00:33    10.0.0.10       GigabitEthernet0/0/2</a:t>
            </a:r>
            <a:endParaRPr lang="en-US" sz="1100" dirty="0"/>
          </a:p>
          <a:p>
            <a:pPr indent="0" marL="0">
              <a:lnSpc>
                <a:spcPct val="100000"/>
              </a:lnSpc>
              <a:buNone/>
            </a:pPr>
            <a:r>
              <a:rPr lang="en-US" sz="1100" dirty="0">
                <a:solidFill>
                  <a:srgbClr val="8FC9A0"/>
                </a:solidFill>
                <a:latin typeface="Courier New" pitchFamily="34" charset="0"/>
                <a:ea typeface="Courier New" pitchFamily="34" charset="-122"/>
                <a:cs typeface="Courier New" pitchFamily="34" charset="-120"/>
              </a:rPr>
              <a:t>R1# </a:t>
            </a:r>
            <a:r>
              <a:rPr lang="en-US" sz="1100" b="1" dirty="0">
                <a:solidFill>
                  <a:srgbClr val="FFFFFF"/>
                </a:solidFill>
                <a:latin typeface="Courier New" pitchFamily="34" charset="0"/>
                <a:ea typeface="Courier New" pitchFamily="34" charset="-122"/>
                <a:cs typeface="Courier New" pitchFamily="34" charset="-120"/>
              </a:rPr>
              <a:t>show ip route ospf</a:t>
            </a:r>
            <a:endParaRPr lang="en-US" sz="1100" dirty="0"/>
          </a:p>
          <a:p>
            <a:pPr indent="0" marL="0">
              <a:lnSpc>
                <a:spcPct val="100000"/>
              </a:lnSpc>
              <a:buNone/>
            </a:pPr>
            <a:r>
              <a:rPr lang="en-US" sz="1100" dirty="0">
                <a:solidFill>
                  <a:srgbClr val="D5E2D8"/>
                </a:solidFill>
                <a:latin typeface="Courier New" pitchFamily="34" charset="0"/>
                <a:ea typeface="Courier New" pitchFamily="34" charset="-122"/>
                <a:cs typeface="Courier New" pitchFamily="34" charset="-120"/>
              </a:rPr>
              <a:t>O    172.16.2.0/24 </a:t>
            </a:r>
            <a:r>
              <a:rPr lang="en-US" sz="1100" b="1" dirty="0">
                <a:solidFill>
                  <a:srgbClr val="E8B92E"/>
                </a:solidFill>
                <a:latin typeface="Courier New" pitchFamily="34" charset="0"/>
                <a:ea typeface="Courier New" pitchFamily="34" charset="-122"/>
                <a:cs typeface="Courier New" pitchFamily="34" charset="-120"/>
              </a:rPr>
              <a:t>[110/2]</a:t>
            </a:r>
            <a:r>
              <a:rPr lang="en-US" sz="1100" dirty="0">
                <a:solidFill>
                  <a:srgbClr val="D5E2D8"/>
                </a:solidFill>
                <a:latin typeface="Courier New" pitchFamily="34" charset="0"/>
                <a:ea typeface="Courier New" pitchFamily="34" charset="-122"/>
                <a:cs typeface="Courier New" pitchFamily="34" charset="-120"/>
              </a:rPr>
              <a:t> via 10.0.0.2, 00:02:10, GigabitEthernet0/0/1</a:t>
            </a:r>
            <a:endParaRPr lang="en-US" sz="1100" dirty="0"/>
          </a:p>
          <a:p>
            <a:pPr indent="0" marL="0">
              <a:lnSpc>
                <a:spcPct val="100000"/>
              </a:lnSpc>
              <a:buNone/>
            </a:pPr>
            <a:r>
              <a:rPr lang="en-US" sz="1100" dirty="0">
                <a:solidFill>
                  <a:srgbClr val="D5E2D8"/>
                </a:solidFill>
                <a:latin typeface="Courier New" pitchFamily="34" charset="0"/>
                <a:ea typeface="Courier New" pitchFamily="34" charset="-122"/>
                <a:cs typeface="Courier New" pitchFamily="34" charset="-120"/>
              </a:rPr>
              <a:t>O    172.16.3.0/24 [110/2] via 10.0.0.10, 00:02:10, GigabitEthernet0/0/2</a:t>
            </a:r>
            <a:endParaRPr lang="en-US" sz="1100" dirty="0"/>
          </a:p>
          <a:p>
            <a:pPr indent="0" marL="0">
              <a:lnSpc>
                <a:spcPct val="100000"/>
              </a:lnSpc>
              <a:buNone/>
            </a:pPr>
            <a:r>
              <a:rPr lang="en-US" sz="1100" dirty="0">
                <a:solidFill>
                  <a:srgbClr val="D5E2D8"/>
                </a:solidFill>
                <a:latin typeface="Courier New" pitchFamily="34" charset="0"/>
                <a:ea typeface="Courier New" pitchFamily="34" charset="-122"/>
                <a:cs typeface="Courier New" pitchFamily="34" charset="-120"/>
              </a:rPr>
              <a:t>O    10.0.0.4/30 [110/2] via </a:t>
            </a:r>
            <a:r>
              <a:rPr lang="en-US" sz="1100" b="1" dirty="0">
                <a:solidFill>
                  <a:srgbClr val="E8B92E"/>
                </a:solidFill>
                <a:latin typeface="Courier New" pitchFamily="34" charset="0"/>
                <a:ea typeface="Courier New" pitchFamily="34" charset="-122"/>
                <a:cs typeface="Courier New" pitchFamily="34" charset="-120"/>
              </a:rPr>
              <a:t>10.0.0.2</a:t>
            </a:r>
            <a:r>
              <a:rPr lang="en-US" sz="1100" dirty="0">
                <a:solidFill>
                  <a:srgbClr val="D5E2D8"/>
                </a:solidFill>
                <a:latin typeface="Courier New" pitchFamily="34" charset="0"/>
                <a:ea typeface="Courier New" pitchFamily="34" charset="-122"/>
                <a:cs typeface="Courier New" pitchFamily="34" charset="-120"/>
              </a:rPr>
              <a:t>, 00:02:10, GigabitEthernet0/0/1</a:t>
            </a:r>
            <a:endParaRPr lang="en-US" sz="1100" dirty="0"/>
          </a:p>
          <a:p>
            <a:pPr indent="0" marL="0">
              <a:lnSpc>
                <a:spcPct val="100000"/>
              </a:lnSpc>
              <a:buNone/>
            </a:pPr>
            <a:r>
              <a:rPr lang="en-US" sz="1100" dirty="0">
                <a:solidFill>
                  <a:srgbClr val="D5E2D8"/>
                </a:solidFill>
                <a:latin typeface="Courier New" pitchFamily="34" charset="0"/>
                <a:ea typeface="Courier New" pitchFamily="34" charset="-122"/>
                <a:cs typeface="Courier New" pitchFamily="34" charset="-120"/>
              </a:rPr>
              <a:t>                 [110/2] via </a:t>
            </a:r>
            <a:r>
              <a:rPr lang="en-US" sz="1100" b="1" dirty="0">
                <a:solidFill>
                  <a:srgbClr val="E8B92E"/>
                </a:solidFill>
                <a:latin typeface="Courier New" pitchFamily="34" charset="0"/>
                <a:ea typeface="Courier New" pitchFamily="34" charset="-122"/>
                <a:cs typeface="Courier New" pitchFamily="34" charset="-120"/>
              </a:rPr>
              <a:t>10.0.0.10</a:t>
            </a:r>
            <a:r>
              <a:rPr lang="en-US" sz="1100" dirty="0">
                <a:solidFill>
                  <a:srgbClr val="D5E2D8"/>
                </a:solidFill>
                <a:latin typeface="Courier New" pitchFamily="34" charset="0"/>
                <a:ea typeface="Courier New" pitchFamily="34" charset="-122"/>
                <a:cs typeface="Courier New" pitchFamily="34" charset="-120"/>
              </a:rPr>
              <a:t>, 00:02:10, GigabitEthernet0/0/2</a:t>
            </a:r>
            <a:endParaRPr lang="en-US" sz="1100" dirty="0"/>
          </a:p>
        </p:txBody>
      </p:sp>
      <p:sp>
        <p:nvSpPr>
          <p:cNvPr id="12" name="Card"/>
          <p:cNvSpPr/>
          <p:nvPr/>
        </p:nvSpPr>
        <p:spPr>
          <a:xfrm>
            <a:off x="548640" y="4526280"/>
            <a:ext cx="3520440" cy="1691640"/>
          </a:xfrm>
          <a:prstGeom prst="roundRect">
            <a:avLst>
              <a:gd name="adj" fmla="val 4324"/>
            </a:avLst>
          </a:prstGeom>
          <a:solidFill>
            <a:srgbClr val="F2F8F3"/>
          </a:solidFill>
          <a:ln w="12700">
            <a:solidFill>
              <a:srgbClr val="B7C9BA"/>
            </a:solidFill>
            <a:prstDash val="solid"/>
          </a:ln>
        </p:spPr>
      </p:sp>
      <p:sp>
        <p:nvSpPr>
          <p:cNvPr id="13" name="Text 10"/>
          <p:cNvSpPr txBox="1"/>
          <p:nvPr/>
        </p:nvSpPr>
        <p:spPr>
          <a:xfrm>
            <a:off x="694944" y="4628693"/>
            <a:ext cx="3227832" cy="1486814"/>
          </a:xfrm>
          <a:prstGeom prst="rect">
            <a:avLst/>
          </a:prstGeom>
          <a:noFill/>
          <a:ln/>
        </p:spPr>
        <p:txBody>
          <a:bodyPr wrap="square" lIns="0" tIns="0" rIns="0" bIns="0" rtlCol="0" anchor="t"/>
          <a:lstStyle/>
          <a:p>
            <a:pPr indent="0" marL="0">
              <a:buNone/>
            </a:pPr>
            <a:r>
              <a:rPr lang="en-US" sz="1400" b="1" dirty="0">
                <a:solidFill>
                  <a:srgbClr val="1E5631"/>
                </a:solidFill>
              </a:rPr>
              <a:t>FULL</a:t>
            </a:r>
            <a:endParaRPr lang="en-US" sz="1300" dirty="0"/>
          </a:p>
          <a:p>
            <a:pPr indent="0" marL="0">
              <a:buNone/>
            </a:pPr>
            <a:r>
              <a:rPr lang="en-US" sz="1300" dirty="0">
                <a:solidFill>
                  <a:srgbClr val="2B2B2B"/>
                </a:solidFill>
              </a:rPr>
              <a:t>The routers have swapped their complete maps. INIT, 2WAY or no line at all? Check areas, wildcards and passive ports. DR/BDR is just the neighbour’s role on that link.</a:t>
            </a:r>
            <a:endParaRPr lang="en-US" sz="1300" dirty="0"/>
          </a:p>
        </p:txBody>
      </p:sp>
      <p:sp>
        <p:nvSpPr>
          <p:cNvPr id="14" name="Card"/>
          <p:cNvSpPr/>
          <p:nvPr/>
        </p:nvSpPr>
        <p:spPr>
          <a:xfrm>
            <a:off x="4334256" y="4526280"/>
            <a:ext cx="3520440" cy="1691640"/>
          </a:xfrm>
          <a:prstGeom prst="roundRect">
            <a:avLst>
              <a:gd name="adj" fmla="val 4324"/>
            </a:avLst>
          </a:prstGeom>
          <a:solidFill>
            <a:srgbClr val="F2F8F3"/>
          </a:solidFill>
          <a:ln w="12700">
            <a:solidFill>
              <a:srgbClr val="B7C9BA"/>
            </a:solidFill>
            <a:prstDash val="solid"/>
          </a:ln>
        </p:spPr>
      </p:sp>
      <p:sp>
        <p:nvSpPr>
          <p:cNvPr id="15" name="Text 12"/>
          <p:cNvSpPr txBox="1"/>
          <p:nvPr/>
        </p:nvSpPr>
        <p:spPr>
          <a:xfrm>
            <a:off x="4480560" y="4628693"/>
            <a:ext cx="3227832" cy="1486814"/>
          </a:xfrm>
          <a:prstGeom prst="rect">
            <a:avLst/>
          </a:prstGeom>
          <a:noFill/>
          <a:ln/>
        </p:spPr>
        <p:txBody>
          <a:bodyPr wrap="square" lIns="0" tIns="0" rIns="0" bIns="0" rtlCol="0" anchor="t"/>
          <a:lstStyle/>
          <a:p>
            <a:pPr indent="0" marL="0">
              <a:buNone/>
            </a:pPr>
            <a:r>
              <a:rPr lang="en-US" sz="1400" b="1" dirty="0">
                <a:solidFill>
                  <a:srgbClr val="1E5631"/>
                </a:solidFill>
              </a:rPr>
              <a:t>[110/2]</a:t>
            </a:r>
            <a:endParaRPr lang="en-US" sz="1300" dirty="0"/>
          </a:p>
          <a:p>
            <a:pPr indent="0" marL="0">
              <a:buNone/>
            </a:pPr>
            <a:r>
              <a:rPr lang="en-US" sz="1300" dirty="0">
                <a:solidFill>
                  <a:srgbClr val="2B2B2B"/>
                </a:solidFill>
              </a:rPr>
              <a:t>OSPF’s distance (110) and cost (2): 1 for the link to R2 plus 1 for R2’s LAN — each Gigabit link costs 1.</a:t>
            </a:r>
            <a:endParaRPr lang="en-US" sz="1300" dirty="0"/>
          </a:p>
        </p:txBody>
      </p:sp>
      <p:sp>
        <p:nvSpPr>
          <p:cNvPr id="16" name="Card"/>
          <p:cNvSpPr/>
          <p:nvPr/>
        </p:nvSpPr>
        <p:spPr>
          <a:xfrm>
            <a:off x="8119872" y="4526280"/>
            <a:ext cx="3520440" cy="1691640"/>
          </a:xfrm>
          <a:prstGeom prst="roundRect">
            <a:avLst>
              <a:gd name="adj" fmla="val 4324"/>
            </a:avLst>
          </a:prstGeom>
          <a:solidFill>
            <a:srgbClr val="F2F8F3"/>
          </a:solidFill>
          <a:ln w="12700">
            <a:solidFill>
              <a:srgbClr val="B7C9BA"/>
            </a:solidFill>
            <a:prstDash val="solid"/>
          </a:ln>
        </p:spPr>
      </p:sp>
      <p:sp>
        <p:nvSpPr>
          <p:cNvPr id="17" name="Text 14"/>
          <p:cNvSpPr txBox="1"/>
          <p:nvPr/>
        </p:nvSpPr>
        <p:spPr>
          <a:xfrm>
            <a:off x="8266176" y="4628693"/>
            <a:ext cx="3227832" cy="1486814"/>
          </a:xfrm>
          <a:prstGeom prst="rect">
            <a:avLst/>
          </a:prstGeom>
          <a:noFill/>
          <a:ln/>
        </p:spPr>
        <p:txBody>
          <a:bodyPr wrap="square" lIns="0" tIns="0" rIns="0" bIns="0" rtlCol="0" anchor="t"/>
          <a:lstStyle/>
          <a:p>
            <a:pPr indent="0" marL="0">
              <a:buNone/>
            </a:pPr>
            <a:r>
              <a:rPr lang="en-US" sz="1400" b="1" dirty="0">
                <a:solidFill>
                  <a:srgbClr val="1E5631"/>
                </a:solidFill>
              </a:rPr>
              <a:t>Two “via” lines</a:t>
            </a:r>
            <a:endParaRPr lang="en-US" sz="1300" dirty="0"/>
          </a:p>
          <a:p>
            <a:pPr indent="0" marL="0">
              <a:buNone/>
            </a:pPr>
            <a:r>
              <a:rPr lang="en-US" sz="1300" dirty="0">
                <a:solidFill>
                  <a:srgbClr val="2B2B2B"/>
                </a:solidFill>
              </a:rPr>
              <a:t>Two paths with the same cost: OSPF shares traffic across both (equal-cost load balancing).</a:t>
            </a:r>
            <a:endParaRPr lang="en-US" sz="1300" dirty="0"/>
          </a:p>
        </p:txBody>
      </p:sp>
      <p:sp>
        <p:nvSpPr>
          <p:cNvPr id="25" name="Slide Number Placeholder 0"/>
          <p:cNvSpPr>
            <a:spLocks noGrp="1"/>
          </p:cNvSpPr>
          <p:nvPr>
            <p:ph type="sldNum" sz="quarter" idx="4294967295"/>
          </p:nvPr>
        </p:nvSpPr>
        <p:spPr>
          <a:xfrm>
            <a:off x="10698480" y="6464808"/>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1"/>
          <p:cNvSpPr/>
          <p:nvPr>
            <p:ph idx="102" type="body" hasCustomPrompt="1"/>
          </p:nvPr>
        </p:nvSpPr>
        <p:spPr>
          <a:xfrm>
            <a:off x="548640" y="274320"/>
            <a:ext cx="9966960" cy="256032"/>
          </a:xfrm>
          <a:prstGeom prst="rect">
            <a:avLst/>
          </a:prstGeom>
          <a:noFill/>
          <a:ln/>
        </p:spPr>
        <p:txBody>
          <a:bodyPr wrap="square" lIns="0" tIns="0" rIns="0" bIns="0" rtlCol="0" anchor="ctr"/>
          <a:lstStyle/>
          <a:p>
            <a:pPr algn="l" indent="0" marL="0">
              <a:buNone/>
            </a:pPr>
            <a:r>
              <a:rPr lang="en-US" sz="1100" b="1" spc="100" kern="0" dirty="0">
                <a:solidFill>
                  <a:schemeClr val="accent2"/>
                </a:solidFill>
              </a:rPr>
              <a:t>07  •  ROUTING  •  LAB 3</a:t>
            </a:r>
            <a:endParaRPr lang="en-US" sz="1100" dirty="0"/>
          </a:p>
        </p:txBody>
      </p:sp>
      <p:sp>
        <p:nvSpPr>
          <p:cNvPr id="3" name="Text 1"/>
          <p:cNvSpPr/>
          <p:nvPr>
            <p:ph idx="103" type="title" hasCustomPrompt="1"/>
          </p:nvPr>
        </p:nvSpPr>
        <p:spPr>
          <a:xfrm>
            <a:off x="548640" y="548640"/>
            <a:ext cx="10149840" cy="548640"/>
          </a:xfrm>
          <a:prstGeom prst="rect">
            <a:avLst/>
          </a:prstGeom>
          <a:noFill/>
          <a:ln/>
        </p:spPr>
        <p:txBody>
          <a:bodyPr wrap="square" lIns="0" tIns="0" rIns="0" bIns="0" rtlCol="0" anchor="ctr"/>
          <a:lstStyle/>
          <a:p>
            <a:pPr algn="l" indent="0" marL="0">
              <a:buNone/>
            </a:pPr>
            <a:r>
              <a:rPr lang="en-US" sz="2600" b="1" dirty="0">
                <a:solidFill>
                  <a:schemeClr val="accent1"/>
                </a:solidFill>
              </a:rPr>
              <a:t>How to configure RIP version 2</a:t>
            </a:r>
            <a:endParaRPr lang="en-US" sz="2600" dirty="0"/>
          </a:p>
        </p:txBody>
      </p:sp>
      <p:pic>
        <p:nvPicPr>
          <p:cNvPr id="4" name="Home button" descr="Home: back to the workbook menu">
            <a:hlinkClick r:id="rId2" tooltip="Back to the workbook menu" action="ppaction://hlinksldjump"/>
          </p:cNvPr>
          <p:cNvPicPr>
            <a:picLocks noChangeAspect="1"/>
          </p:cNvPicPr>
          <p:nvPr/>
        </p:nvPicPr>
        <p:blipFill>
          <a:blip r:embed="rId1"/>
          <a:stretch>
            <a:fillRect/>
          </a:stretch>
        </p:blipFill>
        <p:spPr>
          <a:xfrm>
            <a:off x="11365992" y="6336792"/>
            <a:ext cx="365760" cy="365760"/>
          </a:xfrm>
          <a:prstGeom prst="rect">
            <a:avLst/>
          </a:prstGeom>
        </p:spPr>
      </p:pic>
      <p:sp>
        <p:nvSpPr>
          <p:cNvPr id="5" name="Goal"/>
          <p:cNvSpPr txBox="1"/>
          <p:nvPr/>
        </p:nvSpPr>
        <p:spPr>
          <a:xfrm>
            <a:off x="548640" y="1161288"/>
            <a:ext cx="11094415" cy="384048"/>
          </a:xfrm>
          <a:prstGeom prst="rect">
            <a:avLst/>
          </a:prstGeom>
          <a:noFill/>
          <a:ln/>
        </p:spPr>
        <p:txBody>
          <a:bodyPr wrap="square" lIns="0" tIns="0" rIns="0" bIns="0" rtlCol="0" anchor="ctr"/>
          <a:lstStyle/>
          <a:p>
            <a:pPr indent="0" marL="0">
              <a:buNone/>
            </a:pPr>
            <a:r>
              <a:rPr lang="en-US" sz="1400" b="1" dirty="0">
                <a:solidFill>
                  <a:srgbClr val="2B7043"/>
                </a:solidFill>
              </a:rPr>
              <a:t>Goal:  </a:t>
            </a:r>
            <a:r>
              <a:rPr lang="en-US" sz="1400" dirty="0">
                <a:solidFill>
                  <a:srgbClr val="2B2B2B"/>
                </a:solidFill>
              </a:rPr>
              <a:t>RIP is the simplest routing protocol — fine for small networks. First remove OSPF: </a:t>
            </a:r>
            <a:r>
              <a:rPr lang="en-US" sz="1400" b="1" dirty="0">
                <a:solidFill>
                  <a:srgbClr val="1E5631"/>
                </a:solidFill>
                <a:latin typeface="Courier New" pitchFamily="34" charset="0"/>
                <a:ea typeface="Courier New" pitchFamily="34" charset="-122"/>
                <a:cs typeface="Courier New" pitchFamily="34" charset="-120"/>
              </a:rPr>
              <a:t>no router ospf 10</a:t>
            </a:r>
            <a:r>
              <a:rPr lang="en-US" sz="1400" dirty="0">
                <a:solidFill>
                  <a:srgbClr val="2B2B2B"/>
                </a:solidFill>
              </a:rPr>
              <a:t> (part C).</a:t>
            </a:r>
            <a:endParaRPr lang="en-US" sz="1400" dirty="0"/>
          </a:p>
        </p:txBody>
      </p:sp>
      <p:sp>
        <p:nvSpPr>
          <p:cNvPr id="6" name="Command header"/>
          <p:cNvSpPr/>
          <p:nvPr/>
        </p:nvSpPr>
        <p:spPr>
          <a:xfrm>
            <a:off x="548640" y="1664208"/>
            <a:ext cx="6153912" cy="310896"/>
          </a:xfrm>
          <a:prstGeom prst="rect">
            <a:avLst/>
          </a:prstGeom>
          <a:solidFill>
            <a:srgbClr val="1B2B22"/>
          </a:solidFill>
          <a:ln/>
        </p:spPr>
        <p:txBody>
          <a:bodyPr wrap="square" lIns="109728" tIns="45720" rIns="109728" bIns="45720" rtlCol="0" anchor="ctr"/>
          <a:lstStyle/>
          <a:p>
            <a:pPr indent="0" marL="0">
              <a:buNone/>
            </a:pPr>
            <a:r>
              <a:rPr lang="en-US" sz="1100" dirty="0">
                <a:solidFill>
                  <a:srgbClr val="E0605A"/>
                </a:solidFill>
              </a:rPr>
              <a:t>●  </a:t>
            </a:r>
            <a:r>
              <a:rPr lang="en-US" sz="1100" dirty="0">
                <a:solidFill>
                  <a:srgbClr val="E8B92E"/>
                </a:solidFill>
              </a:rPr>
              <a:t>●  </a:t>
            </a:r>
            <a:r>
              <a:rPr lang="en-US" sz="1100" dirty="0">
                <a:solidFill>
                  <a:srgbClr val="4CAF50"/>
                </a:solidFill>
              </a:rPr>
              <a:t>●   </a:t>
            </a:r>
            <a:r>
              <a:rPr lang="en-US" sz="1100" b="1" dirty="0">
                <a:solidFill>
                  <a:srgbClr val="C9D6CC"/>
                </a:solidFill>
              </a:rPr>
              <a:t>R1  —  type the white text, then press Enter</a:t>
            </a:r>
            <a:endParaRPr lang="en-US" sz="1100" dirty="0"/>
          </a:p>
        </p:txBody>
      </p:sp>
      <p:sp>
        <p:nvSpPr>
          <p:cNvPr id="7" name="Meaning header"/>
          <p:cNvSpPr/>
          <p:nvPr/>
        </p:nvSpPr>
        <p:spPr>
          <a:xfrm>
            <a:off x="6720840" y="1664208"/>
            <a:ext cx="4922215" cy="310896"/>
          </a:xfrm>
          <a:prstGeom prst="rect">
            <a:avLst/>
          </a:prstGeom>
          <a:solidFill>
            <a:srgbClr val="E8F1EA"/>
          </a:solidFill>
          <a:ln/>
        </p:spPr>
        <p:txBody>
          <a:bodyPr wrap="square" lIns="109728" tIns="45720" rIns="109728" bIns="45720" rtlCol="0" anchor="ctr"/>
          <a:lstStyle/>
          <a:p>
            <a:pPr indent="0" marL="0">
              <a:buNone/>
            </a:pPr>
            <a:r>
              <a:rPr lang="en-US" sz="1200" b="1" dirty="0">
                <a:solidFill>
                  <a:srgbClr val="1E5631"/>
                </a:solidFill>
              </a:rPr>
              <a:t>What it does</a:t>
            </a:r>
            <a:endParaRPr lang="en-US" sz="1200" dirty="0"/>
          </a:p>
        </p:txBody>
      </p:sp>
      <p:sp>
        <p:nvSpPr>
          <p:cNvPr id="8" name="Command 01"/>
          <p:cNvSpPr/>
          <p:nvPr/>
        </p:nvSpPr>
        <p:spPr>
          <a:xfrm>
            <a:off x="548640" y="1993392"/>
            <a:ext cx="6153912" cy="326768"/>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R1(config)# </a:t>
            </a:r>
            <a:r>
              <a:rPr lang="en-US" sz="1200" b="1" dirty="0">
                <a:solidFill>
                  <a:srgbClr val="FFFFFF"/>
                </a:solidFill>
                <a:latin typeface="Courier New" pitchFamily="34" charset="0"/>
                <a:ea typeface="Courier New" pitchFamily="34" charset="-122"/>
                <a:cs typeface="Courier New" pitchFamily="34" charset="-120"/>
              </a:rPr>
              <a:t>router rip</a:t>
            </a:r>
            <a:endParaRPr lang="en-US" sz="1200" dirty="0"/>
          </a:p>
        </p:txBody>
      </p:sp>
      <p:sp>
        <p:nvSpPr>
          <p:cNvPr id="9" name="Reveal 01 meaning"/>
          <p:cNvSpPr/>
          <p:nvPr/>
        </p:nvSpPr>
        <p:spPr>
          <a:xfrm>
            <a:off x="6720840" y="1993392"/>
            <a:ext cx="4922215" cy="326768"/>
          </a:xfrm>
          <a:prstGeom prst="rect">
            <a:avLst/>
          </a:prstGeom>
          <a:solidFill>
            <a:srgbClr val="F2F8F3"/>
          </a:solidFill>
          <a:ln/>
        </p:spPr>
        <p:txBody>
          <a:bodyPr wrap="square" lIns="109728" tIns="45720" rIns="109728" bIns="45720" rtlCol="0" anchor="ctr"/>
          <a:lstStyle/>
          <a:p>
            <a:pPr indent="0" marL="0">
              <a:buNone/>
            </a:pPr>
            <a:r>
              <a:rPr lang="en-US" sz="1400" dirty="0">
                <a:solidFill>
                  <a:srgbClr val="2B2B2B"/>
                </a:solidFill>
              </a:rPr>
              <a:t>Start RIP and enter </a:t>
            </a:r>
            <a:r>
              <a:rPr lang="en-US" sz="1300" b="1" dirty="0">
                <a:solidFill>
                  <a:srgbClr val="1E5631"/>
                </a:solidFill>
                <a:latin typeface="Courier New" pitchFamily="34" charset="0"/>
                <a:ea typeface="Courier New" pitchFamily="34" charset="-122"/>
                <a:cs typeface="Courier New" pitchFamily="34" charset="-120"/>
              </a:rPr>
              <a:t>(config-router)#</a:t>
            </a:r>
            <a:r>
              <a:rPr lang="en-US" sz="1400" dirty="0">
                <a:solidFill>
                  <a:srgbClr val="2B2B2B"/>
                </a:solidFill>
              </a:rPr>
              <a:t> mode.</a:t>
            </a:r>
            <a:endParaRPr lang="en-US" sz="1400" dirty="0"/>
          </a:p>
        </p:txBody>
      </p:sp>
      <p:sp>
        <p:nvSpPr>
          <p:cNvPr id="10" name="Command 02"/>
          <p:cNvSpPr/>
          <p:nvPr/>
        </p:nvSpPr>
        <p:spPr>
          <a:xfrm>
            <a:off x="548640" y="2338448"/>
            <a:ext cx="6153912" cy="54380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R1(config-router)# </a:t>
            </a:r>
            <a:r>
              <a:rPr lang="en-US" sz="1200" b="1" dirty="0">
                <a:solidFill>
                  <a:srgbClr val="FFFFFF"/>
                </a:solidFill>
                <a:latin typeface="Courier New" pitchFamily="34" charset="0"/>
                <a:ea typeface="Courier New" pitchFamily="34" charset="-122"/>
                <a:cs typeface="Courier New" pitchFamily="34" charset="-120"/>
              </a:rPr>
              <a:t>version 2</a:t>
            </a:r>
            <a:endParaRPr lang="en-US" sz="1200" dirty="0"/>
          </a:p>
        </p:txBody>
      </p:sp>
      <p:sp>
        <p:nvSpPr>
          <p:cNvPr id="11" name="Reveal 02 meaning"/>
          <p:cNvSpPr/>
          <p:nvPr/>
        </p:nvSpPr>
        <p:spPr>
          <a:xfrm>
            <a:off x="6720840" y="2338448"/>
            <a:ext cx="4922215" cy="543809"/>
          </a:xfrm>
          <a:prstGeom prst="rect">
            <a:avLst/>
          </a:prstGeom>
          <a:solidFill>
            <a:srgbClr val="FFFFFF"/>
          </a:solidFill>
          <a:ln/>
        </p:spPr>
        <p:txBody>
          <a:bodyPr wrap="square" lIns="109728" tIns="45720" rIns="109728" bIns="45720" rtlCol="0" anchor="ctr"/>
          <a:lstStyle/>
          <a:p>
            <a:pPr indent="0" marL="0">
              <a:buNone/>
            </a:pPr>
            <a:r>
              <a:rPr lang="en-US" sz="1400" dirty="0">
                <a:solidFill>
                  <a:srgbClr val="2B2B2B"/>
                </a:solidFill>
              </a:rPr>
              <a:t>Use RIPv2: it sends subnet masks (needed for /30 and /24 subnets) and uses multicast.</a:t>
            </a:r>
            <a:endParaRPr lang="en-US" sz="1400" dirty="0"/>
          </a:p>
        </p:txBody>
      </p:sp>
      <p:sp>
        <p:nvSpPr>
          <p:cNvPr id="12" name="Command 03"/>
          <p:cNvSpPr/>
          <p:nvPr/>
        </p:nvSpPr>
        <p:spPr>
          <a:xfrm>
            <a:off x="548640" y="2900545"/>
            <a:ext cx="6153912" cy="326768"/>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R1(config-router)# </a:t>
            </a:r>
            <a:r>
              <a:rPr lang="en-US" sz="1200" b="1" dirty="0">
                <a:solidFill>
                  <a:srgbClr val="FFFFFF"/>
                </a:solidFill>
                <a:latin typeface="Courier New" pitchFamily="34" charset="0"/>
                <a:ea typeface="Courier New" pitchFamily="34" charset="-122"/>
                <a:cs typeface="Courier New" pitchFamily="34" charset="-120"/>
              </a:rPr>
              <a:t>no auto-summary</a:t>
            </a:r>
            <a:endParaRPr lang="en-US" sz="1200" dirty="0"/>
          </a:p>
        </p:txBody>
      </p:sp>
      <p:sp>
        <p:nvSpPr>
          <p:cNvPr id="13" name="Reveal 03 meaning"/>
          <p:cNvSpPr/>
          <p:nvPr/>
        </p:nvSpPr>
        <p:spPr>
          <a:xfrm>
            <a:off x="6720840" y="2900545"/>
            <a:ext cx="4922215" cy="326768"/>
          </a:xfrm>
          <a:prstGeom prst="rect">
            <a:avLst/>
          </a:prstGeom>
          <a:solidFill>
            <a:srgbClr val="F2F8F3"/>
          </a:solidFill>
          <a:ln/>
        </p:spPr>
        <p:txBody>
          <a:bodyPr wrap="square" lIns="109728" tIns="45720" rIns="109728" bIns="45720" rtlCol="0" anchor="ctr"/>
          <a:lstStyle/>
          <a:p>
            <a:pPr indent="0" marL="0">
              <a:buNone/>
            </a:pPr>
            <a:r>
              <a:rPr lang="en-US" sz="1400" dirty="0">
                <a:solidFill>
                  <a:srgbClr val="2B2B2B"/>
                </a:solidFill>
              </a:rPr>
              <a:t>Advertise the real subnets, not the summary 172.16.0.0/16.</a:t>
            </a:r>
            <a:endParaRPr lang="en-US" sz="1400" dirty="0"/>
          </a:p>
        </p:txBody>
      </p:sp>
      <p:sp>
        <p:nvSpPr>
          <p:cNvPr id="14" name="Command 04"/>
          <p:cNvSpPr/>
          <p:nvPr/>
        </p:nvSpPr>
        <p:spPr>
          <a:xfrm>
            <a:off x="548640" y="3245602"/>
            <a:ext cx="6153912" cy="54380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R1(config-router)# </a:t>
            </a:r>
            <a:r>
              <a:rPr lang="en-US" sz="1200" b="1" dirty="0">
                <a:solidFill>
                  <a:srgbClr val="FFFFFF"/>
                </a:solidFill>
                <a:latin typeface="Courier New" pitchFamily="34" charset="0"/>
                <a:ea typeface="Courier New" pitchFamily="34" charset="-122"/>
                <a:cs typeface="Courier New" pitchFamily="34" charset="-120"/>
              </a:rPr>
              <a:t>network 172.16.0.0</a:t>
            </a:r>
            <a:endParaRPr lang="en-US" sz="1200" dirty="0"/>
          </a:p>
        </p:txBody>
      </p:sp>
      <p:sp>
        <p:nvSpPr>
          <p:cNvPr id="15" name="Reveal 04 meaning"/>
          <p:cNvSpPr/>
          <p:nvPr/>
        </p:nvSpPr>
        <p:spPr>
          <a:xfrm>
            <a:off x="6720840" y="3245602"/>
            <a:ext cx="4922215" cy="543809"/>
          </a:xfrm>
          <a:prstGeom prst="rect">
            <a:avLst/>
          </a:prstGeom>
          <a:solidFill>
            <a:srgbClr val="FFFFFF"/>
          </a:solidFill>
          <a:ln/>
        </p:spPr>
        <p:txBody>
          <a:bodyPr wrap="square" lIns="109728" tIns="45720" rIns="109728" bIns="45720" rtlCol="0" anchor="ctr"/>
          <a:lstStyle/>
          <a:p>
            <a:pPr indent="0" marL="0">
              <a:buNone/>
            </a:pPr>
            <a:r>
              <a:rPr lang="en-US" sz="1400" dirty="0">
                <a:solidFill>
                  <a:srgbClr val="2B2B2B"/>
                </a:solidFill>
              </a:rPr>
              <a:t>Run RIP on the ports in 172.16.x.x. RIP takes classful network numbers — no mask.</a:t>
            </a:r>
            <a:endParaRPr lang="en-US" sz="1400" dirty="0"/>
          </a:p>
        </p:txBody>
      </p:sp>
      <p:sp>
        <p:nvSpPr>
          <p:cNvPr id="16" name="Command 05"/>
          <p:cNvSpPr/>
          <p:nvPr/>
        </p:nvSpPr>
        <p:spPr>
          <a:xfrm>
            <a:off x="548640" y="3807699"/>
            <a:ext cx="6153912" cy="326768"/>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R1(config-router)# </a:t>
            </a:r>
            <a:r>
              <a:rPr lang="en-US" sz="1200" b="1" dirty="0">
                <a:solidFill>
                  <a:srgbClr val="FFFFFF"/>
                </a:solidFill>
                <a:latin typeface="Courier New" pitchFamily="34" charset="0"/>
                <a:ea typeface="Courier New" pitchFamily="34" charset="-122"/>
                <a:cs typeface="Courier New" pitchFamily="34" charset="-120"/>
              </a:rPr>
              <a:t>network 10.0.0.0</a:t>
            </a:r>
            <a:endParaRPr lang="en-US" sz="1200" dirty="0"/>
          </a:p>
        </p:txBody>
      </p:sp>
      <p:sp>
        <p:nvSpPr>
          <p:cNvPr id="17" name="Reveal 05 meaning"/>
          <p:cNvSpPr/>
          <p:nvPr/>
        </p:nvSpPr>
        <p:spPr>
          <a:xfrm>
            <a:off x="6720840" y="3807699"/>
            <a:ext cx="4922215" cy="326768"/>
          </a:xfrm>
          <a:prstGeom prst="rect">
            <a:avLst/>
          </a:prstGeom>
          <a:solidFill>
            <a:srgbClr val="F2F8F3"/>
          </a:solidFill>
          <a:ln/>
        </p:spPr>
        <p:txBody>
          <a:bodyPr wrap="square" lIns="109728" tIns="45720" rIns="109728" bIns="45720" rtlCol="0" anchor="ctr"/>
          <a:lstStyle/>
          <a:p>
            <a:pPr indent="0" marL="0">
              <a:buNone/>
            </a:pPr>
            <a:r>
              <a:rPr lang="en-US" sz="1400" dirty="0">
                <a:solidFill>
                  <a:srgbClr val="2B2B2B"/>
                </a:solidFill>
              </a:rPr>
              <a:t>Run RIP on both 10.0.0.x links.</a:t>
            </a:r>
            <a:endParaRPr lang="en-US" sz="1400" dirty="0"/>
          </a:p>
        </p:txBody>
      </p:sp>
      <p:sp>
        <p:nvSpPr>
          <p:cNvPr id="18" name="Command 06"/>
          <p:cNvSpPr/>
          <p:nvPr/>
        </p:nvSpPr>
        <p:spPr>
          <a:xfrm>
            <a:off x="548640" y="4152755"/>
            <a:ext cx="6153912" cy="326768"/>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R1(config-router)# </a:t>
            </a:r>
            <a:r>
              <a:rPr lang="en-US" sz="1200" b="1" dirty="0">
                <a:solidFill>
                  <a:srgbClr val="FFFFFF"/>
                </a:solidFill>
                <a:latin typeface="Courier New" pitchFamily="34" charset="0"/>
                <a:ea typeface="Courier New" pitchFamily="34" charset="-122"/>
                <a:cs typeface="Courier New" pitchFamily="34" charset="-120"/>
              </a:rPr>
              <a:t>passive-interface g0/0/0</a:t>
            </a:r>
            <a:endParaRPr lang="en-US" sz="1200" dirty="0"/>
          </a:p>
        </p:txBody>
      </p:sp>
      <p:sp>
        <p:nvSpPr>
          <p:cNvPr id="19" name="Reveal 06 meaning"/>
          <p:cNvSpPr/>
          <p:nvPr/>
        </p:nvSpPr>
        <p:spPr>
          <a:xfrm>
            <a:off x="6720840" y="4152755"/>
            <a:ext cx="4922215" cy="326768"/>
          </a:xfrm>
          <a:prstGeom prst="rect">
            <a:avLst/>
          </a:prstGeom>
          <a:solidFill>
            <a:srgbClr val="FFFFFF"/>
          </a:solidFill>
          <a:ln/>
        </p:spPr>
        <p:txBody>
          <a:bodyPr wrap="square" lIns="109728" tIns="45720" rIns="109728" bIns="45720" rtlCol="0" anchor="ctr"/>
          <a:lstStyle/>
          <a:p>
            <a:pPr indent="0" marL="0">
              <a:buNone/>
            </a:pPr>
            <a:r>
              <a:rPr lang="en-US" sz="1400" dirty="0">
                <a:solidFill>
                  <a:srgbClr val="2B2B2B"/>
                </a:solidFill>
              </a:rPr>
              <a:t>No RIP updates to the PCs; the LAN is still advertised.</a:t>
            </a:r>
            <a:endParaRPr lang="en-US" sz="1400" dirty="0"/>
          </a:p>
        </p:txBody>
      </p:sp>
      <p:sp>
        <p:nvSpPr>
          <p:cNvPr id="20" name="Reveal 99 check box"/>
          <p:cNvSpPr/>
          <p:nvPr/>
        </p:nvSpPr>
        <p:spPr>
          <a:xfrm>
            <a:off x="548640" y="5504688"/>
            <a:ext cx="5410048" cy="749808"/>
          </a:xfrm>
          <a:prstGeom prst="roundRect">
            <a:avLst>
              <a:gd name="adj" fmla="val 9756"/>
            </a:avLst>
          </a:prstGeom>
          <a:solidFill>
            <a:srgbClr val="E8F1EA"/>
          </a:solidFill>
          <a:ln w="12700">
            <a:solidFill>
              <a:srgbClr val="B7C9BA"/>
            </a:solidFill>
            <a:prstDash val="solid"/>
          </a:ln>
        </p:spPr>
      </p:sp>
      <p:pic>
        <p:nvPicPr>
          <p:cNvPr id="21" name="Reveal 99 check icon" descr="Check it:">    </p:cNvPr>
          <p:cNvPicPr>
            <a:picLocks noChangeAspect="1"/>
          </p:cNvPicPr>
          <p:nvPr/>
        </p:nvPicPr>
        <p:blipFill>
          <a:blip r:embed="rId3"/>
          <a:stretch>
            <a:fillRect/>
          </a:stretch>
        </p:blipFill>
        <p:spPr>
          <a:xfrm>
            <a:off x="694944" y="5733288"/>
            <a:ext cx="292608" cy="292608"/>
          </a:xfrm>
          <a:prstGeom prst="rect">
            <a:avLst/>
          </a:prstGeom>
        </p:spPr>
      </p:pic>
      <p:sp>
        <p:nvSpPr>
          <p:cNvPr id="22" name="Reveal 99 check text"/>
          <p:cNvSpPr txBox="1"/>
          <p:nvPr/>
        </p:nvSpPr>
        <p:spPr>
          <a:xfrm>
            <a:off x="1097280" y="5541264"/>
            <a:ext cx="4751680" cy="676656"/>
          </a:xfrm>
          <a:prstGeom prst="rect">
            <a:avLst/>
          </a:prstGeom>
          <a:noFill/>
          <a:ln/>
        </p:spPr>
        <p:txBody>
          <a:bodyPr wrap="square" lIns="0" tIns="0" rIns="0" bIns="0" rtlCol="0" anchor="ctr"/>
          <a:lstStyle/>
          <a:p>
            <a:pPr indent="0" marL="0">
              <a:buNone/>
            </a:pPr>
            <a:r>
              <a:rPr lang="en-US" sz="1400" b="1" dirty="0">
                <a:solidFill>
                  <a:srgbClr val="1E5631"/>
                </a:solidFill>
              </a:rPr>
              <a:t>Check it:  </a:t>
            </a:r>
            <a:r>
              <a:rPr lang="en-US" sz="1300" b="1" dirty="0">
                <a:solidFill>
                  <a:srgbClr val="1E5631"/>
                </a:solidFill>
                <a:latin typeface="Courier New" pitchFamily="34" charset="0"/>
                <a:ea typeface="Courier New" pitchFamily="34" charset="-122"/>
                <a:cs typeface="Courier New" pitchFamily="34" charset="-120"/>
              </a:rPr>
              <a:t>show ip route rip</a:t>
            </a:r>
            <a:r>
              <a:rPr lang="en-US" sz="1400" dirty="0">
                <a:solidFill>
                  <a:srgbClr val="2B2B2B"/>
                </a:solidFill>
              </a:rPr>
              <a:t> → </a:t>
            </a:r>
            <a:r>
              <a:rPr lang="en-US" sz="1300" b="1" dirty="0">
                <a:solidFill>
                  <a:srgbClr val="1E5631"/>
                </a:solidFill>
                <a:latin typeface="Courier New" pitchFamily="34" charset="0"/>
                <a:ea typeface="Courier New" pitchFamily="34" charset="-122"/>
                <a:cs typeface="Courier New" pitchFamily="34" charset="-120"/>
              </a:rPr>
              <a:t>R 172.16.2.0/24 [120/1] via 10.0.0.2</a:t>
            </a:r>
            <a:r>
              <a:rPr lang="en-US" sz="1400" dirty="0">
                <a:solidFill>
                  <a:srgbClr val="2B2B2B"/>
                </a:solidFill>
              </a:rPr>
              <a:t> (120 = RIP’s distance, 1 = one hop).</a:t>
            </a:r>
            <a:endParaRPr lang="en-US" sz="1400" dirty="0"/>
          </a:p>
        </p:txBody>
      </p:sp>
      <p:sp>
        <p:nvSpPr>
          <p:cNvPr id="23" name="Reveal 99 watch box"/>
          <p:cNvSpPr/>
          <p:nvPr/>
        </p:nvSpPr>
        <p:spPr>
          <a:xfrm>
            <a:off x="6233008" y="5504688"/>
            <a:ext cx="5410048" cy="749808"/>
          </a:xfrm>
          <a:prstGeom prst="roundRect">
            <a:avLst>
              <a:gd name="adj" fmla="val 9756"/>
            </a:avLst>
          </a:prstGeom>
          <a:solidFill>
            <a:srgbClr val="FBEAEA"/>
          </a:solidFill>
          <a:ln w="12700">
            <a:solidFill>
              <a:srgbClr val="E9B8B5"/>
            </a:solidFill>
            <a:prstDash val="solid"/>
          </a:ln>
        </p:spPr>
      </p:sp>
      <p:pic>
        <p:nvPicPr>
          <p:cNvPr id="24" name="Reveal 99 watch icon" descr="Watch out:">    </p:cNvPr>
          <p:cNvPicPr>
            <a:picLocks noChangeAspect="1"/>
          </p:cNvPicPr>
          <p:nvPr/>
        </p:nvPicPr>
        <p:blipFill>
          <a:blip r:embed="rId4"/>
          <a:stretch>
            <a:fillRect/>
          </a:stretch>
        </p:blipFill>
        <p:spPr>
          <a:xfrm>
            <a:off x="6379312" y="5733288"/>
            <a:ext cx="292608" cy="292608"/>
          </a:xfrm>
          <a:prstGeom prst="rect">
            <a:avLst/>
          </a:prstGeom>
        </p:spPr>
      </p:pic>
      <p:sp>
        <p:nvSpPr>
          <p:cNvPr id="25" name="Reveal 99 watch text"/>
          <p:cNvSpPr txBox="1"/>
          <p:nvPr/>
        </p:nvSpPr>
        <p:spPr>
          <a:xfrm>
            <a:off x="6781648" y="5541264"/>
            <a:ext cx="4751680" cy="676656"/>
          </a:xfrm>
          <a:prstGeom prst="rect">
            <a:avLst/>
          </a:prstGeom>
          <a:noFill/>
          <a:ln/>
        </p:spPr>
        <p:txBody>
          <a:bodyPr wrap="square" lIns="0" tIns="0" rIns="0" bIns="0" rtlCol="0" anchor="ctr"/>
          <a:lstStyle/>
          <a:p>
            <a:pPr indent="0" marL="0">
              <a:buNone/>
            </a:pPr>
            <a:r>
              <a:rPr lang="en-US" sz="1400" b="1" dirty="0">
                <a:solidFill>
                  <a:srgbClr val="8B1A1A"/>
                </a:solidFill>
              </a:rPr>
              <a:t>Watch out:  </a:t>
            </a:r>
            <a:r>
              <a:rPr lang="en-US" sz="1300" b="1" dirty="0">
                <a:solidFill>
                  <a:srgbClr val="1E5631"/>
                </a:solidFill>
                <a:latin typeface="Courier New" pitchFamily="34" charset="0"/>
                <a:ea typeface="Courier New" pitchFamily="34" charset="-122"/>
                <a:cs typeface="Courier New" pitchFamily="34" charset="-120"/>
              </a:rPr>
              <a:t>network</a:t>
            </a:r>
            <a:r>
              <a:rPr lang="en-US" sz="1400" dirty="0">
                <a:solidFill>
                  <a:srgbClr val="2B2B2B"/>
                </a:solidFill>
              </a:rPr>
              <a:t> means “run RIP on my ports in this network”, not “route to it”. RIP gives up after 15 hops.</a:t>
            </a:r>
            <a:endParaRPr lang="en-US" sz="1400" dirty="0"/>
          </a:p>
        </p:txBody>
      </p:sp>
      <p:sp>
        <p:nvSpPr>
          <p:cNvPr id="26" name="Slide Number Placeholder 0"/>
          <p:cNvSpPr>
            <a:spLocks noGrp="1"/>
          </p:cNvSpPr>
          <p:nvPr>
            <p:ph type="sldNum" sz="quarter" idx="4294967295"/>
          </p:nvPr>
        </p:nvSpPr>
        <p:spPr>
          <a:xfrm>
            <a:off x="10698480" y="6464808"/>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r"/>
            <a:fld id="{F7021451-1387-4CA6-816F-3879F97B5CBC}" type="slidenum">
              <a:rPr b="0" lang="en-US"/>
              <a:t>57</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4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0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400"/>
                                        <p:tgtEl>
                                          <p:spTgt spid="1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00"/>
                                        <p:tgtEl>
                                          <p:spTgt spid="20"/>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00"/>
                                        <p:tgtEl>
                                          <p:spTgt spid="21"/>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2"/>
                                        </p:tgtEl>
                                        <p:attrNameLst>
                                          <p:attrName>style.visibility</p:attrName>
                                        </p:attrNameLst>
                                      </p:cBhvr>
                                      <p:to>
                                        <p:strVal val="visible"/>
                                      </p:to>
                                    </p:set>
                                    <p:animEffect transition="in" filter="fade">
                                      <p:cBhvr>
                                        <p:cTn id="43" dur="400"/>
                                        <p:tgtEl>
                                          <p:spTgt spid="22"/>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3"/>
                                        </p:tgtEl>
                                        <p:attrNameLst>
                                          <p:attrName>style.visibility</p:attrName>
                                        </p:attrNameLst>
                                      </p:cBhvr>
                                      <p:to>
                                        <p:strVal val="visible"/>
                                      </p:to>
                                    </p:set>
                                    <p:animEffect transition="in" filter="fade">
                                      <p:cBhvr>
                                        <p:cTn id="46" dur="400"/>
                                        <p:tgtEl>
                                          <p:spTgt spid="23"/>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4"/>
                                        </p:tgtEl>
                                        <p:attrNameLst>
                                          <p:attrName>style.visibility</p:attrName>
                                        </p:attrNameLst>
                                      </p:cBhvr>
                                      <p:to>
                                        <p:strVal val="visible"/>
                                      </p:to>
                                    </p:set>
                                    <p:animEffect transition="in" filter="fade">
                                      <p:cBhvr>
                                        <p:cTn id="49" dur="400"/>
                                        <p:tgtEl>
                                          <p:spTgt spid="24"/>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fade">
                                      <p:cBhvr>
                                        <p:cTn id="52"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3" grpId="0" animBg="1"/>
      <p:bldP spid="15" grpId="0" animBg="1"/>
      <p:bldP spid="17" grpId="0" animBg="1"/>
      <p:bldP spid="19" grpId="0" animBg="1"/>
      <p:bldP spid="20" grpId="0" animBg="1"/>
      <p:bldP spid="22" grpId="0" animBg="1"/>
      <p:bldP spid="23" grpId="0" animBg="1"/>
      <p:bldP spid="25"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1"/>
          <p:cNvSpPr/>
          <p:nvPr>
            <p:ph idx="102" type="body" hasCustomPrompt="1"/>
          </p:nvPr>
        </p:nvSpPr>
        <p:spPr>
          <a:xfrm>
            <a:off x="548640" y="274320"/>
            <a:ext cx="9966960" cy="256032"/>
          </a:xfrm>
          <a:prstGeom prst="rect">
            <a:avLst/>
          </a:prstGeom>
          <a:noFill/>
          <a:ln/>
        </p:spPr>
        <p:txBody>
          <a:bodyPr wrap="square" lIns="0" tIns="0" rIns="0" bIns="0" rtlCol="0" anchor="ctr"/>
          <a:lstStyle/>
          <a:p>
            <a:pPr algn="l" indent="0" marL="0">
              <a:buNone/>
            </a:pPr>
            <a:r>
              <a:rPr lang="en-US" sz="1100" b="1" spc="100" kern="0" dirty="0">
                <a:solidFill>
                  <a:schemeClr val="accent2"/>
                </a:solidFill>
              </a:rPr>
              <a:t>07  •  ROUTING  •  LAB 3</a:t>
            </a:r>
            <a:endParaRPr lang="en-US" sz="1100" dirty="0"/>
          </a:p>
        </p:txBody>
      </p:sp>
      <p:sp>
        <p:nvSpPr>
          <p:cNvPr id="3" name="Text 1"/>
          <p:cNvSpPr/>
          <p:nvPr>
            <p:ph idx="103" type="title" hasCustomPrompt="1"/>
          </p:nvPr>
        </p:nvSpPr>
        <p:spPr>
          <a:xfrm>
            <a:off x="548640" y="548640"/>
            <a:ext cx="10149840" cy="548640"/>
          </a:xfrm>
          <a:prstGeom prst="rect">
            <a:avLst/>
          </a:prstGeom>
          <a:noFill/>
          <a:ln/>
        </p:spPr>
        <p:txBody>
          <a:bodyPr wrap="square" lIns="0" tIns="0" rIns="0" bIns="0" rtlCol="0" anchor="ctr"/>
          <a:lstStyle/>
          <a:p>
            <a:pPr algn="l" indent="0" marL="0">
              <a:buNone/>
            </a:pPr>
            <a:r>
              <a:rPr lang="en-US" sz="2600" b="1" dirty="0">
                <a:solidFill>
                  <a:schemeClr val="accent1"/>
                </a:solidFill>
              </a:rPr>
              <a:t>How to configure EIGRP</a:t>
            </a:r>
            <a:endParaRPr lang="en-US" sz="2600" dirty="0"/>
          </a:p>
        </p:txBody>
      </p:sp>
      <p:pic>
        <p:nvPicPr>
          <p:cNvPr id="4" name="Home button" descr="Home: back to the workbook menu">
            <a:hlinkClick r:id="rId2" tooltip="Back to the workbook menu" action="ppaction://hlinksldjump"/>
          </p:cNvPr>
          <p:cNvPicPr>
            <a:picLocks noChangeAspect="1"/>
          </p:cNvPicPr>
          <p:nvPr/>
        </p:nvPicPr>
        <p:blipFill>
          <a:blip r:embed="rId1"/>
          <a:stretch>
            <a:fillRect/>
          </a:stretch>
        </p:blipFill>
        <p:spPr>
          <a:xfrm>
            <a:off x="11365992" y="6336792"/>
            <a:ext cx="365760" cy="365760"/>
          </a:xfrm>
          <a:prstGeom prst="rect">
            <a:avLst/>
          </a:prstGeom>
        </p:spPr>
      </p:pic>
      <p:sp>
        <p:nvSpPr>
          <p:cNvPr id="5" name="Goal"/>
          <p:cNvSpPr txBox="1"/>
          <p:nvPr/>
        </p:nvSpPr>
        <p:spPr>
          <a:xfrm>
            <a:off x="548640" y="1161288"/>
            <a:ext cx="11094415" cy="384048"/>
          </a:xfrm>
          <a:prstGeom prst="rect">
            <a:avLst/>
          </a:prstGeom>
          <a:noFill/>
          <a:ln/>
        </p:spPr>
        <p:txBody>
          <a:bodyPr wrap="square" lIns="0" tIns="0" rIns="0" bIns="0" rtlCol="0" anchor="ctr"/>
          <a:lstStyle/>
          <a:p>
            <a:pPr indent="0" marL="0">
              <a:buNone/>
            </a:pPr>
            <a:r>
              <a:rPr lang="en-US" sz="1400" b="1" dirty="0">
                <a:solidFill>
                  <a:srgbClr val="2B7043"/>
                </a:solidFill>
              </a:rPr>
              <a:t>Goal:  </a:t>
            </a:r>
            <a:r>
              <a:rPr lang="en-US" sz="1400" dirty="0">
                <a:solidFill>
                  <a:srgbClr val="2B2B2B"/>
                </a:solidFill>
              </a:rPr>
              <a:t>EIGRP is Cisco’s fast-converging protocol. First remove RIP: </a:t>
            </a:r>
            <a:r>
              <a:rPr lang="en-US" sz="1400" b="1" dirty="0">
                <a:solidFill>
                  <a:srgbClr val="1E5631"/>
                </a:solidFill>
                <a:latin typeface="Courier New" pitchFamily="34" charset="0"/>
                <a:ea typeface="Courier New" pitchFamily="34" charset="-122"/>
                <a:cs typeface="Courier New" pitchFamily="34" charset="-120"/>
              </a:rPr>
              <a:t>no router rip</a:t>
            </a:r>
            <a:r>
              <a:rPr lang="en-US" sz="1400" dirty="0">
                <a:solidFill>
                  <a:srgbClr val="2B2B2B"/>
                </a:solidFill>
              </a:rPr>
              <a:t> (part D).</a:t>
            </a:r>
            <a:endParaRPr lang="en-US" sz="1400" dirty="0"/>
          </a:p>
        </p:txBody>
      </p:sp>
      <p:sp>
        <p:nvSpPr>
          <p:cNvPr id="6" name="Command header"/>
          <p:cNvSpPr/>
          <p:nvPr/>
        </p:nvSpPr>
        <p:spPr>
          <a:xfrm>
            <a:off x="548640" y="1664208"/>
            <a:ext cx="6153912" cy="310896"/>
          </a:xfrm>
          <a:prstGeom prst="rect">
            <a:avLst/>
          </a:prstGeom>
          <a:solidFill>
            <a:srgbClr val="1B2B22"/>
          </a:solidFill>
          <a:ln/>
        </p:spPr>
        <p:txBody>
          <a:bodyPr wrap="square" lIns="109728" tIns="45720" rIns="109728" bIns="45720" rtlCol="0" anchor="ctr"/>
          <a:lstStyle/>
          <a:p>
            <a:pPr indent="0" marL="0">
              <a:buNone/>
            </a:pPr>
            <a:r>
              <a:rPr lang="en-US" sz="1100" dirty="0">
                <a:solidFill>
                  <a:srgbClr val="E0605A"/>
                </a:solidFill>
              </a:rPr>
              <a:t>●  </a:t>
            </a:r>
            <a:r>
              <a:rPr lang="en-US" sz="1100" dirty="0">
                <a:solidFill>
                  <a:srgbClr val="E8B92E"/>
                </a:solidFill>
              </a:rPr>
              <a:t>●  </a:t>
            </a:r>
            <a:r>
              <a:rPr lang="en-US" sz="1100" dirty="0">
                <a:solidFill>
                  <a:srgbClr val="4CAF50"/>
                </a:solidFill>
              </a:rPr>
              <a:t>●   </a:t>
            </a:r>
            <a:r>
              <a:rPr lang="en-US" sz="1100" b="1" dirty="0">
                <a:solidFill>
                  <a:srgbClr val="C9D6CC"/>
                </a:solidFill>
              </a:rPr>
              <a:t>R1  —  type the white text, then press Enter</a:t>
            </a:r>
            <a:endParaRPr lang="en-US" sz="1100" dirty="0"/>
          </a:p>
        </p:txBody>
      </p:sp>
      <p:sp>
        <p:nvSpPr>
          <p:cNvPr id="7" name="Meaning header"/>
          <p:cNvSpPr/>
          <p:nvPr/>
        </p:nvSpPr>
        <p:spPr>
          <a:xfrm>
            <a:off x="6720840" y="1664208"/>
            <a:ext cx="4922215" cy="310896"/>
          </a:xfrm>
          <a:prstGeom prst="rect">
            <a:avLst/>
          </a:prstGeom>
          <a:solidFill>
            <a:srgbClr val="E8F1EA"/>
          </a:solidFill>
          <a:ln/>
        </p:spPr>
        <p:txBody>
          <a:bodyPr wrap="square" lIns="109728" tIns="45720" rIns="109728" bIns="45720" rtlCol="0" anchor="ctr"/>
          <a:lstStyle/>
          <a:p>
            <a:pPr indent="0" marL="0">
              <a:buNone/>
            </a:pPr>
            <a:r>
              <a:rPr lang="en-US" sz="1200" b="1" dirty="0">
                <a:solidFill>
                  <a:srgbClr val="1E5631"/>
                </a:solidFill>
              </a:rPr>
              <a:t>What it does</a:t>
            </a:r>
            <a:endParaRPr lang="en-US" sz="1200" dirty="0"/>
          </a:p>
        </p:txBody>
      </p:sp>
      <p:sp>
        <p:nvSpPr>
          <p:cNvPr id="8" name="Command 01"/>
          <p:cNvSpPr/>
          <p:nvPr/>
        </p:nvSpPr>
        <p:spPr>
          <a:xfrm>
            <a:off x="548640" y="1993392"/>
            <a:ext cx="6153912" cy="54380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R1(config)# </a:t>
            </a:r>
            <a:r>
              <a:rPr lang="en-US" sz="1200" b="1" dirty="0">
                <a:solidFill>
                  <a:srgbClr val="FFFFFF"/>
                </a:solidFill>
                <a:latin typeface="Courier New" pitchFamily="34" charset="0"/>
                <a:ea typeface="Courier New" pitchFamily="34" charset="-122"/>
                <a:cs typeface="Courier New" pitchFamily="34" charset="-120"/>
              </a:rPr>
              <a:t>router eigrp 100</a:t>
            </a:r>
            <a:endParaRPr lang="en-US" sz="1200" dirty="0"/>
          </a:p>
        </p:txBody>
      </p:sp>
      <p:sp>
        <p:nvSpPr>
          <p:cNvPr id="9" name="Reveal 01 meaning"/>
          <p:cNvSpPr/>
          <p:nvPr/>
        </p:nvSpPr>
        <p:spPr>
          <a:xfrm>
            <a:off x="6720840" y="1993392"/>
            <a:ext cx="4922215" cy="543809"/>
          </a:xfrm>
          <a:prstGeom prst="rect">
            <a:avLst/>
          </a:prstGeom>
          <a:solidFill>
            <a:srgbClr val="F2F8F3"/>
          </a:solidFill>
          <a:ln/>
        </p:spPr>
        <p:txBody>
          <a:bodyPr wrap="square" lIns="109728" tIns="45720" rIns="109728" bIns="45720" rtlCol="0" anchor="ctr"/>
          <a:lstStyle/>
          <a:p>
            <a:pPr indent="0" marL="0">
              <a:buNone/>
            </a:pPr>
            <a:r>
              <a:rPr lang="en-US" sz="1400" dirty="0">
                <a:solidFill>
                  <a:srgbClr val="2B2B2B"/>
                </a:solidFill>
              </a:rPr>
              <a:t>Start EIGRP in autonomous system 100. Every neighbour must use the same number.</a:t>
            </a:r>
            <a:endParaRPr lang="en-US" sz="1400" dirty="0"/>
          </a:p>
        </p:txBody>
      </p:sp>
      <p:sp>
        <p:nvSpPr>
          <p:cNvPr id="10" name="Command 02"/>
          <p:cNvSpPr/>
          <p:nvPr/>
        </p:nvSpPr>
        <p:spPr>
          <a:xfrm>
            <a:off x="548640" y="2555489"/>
            <a:ext cx="6153912" cy="326768"/>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R1(config-router)# </a:t>
            </a:r>
            <a:r>
              <a:rPr lang="en-US" sz="1200" b="1" dirty="0">
                <a:solidFill>
                  <a:srgbClr val="FFFFFF"/>
                </a:solidFill>
                <a:latin typeface="Courier New" pitchFamily="34" charset="0"/>
                <a:ea typeface="Courier New" pitchFamily="34" charset="-122"/>
                <a:cs typeface="Courier New" pitchFamily="34" charset="-120"/>
              </a:rPr>
              <a:t>eigrp router-id 1.1.1.1</a:t>
            </a:r>
            <a:endParaRPr lang="en-US" sz="1200" dirty="0"/>
          </a:p>
        </p:txBody>
      </p:sp>
      <p:sp>
        <p:nvSpPr>
          <p:cNvPr id="11" name="Reveal 02 meaning"/>
          <p:cNvSpPr/>
          <p:nvPr/>
        </p:nvSpPr>
        <p:spPr>
          <a:xfrm>
            <a:off x="6720840" y="2555489"/>
            <a:ext cx="4922215" cy="326768"/>
          </a:xfrm>
          <a:prstGeom prst="rect">
            <a:avLst/>
          </a:prstGeom>
          <a:solidFill>
            <a:srgbClr val="FFFFFF"/>
          </a:solidFill>
          <a:ln/>
        </p:spPr>
        <p:txBody>
          <a:bodyPr wrap="square" lIns="109728" tIns="45720" rIns="109728" bIns="45720" rtlCol="0" anchor="ctr"/>
          <a:lstStyle/>
          <a:p>
            <a:pPr indent="0" marL="0">
              <a:buNone/>
            </a:pPr>
            <a:r>
              <a:rPr lang="en-US" sz="1400" dirty="0">
                <a:solidFill>
                  <a:srgbClr val="2B2B2B"/>
                </a:solidFill>
              </a:rPr>
              <a:t>A unique ID, as in OSPF.</a:t>
            </a:r>
            <a:endParaRPr lang="en-US" sz="1400" dirty="0"/>
          </a:p>
        </p:txBody>
      </p:sp>
      <p:sp>
        <p:nvSpPr>
          <p:cNvPr id="12" name="Command 03"/>
          <p:cNvSpPr/>
          <p:nvPr/>
        </p:nvSpPr>
        <p:spPr>
          <a:xfrm>
            <a:off x="548640" y="2900545"/>
            <a:ext cx="6153912" cy="54380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R1(config-router)# </a:t>
            </a:r>
            <a:r>
              <a:rPr lang="en-US" sz="1200" b="1" dirty="0">
                <a:solidFill>
                  <a:srgbClr val="FFFFFF"/>
                </a:solidFill>
                <a:latin typeface="Courier New" pitchFamily="34" charset="0"/>
                <a:ea typeface="Courier New" pitchFamily="34" charset="-122"/>
                <a:cs typeface="Courier New" pitchFamily="34" charset="-120"/>
              </a:rPr>
              <a:t>network 172.16.1.0 0.0.0.255</a:t>
            </a:r>
            <a:endParaRPr lang="en-US" sz="1200" dirty="0"/>
          </a:p>
        </p:txBody>
      </p:sp>
      <p:sp>
        <p:nvSpPr>
          <p:cNvPr id="13" name="Reveal 03 meaning"/>
          <p:cNvSpPr/>
          <p:nvPr/>
        </p:nvSpPr>
        <p:spPr>
          <a:xfrm>
            <a:off x="6720840" y="2900545"/>
            <a:ext cx="4922215" cy="543809"/>
          </a:xfrm>
          <a:prstGeom prst="rect">
            <a:avLst/>
          </a:prstGeom>
          <a:solidFill>
            <a:srgbClr val="F2F8F3"/>
          </a:solidFill>
          <a:ln/>
        </p:spPr>
        <p:txBody>
          <a:bodyPr wrap="square" lIns="109728" tIns="45720" rIns="109728" bIns="45720" rtlCol="0" anchor="ctr"/>
          <a:lstStyle/>
          <a:p>
            <a:pPr indent="0" marL="0">
              <a:buNone/>
            </a:pPr>
            <a:r>
              <a:rPr lang="en-US" sz="1400" dirty="0">
                <a:solidFill>
                  <a:srgbClr val="2B2B2B"/>
                </a:solidFill>
              </a:rPr>
              <a:t>Run EIGRP on the LAN port — the same wildcard idea as OSPF, but no area.</a:t>
            </a:r>
            <a:endParaRPr lang="en-US" sz="1400" dirty="0"/>
          </a:p>
        </p:txBody>
      </p:sp>
      <p:sp>
        <p:nvSpPr>
          <p:cNvPr id="14" name="Command 04"/>
          <p:cNvSpPr/>
          <p:nvPr/>
        </p:nvSpPr>
        <p:spPr>
          <a:xfrm>
            <a:off x="548640" y="3462642"/>
            <a:ext cx="6153912" cy="455005"/>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R1(config-router)# </a:t>
            </a:r>
            <a:r>
              <a:rPr lang="en-US" sz="1200" b="1" dirty="0">
                <a:solidFill>
                  <a:srgbClr val="FFFFFF"/>
                </a:solidFill>
                <a:latin typeface="Courier New" pitchFamily="34" charset="0"/>
                <a:ea typeface="Courier New" pitchFamily="34" charset="-122"/>
                <a:cs typeface="Courier New" pitchFamily="34" charset="-120"/>
              </a:rPr>
              <a:t>network 10.0.0.0 0.0.0.3</a:t>
            </a:r>
            <a:endParaRPr lang="en-US" sz="1200" dirty="0"/>
          </a:p>
          <a:p>
            <a:pPr indent="0" marL="0">
              <a:buNone/>
            </a:pPr>
            <a:r>
              <a:rPr lang="en-US" sz="1200" dirty="0">
                <a:solidFill>
                  <a:srgbClr val="8FC9A0"/>
                </a:solidFill>
                <a:latin typeface="Courier New" pitchFamily="34" charset="0"/>
                <a:ea typeface="Courier New" pitchFamily="34" charset="-122"/>
                <a:cs typeface="Courier New" pitchFamily="34" charset="-120"/>
              </a:rPr>
              <a:t>R1(config-router)# </a:t>
            </a:r>
            <a:r>
              <a:rPr lang="en-US" sz="1200" b="1" dirty="0">
                <a:solidFill>
                  <a:srgbClr val="FFFFFF"/>
                </a:solidFill>
                <a:latin typeface="Courier New" pitchFamily="34" charset="0"/>
                <a:ea typeface="Courier New" pitchFamily="34" charset="-122"/>
                <a:cs typeface="Courier New" pitchFamily="34" charset="-120"/>
              </a:rPr>
              <a:t>network 10.0.0.8 0.0.0.3</a:t>
            </a:r>
            <a:endParaRPr lang="en-US" sz="1200" dirty="0"/>
          </a:p>
        </p:txBody>
      </p:sp>
      <p:sp>
        <p:nvSpPr>
          <p:cNvPr id="15" name="Reveal 04 meaning"/>
          <p:cNvSpPr/>
          <p:nvPr/>
        </p:nvSpPr>
        <p:spPr>
          <a:xfrm>
            <a:off x="6720840" y="3462642"/>
            <a:ext cx="4922215" cy="455005"/>
          </a:xfrm>
          <a:prstGeom prst="rect">
            <a:avLst/>
          </a:prstGeom>
          <a:solidFill>
            <a:srgbClr val="FFFFFF"/>
          </a:solidFill>
          <a:ln/>
        </p:spPr>
        <p:txBody>
          <a:bodyPr wrap="square" lIns="109728" tIns="45720" rIns="109728" bIns="45720" rtlCol="0" anchor="ctr"/>
          <a:lstStyle/>
          <a:p>
            <a:pPr indent="0" marL="0">
              <a:buNone/>
            </a:pPr>
            <a:r>
              <a:rPr lang="en-US" sz="1400" dirty="0">
                <a:solidFill>
                  <a:srgbClr val="2B2B2B"/>
                </a:solidFill>
              </a:rPr>
              <a:t>Run EIGRP on both links.</a:t>
            </a:r>
            <a:endParaRPr lang="en-US" sz="1400" dirty="0"/>
          </a:p>
        </p:txBody>
      </p:sp>
      <p:sp>
        <p:nvSpPr>
          <p:cNvPr id="16" name="Command 05"/>
          <p:cNvSpPr/>
          <p:nvPr/>
        </p:nvSpPr>
        <p:spPr>
          <a:xfrm>
            <a:off x="548640" y="3935936"/>
            <a:ext cx="6153912" cy="326768"/>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R1(config-router)# </a:t>
            </a:r>
            <a:r>
              <a:rPr lang="en-US" sz="1200" b="1" dirty="0">
                <a:solidFill>
                  <a:srgbClr val="FFFFFF"/>
                </a:solidFill>
                <a:latin typeface="Courier New" pitchFamily="34" charset="0"/>
                <a:ea typeface="Courier New" pitchFamily="34" charset="-122"/>
                <a:cs typeface="Courier New" pitchFamily="34" charset="-120"/>
              </a:rPr>
              <a:t>passive-interface g0/0/0</a:t>
            </a:r>
            <a:endParaRPr lang="en-US" sz="1200" dirty="0"/>
          </a:p>
        </p:txBody>
      </p:sp>
      <p:sp>
        <p:nvSpPr>
          <p:cNvPr id="17" name="Reveal 05 meaning"/>
          <p:cNvSpPr/>
          <p:nvPr/>
        </p:nvSpPr>
        <p:spPr>
          <a:xfrm>
            <a:off x="6720840" y="3935936"/>
            <a:ext cx="4922215" cy="326768"/>
          </a:xfrm>
          <a:prstGeom prst="rect">
            <a:avLst/>
          </a:prstGeom>
          <a:solidFill>
            <a:srgbClr val="F2F8F3"/>
          </a:solidFill>
          <a:ln/>
        </p:spPr>
        <p:txBody>
          <a:bodyPr wrap="square" lIns="109728" tIns="45720" rIns="109728" bIns="45720" rtlCol="0" anchor="ctr"/>
          <a:lstStyle/>
          <a:p>
            <a:pPr indent="0" marL="0">
              <a:buNone/>
            </a:pPr>
            <a:r>
              <a:rPr lang="en-US" sz="1400" dirty="0">
                <a:solidFill>
                  <a:srgbClr val="2B2B2B"/>
                </a:solidFill>
              </a:rPr>
              <a:t>No EIGRP hellos to the LAN.</a:t>
            </a:r>
            <a:endParaRPr lang="en-US" sz="1400" dirty="0"/>
          </a:p>
        </p:txBody>
      </p:sp>
      <p:sp>
        <p:nvSpPr>
          <p:cNvPr id="18" name="Command 06"/>
          <p:cNvSpPr/>
          <p:nvPr/>
        </p:nvSpPr>
        <p:spPr>
          <a:xfrm>
            <a:off x="548640" y="4280992"/>
            <a:ext cx="6153912" cy="326768"/>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R1(config-router)# </a:t>
            </a:r>
            <a:r>
              <a:rPr lang="en-US" sz="1200" b="1" dirty="0">
                <a:solidFill>
                  <a:srgbClr val="FFFFFF"/>
                </a:solidFill>
                <a:latin typeface="Courier New" pitchFamily="34" charset="0"/>
                <a:ea typeface="Courier New" pitchFamily="34" charset="-122"/>
                <a:cs typeface="Courier New" pitchFamily="34" charset="-120"/>
              </a:rPr>
              <a:t>no auto-summary</a:t>
            </a:r>
            <a:endParaRPr lang="en-US" sz="1200" dirty="0"/>
          </a:p>
        </p:txBody>
      </p:sp>
      <p:sp>
        <p:nvSpPr>
          <p:cNvPr id="19" name="Reveal 06 meaning"/>
          <p:cNvSpPr/>
          <p:nvPr/>
        </p:nvSpPr>
        <p:spPr>
          <a:xfrm>
            <a:off x="6720840" y="4280992"/>
            <a:ext cx="4922215" cy="326768"/>
          </a:xfrm>
          <a:prstGeom prst="rect">
            <a:avLst/>
          </a:prstGeom>
          <a:solidFill>
            <a:srgbClr val="FFFFFF"/>
          </a:solidFill>
          <a:ln/>
        </p:spPr>
        <p:txBody>
          <a:bodyPr wrap="square" lIns="109728" tIns="45720" rIns="109728" bIns="45720" rtlCol="0" anchor="ctr"/>
          <a:lstStyle/>
          <a:p>
            <a:pPr indent="0" marL="0">
              <a:buNone/>
            </a:pPr>
            <a:r>
              <a:rPr lang="en-US" sz="1400" dirty="0">
                <a:solidFill>
                  <a:srgbClr val="2B2B2B"/>
                </a:solidFill>
              </a:rPr>
              <a:t>Advertise the real subnets, not a classful summary.</a:t>
            </a:r>
            <a:endParaRPr lang="en-US" sz="1400" dirty="0"/>
          </a:p>
        </p:txBody>
      </p:sp>
      <p:sp>
        <p:nvSpPr>
          <p:cNvPr id="20" name="Reveal 99 check box"/>
          <p:cNvSpPr/>
          <p:nvPr/>
        </p:nvSpPr>
        <p:spPr>
          <a:xfrm>
            <a:off x="548640" y="5504688"/>
            <a:ext cx="5410048" cy="749808"/>
          </a:xfrm>
          <a:prstGeom prst="roundRect">
            <a:avLst>
              <a:gd name="adj" fmla="val 9756"/>
            </a:avLst>
          </a:prstGeom>
          <a:solidFill>
            <a:srgbClr val="E8F1EA"/>
          </a:solidFill>
          <a:ln w="12700">
            <a:solidFill>
              <a:srgbClr val="B7C9BA"/>
            </a:solidFill>
            <a:prstDash val="solid"/>
          </a:ln>
        </p:spPr>
      </p:sp>
      <p:pic>
        <p:nvPicPr>
          <p:cNvPr id="21" name="Reveal 99 check icon" descr="Check it:">    </p:cNvPr>
          <p:cNvPicPr>
            <a:picLocks noChangeAspect="1"/>
          </p:cNvPicPr>
          <p:nvPr/>
        </p:nvPicPr>
        <p:blipFill>
          <a:blip r:embed="rId3"/>
          <a:stretch>
            <a:fillRect/>
          </a:stretch>
        </p:blipFill>
        <p:spPr>
          <a:xfrm>
            <a:off x="694944" y="5733288"/>
            <a:ext cx="292608" cy="292608"/>
          </a:xfrm>
          <a:prstGeom prst="rect">
            <a:avLst/>
          </a:prstGeom>
        </p:spPr>
      </p:pic>
      <p:sp>
        <p:nvSpPr>
          <p:cNvPr id="22" name="Reveal 99 check text"/>
          <p:cNvSpPr txBox="1"/>
          <p:nvPr/>
        </p:nvSpPr>
        <p:spPr>
          <a:xfrm>
            <a:off x="1097280" y="5541264"/>
            <a:ext cx="4751680" cy="676656"/>
          </a:xfrm>
          <a:prstGeom prst="rect">
            <a:avLst/>
          </a:prstGeom>
          <a:noFill/>
          <a:ln/>
        </p:spPr>
        <p:txBody>
          <a:bodyPr wrap="square" lIns="0" tIns="0" rIns="0" bIns="0" rtlCol="0" anchor="ctr"/>
          <a:lstStyle/>
          <a:p>
            <a:pPr indent="0" marL="0">
              <a:buNone/>
            </a:pPr>
            <a:r>
              <a:rPr lang="en-US" sz="1400" b="1" dirty="0">
                <a:solidFill>
                  <a:srgbClr val="1E5631"/>
                </a:solidFill>
              </a:rPr>
              <a:t>Check it:  </a:t>
            </a:r>
            <a:r>
              <a:rPr lang="en-US" sz="1300" b="1" dirty="0">
                <a:solidFill>
                  <a:srgbClr val="1E5631"/>
                </a:solidFill>
                <a:latin typeface="Courier New" pitchFamily="34" charset="0"/>
                <a:ea typeface="Courier New" pitchFamily="34" charset="-122"/>
                <a:cs typeface="Courier New" pitchFamily="34" charset="-120"/>
              </a:rPr>
              <a:t>show ip eigrp neighbors</a:t>
            </a:r>
            <a:r>
              <a:rPr lang="en-US" sz="1400" dirty="0">
                <a:solidFill>
                  <a:srgbClr val="2B2B2B"/>
                </a:solidFill>
              </a:rPr>
              <a:t> lists R2 and R3; the routes appear as </a:t>
            </a:r>
            <a:r>
              <a:rPr lang="en-US" sz="1300" b="1" dirty="0">
                <a:solidFill>
                  <a:srgbClr val="1E5631"/>
                </a:solidFill>
                <a:latin typeface="Courier New" pitchFamily="34" charset="0"/>
                <a:ea typeface="Courier New" pitchFamily="34" charset="-122"/>
                <a:cs typeface="Courier New" pitchFamily="34" charset="-120"/>
              </a:rPr>
              <a:t>D … [90/3072]</a:t>
            </a:r>
            <a:r>
              <a:rPr lang="en-US" sz="1400" dirty="0">
                <a:solidFill>
                  <a:srgbClr val="2B2B2B"/>
                </a:solidFill>
              </a:rPr>
              <a:t>.</a:t>
            </a:r>
            <a:endParaRPr lang="en-US" sz="1400" dirty="0"/>
          </a:p>
        </p:txBody>
      </p:sp>
      <p:sp>
        <p:nvSpPr>
          <p:cNvPr id="23" name="Reveal 99 watch box"/>
          <p:cNvSpPr/>
          <p:nvPr/>
        </p:nvSpPr>
        <p:spPr>
          <a:xfrm>
            <a:off x="6233008" y="5504688"/>
            <a:ext cx="5410048" cy="749808"/>
          </a:xfrm>
          <a:prstGeom prst="roundRect">
            <a:avLst>
              <a:gd name="adj" fmla="val 9756"/>
            </a:avLst>
          </a:prstGeom>
          <a:solidFill>
            <a:srgbClr val="FBEAEA"/>
          </a:solidFill>
          <a:ln w="12700">
            <a:solidFill>
              <a:srgbClr val="E9B8B5"/>
            </a:solidFill>
            <a:prstDash val="solid"/>
          </a:ln>
        </p:spPr>
      </p:sp>
      <p:pic>
        <p:nvPicPr>
          <p:cNvPr id="24" name="Reveal 99 watch icon" descr="Watch out:">    </p:cNvPr>
          <p:cNvPicPr>
            <a:picLocks noChangeAspect="1"/>
          </p:cNvPicPr>
          <p:nvPr/>
        </p:nvPicPr>
        <p:blipFill>
          <a:blip r:embed="rId4"/>
          <a:stretch>
            <a:fillRect/>
          </a:stretch>
        </p:blipFill>
        <p:spPr>
          <a:xfrm>
            <a:off x="6379312" y="5733288"/>
            <a:ext cx="292608" cy="292608"/>
          </a:xfrm>
          <a:prstGeom prst="rect">
            <a:avLst/>
          </a:prstGeom>
        </p:spPr>
      </p:pic>
      <p:sp>
        <p:nvSpPr>
          <p:cNvPr id="25" name="Reveal 99 watch text"/>
          <p:cNvSpPr txBox="1"/>
          <p:nvPr/>
        </p:nvSpPr>
        <p:spPr>
          <a:xfrm>
            <a:off x="6781648" y="5541264"/>
            <a:ext cx="4751680" cy="676656"/>
          </a:xfrm>
          <a:prstGeom prst="rect">
            <a:avLst/>
          </a:prstGeom>
          <a:noFill/>
          <a:ln/>
        </p:spPr>
        <p:txBody>
          <a:bodyPr wrap="square" lIns="0" tIns="0" rIns="0" bIns="0" rtlCol="0" anchor="ctr"/>
          <a:lstStyle/>
          <a:p>
            <a:pPr indent="0" marL="0">
              <a:buNone/>
            </a:pPr>
            <a:r>
              <a:rPr lang="en-US" sz="1400" b="1" dirty="0">
                <a:solidFill>
                  <a:srgbClr val="8B1A1A"/>
                </a:solidFill>
              </a:rPr>
              <a:t>Watch out:  </a:t>
            </a:r>
            <a:r>
              <a:rPr lang="en-US" sz="1400" dirty="0">
                <a:solidFill>
                  <a:srgbClr val="2B2B2B"/>
                </a:solidFill>
              </a:rPr>
              <a:t>A different AS number (100 vs 10) means no neighbours at all. EIGRP routes show as D, not E.</a:t>
            </a:r>
            <a:endParaRPr lang="en-US" sz="1400" dirty="0"/>
          </a:p>
        </p:txBody>
      </p:sp>
      <p:sp>
        <p:nvSpPr>
          <p:cNvPr id="26" name="Slide Number Placeholder 0"/>
          <p:cNvSpPr>
            <a:spLocks noGrp="1"/>
          </p:cNvSpPr>
          <p:nvPr>
            <p:ph type="sldNum" sz="quarter" idx="4294967295"/>
          </p:nvPr>
        </p:nvSpPr>
        <p:spPr>
          <a:xfrm>
            <a:off x="10698480" y="6464808"/>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r"/>
            <a:fld id="{F7021451-1387-4CA6-816F-3879F97B5CBC}" type="slidenum">
              <a:rPr b="0" lang="en-US"/>
              <a:t>58</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4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0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400"/>
                                        <p:tgtEl>
                                          <p:spTgt spid="1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00"/>
                                        <p:tgtEl>
                                          <p:spTgt spid="20"/>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00"/>
                                        <p:tgtEl>
                                          <p:spTgt spid="21"/>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2"/>
                                        </p:tgtEl>
                                        <p:attrNameLst>
                                          <p:attrName>style.visibility</p:attrName>
                                        </p:attrNameLst>
                                      </p:cBhvr>
                                      <p:to>
                                        <p:strVal val="visible"/>
                                      </p:to>
                                    </p:set>
                                    <p:animEffect transition="in" filter="fade">
                                      <p:cBhvr>
                                        <p:cTn id="43" dur="400"/>
                                        <p:tgtEl>
                                          <p:spTgt spid="22"/>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3"/>
                                        </p:tgtEl>
                                        <p:attrNameLst>
                                          <p:attrName>style.visibility</p:attrName>
                                        </p:attrNameLst>
                                      </p:cBhvr>
                                      <p:to>
                                        <p:strVal val="visible"/>
                                      </p:to>
                                    </p:set>
                                    <p:animEffect transition="in" filter="fade">
                                      <p:cBhvr>
                                        <p:cTn id="46" dur="400"/>
                                        <p:tgtEl>
                                          <p:spTgt spid="23"/>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4"/>
                                        </p:tgtEl>
                                        <p:attrNameLst>
                                          <p:attrName>style.visibility</p:attrName>
                                        </p:attrNameLst>
                                      </p:cBhvr>
                                      <p:to>
                                        <p:strVal val="visible"/>
                                      </p:to>
                                    </p:set>
                                    <p:animEffect transition="in" filter="fade">
                                      <p:cBhvr>
                                        <p:cTn id="49" dur="400"/>
                                        <p:tgtEl>
                                          <p:spTgt spid="24"/>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fade">
                                      <p:cBhvr>
                                        <p:cTn id="52"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3" grpId="0" animBg="1"/>
      <p:bldP spid="15" grpId="0" animBg="1"/>
      <p:bldP spid="17" grpId="0" animBg="1"/>
      <p:bldP spid="19" grpId="0" animBg="1"/>
      <p:bldP spid="20" grpId="0" animBg="1"/>
      <p:bldP spid="22" grpId="0" animBg="1"/>
      <p:bldP spid="23" grpId="0" animBg="1"/>
      <p:bldP spid="25"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1"/>
          <p:cNvSpPr/>
          <p:nvPr>
            <p:ph idx="102" type="body" hasCustomPrompt="1"/>
          </p:nvPr>
        </p:nvSpPr>
        <p:spPr>
          <a:xfrm>
            <a:off x="548640" y="274320"/>
            <a:ext cx="9966960" cy="256032"/>
          </a:xfrm>
          <a:prstGeom prst="rect">
            <a:avLst/>
          </a:prstGeom>
          <a:noFill/>
          <a:ln/>
        </p:spPr>
        <p:txBody>
          <a:bodyPr wrap="square" lIns="0" tIns="0" rIns="0" bIns="0" rtlCol="0" anchor="ctr"/>
          <a:lstStyle/>
          <a:p>
            <a:pPr algn="l" indent="0" marL="0">
              <a:buNone/>
            </a:pPr>
            <a:r>
              <a:rPr lang="en-US" sz="1100" b="1" spc="100" kern="0" dirty="0">
                <a:solidFill>
                  <a:schemeClr val="accent2"/>
                </a:solidFill>
              </a:rPr>
              <a:t>07  •  ROUTING  •  LAB 3</a:t>
            </a:r>
            <a:endParaRPr lang="en-US" sz="1100" dirty="0"/>
          </a:p>
        </p:txBody>
      </p:sp>
      <p:sp>
        <p:nvSpPr>
          <p:cNvPr id="3" name="Text 1"/>
          <p:cNvSpPr/>
          <p:nvPr>
            <p:ph idx="103" type="title" hasCustomPrompt="1"/>
          </p:nvPr>
        </p:nvSpPr>
        <p:spPr>
          <a:xfrm>
            <a:off x="548640" y="548640"/>
            <a:ext cx="10149840" cy="548640"/>
          </a:xfrm>
          <a:prstGeom prst="rect">
            <a:avLst/>
          </a:prstGeom>
          <a:noFill/>
          <a:ln/>
        </p:spPr>
        <p:txBody>
          <a:bodyPr wrap="square" lIns="0" tIns="0" rIns="0" bIns="0" rtlCol="0" anchor="ctr"/>
          <a:lstStyle/>
          <a:p>
            <a:pPr algn="l" indent="0" marL="0">
              <a:buNone/>
            </a:pPr>
            <a:r>
              <a:rPr lang="en-US" sz="2600" b="1" dirty="0">
                <a:solidFill>
                  <a:schemeClr val="accent1"/>
                </a:solidFill>
              </a:rPr>
              <a:t>How to troubleshoot routing</a:t>
            </a:r>
            <a:endParaRPr lang="en-US" sz="2600" dirty="0"/>
          </a:p>
        </p:txBody>
      </p:sp>
      <p:pic>
        <p:nvPicPr>
          <p:cNvPr id="4" name="Home button" descr="Home: back to the workbook menu">
            <a:hlinkClick r:id="rId2" tooltip="Back to the workbook menu" action="ppaction://hlinksldjump"/>
          </p:cNvPr>
          <p:cNvPicPr>
            <a:picLocks noChangeAspect="1"/>
          </p:cNvPicPr>
          <p:nvPr/>
        </p:nvPicPr>
        <p:blipFill>
          <a:blip r:embed="rId1"/>
          <a:stretch>
            <a:fillRect/>
          </a:stretch>
        </p:blipFill>
        <p:spPr>
          <a:xfrm>
            <a:off x="11365992" y="6336792"/>
            <a:ext cx="365760" cy="365760"/>
          </a:xfrm>
          <a:prstGeom prst="rect">
            <a:avLst/>
          </a:prstGeom>
        </p:spPr>
      </p:pic>
      <p:sp>
        <p:nvSpPr>
          <p:cNvPr id="5" name="Goal"/>
          <p:cNvSpPr txBox="1"/>
          <p:nvPr/>
        </p:nvSpPr>
        <p:spPr>
          <a:xfrm>
            <a:off x="548640" y="1161288"/>
            <a:ext cx="11094415" cy="384048"/>
          </a:xfrm>
          <a:prstGeom prst="rect">
            <a:avLst/>
          </a:prstGeom>
          <a:noFill/>
          <a:ln/>
        </p:spPr>
        <p:txBody>
          <a:bodyPr wrap="square" lIns="0" tIns="0" rIns="0" bIns="0" rtlCol="0" anchor="ctr"/>
          <a:lstStyle/>
          <a:p>
            <a:pPr indent="0" marL="0">
              <a:buNone/>
            </a:pPr>
            <a:r>
              <a:rPr lang="en-US" sz="1400" b="1" dirty="0">
                <a:solidFill>
                  <a:srgbClr val="2B7043"/>
                </a:solidFill>
              </a:rPr>
              <a:t>Goal:  </a:t>
            </a:r>
            <a:r>
              <a:rPr lang="en-US" sz="1400" dirty="0">
                <a:solidFill>
                  <a:srgbClr val="2B2B2B"/>
                </a:solidFill>
              </a:rPr>
              <a:t>Work bottom-up: interfaces first, then neighbours, then routes — in both directions.</a:t>
            </a:r>
            <a:endParaRPr lang="en-US" sz="1400" dirty="0"/>
          </a:p>
        </p:txBody>
      </p:sp>
      <p:graphicFrame>
        <p:nvGraphicFramePr>
          <p:cNvPr id="60" name="routing faults"/>
          <p:cNvGraphicFramePr>
            <a:graphicFrameLocks noGrp="1"/>
          </p:cNvGraphicFramePr>
          <p:nvPr>
            <p:extLst>
              <p:ext uri="{D42A27DB-BD31-4B8C-83A1-F6EECF244321}">
                <p14:modId xmlns:p14="http://schemas.microsoft.com/office/powerpoint/2010/main" val="1579011935"/>
              </p:ext>
            </p:extLst>
          </p:nvPr>
        </p:nvGraphicFramePr>
        <p:xfrm>
          <a:off x="548640" y="1691640"/>
          <a:ext cx="11091672" cy="914400"/>
        </p:xfrm>
        <a:graphic>
          <a:graphicData uri="http://schemas.openxmlformats.org/drawingml/2006/table">
            <a:tbl>
              <a:tblPr/>
              <a:tblGrid>
                <a:gridCol w="2880360"/>
                <a:gridCol w="3291840"/>
                <a:gridCol w="4919472"/>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Symptom</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1E563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Check with</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1E563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Likely fix</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1E5631"/>
                    </a:solidFill>
                  </a:tcPr>
                </a:tc>
              </a:tr>
              <a:tr h="0">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Interface down</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200" b="1" dirty="0">
                          <a:solidFill>
                            <a:srgbClr val="1E5631"/>
                          </a:solidFill>
                          <a:latin typeface="Courier New" pitchFamily="34" charset="0"/>
                          <a:ea typeface="Courier New" pitchFamily="34" charset="-122"/>
                          <a:cs typeface="Courier New" pitchFamily="34" charset="-120"/>
                        </a:rPr>
                        <a:t>show ip interface brief</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200" b="1" dirty="0">
                          <a:solidFill>
                            <a:srgbClr val="1E5631"/>
                          </a:solidFill>
                          <a:latin typeface="Courier New" pitchFamily="34" charset="0"/>
                          <a:ea typeface="Courier New" pitchFamily="34" charset="-122"/>
                          <a:cs typeface="Courier New" pitchFamily="34" charset="-120"/>
                        </a:rPr>
                        <a:t>no shutdown</a:t>
                      </a:r>
                      <a:r>
                        <a:rPr lang="en-US" sz="1300" dirty="0">
                          <a:solidFill>
                            <a:srgbClr val="2B2B2B"/>
                          </a:solidFill>
                          <a:latin typeface="Calibri" pitchFamily="34" charset="0"/>
                          <a:ea typeface="Calibri" pitchFamily="34" charset="-122"/>
                          <a:cs typeface="Calibri" pitchFamily="34" charset="-120"/>
                        </a:rPr>
                        <a:t>, the right cable, the same subnet at both ends</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r>
              <a:tr h="0">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No OSPF or EIGRP neighbours</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c>
                  <a:txBody>
                    <a:bodyPr/>
                    <a:lstStyle/>
                    <a:p>
                      <a:pPr indent="0" marL="0">
                        <a:buNone/>
                      </a:pPr>
                      <a:r>
                        <a:rPr lang="en-US" sz="1200" b="1" dirty="0">
                          <a:solidFill>
                            <a:srgbClr val="1E5631"/>
                          </a:solidFill>
                          <a:latin typeface="Courier New" pitchFamily="34" charset="0"/>
                          <a:ea typeface="Courier New" pitchFamily="34" charset="-122"/>
                          <a:cs typeface="Courier New" pitchFamily="34" charset="-120"/>
                        </a:rPr>
                        <a:t>show ip protocols</a:t>
                      </a:r>
                      <a:r>
                        <a:rPr lang="en-US" sz="1300" dirty="0">
                          <a:solidFill>
                            <a:srgbClr val="2B2B2B"/>
                          </a:solidFill>
                          <a:latin typeface="Calibri" pitchFamily="34" charset="0"/>
                          <a:ea typeface="Calibri" pitchFamily="34" charset="-122"/>
                          <a:cs typeface="Calibri" pitchFamily="34" charset="-120"/>
                        </a:rPr>
                        <a:t>, </a:t>
                      </a:r>
                      <a:r>
                        <a:rPr lang="en-US" sz="1200" b="1" dirty="0">
                          <a:solidFill>
                            <a:srgbClr val="1E5631"/>
                          </a:solidFill>
                          <a:latin typeface="Courier New" pitchFamily="34" charset="0"/>
                          <a:ea typeface="Courier New" pitchFamily="34" charset="-122"/>
                          <a:cs typeface="Courier New" pitchFamily="34" charset="-120"/>
                        </a:rPr>
                        <a:t>show ip ospf neighbor</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Same area / same AS; correct network statements; router links not passive</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A network is missing from the table</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200" b="1" dirty="0">
                          <a:solidFill>
                            <a:srgbClr val="1E5631"/>
                          </a:solidFill>
                          <a:latin typeface="Courier New" pitchFamily="34" charset="0"/>
                          <a:ea typeface="Courier New" pitchFamily="34" charset="-122"/>
                          <a:cs typeface="Courier New" pitchFamily="34" charset="-120"/>
                        </a:rPr>
                        <a:t>show ip route</a:t>
                      </a:r>
                      <a:r>
                        <a:rPr lang="en-US" sz="1300" dirty="0">
                          <a:solidFill>
                            <a:srgbClr val="2B2B2B"/>
                          </a:solidFill>
                          <a:latin typeface="Calibri" pitchFamily="34" charset="0"/>
                          <a:ea typeface="Calibri" pitchFamily="34" charset="-122"/>
                          <a:cs typeface="Calibri" pitchFamily="34" charset="-120"/>
                        </a:rPr>
                        <a:t> on each router</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Add the missing </a:t>
                      </a:r>
                      <a:r>
                        <a:rPr lang="en-US" sz="1200" b="1" dirty="0">
                          <a:solidFill>
                            <a:srgbClr val="1E5631"/>
                          </a:solidFill>
                          <a:latin typeface="Courier New" pitchFamily="34" charset="0"/>
                          <a:ea typeface="Courier New" pitchFamily="34" charset="-122"/>
                          <a:cs typeface="Courier New" pitchFamily="34" charset="-120"/>
                        </a:rPr>
                        <a:t>network</a:t>
                      </a:r>
                      <a:r>
                        <a:rPr lang="en-US" sz="1300" dirty="0">
                          <a:solidFill>
                            <a:srgbClr val="2B2B2B"/>
                          </a:solidFill>
                          <a:latin typeface="Calibri" pitchFamily="34" charset="0"/>
                          <a:ea typeface="Calibri" pitchFamily="34" charset="-122"/>
                          <a:cs typeface="Calibri" pitchFamily="34" charset="-120"/>
                        </a:rPr>
                        <a:t> statement on the router that owns it</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r>
              <a:tr h="0">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Ping works one way only</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c>
                  <a:txBody>
                    <a:bodyPr/>
                    <a:lstStyle/>
                    <a:p>
                      <a:pPr indent="0" marL="0">
                        <a:buNone/>
                      </a:pPr>
                      <a:r>
                        <a:rPr lang="en-US" sz="1200" b="1" dirty="0">
                          <a:solidFill>
                            <a:srgbClr val="1E5631"/>
                          </a:solidFill>
                          <a:latin typeface="Courier New" pitchFamily="34" charset="0"/>
                          <a:ea typeface="Courier New" pitchFamily="34" charset="-122"/>
                          <a:cs typeface="Courier New" pitchFamily="34" charset="-120"/>
                        </a:rPr>
                        <a:t>show ip route</a:t>
                      </a:r>
                      <a:r>
                        <a:rPr lang="en-US" sz="1300" dirty="0">
                          <a:solidFill>
                            <a:srgbClr val="2B2B2B"/>
                          </a:solidFill>
                          <a:latin typeface="Calibri" pitchFamily="34" charset="0"/>
                          <a:ea typeface="Calibri" pitchFamily="34" charset="-122"/>
                          <a:cs typeface="Calibri" pitchFamily="34" charset="-120"/>
                        </a:rPr>
                        <a:t> on the far router</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Add the return route — both directions are needed</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Traffic takes an odd path</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200" b="1" dirty="0">
                          <a:solidFill>
                            <a:srgbClr val="1E5631"/>
                          </a:solidFill>
                          <a:latin typeface="Courier New" pitchFamily="34" charset="0"/>
                          <a:ea typeface="Courier New" pitchFamily="34" charset="-122"/>
                          <a:cs typeface="Courier New" pitchFamily="34" charset="-120"/>
                        </a:rPr>
                        <a:t>show ip route</a:t>
                      </a:r>
                      <a:r>
                        <a:rPr lang="en-US" sz="1300" dirty="0">
                          <a:solidFill>
                            <a:srgbClr val="2B2B2B"/>
                          </a:solidFill>
                          <a:latin typeface="Calibri" pitchFamily="34" charset="0"/>
                          <a:ea typeface="Calibri" pitchFamily="34" charset="-122"/>
                          <a:cs typeface="Calibri" pitchFamily="34" charset="-120"/>
                        </a:rPr>
                        <a:t> (look at the codes)</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Lowest distance wins: remove the old method (</a:t>
                      </a:r>
                      <a:r>
                        <a:rPr lang="en-US" sz="1200" b="1" dirty="0">
                          <a:solidFill>
                            <a:srgbClr val="1E5631"/>
                          </a:solidFill>
                          <a:latin typeface="Courier New" pitchFamily="34" charset="0"/>
                          <a:ea typeface="Courier New" pitchFamily="34" charset="-122"/>
                          <a:cs typeface="Courier New" pitchFamily="34" charset="-120"/>
                        </a:rPr>
                        <a:t>no router rip</a:t>
                      </a:r>
                      <a:r>
                        <a:rPr lang="en-US" sz="1300" dirty="0">
                          <a:solidFill>
                            <a:srgbClr val="2B2B2B"/>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r>
              <a:tr h="0">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Ping fails part-way</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c>
                  <a:txBody>
                    <a:bodyPr/>
                    <a:lstStyle/>
                    <a:p>
                      <a:pPr indent="0" marL="0">
                        <a:buNone/>
                      </a:pPr>
                      <a:r>
                        <a:rPr lang="en-US" sz="1200" b="1" dirty="0">
                          <a:solidFill>
                            <a:srgbClr val="1E5631"/>
                          </a:solidFill>
                          <a:latin typeface="Courier New" pitchFamily="34" charset="0"/>
                          <a:ea typeface="Courier New" pitchFamily="34" charset="-122"/>
                          <a:cs typeface="Courier New" pitchFamily="34" charset="-120"/>
                        </a:rPr>
                        <a:t>tracert</a:t>
                      </a:r>
                      <a:r>
                        <a:rPr lang="en-US" sz="1300" dirty="0">
                          <a:solidFill>
                            <a:srgbClr val="2B2B2B"/>
                          </a:solidFill>
                          <a:latin typeface="Calibri" pitchFamily="34" charset="0"/>
                          <a:ea typeface="Calibri" pitchFamily="34" charset="-122"/>
                          <a:cs typeface="Calibri" pitchFamily="34" charset="-120"/>
                        </a:rPr>
                        <a:t> from a PC</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The fault is just after the last router that answered</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r>
            </a:tbl>
          </a:graphicData>
        </a:graphic>
      </p:graphicFrame>
      <p:sp>
        <p:nvSpPr>
          <p:cNvPr id="7" name="tip box"/>
          <p:cNvSpPr/>
          <p:nvPr/>
        </p:nvSpPr>
        <p:spPr>
          <a:xfrm>
            <a:off x="548640" y="5504688"/>
            <a:ext cx="11094415" cy="749808"/>
          </a:xfrm>
          <a:prstGeom prst="roundRect">
            <a:avLst>
              <a:gd name="adj" fmla="val 9756"/>
            </a:avLst>
          </a:prstGeom>
          <a:solidFill>
            <a:srgbClr val="E6EEF8"/>
          </a:solidFill>
          <a:ln w="12700">
            <a:solidFill>
              <a:srgbClr val="B8C9E0"/>
            </a:solidFill>
            <a:prstDash val="solid"/>
          </a:ln>
        </p:spPr>
      </p:sp>
      <p:pic>
        <p:nvPicPr>
          <p:cNvPr id="8" name="tip icon" descr="Tip:">    </p:cNvPr>
          <p:cNvPicPr>
            <a:picLocks noChangeAspect="1"/>
          </p:cNvPicPr>
          <p:nvPr/>
        </p:nvPicPr>
        <p:blipFill>
          <a:blip r:embed="rId3"/>
          <a:stretch>
            <a:fillRect/>
          </a:stretch>
        </p:blipFill>
        <p:spPr>
          <a:xfrm>
            <a:off x="694944" y="5733288"/>
            <a:ext cx="292608" cy="292608"/>
          </a:xfrm>
          <a:prstGeom prst="rect">
            <a:avLst/>
          </a:prstGeom>
        </p:spPr>
      </p:pic>
      <p:sp>
        <p:nvSpPr>
          <p:cNvPr id="9" name="tip text"/>
          <p:cNvSpPr txBox="1"/>
          <p:nvPr/>
        </p:nvSpPr>
        <p:spPr>
          <a:xfrm>
            <a:off x="1097280" y="5541264"/>
            <a:ext cx="10436047" cy="676656"/>
          </a:xfrm>
          <a:prstGeom prst="rect">
            <a:avLst/>
          </a:prstGeom>
          <a:noFill/>
          <a:ln/>
        </p:spPr>
        <p:txBody>
          <a:bodyPr wrap="square" lIns="0" tIns="0" rIns="0" bIns="0" rtlCol="0" anchor="ctr"/>
          <a:lstStyle/>
          <a:p>
            <a:pPr indent="0" marL="0">
              <a:buNone/>
            </a:pPr>
            <a:r>
              <a:rPr lang="en-US" sz="1400" b="1" dirty="0">
                <a:solidFill>
                  <a:srgbClr val="1F4E8C"/>
                </a:solidFill>
              </a:rPr>
              <a:t>Tip:  </a:t>
            </a:r>
            <a:r>
              <a:rPr lang="en-US" sz="1400" dirty="0">
                <a:solidFill>
                  <a:srgbClr val="2B2B2B"/>
                </a:solidFill>
              </a:rPr>
              <a:t>Ping each neighbour first: if two directly connected routers can’t ping, no routing protocol will work.</a:t>
            </a:r>
            <a:endParaRPr lang="en-US" sz="1400" dirty="0"/>
          </a:p>
        </p:txBody>
      </p:sp>
      <p:sp>
        <p:nvSpPr>
          <p:cNvPr id="25" name="Slide Number Placeholder 0"/>
          <p:cNvSpPr>
            <a:spLocks noGrp="1"/>
          </p:cNvSpPr>
          <p:nvPr>
            <p:ph type="sldNum" sz="quarter" idx="4294967295"/>
          </p:nvPr>
        </p:nvSpPr>
        <p:spPr>
          <a:xfrm>
            <a:off x="10698480" y="6464808"/>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1"/>
          <p:cNvSpPr/>
          <p:nvPr>
            <p:ph idx="101" type="body" hasCustomPrompt="1"/>
          </p:nvPr>
        </p:nvSpPr>
        <p:spPr>
          <a:xfrm>
            <a:off x="548640" y="685800"/>
            <a:ext cx="3200400" cy="1143000"/>
          </a:xfrm>
          <a:prstGeom prst="rect">
            <a:avLst/>
          </a:prstGeom>
          <a:noFill/>
          <a:ln/>
        </p:spPr>
        <p:txBody>
          <a:bodyPr wrap="square" lIns="0" tIns="0" rIns="0" bIns="0" rtlCol="0" anchor="b"/>
          <a:lstStyle/>
          <a:p>
            <a:pPr algn="l" indent="0" marL="0">
              <a:buNone/>
            </a:pPr>
            <a:r>
              <a:rPr lang="en-US" sz="7200" b="1" dirty="0">
                <a:solidFill>
                  <a:schemeClr val="accent3"/>
                </a:solidFill>
                <a:latin typeface="Cambria" pitchFamily="34" charset="0"/>
                <a:ea typeface="Cambria" pitchFamily="34" charset="-122"/>
                <a:cs typeface="Cambria" pitchFamily="34" charset="-120"/>
              </a:rPr>
              <a:t>08</a:t>
            </a:r>
            <a:endParaRPr lang="en-US" sz="7200" dirty="0"/>
          </a:p>
        </p:txBody>
      </p:sp>
      <p:sp>
        <p:nvSpPr>
          <p:cNvPr id="3" name="Text 1"/>
          <p:cNvSpPr/>
          <p:nvPr>
            <p:ph idx="102" type="title" hasCustomPrompt="1"/>
          </p:nvPr>
        </p:nvSpPr>
        <p:spPr>
          <a:xfrm>
            <a:off x="548640" y="2011680"/>
            <a:ext cx="6492240" cy="1600200"/>
          </a:xfrm>
          <a:prstGeom prst="rect">
            <a:avLst/>
          </a:prstGeom>
          <a:noFill/>
          <a:ln/>
        </p:spPr>
        <p:txBody>
          <a:bodyPr wrap="square" lIns="0" tIns="0" rIns="0" bIns="0" rtlCol="0" anchor="t"/>
          <a:lstStyle/>
          <a:p>
            <a:pPr algn="l" indent="0" marL="0">
              <a:buNone/>
            </a:pPr>
            <a:r>
              <a:rPr lang="en-US" sz="3400" b="1" dirty="0">
                <a:solidFill>
                  <a:srgbClr val="FFFFFF"/>
                </a:solidFill>
              </a:rPr>
              <a:t>How to secure switches and routers</a:t>
            </a:r>
            <a:endParaRPr lang="en-US" sz="3400" dirty="0"/>
          </a:p>
        </p:txBody>
      </p:sp>
      <p:sp>
        <p:nvSpPr>
          <p:cNvPr id="4" name="Text 1"/>
          <p:cNvSpPr/>
          <p:nvPr>
            <p:ph idx="103" type="body" hasCustomPrompt="1"/>
          </p:nvPr>
        </p:nvSpPr>
        <p:spPr>
          <a:xfrm>
            <a:off x="548640" y="3703320"/>
            <a:ext cx="6309360" cy="1188720"/>
          </a:xfrm>
          <a:prstGeom prst="rect">
            <a:avLst/>
          </a:prstGeom>
          <a:noFill/>
          <a:ln/>
        </p:spPr>
        <p:txBody>
          <a:bodyPr wrap="square" lIns="0" tIns="0" rIns="0" bIns="0" rtlCol="0" anchor="t"/>
          <a:lstStyle/>
          <a:p>
            <a:pPr algn="l" indent="0" marL="0">
              <a:buNone/>
            </a:pPr>
            <a:r>
              <a:rPr lang="en-US" sz="1600" dirty="0">
                <a:solidFill>
                  <a:srgbClr val="CFE3D4"/>
                </a:solidFill>
              </a:rPr>
              <a:t>Allow only known devices on switch ports, filter traffic with ACLs, and share one public address with NAT. (Lab 6)</a:t>
            </a:r>
            <a:endParaRPr lang="en-US" sz="1600" dirty="0"/>
          </a:p>
        </p:txBody>
      </p:sp>
      <p:sp>
        <p:nvSpPr>
          <p:cNvPr id="5" name="Shape 3"/>
          <p:cNvSpPr/>
          <p:nvPr/>
        </p:nvSpPr>
        <p:spPr>
          <a:xfrm>
            <a:off x="7452360" y="1884045"/>
            <a:ext cx="4187952" cy="3089910"/>
          </a:xfrm>
          <a:prstGeom prst="roundRect">
            <a:avLst>
              <a:gd name="adj" fmla="val 2959"/>
            </a:avLst>
          </a:prstGeom>
          <a:solidFill>
            <a:srgbClr val="1B2B22">
              <a:alpha val="75000"/>
            </a:srgbClr>
          </a:solidFill>
          <a:ln w="12700">
            <a:solidFill>
              <a:srgbClr val="24663A"/>
            </a:solidFill>
            <a:prstDash val="solid"/>
          </a:ln>
        </p:spPr>
      </p:sp>
      <p:sp>
        <p:nvSpPr>
          <p:cNvPr id="6" name="Text 4"/>
          <p:cNvSpPr txBox="1"/>
          <p:nvPr/>
        </p:nvSpPr>
        <p:spPr>
          <a:xfrm>
            <a:off x="7726680" y="2140077"/>
            <a:ext cx="3639312" cy="320040"/>
          </a:xfrm>
          <a:prstGeom prst="rect">
            <a:avLst/>
          </a:prstGeom>
          <a:noFill/>
          <a:ln/>
        </p:spPr>
        <p:txBody>
          <a:bodyPr wrap="square" lIns="0" tIns="0" rIns="0" bIns="0" rtlCol="0" anchor="ctr"/>
          <a:lstStyle/>
          <a:p>
            <a:pPr indent="0" marL="0">
              <a:buNone/>
            </a:pPr>
            <a:r>
              <a:rPr lang="en-US" sz="1500" b="1" dirty="0">
                <a:solidFill>
                  <a:srgbClr val="E8B92E"/>
                </a:solidFill>
              </a:rPr>
              <a:t>In this part, learn how to:</a:t>
            </a:r>
            <a:endParaRPr lang="en-US" sz="1500" dirty="0"/>
          </a:p>
        </p:txBody>
      </p:sp>
      <p:sp>
        <p:nvSpPr>
          <p:cNvPr id="7" name="Text 5"/>
          <p:cNvSpPr txBox="1"/>
          <p:nvPr/>
        </p:nvSpPr>
        <p:spPr>
          <a:xfrm>
            <a:off x="7726680" y="2615565"/>
            <a:ext cx="3730752" cy="217551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FFFFFF"/>
                </a:solidFill>
              </a:rPr>
              <a:t>set up the security lab</a:t>
            </a:r>
            <a:endParaRPr lang="en-US" sz="1500" dirty="0"/>
          </a:p>
          <a:p>
            <a:pPr marL="203200" indent="-203200">
              <a:spcAft>
                <a:spcPts val="800"/>
              </a:spcAft>
              <a:buSzPct val="100000"/>
              <a:buChar char="•"/>
            </a:pPr>
            <a:r>
              <a:rPr lang="en-US" sz="1500" dirty="0">
                <a:solidFill>
                  <a:srgbClr val="FFFFFF"/>
                </a:solidFill>
              </a:rPr>
              <a:t>lock switch ports</a:t>
            </a:r>
            <a:endParaRPr lang="en-US" sz="1500" dirty="0"/>
          </a:p>
          <a:p>
            <a:pPr marL="203200" indent="-203200">
              <a:spcAft>
                <a:spcPts val="800"/>
              </a:spcAft>
              <a:buSzPct val="100000"/>
              <a:buChar char="•"/>
            </a:pPr>
            <a:r>
              <a:rPr lang="en-US" sz="1500" dirty="0">
                <a:solidFill>
                  <a:srgbClr val="FFFFFF"/>
                </a:solidFill>
              </a:rPr>
              <a:t>understand ACL rules</a:t>
            </a:r>
            <a:endParaRPr lang="en-US" sz="1500" dirty="0"/>
          </a:p>
          <a:p>
            <a:pPr marL="203200" indent="-203200">
              <a:spcAft>
                <a:spcPts val="800"/>
              </a:spcAft>
              <a:buSzPct val="100000"/>
              <a:buChar char="•"/>
            </a:pPr>
            <a:r>
              <a:rPr lang="en-US" sz="1500" dirty="0">
                <a:solidFill>
                  <a:srgbClr val="FFFFFF"/>
                </a:solidFill>
              </a:rPr>
              <a:t>write standard and extended ACLs</a:t>
            </a:r>
            <a:endParaRPr lang="en-US" sz="1500" dirty="0"/>
          </a:p>
          <a:p>
            <a:pPr marL="203200" indent="-203200">
              <a:spcAft>
                <a:spcPts val="800"/>
              </a:spcAft>
              <a:buSzPct val="100000"/>
              <a:buChar char="•"/>
            </a:pPr>
            <a:r>
              <a:rPr lang="en-US" sz="1500" dirty="0">
                <a:solidFill>
                  <a:srgbClr val="FFFFFF"/>
                </a:solidFill>
              </a:rPr>
              <a:t>test and read an ACL</a:t>
            </a:r>
            <a:endParaRPr lang="en-US" sz="1500" dirty="0"/>
          </a:p>
          <a:p>
            <a:pPr marL="203200" indent="-203200">
              <a:spcAft>
                <a:spcPts val="800"/>
              </a:spcAft>
              <a:buSzPct val="100000"/>
              <a:buChar char="•"/>
            </a:pPr>
            <a:r>
              <a:rPr lang="en-US" sz="1500" dirty="0">
                <a:solidFill>
                  <a:srgbClr val="FFFFFF"/>
                </a:solidFill>
              </a:rPr>
              <a:t>configure PAT and static NAT</a:t>
            </a:r>
            <a:endParaRPr lang="en-US" sz="1500" dirty="0"/>
          </a:p>
        </p:txBody>
      </p:sp>
      <p:sp>
        <p:nvSpPr>
          <p:cNvPr id="8" name="Shape 6"/>
          <p:cNvSpPr/>
          <p:nvPr/>
        </p:nvSpPr>
        <p:spPr>
          <a:xfrm>
            <a:off x="548640" y="5989320"/>
            <a:ext cx="914400" cy="566928"/>
          </a:xfrm>
          <a:prstGeom prst="roundRect">
            <a:avLst>
              <a:gd name="adj" fmla="val 9677"/>
            </a:avLst>
          </a:prstGeom>
          <a:solidFill>
            <a:srgbClr val="FFFFFF"/>
          </a:solidFill>
          <a:ln/>
        </p:spPr>
      </p:sp>
      <p:pic>
        <p:nvPicPr>
          <p:cNvPr id="9" name="Image 0" descr="Kabete National Polytechnic logo">    </p:cNvPr>
          <p:cNvPicPr>
            <a:picLocks noChangeAspect="1"/>
          </p:cNvPicPr>
          <p:nvPr/>
        </p:nvPicPr>
        <p:blipFill>
          <a:blip r:embed="rId1"/>
          <a:stretch>
            <a:fillRect/>
          </a:stretch>
        </p:blipFill>
        <p:spPr>
          <a:xfrm>
            <a:off x="594360" y="6022175"/>
            <a:ext cx="822960" cy="501218"/>
          </a:xfrm>
          <a:prstGeom prst="rect">
            <a:avLst/>
          </a:prstGeom>
        </p:spPr>
      </p:pic>
      <p:pic>
        <p:nvPicPr>
          <p:cNvPr id="10" name="Home button" descr="Home: back to the workbook menu">
            <a:hlinkClick r:id="rId3" tooltip="Back to the workbook menu" action="ppaction://hlinksldjump"/>
          </p:cNvPr>
          <p:cNvPicPr>
            <a:picLocks noChangeAspect="1"/>
          </p:cNvPicPr>
          <p:nvPr/>
        </p:nvPicPr>
        <p:blipFill>
          <a:blip r:embed="rId2"/>
          <a:stretch>
            <a:fillRect/>
          </a:stretch>
        </p:blipFill>
        <p:spPr>
          <a:xfrm>
            <a:off x="11365992" y="6336792"/>
            <a:ext cx="365760" cy="365760"/>
          </a:xfrm>
          <a:prstGeom prst="rect">
            <a:avLst/>
          </a:prstGeom>
        </p:spPr>
      </p:pic>
      <p:sp>
        <p:nvSpPr>
          <p:cNvPr id="25" name="Slide Number Placeholder 0"/>
          <p:cNvSpPr>
            <a:spLocks noGrp="1"/>
          </p:cNvSpPr>
          <p:nvPr>
            <p:ph type="sldNum" sz="quarter" idx="4294967295"/>
          </p:nvPr>
        </p:nvSpPr>
        <p:spPr>
          <a:xfrm>
            <a:off x="10698480" y="6464808"/>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CFE3D4"/>
                </a:solidFil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1"/>
          <p:cNvSpPr/>
          <p:nvPr>
            <p:ph idx="102" type="body" hasCustomPrompt="1"/>
          </p:nvPr>
        </p:nvSpPr>
        <p:spPr>
          <a:xfrm>
            <a:off x="548640" y="274320"/>
            <a:ext cx="9966960" cy="256032"/>
          </a:xfrm>
          <a:prstGeom prst="rect">
            <a:avLst/>
          </a:prstGeom>
          <a:noFill/>
          <a:ln/>
        </p:spPr>
        <p:txBody>
          <a:bodyPr wrap="square" lIns="0" tIns="0" rIns="0" bIns="0" rtlCol="0" anchor="ctr"/>
          <a:lstStyle/>
          <a:p>
            <a:pPr algn="l" indent="0" marL="0">
              <a:buNone/>
            </a:pPr>
            <a:r>
              <a:rPr lang="en-US" sz="1100" b="1" spc="100" kern="0" dirty="0">
                <a:solidFill>
                  <a:schemeClr val="accent2"/>
                </a:solidFill>
              </a:rPr>
              <a:t>08  •  SECURITY &amp; NAT  •  LAB 6</a:t>
            </a:r>
            <a:endParaRPr lang="en-US" sz="1100" dirty="0"/>
          </a:p>
        </p:txBody>
      </p:sp>
      <p:sp>
        <p:nvSpPr>
          <p:cNvPr id="3" name="Text 1"/>
          <p:cNvSpPr/>
          <p:nvPr>
            <p:ph idx="103" type="title" hasCustomPrompt="1"/>
          </p:nvPr>
        </p:nvSpPr>
        <p:spPr>
          <a:xfrm>
            <a:off x="548640" y="548640"/>
            <a:ext cx="10149840" cy="548640"/>
          </a:xfrm>
          <a:prstGeom prst="rect">
            <a:avLst/>
          </a:prstGeom>
          <a:noFill/>
          <a:ln/>
        </p:spPr>
        <p:txBody>
          <a:bodyPr wrap="square" lIns="0" tIns="0" rIns="0" bIns="0" rtlCol="0" anchor="ctr"/>
          <a:lstStyle/>
          <a:p>
            <a:pPr algn="l" indent="0" marL="0">
              <a:buNone/>
            </a:pPr>
            <a:r>
              <a:rPr lang="en-US" sz="2600" b="1" dirty="0">
                <a:solidFill>
                  <a:schemeClr val="accent1"/>
                </a:solidFill>
              </a:rPr>
              <a:t>How to set up the security lab (Lab 6 topology)</a:t>
            </a:r>
            <a:endParaRPr lang="en-US" sz="2600" dirty="0"/>
          </a:p>
        </p:txBody>
      </p:sp>
      <p:pic>
        <p:nvPicPr>
          <p:cNvPr id="4" name="Home button" descr="Home: back to the workbook menu">
            <a:hlinkClick r:id="rId2" tooltip="Back to the workbook menu" action="ppaction://hlinksldjump"/>
          </p:cNvPr>
          <p:cNvPicPr>
            <a:picLocks noChangeAspect="1"/>
          </p:cNvPicPr>
          <p:nvPr/>
        </p:nvPicPr>
        <p:blipFill>
          <a:blip r:embed="rId1"/>
          <a:stretch>
            <a:fillRect/>
          </a:stretch>
        </p:blipFill>
        <p:spPr>
          <a:xfrm>
            <a:off x="11365992" y="6336792"/>
            <a:ext cx="365760" cy="365760"/>
          </a:xfrm>
          <a:prstGeom prst="rect">
            <a:avLst/>
          </a:prstGeom>
        </p:spPr>
      </p:pic>
      <p:sp>
        <p:nvSpPr>
          <p:cNvPr id="5" name="Goal"/>
          <p:cNvSpPr txBox="1"/>
          <p:nvPr/>
        </p:nvSpPr>
        <p:spPr>
          <a:xfrm>
            <a:off x="548640" y="1161288"/>
            <a:ext cx="11094415" cy="384048"/>
          </a:xfrm>
          <a:prstGeom prst="rect">
            <a:avLst/>
          </a:prstGeom>
          <a:noFill/>
          <a:ln/>
        </p:spPr>
        <p:txBody>
          <a:bodyPr wrap="square" lIns="0" tIns="0" rIns="0" bIns="0" rtlCol="0" anchor="ctr"/>
          <a:lstStyle/>
          <a:p>
            <a:pPr indent="0" marL="0">
              <a:buNone/>
            </a:pPr>
            <a:r>
              <a:rPr lang="en-US" sz="1400" b="1" dirty="0">
                <a:solidFill>
                  <a:srgbClr val="2B7043"/>
                </a:solidFill>
              </a:rPr>
              <a:t>Goal:  </a:t>
            </a:r>
            <a:r>
              <a:rPr lang="en-US" sz="1400" dirty="0">
                <a:solidFill>
                  <a:srgbClr val="2B2B2B"/>
                </a:solidFill>
              </a:rPr>
              <a:t>One router joins the STAFF LAN, the STUDENT LAN and the ISP. A written policy says who may reach what.</a:t>
            </a:r>
            <a:endParaRPr lang="en-US" sz="1400" dirty="0"/>
          </a:p>
        </p:txBody>
      </p:sp>
      <p:sp>
        <p:nvSpPr>
          <p:cNvPr id="6" name="Shape 3"/>
          <p:cNvSpPr/>
          <p:nvPr/>
        </p:nvSpPr>
        <p:spPr>
          <a:xfrm>
            <a:off x="3566160" y="1874520"/>
            <a:ext cx="914" cy="1234440"/>
          </a:xfrm>
          <a:prstGeom prst="line">
            <a:avLst/>
          </a:prstGeom>
          <a:noFill/>
          <a:ln w="31750">
            <a:solidFill>
              <a:srgbClr val="3A3A3A"/>
            </a:solidFill>
            <a:prstDash val="solid"/>
          </a:ln>
        </p:spPr>
      </p:sp>
      <p:sp>
        <p:nvSpPr>
          <p:cNvPr id="7" name="Shape 4"/>
          <p:cNvSpPr/>
          <p:nvPr/>
        </p:nvSpPr>
        <p:spPr>
          <a:xfrm>
            <a:off x="3566160" y="1874520"/>
            <a:ext cx="1920240" cy="914"/>
          </a:xfrm>
          <a:prstGeom prst="line">
            <a:avLst/>
          </a:prstGeom>
          <a:noFill/>
          <a:ln w="25400">
            <a:solidFill>
              <a:srgbClr val="3A3A3A"/>
            </a:solidFill>
            <a:prstDash val="solid"/>
          </a:ln>
        </p:spPr>
      </p:sp>
      <p:sp>
        <p:nvSpPr>
          <p:cNvPr id="8" name="Shape 5"/>
          <p:cNvSpPr/>
          <p:nvPr/>
        </p:nvSpPr>
        <p:spPr>
          <a:xfrm flipH="1">
            <a:off x="1828800" y="3108960"/>
            <a:ext cx="1737360" cy="1097280"/>
          </a:xfrm>
          <a:prstGeom prst="line">
            <a:avLst/>
          </a:prstGeom>
          <a:noFill/>
          <a:ln w="28575">
            <a:solidFill>
              <a:srgbClr val="3A3A3A"/>
            </a:solidFill>
            <a:prstDash val="solid"/>
          </a:ln>
        </p:spPr>
      </p:sp>
      <p:sp>
        <p:nvSpPr>
          <p:cNvPr id="9" name="Shape 6"/>
          <p:cNvSpPr/>
          <p:nvPr/>
        </p:nvSpPr>
        <p:spPr>
          <a:xfrm>
            <a:off x="3566160" y="3108960"/>
            <a:ext cx="1737360" cy="1097280"/>
          </a:xfrm>
          <a:prstGeom prst="line">
            <a:avLst/>
          </a:prstGeom>
          <a:noFill/>
          <a:ln w="28575">
            <a:solidFill>
              <a:srgbClr val="3A3A3A"/>
            </a:solidFill>
            <a:prstDash val="solid"/>
          </a:ln>
        </p:spPr>
      </p:sp>
      <p:sp>
        <p:nvSpPr>
          <p:cNvPr id="10" name="Shape 7"/>
          <p:cNvSpPr/>
          <p:nvPr/>
        </p:nvSpPr>
        <p:spPr>
          <a:xfrm flipH="1">
            <a:off x="777240" y="4206240"/>
            <a:ext cx="1051560" cy="1143000"/>
          </a:xfrm>
          <a:prstGeom prst="line">
            <a:avLst/>
          </a:prstGeom>
          <a:noFill/>
          <a:ln w="22225">
            <a:solidFill>
              <a:srgbClr val="2F855A"/>
            </a:solidFill>
            <a:prstDash val="solid"/>
          </a:ln>
        </p:spPr>
      </p:sp>
      <p:sp>
        <p:nvSpPr>
          <p:cNvPr id="11" name="Shape 8"/>
          <p:cNvSpPr/>
          <p:nvPr/>
        </p:nvSpPr>
        <p:spPr>
          <a:xfrm>
            <a:off x="1828800" y="4206240"/>
            <a:ext cx="914" cy="1143000"/>
          </a:xfrm>
          <a:prstGeom prst="line">
            <a:avLst/>
          </a:prstGeom>
          <a:noFill/>
          <a:ln w="22225">
            <a:solidFill>
              <a:srgbClr val="2F855A"/>
            </a:solidFill>
            <a:prstDash val="solid"/>
          </a:ln>
        </p:spPr>
      </p:sp>
      <p:sp>
        <p:nvSpPr>
          <p:cNvPr id="12" name="Shape 9"/>
          <p:cNvSpPr/>
          <p:nvPr/>
        </p:nvSpPr>
        <p:spPr>
          <a:xfrm>
            <a:off x="1828800" y="4206240"/>
            <a:ext cx="1051560" cy="1143000"/>
          </a:xfrm>
          <a:prstGeom prst="line">
            <a:avLst/>
          </a:prstGeom>
          <a:noFill/>
          <a:ln w="22225">
            <a:solidFill>
              <a:srgbClr val="2F855A"/>
            </a:solidFill>
            <a:prstDash val="solid"/>
          </a:ln>
        </p:spPr>
      </p:sp>
      <p:sp>
        <p:nvSpPr>
          <p:cNvPr id="13" name="Shape 10"/>
          <p:cNvSpPr/>
          <p:nvPr/>
        </p:nvSpPr>
        <p:spPr>
          <a:xfrm>
            <a:off x="5303520" y="4206240"/>
            <a:ext cx="914" cy="1143000"/>
          </a:xfrm>
          <a:prstGeom prst="line">
            <a:avLst/>
          </a:prstGeom>
          <a:noFill/>
          <a:ln w="22225">
            <a:solidFill>
              <a:srgbClr val="2B6CB0"/>
            </a:solidFill>
            <a:prstDash val="solid"/>
          </a:ln>
        </p:spPr>
      </p:sp>
      <p:pic>
        <p:nvPicPr>
          <p:cNvPr id="14" name="Image 1" descr="ISP">    </p:cNvPr>
          <p:cNvPicPr>
            <a:picLocks noChangeAspect="1"/>
          </p:cNvPicPr>
          <p:nvPr/>
        </p:nvPicPr>
        <p:blipFill>
          <a:blip r:embed="rId3"/>
          <a:stretch>
            <a:fillRect/>
          </a:stretch>
        </p:blipFill>
        <p:spPr>
          <a:xfrm>
            <a:off x="3300984" y="1609344"/>
            <a:ext cx="530352" cy="530352"/>
          </a:xfrm>
          <a:prstGeom prst="rect">
            <a:avLst/>
          </a:prstGeom>
        </p:spPr>
      </p:pic>
      <p:sp>
        <p:nvSpPr>
          <p:cNvPr id="15" name="Text 11"/>
          <p:cNvSpPr txBox="1"/>
          <p:nvPr/>
        </p:nvSpPr>
        <p:spPr>
          <a:xfrm>
            <a:off x="2157984" y="1645920"/>
            <a:ext cx="1097280" cy="457200"/>
          </a:xfrm>
          <a:prstGeom prst="rect">
            <a:avLst/>
          </a:prstGeom>
          <a:noFill/>
          <a:ln/>
        </p:spPr>
        <p:txBody>
          <a:bodyPr wrap="square" lIns="0" tIns="0" rIns="0" bIns="0" rtlCol="0" anchor="t"/>
          <a:lstStyle/>
          <a:p>
            <a:pPr algn="r" indent="0" marL="0">
              <a:buNone/>
            </a:pPr>
            <a:r>
              <a:rPr lang="en-US" sz="1200" b="1" dirty="0">
                <a:solidFill>
                  <a:srgbClr val="2B2B2B"/>
                </a:solidFill>
              </a:rPr>
              <a:t>ISP</a:t>
            </a:r>
            <a:endParaRPr lang="en-US" sz="1200" dirty="0"/>
          </a:p>
          <a:p>
            <a:pPr algn="r" indent="0" marL="0">
              <a:buNone/>
            </a:pPr>
            <a:r>
              <a:rPr lang="en-US" sz="1000" dirty="0">
                <a:solidFill>
                  <a:srgbClr val="6B6B6B"/>
                </a:solidFill>
              </a:rPr>
              <a:t>203.0.113.1</a:t>
            </a:r>
            <a:endParaRPr lang="en-US" sz="1200" dirty="0"/>
          </a:p>
        </p:txBody>
      </p:sp>
      <p:pic>
        <p:nvPicPr>
          <p:cNvPr id="16" name="Image 2" descr="Internet server">    </p:cNvPr>
          <p:cNvPicPr>
            <a:picLocks noChangeAspect="1"/>
          </p:cNvPicPr>
          <p:nvPr/>
        </p:nvPicPr>
        <p:blipFill>
          <a:blip r:embed="rId4"/>
          <a:stretch>
            <a:fillRect/>
          </a:stretch>
        </p:blipFill>
        <p:spPr>
          <a:xfrm>
            <a:off x="5143500" y="1531620"/>
            <a:ext cx="685800" cy="685800"/>
          </a:xfrm>
          <a:prstGeom prst="rect">
            <a:avLst/>
          </a:prstGeom>
        </p:spPr>
      </p:pic>
      <p:sp>
        <p:nvSpPr>
          <p:cNvPr id="17" name="Text 12"/>
          <p:cNvSpPr txBox="1"/>
          <p:nvPr/>
        </p:nvSpPr>
        <p:spPr>
          <a:xfrm>
            <a:off x="5875020" y="1645920"/>
            <a:ext cx="1371600" cy="457200"/>
          </a:xfrm>
          <a:prstGeom prst="rect">
            <a:avLst/>
          </a:prstGeom>
          <a:noFill/>
          <a:ln/>
        </p:spPr>
        <p:txBody>
          <a:bodyPr wrap="square" lIns="0" tIns="0" rIns="0" bIns="0" rtlCol="0" anchor="t"/>
          <a:lstStyle/>
          <a:p>
            <a:pPr algn="l" indent="0" marL="0">
              <a:buNone/>
            </a:pPr>
            <a:r>
              <a:rPr lang="en-US" sz="1200" b="1" dirty="0">
                <a:solidFill>
                  <a:srgbClr val="2B2B2B"/>
                </a:solidFill>
              </a:rPr>
              <a:t>Internet server</a:t>
            </a:r>
            <a:endParaRPr lang="en-US" sz="1200" dirty="0"/>
          </a:p>
          <a:p>
            <a:pPr algn="l" indent="0" marL="0">
              <a:buNone/>
            </a:pPr>
            <a:r>
              <a:rPr lang="en-US" sz="1000" dirty="0">
                <a:solidFill>
                  <a:srgbClr val="6B6B6B"/>
                </a:solidFill>
              </a:rPr>
              <a:t>198.51.100.10</a:t>
            </a:r>
            <a:endParaRPr lang="en-US" sz="1200" dirty="0"/>
          </a:p>
        </p:txBody>
      </p:sp>
      <p:pic>
        <p:nvPicPr>
          <p:cNvPr id="18" name="Image 3" descr="R1">    </p:cNvPr>
          <p:cNvPicPr>
            <a:picLocks noChangeAspect="1"/>
          </p:cNvPicPr>
          <p:nvPr/>
        </p:nvPicPr>
        <p:blipFill>
          <a:blip r:embed="rId5"/>
          <a:stretch>
            <a:fillRect/>
          </a:stretch>
        </p:blipFill>
        <p:spPr>
          <a:xfrm>
            <a:off x="3282696" y="2825496"/>
            <a:ext cx="566928" cy="566928"/>
          </a:xfrm>
          <a:prstGeom prst="rect">
            <a:avLst/>
          </a:prstGeom>
        </p:spPr>
      </p:pic>
      <p:sp>
        <p:nvSpPr>
          <p:cNvPr id="19" name="Text 13"/>
          <p:cNvSpPr txBox="1"/>
          <p:nvPr/>
        </p:nvSpPr>
        <p:spPr>
          <a:xfrm>
            <a:off x="3895344" y="2971800"/>
            <a:ext cx="457200" cy="274320"/>
          </a:xfrm>
          <a:prstGeom prst="rect">
            <a:avLst/>
          </a:prstGeom>
          <a:noFill/>
          <a:ln/>
        </p:spPr>
        <p:txBody>
          <a:bodyPr wrap="square" lIns="0" tIns="0" rIns="0" bIns="0" rtlCol="0" anchor="t"/>
          <a:lstStyle/>
          <a:p>
            <a:pPr algn="l" indent="0" marL="0">
              <a:buNone/>
            </a:pPr>
            <a:r>
              <a:rPr lang="en-US" sz="1200" b="1" dirty="0">
                <a:solidFill>
                  <a:srgbClr val="2B2B2B"/>
                </a:solidFill>
              </a:rPr>
              <a:t>R1</a:t>
            </a:r>
            <a:endParaRPr lang="en-US" sz="1200" dirty="0"/>
          </a:p>
        </p:txBody>
      </p:sp>
      <p:pic>
        <p:nvPicPr>
          <p:cNvPr id="20" name="Image 4" descr="S1">    </p:cNvPr>
          <p:cNvPicPr>
            <a:picLocks noChangeAspect="1"/>
          </p:cNvPicPr>
          <p:nvPr/>
        </p:nvPicPr>
        <p:blipFill>
          <a:blip r:embed="rId6"/>
          <a:stretch>
            <a:fillRect/>
          </a:stretch>
        </p:blipFill>
        <p:spPr>
          <a:xfrm>
            <a:off x="1545336" y="3922776"/>
            <a:ext cx="566928" cy="566928"/>
          </a:xfrm>
          <a:prstGeom prst="rect">
            <a:avLst/>
          </a:prstGeom>
        </p:spPr>
      </p:pic>
      <p:sp>
        <p:nvSpPr>
          <p:cNvPr id="21" name="Text 14"/>
          <p:cNvSpPr txBox="1"/>
          <p:nvPr/>
        </p:nvSpPr>
        <p:spPr>
          <a:xfrm>
            <a:off x="1042416" y="4069080"/>
            <a:ext cx="457200" cy="274320"/>
          </a:xfrm>
          <a:prstGeom prst="rect">
            <a:avLst/>
          </a:prstGeom>
          <a:noFill/>
          <a:ln/>
        </p:spPr>
        <p:txBody>
          <a:bodyPr wrap="square" lIns="0" tIns="0" rIns="0" bIns="0" rtlCol="0" anchor="t"/>
          <a:lstStyle/>
          <a:p>
            <a:pPr algn="r" indent="0" marL="0">
              <a:buNone/>
            </a:pPr>
            <a:r>
              <a:rPr lang="en-US" sz="1200" b="1" dirty="0">
                <a:solidFill>
                  <a:srgbClr val="2B2B2B"/>
                </a:solidFill>
              </a:rPr>
              <a:t>S1</a:t>
            </a:r>
            <a:endParaRPr lang="en-US" sz="1200" dirty="0"/>
          </a:p>
        </p:txBody>
      </p:sp>
      <p:pic>
        <p:nvPicPr>
          <p:cNvPr id="22" name="Image 5" descr="S2">    </p:cNvPr>
          <p:cNvPicPr>
            <a:picLocks noChangeAspect="1"/>
          </p:cNvPicPr>
          <p:nvPr/>
        </p:nvPicPr>
        <p:blipFill>
          <a:blip r:embed="rId7"/>
          <a:stretch>
            <a:fillRect/>
          </a:stretch>
        </p:blipFill>
        <p:spPr>
          <a:xfrm>
            <a:off x="5020056" y="3922776"/>
            <a:ext cx="566928" cy="566928"/>
          </a:xfrm>
          <a:prstGeom prst="rect">
            <a:avLst/>
          </a:prstGeom>
        </p:spPr>
      </p:pic>
      <p:sp>
        <p:nvSpPr>
          <p:cNvPr id="23" name="Text 15"/>
          <p:cNvSpPr txBox="1"/>
          <p:nvPr/>
        </p:nvSpPr>
        <p:spPr>
          <a:xfrm>
            <a:off x="5632704" y="4069080"/>
            <a:ext cx="457200" cy="274320"/>
          </a:xfrm>
          <a:prstGeom prst="rect">
            <a:avLst/>
          </a:prstGeom>
          <a:noFill/>
          <a:ln/>
        </p:spPr>
        <p:txBody>
          <a:bodyPr wrap="square" lIns="0" tIns="0" rIns="0" bIns="0" rtlCol="0" anchor="t"/>
          <a:lstStyle/>
          <a:p>
            <a:pPr algn="l" indent="0" marL="0">
              <a:buNone/>
            </a:pPr>
            <a:r>
              <a:rPr lang="en-US" sz="1200" b="1" dirty="0">
                <a:solidFill>
                  <a:srgbClr val="2B2B2B"/>
                </a:solidFill>
              </a:rPr>
              <a:t>S2</a:t>
            </a:r>
            <a:endParaRPr lang="en-US" sz="1200" dirty="0"/>
          </a:p>
        </p:txBody>
      </p:sp>
      <p:pic>
        <p:nvPicPr>
          <p:cNvPr id="24" name="Image 6" descr="ADMIN-PC">    </p:cNvPr>
          <p:cNvPicPr>
            <a:picLocks noChangeAspect="1"/>
          </p:cNvPicPr>
          <p:nvPr/>
        </p:nvPicPr>
        <p:blipFill>
          <a:blip r:embed="rId8"/>
          <a:stretch>
            <a:fillRect/>
          </a:stretch>
        </p:blipFill>
        <p:spPr>
          <a:xfrm>
            <a:off x="548640" y="5120640"/>
            <a:ext cx="457200" cy="457200"/>
          </a:xfrm>
          <a:prstGeom prst="rect">
            <a:avLst/>
          </a:prstGeom>
        </p:spPr>
      </p:pic>
      <p:sp>
        <p:nvSpPr>
          <p:cNvPr id="25" name="Text 16"/>
          <p:cNvSpPr txBox="1"/>
          <p:nvPr/>
        </p:nvSpPr>
        <p:spPr>
          <a:xfrm>
            <a:off x="251460" y="5559552"/>
            <a:ext cx="1051560" cy="457200"/>
          </a:xfrm>
          <a:prstGeom prst="rect">
            <a:avLst/>
          </a:prstGeom>
          <a:noFill/>
          <a:ln/>
        </p:spPr>
        <p:txBody>
          <a:bodyPr wrap="square" lIns="0" tIns="0" rIns="0" bIns="0" rtlCol="0" anchor="t"/>
          <a:lstStyle/>
          <a:p>
            <a:pPr algn="ctr" indent="0" marL="0">
              <a:buNone/>
            </a:pPr>
            <a:r>
              <a:rPr lang="en-US" sz="1100" b="1" dirty="0">
                <a:solidFill>
                  <a:srgbClr val="2B2B2B"/>
                </a:solidFill>
              </a:rPr>
              <a:t>ADMIN-PC</a:t>
            </a:r>
            <a:endParaRPr lang="en-US" sz="1100" dirty="0"/>
          </a:p>
          <a:p>
            <a:pPr algn="ctr" indent="0" marL="0">
              <a:buNone/>
            </a:pPr>
            <a:r>
              <a:rPr lang="en-US" sz="1000" dirty="0">
                <a:solidFill>
                  <a:srgbClr val="6B6B6B"/>
                </a:solidFill>
              </a:rPr>
              <a:t>.10.10</a:t>
            </a:r>
            <a:endParaRPr lang="en-US" sz="1100" dirty="0"/>
          </a:p>
        </p:txBody>
      </p:sp>
      <p:pic>
        <p:nvPicPr>
          <p:cNvPr id="26" name="Image 7" descr="STAFF-PC">    </p:cNvPr>
          <p:cNvPicPr>
            <a:picLocks noChangeAspect="1"/>
          </p:cNvPicPr>
          <p:nvPr/>
        </p:nvPicPr>
        <p:blipFill>
          <a:blip r:embed="rId9"/>
          <a:stretch>
            <a:fillRect/>
          </a:stretch>
        </p:blipFill>
        <p:spPr>
          <a:xfrm>
            <a:off x="1600200" y="5120640"/>
            <a:ext cx="457200" cy="457200"/>
          </a:xfrm>
          <a:prstGeom prst="rect">
            <a:avLst/>
          </a:prstGeom>
        </p:spPr>
      </p:pic>
      <p:sp>
        <p:nvSpPr>
          <p:cNvPr id="27" name="Text 17"/>
          <p:cNvSpPr txBox="1"/>
          <p:nvPr/>
        </p:nvSpPr>
        <p:spPr>
          <a:xfrm>
            <a:off x="1303020" y="5559552"/>
            <a:ext cx="1051560" cy="457200"/>
          </a:xfrm>
          <a:prstGeom prst="rect">
            <a:avLst/>
          </a:prstGeom>
          <a:noFill/>
          <a:ln/>
        </p:spPr>
        <p:txBody>
          <a:bodyPr wrap="square" lIns="0" tIns="0" rIns="0" bIns="0" rtlCol="0" anchor="t"/>
          <a:lstStyle/>
          <a:p>
            <a:pPr algn="ctr" indent="0" marL="0">
              <a:buNone/>
            </a:pPr>
            <a:r>
              <a:rPr lang="en-US" sz="1100" b="1" dirty="0">
                <a:solidFill>
                  <a:srgbClr val="2B2B2B"/>
                </a:solidFill>
              </a:rPr>
              <a:t>STAFF-PC</a:t>
            </a:r>
            <a:endParaRPr lang="en-US" sz="1100" dirty="0"/>
          </a:p>
          <a:p>
            <a:pPr algn="ctr" indent="0" marL="0">
              <a:buNone/>
            </a:pPr>
            <a:r>
              <a:rPr lang="en-US" sz="1000" dirty="0">
                <a:solidFill>
                  <a:srgbClr val="6B6B6B"/>
                </a:solidFill>
              </a:rPr>
              <a:t>.10.11</a:t>
            </a:r>
            <a:endParaRPr lang="en-US" sz="1100" dirty="0"/>
          </a:p>
        </p:txBody>
      </p:sp>
      <p:pic>
        <p:nvPicPr>
          <p:cNvPr id="28" name="Image 8" descr="WEB-INT">    </p:cNvPr>
          <p:cNvPicPr>
            <a:picLocks noChangeAspect="1"/>
          </p:cNvPicPr>
          <p:nvPr/>
        </p:nvPicPr>
        <p:blipFill>
          <a:blip r:embed="rId10"/>
          <a:stretch>
            <a:fillRect/>
          </a:stretch>
        </p:blipFill>
        <p:spPr>
          <a:xfrm>
            <a:off x="2651760" y="5120640"/>
            <a:ext cx="457200" cy="457200"/>
          </a:xfrm>
          <a:prstGeom prst="rect">
            <a:avLst/>
          </a:prstGeom>
        </p:spPr>
      </p:pic>
      <p:sp>
        <p:nvSpPr>
          <p:cNvPr id="29" name="Text 18"/>
          <p:cNvSpPr txBox="1"/>
          <p:nvPr/>
        </p:nvSpPr>
        <p:spPr>
          <a:xfrm>
            <a:off x="2354580" y="5559552"/>
            <a:ext cx="1051560" cy="457200"/>
          </a:xfrm>
          <a:prstGeom prst="rect">
            <a:avLst/>
          </a:prstGeom>
          <a:noFill/>
          <a:ln/>
        </p:spPr>
        <p:txBody>
          <a:bodyPr wrap="square" lIns="0" tIns="0" rIns="0" bIns="0" rtlCol="0" anchor="t"/>
          <a:lstStyle/>
          <a:p>
            <a:pPr algn="ctr" indent="0" marL="0">
              <a:buNone/>
            </a:pPr>
            <a:r>
              <a:rPr lang="en-US" sz="1100" b="1" dirty="0">
                <a:solidFill>
                  <a:srgbClr val="2B2B2B"/>
                </a:solidFill>
              </a:rPr>
              <a:t>WEB-INT</a:t>
            </a:r>
            <a:endParaRPr lang="en-US" sz="1100" dirty="0"/>
          </a:p>
          <a:p>
            <a:pPr algn="ctr" indent="0" marL="0">
              <a:buNone/>
            </a:pPr>
            <a:r>
              <a:rPr lang="en-US" sz="1000" dirty="0">
                <a:solidFill>
                  <a:srgbClr val="6B6B6B"/>
                </a:solidFill>
              </a:rPr>
              <a:t>.10.100</a:t>
            </a:r>
            <a:endParaRPr lang="en-US" sz="1100" dirty="0"/>
          </a:p>
        </p:txBody>
      </p:sp>
      <p:pic>
        <p:nvPicPr>
          <p:cNvPr id="30" name="Image 9" descr="STU-PC1">    </p:cNvPr>
          <p:cNvPicPr>
            <a:picLocks noChangeAspect="1"/>
          </p:cNvPicPr>
          <p:nvPr/>
        </p:nvPicPr>
        <p:blipFill>
          <a:blip r:embed="rId11"/>
          <a:stretch>
            <a:fillRect/>
          </a:stretch>
        </p:blipFill>
        <p:spPr>
          <a:xfrm>
            <a:off x="5074920" y="5120640"/>
            <a:ext cx="457200" cy="457200"/>
          </a:xfrm>
          <a:prstGeom prst="rect">
            <a:avLst/>
          </a:prstGeom>
        </p:spPr>
      </p:pic>
      <p:sp>
        <p:nvSpPr>
          <p:cNvPr id="31" name="Text 19"/>
          <p:cNvSpPr txBox="1"/>
          <p:nvPr/>
        </p:nvSpPr>
        <p:spPr>
          <a:xfrm>
            <a:off x="4777740" y="5559552"/>
            <a:ext cx="1051560" cy="457200"/>
          </a:xfrm>
          <a:prstGeom prst="rect">
            <a:avLst/>
          </a:prstGeom>
          <a:noFill/>
          <a:ln/>
        </p:spPr>
        <p:txBody>
          <a:bodyPr wrap="square" lIns="0" tIns="0" rIns="0" bIns="0" rtlCol="0" anchor="t"/>
          <a:lstStyle/>
          <a:p>
            <a:pPr algn="ctr" indent="0" marL="0">
              <a:buNone/>
            </a:pPr>
            <a:r>
              <a:rPr lang="en-US" sz="1100" b="1" dirty="0">
                <a:solidFill>
                  <a:srgbClr val="2B2B2B"/>
                </a:solidFill>
              </a:rPr>
              <a:t>STU-PC1</a:t>
            </a:r>
            <a:endParaRPr lang="en-US" sz="1100" dirty="0"/>
          </a:p>
          <a:p>
            <a:pPr algn="ctr" indent="0" marL="0">
              <a:buNone/>
            </a:pPr>
            <a:r>
              <a:rPr lang="en-US" sz="1000" dirty="0">
                <a:solidFill>
                  <a:srgbClr val="6B6B6B"/>
                </a:solidFill>
              </a:rPr>
              <a:t>.20.15</a:t>
            </a:r>
            <a:endParaRPr lang="en-US" sz="1100" dirty="0"/>
          </a:p>
        </p:txBody>
      </p:sp>
      <p:sp>
        <p:nvSpPr>
          <p:cNvPr id="32" name="Text 20"/>
          <p:cNvSpPr txBox="1"/>
          <p:nvPr/>
        </p:nvSpPr>
        <p:spPr>
          <a:xfrm>
            <a:off x="3657600" y="2395728"/>
            <a:ext cx="2011680" cy="237744"/>
          </a:xfrm>
          <a:prstGeom prst="rect">
            <a:avLst/>
          </a:prstGeom>
          <a:noFill/>
          <a:ln/>
        </p:spPr>
        <p:txBody>
          <a:bodyPr wrap="square" lIns="254" tIns="254" rIns="254" bIns="254" rtlCol="0" anchor="ctr"/>
          <a:lstStyle/>
          <a:p>
            <a:pPr algn="l" indent="0" marL="0">
              <a:buNone/>
            </a:pPr>
            <a:r>
              <a:rPr lang="en-US" sz="1000" dirty="0">
                <a:solidFill>
                  <a:srgbClr val="2B2B2B"/>
                </a:solidFill>
              </a:rPr>
              <a:t>G0/0/2  203.0.113.2 /29</a:t>
            </a:r>
            <a:endParaRPr lang="en-US" sz="1000" dirty="0"/>
          </a:p>
        </p:txBody>
      </p:sp>
      <p:sp>
        <p:nvSpPr>
          <p:cNvPr id="33" name="Text 21"/>
          <p:cNvSpPr txBox="1"/>
          <p:nvPr/>
        </p:nvSpPr>
        <p:spPr>
          <a:xfrm>
            <a:off x="1051560" y="3246120"/>
            <a:ext cx="1783080" cy="237744"/>
          </a:xfrm>
          <a:prstGeom prst="rect">
            <a:avLst/>
          </a:prstGeom>
          <a:noFill/>
          <a:ln/>
        </p:spPr>
        <p:txBody>
          <a:bodyPr wrap="square" lIns="254" tIns="254" rIns="254" bIns="254" rtlCol="0" anchor="ctr"/>
          <a:lstStyle/>
          <a:p>
            <a:pPr algn="r" indent="0" marL="0">
              <a:buNone/>
            </a:pPr>
            <a:r>
              <a:rPr lang="en-US" sz="1000" b="1" dirty="0">
                <a:solidFill>
                  <a:srgbClr val="2F855A"/>
                </a:solidFill>
              </a:rPr>
              <a:t>G0/0/0  192.168.10.1</a:t>
            </a:r>
            <a:endParaRPr lang="en-US" sz="1000" dirty="0"/>
          </a:p>
        </p:txBody>
      </p:sp>
      <p:sp>
        <p:nvSpPr>
          <p:cNvPr id="34" name="Text 22"/>
          <p:cNvSpPr txBox="1"/>
          <p:nvPr/>
        </p:nvSpPr>
        <p:spPr>
          <a:xfrm>
            <a:off x="4343400" y="3246120"/>
            <a:ext cx="1783080" cy="237744"/>
          </a:xfrm>
          <a:prstGeom prst="rect">
            <a:avLst/>
          </a:prstGeom>
          <a:noFill/>
          <a:ln/>
        </p:spPr>
        <p:txBody>
          <a:bodyPr wrap="square" lIns="254" tIns="254" rIns="254" bIns="254" rtlCol="0" anchor="ctr"/>
          <a:lstStyle/>
          <a:p>
            <a:pPr algn="l" indent="0" marL="0">
              <a:buNone/>
            </a:pPr>
            <a:r>
              <a:rPr lang="en-US" sz="1000" b="1" dirty="0">
                <a:solidFill>
                  <a:srgbClr val="2B6CB0"/>
                </a:solidFill>
              </a:rPr>
              <a:t>G0/0/1  192.168.20.1</a:t>
            </a:r>
            <a:endParaRPr lang="en-US" sz="1000" dirty="0"/>
          </a:p>
        </p:txBody>
      </p:sp>
      <p:sp>
        <p:nvSpPr>
          <p:cNvPr id="35" name="Text 23"/>
          <p:cNvSpPr txBox="1"/>
          <p:nvPr/>
        </p:nvSpPr>
        <p:spPr>
          <a:xfrm>
            <a:off x="411480" y="4069080"/>
            <a:ext cx="1005840" cy="365760"/>
          </a:xfrm>
          <a:prstGeom prst="rect">
            <a:avLst/>
          </a:prstGeom>
          <a:noFill/>
          <a:ln/>
        </p:spPr>
        <p:txBody>
          <a:bodyPr wrap="square" lIns="254" tIns="254" rIns="254" bIns="254" rtlCol="0" anchor="ctr"/>
          <a:lstStyle/>
          <a:p>
            <a:pPr algn="ctr" indent="0" marL="0">
              <a:buNone/>
            </a:pPr>
            <a:r>
              <a:rPr lang="en-US" sz="1000" dirty="0">
                <a:solidFill>
                  <a:srgbClr val="2F855A"/>
                </a:solidFill>
              </a:rPr>
              <a:t>STAFF 192.168.10.0/24</a:t>
            </a:r>
            <a:endParaRPr lang="en-US" sz="1000" dirty="0"/>
          </a:p>
        </p:txBody>
      </p:sp>
      <p:sp>
        <p:nvSpPr>
          <p:cNvPr id="36" name="Text 24"/>
          <p:cNvSpPr txBox="1"/>
          <p:nvPr/>
        </p:nvSpPr>
        <p:spPr>
          <a:xfrm>
            <a:off x="5806440" y="4069080"/>
            <a:ext cx="1051560" cy="365760"/>
          </a:xfrm>
          <a:prstGeom prst="rect">
            <a:avLst/>
          </a:prstGeom>
          <a:noFill/>
          <a:ln/>
        </p:spPr>
        <p:txBody>
          <a:bodyPr wrap="square" lIns="254" tIns="254" rIns="254" bIns="254" rtlCol="0" anchor="ctr"/>
          <a:lstStyle/>
          <a:p>
            <a:pPr algn="ctr" indent="0" marL="0">
              <a:buNone/>
            </a:pPr>
            <a:r>
              <a:rPr lang="en-US" sz="1000" dirty="0">
                <a:solidFill>
                  <a:srgbClr val="2B6CB0"/>
                </a:solidFill>
              </a:rPr>
              <a:t>STUDENTS 192.168.20.0/24</a:t>
            </a:r>
            <a:endParaRPr lang="en-US" sz="1000" dirty="0"/>
          </a:p>
        </p:txBody>
      </p:sp>
      <p:sp>
        <p:nvSpPr>
          <p:cNvPr id="37" name="Card"/>
          <p:cNvSpPr/>
          <p:nvPr/>
        </p:nvSpPr>
        <p:spPr>
          <a:xfrm>
            <a:off x="6995160" y="1691640"/>
            <a:ext cx="4645152" cy="3429000"/>
          </a:xfrm>
          <a:prstGeom prst="roundRect">
            <a:avLst>
              <a:gd name="adj" fmla="val 2133"/>
            </a:avLst>
          </a:prstGeom>
          <a:solidFill>
            <a:srgbClr val="F2F8F3"/>
          </a:solidFill>
          <a:ln w="12700">
            <a:solidFill>
              <a:srgbClr val="B7C9BA"/>
            </a:solidFill>
            <a:prstDash val="solid"/>
          </a:ln>
        </p:spPr>
      </p:sp>
      <p:sp>
        <p:nvSpPr>
          <p:cNvPr id="38" name="Text 26"/>
          <p:cNvSpPr txBox="1"/>
          <p:nvPr/>
        </p:nvSpPr>
        <p:spPr>
          <a:xfrm>
            <a:off x="7141464" y="1794053"/>
            <a:ext cx="4352544" cy="3224174"/>
          </a:xfrm>
          <a:prstGeom prst="rect">
            <a:avLst/>
          </a:prstGeom>
          <a:noFill/>
          <a:ln/>
        </p:spPr>
        <p:txBody>
          <a:bodyPr wrap="square" lIns="0" tIns="0" rIns="0" bIns="0" rtlCol="0" anchor="t"/>
          <a:lstStyle/>
          <a:p>
            <a:pPr indent="0" marL="0">
              <a:buNone/>
            </a:pPr>
            <a:r>
              <a:rPr lang="en-US" sz="1400" b="1" dirty="0">
                <a:solidFill>
                  <a:srgbClr val="1E5631"/>
                </a:solidFill>
              </a:rPr>
              <a:t>The policy</a:t>
            </a:r>
            <a:endParaRPr lang="en-US" sz="1300" dirty="0"/>
          </a:p>
          <a:p>
            <a:pPr marL="228600" indent="-228600">
              <a:spcAft>
                <a:spcPts val="300"/>
              </a:spcAft>
              <a:buSzPct val="100000"/>
              <a:buFont typeface="+mj-lt"/>
              <a:buAutoNum type="arabicPeriod" startAt="1"/>
            </a:pPr>
            <a:r>
              <a:rPr lang="en-US" sz="1300" dirty="0">
                <a:solidFill>
                  <a:srgbClr val="2B2B2B"/>
                </a:solidFill>
              </a:rPr>
              <a:t>Only ADMIN-PC may SSH to R1.</a:t>
            </a:r>
            <a:endParaRPr lang="en-US" sz="1300" dirty="0"/>
          </a:p>
          <a:p>
            <a:pPr marL="228600" indent="-228600">
              <a:spcAft>
                <a:spcPts val="300"/>
              </a:spcAft>
              <a:buSzPct val="100000"/>
              <a:buFont typeface="+mj-lt"/>
              <a:buAutoNum type="arabicPeriod" startAt="1"/>
            </a:pPr>
            <a:r>
              <a:rPr lang="en-US" sz="1300" dirty="0">
                <a:solidFill>
                  <a:srgbClr val="2B2B2B"/>
                </a:solidFill>
              </a:rPr>
              <a:t>Students may browse the internal web server — nothing else in STAFF.</a:t>
            </a:r>
            <a:endParaRPr lang="en-US" sz="1300" dirty="0"/>
          </a:p>
          <a:p>
            <a:pPr marL="228600" indent="-228600">
              <a:spcAft>
                <a:spcPts val="300"/>
              </a:spcAft>
              <a:buSzPct val="100000"/>
              <a:buFont typeface="+mj-lt"/>
              <a:buAutoNum type="arabicPeriod" startAt="1"/>
            </a:pPr>
            <a:r>
              <a:rPr lang="en-US" sz="1300" dirty="0">
                <a:solidFill>
                  <a:srgbClr val="2B2B2B"/>
                </a:solidFill>
              </a:rPr>
              <a:t>Everyone reaches the Internet through one public address (PAT).</a:t>
            </a:r>
            <a:endParaRPr lang="en-US" sz="1300" dirty="0"/>
          </a:p>
          <a:p>
            <a:pPr marL="228600" indent="-228600">
              <a:spcAft>
                <a:spcPts val="300"/>
              </a:spcAft>
              <a:buSzPct val="100000"/>
              <a:buFont typeface="+mj-lt"/>
              <a:buAutoNum type="arabicPeriod" startAt="1"/>
            </a:pPr>
            <a:r>
              <a:rPr lang="en-US" sz="1300" dirty="0">
                <a:solidFill>
                  <a:srgbClr val="2B2B2B"/>
                </a:solidFill>
              </a:rPr>
              <a:t>WEB-INT is published to the Internet as 203.0.113.5 (static NAT).</a:t>
            </a:r>
            <a:endParaRPr lang="en-US" sz="1300" dirty="0"/>
          </a:p>
          <a:p>
            <a:pPr marL="228600" indent="-228600">
              <a:spcAft>
                <a:spcPts val="300"/>
              </a:spcAft>
              <a:buSzPct val="100000"/>
              <a:buFont typeface="+mj-lt"/>
              <a:buAutoNum type="arabicPeriod" startAt="1"/>
            </a:pPr>
            <a:r>
              <a:rPr lang="en-US" sz="1300" dirty="0">
                <a:solidFill>
                  <a:srgbClr val="2B2B2B"/>
                </a:solidFill>
              </a:rPr>
              <a:t>Only registered devices may use the staff switch ports.</a:t>
            </a:r>
            <a:endParaRPr lang="en-US" sz="1300" dirty="0"/>
          </a:p>
        </p:txBody>
      </p:sp>
      <p:sp>
        <p:nvSpPr>
          <p:cNvPr id="39" name="Card"/>
          <p:cNvSpPr/>
          <p:nvPr/>
        </p:nvSpPr>
        <p:spPr>
          <a:xfrm>
            <a:off x="6995160" y="5257800"/>
            <a:ext cx="4645152" cy="960120"/>
          </a:xfrm>
          <a:prstGeom prst="roundRect">
            <a:avLst>
              <a:gd name="adj" fmla="val 7619"/>
            </a:avLst>
          </a:prstGeom>
          <a:solidFill>
            <a:srgbClr val="E8F1EA"/>
          </a:solidFill>
          <a:ln w="12700">
            <a:solidFill>
              <a:srgbClr val="B7C9BA"/>
            </a:solidFill>
            <a:prstDash val="solid"/>
          </a:ln>
        </p:spPr>
      </p:sp>
      <p:sp>
        <p:nvSpPr>
          <p:cNvPr id="40" name="Text 28"/>
          <p:cNvSpPr txBox="1"/>
          <p:nvPr/>
        </p:nvSpPr>
        <p:spPr>
          <a:xfrm>
            <a:off x="7141464" y="5360213"/>
            <a:ext cx="4352544" cy="755294"/>
          </a:xfrm>
          <a:prstGeom prst="rect">
            <a:avLst/>
          </a:prstGeom>
          <a:noFill/>
          <a:ln/>
        </p:spPr>
        <p:txBody>
          <a:bodyPr wrap="square" lIns="0" tIns="0" rIns="0" bIns="0" rtlCol="0" anchor="t"/>
          <a:lstStyle/>
          <a:p>
            <a:pPr indent="0" marL="0">
              <a:buNone/>
            </a:pPr>
            <a:r>
              <a:rPr lang="en-US" sz="1300" dirty="0">
                <a:solidFill>
                  <a:srgbClr val="2B2B2B"/>
                </a:solidFill>
              </a:rPr>
              <a:t>R1 also needs a default route: </a:t>
            </a:r>
            <a:r>
              <a:rPr lang="en-US" sz="1200" b="1" dirty="0">
                <a:solidFill>
                  <a:srgbClr val="1E5631"/>
                </a:solidFill>
                <a:latin typeface="Courier New" pitchFamily="34" charset="0"/>
                <a:ea typeface="Courier New" pitchFamily="34" charset="-122"/>
                <a:cs typeface="Courier New" pitchFamily="34" charset="-120"/>
              </a:rPr>
              <a:t>ip route 0.0.0.0 0.0.0.0 203.0.113.1</a:t>
            </a:r>
            <a:r>
              <a:rPr lang="en-US" sz="1300" dirty="0">
                <a:solidFill>
                  <a:srgbClr val="2B2B2B"/>
                </a:solidFill>
              </a:rPr>
              <a:t>.</a:t>
            </a:r>
            <a:endParaRPr lang="en-US" sz="1300" dirty="0"/>
          </a:p>
        </p:txBody>
      </p:sp>
      <p:sp>
        <p:nvSpPr>
          <p:cNvPr id="41" name="Slide Number Placeholder 0"/>
          <p:cNvSpPr>
            <a:spLocks noGrp="1"/>
          </p:cNvSpPr>
          <p:nvPr>
            <p:ph type="sldNum" sz="quarter" idx="4294967295"/>
          </p:nvPr>
        </p:nvSpPr>
        <p:spPr>
          <a:xfrm>
            <a:off x="10698480" y="6464808"/>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1"/>
          <p:cNvSpPr/>
          <p:nvPr>
            <p:ph idx="102" type="body" hasCustomPrompt="1"/>
          </p:nvPr>
        </p:nvSpPr>
        <p:spPr>
          <a:xfrm>
            <a:off x="548640" y="274320"/>
            <a:ext cx="9966960" cy="256032"/>
          </a:xfrm>
          <a:prstGeom prst="rect">
            <a:avLst/>
          </a:prstGeom>
          <a:noFill/>
          <a:ln/>
        </p:spPr>
        <p:txBody>
          <a:bodyPr wrap="square" lIns="0" tIns="0" rIns="0" bIns="0" rtlCol="0" anchor="ctr"/>
          <a:lstStyle/>
          <a:p>
            <a:pPr algn="l" indent="0" marL="0">
              <a:buNone/>
            </a:pPr>
            <a:r>
              <a:rPr lang="en-US" sz="1100" b="1" spc="100" kern="0" dirty="0">
                <a:solidFill>
                  <a:schemeClr val="accent2"/>
                </a:solidFill>
              </a:rPr>
              <a:t>08  •  SECURITY &amp; NAT  •  LAB 6</a:t>
            </a:r>
            <a:endParaRPr lang="en-US" sz="1100" dirty="0"/>
          </a:p>
        </p:txBody>
      </p:sp>
      <p:sp>
        <p:nvSpPr>
          <p:cNvPr id="3" name="Text 1"/>
          <p:cNvSpPr/>
          <p:nvPr>
            <p:ph idx="103" type="title" hasCustomPrompt="1"/>
          </p:nvPr>
        </p:nvSpPr>
        <p:spPr>
          <a:xfrm>
            <a:off x="548640" y="548640"/>
            <a:ext cx="10149840" cy="548640"/>
          </a:xfrm>
          <a:prstGeom prst="rect">
            <a:avLst/>
          </a:prstGeom>
          <a:noFill/>
          <a:ln/>
        </p:spPr>
        <p:txBody>
          <a:bodyPr wrap="square" lIns="0" tIns="0" rIns="0" bIns="0" rtlCol="0" anchor="ctr"/>
          <a:lstStyle/>
          <a:p>
            <a:pPr algn="l" indent="0" marL="0">
              <a:buNone/>
            </a:pPr>
            <a:r>
              <a:rPr lang="en-US" sz="2600" b="1" dirty="0">
                <a:solidFill>
                  <a:schemeClr val="accent1"/>
                </a:solidFill>
              </a:rPr>
              <a:t>How to lock switch ports with port security</a:t>
            </a:r>
            <a:endParaRPr lang="en-US" sz="2600" dirty="0"/>
          </a:p>
        </p:txBody>
      </p:sp>
      <p:pic>
        <p:nvPicPr>
          <p:cNvPr id="4" name="Home button" descr="Home: back to the workbook menu">
            <a:hlinkClick r:id="rId2" tooltip="Back to the workbook menu" action="ppaction://hlinksldjump"/>
          </p:cNvPr>
          <p:cNvPicPr>
            <a:picLocks noChangeAspect="1"/>
          </p:cNvPicPr>
          <p:nvPr/>
        </p:nvPicPr>
        <p:blipFill>
          <a:blip r:embed="rId1"/>
          <a:stretch>
            <a:fillRect/>
          </a:stretch>
        </p:blipFill>
        <p:spPr>
          <a:xfrm>
            <a:off x="11365992" y="6336792"/>
            <a:ext cx="365760" cy="365760"/>
          </a:xfrm>
          <a:prstGeom prst="rect">
            <a:avLst/>
          </a:prstGeom>
        </p:spPr>
      </p:pic>
      <p:sp>
        <p:nvSpPr>
          <p:cNvPr id="5" name="Goal"/>
          <p:cNvSpPr txBox="1"/>
          <p:nvPr/>
        </p:nvSpPr>
        <p:spPr>
          <a:xfrm>
            <a:off x="548640" y="1161288"/>
            <a:ext cx="11094415" cy="384048"/>
          </a:xfrm>
          <a:prstGeom prst="rect">
            <a:avLst/>
          </a:prstGeom>
          <a:noFill/>
          <a:ln/>
        </p:spPr>
        <p:txBody>
          <a:bodyPr wrap="square" lIns="0" tIns="0" rIns="0" bIns="0" rtlCol="0" anchor="ctr"/>
          <a:lstStyle/>
          <a:p>
            <a:pPr indent="0" marL="0">
              <a:buNone/>
            </a:pPr>
            <a:r>
              <a:rPr lang="en-US" sz="1400" b="1" dirty="0">
                <a:solidFill>
                  <a:srgbClr val="2B7043"/>
                </a:solidFill>
              </a:rPr>
              <a:t>Goal:  </a:t>
            </a:r>
            <a:r>
              <a:rPr lang="en-US" sz="1400" dirty="0">
                <a:solidFill>
                  <a:srgbClr val="2B2B2B"/>
                </a:solidFill>
              </a:rPr>
              <a:t>Only the registered PC may use each staff port. Any other device shuts the port down.</a:t>
            </a:r>
            <a:endParaRPr lang="en-US" sz="1400" dirty="0"/>
          </a:p>
        </p:txBody>
      </p:sp>
      <p:sp>
        <p:nvSpPr>
          <p:cNvPr id="6" name="Command header"/>
          <p:cNvSpPr/>
          <p:nvPr/>
        </p:nvSpPr>
        <p:spPr>
          <a:xfrm>
            <a:off x="548640" y="1664208"/>
            <a:ext cx="6153912" cy="310896"/>
          </a:xfrm>
          <a:prstGeom prst="rect">
            <a:avLst/>
          </a:prstGeom>
          <a:solidFill>
            <a:srgbClr val="1B2B22"/>
          </a:solidFill>
          <a:ln/>
        </p:spPr>
        <p:txBody>
          <a:bodyPr wrap="square" lIns="109728" tIns="45720" rIns="109728" bIns="45720" rtlCol="0" anchor="ctr"/>
          <a:lstStyle/>
          <a:p>
            <a:pPr indent="0" marL="0">
              <a:buNone/>
            </a:pPr>
            <a:r>
              <a:rPr lang="en-US" sz="1100" dirty="0">
                <a:solidFill>
                  <a:srgbClr val="E0605A"/>
                </a:solidFill>
              </a:rPr>
              <a:t>●  </a:t>
            </a:r>
            <a:r>
              <a:rPr lang="en-US" sz="1100" dirty="0">
                <a:solidFill>
                  <a:srgbClr val="E8B92E"/>
                </a:solidFill>
              </a:rPr>
              <a:t>●  </a:t>
            </a:r>
            <a:r>
              <a:rPr lang="en-US" sz="1100" dirty="0">
                <a:solidFill>
                  <a:srgbClr val="4CAF50"/>
                </a:solidFill>
              </a:rPr>
              <a:t>●   </a:t>
            </a:r>
            <a:r>
              <a:rPr lang="en-US" sz="1100" b="1" dirty="0">
                <a:solidFill>
                  <a:srgbClr val="C9D6CC"/>
                </a:solidFill>
              </a:rPr>
              <a:t>S1  —  type the white text, then press Enter</a:t>
            </a:r>
            <a:endParaRPr lang="en-US" sz="1100" dirty="0"/>
          </a:p>
        </p:txBody>
      </p:sp>
      <p:sp>
        <p:nvSpPr>
          <p:cNvPr id="7" name="Meaning header"/>
          <p:cNvSpPr/>
          <p:nvPr/>
        </p:nvSpPr>
        <p:spPr>
          <a:xfrm>
            <a:off x="6720840" y="1664208"/>
            <a:ext cx="4922215" cy="310896"/>
          </a:xfrm>
          <a:prstGeom prst="rect">
            <a:avLst/>
          </a:prstGeom>
          <a:solidFill>
            <a:srgbClr val="E8F1EA"/>
          </a:solidFill>
          <a:ln/>
        </p:spPr>
        <p:txBody>
          <a:bodyPr wrap="square" lIns="109728" tIns="45720" rIns="109728" bIns="45720" rtlCol="0" anchor="ctr"/>
          <a:lstStyle/>
          <a:p>
            <a:pPr indent="0" marL="0">
              <a:buNone/>
            </a:pPr>
            <a:r>
              <a:rPr lang="en-US" sz="1200" b="1" dirty="0">
                <a:solidFill>
                  <a:srgbClr val="1E5631"/>
                </a:solidFill>
              </a:rPr>
              <a:t>What it does</a:t>
            </a:r>
            <a:endParaRPr lang="en-US" sz="1200" dirty="0"/>
          </a:p>
        </p:txBody>
      </p:sp>
      <p:sp>
        <p:nvSpPr>
          <p:cNvPr id="8" name="Command 01"/>
          <p:cNvSpPr/>
          <p:nvPr/>
        </p:nvSpPr>
        <p:spPr>
          <a:xfrm>
            <a:off x="548640" y="1993392"/>
            <a:ext cx="6153912" cy="326768"/>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S1(config)# </a:t>
            </a:r>
            <a:r>
              <a:rPr lang="en-US" sz="1200" b="1" dirty="0">
                <a:solidFill>
                  <a:srgbClr val="FFFFFF"/>
                </a:solidFill>
                <a:latin typeface="Courier New" pitchFamily="34" charset="0"/>
                <a:ea typeface="Courier New" pitchFamily="34" charset="-122"/>
                <a:cs typeface="Courier New" pitchFamily="34" charset="-120"/>
              </a:rPr>
              <a:t>interface range fa0/1 - 3</a:t>
            </a:r>
            <a:endParaRPr lang="en-US" sz="1200" dirty="0"/>
          </a:p>
        </p:txBody>
      </p:sp>
      <p:sp>
        <p:nvSpPr>
          <p:cNvPr id="9" name="Reveal 01 meaning"/>
          <p:cNvSpPr/>
          <p:nvPr/>
        </p:nvSpPr>
        <p:spPr>
          <a:xfrm>
            <a:off x="6720840" y="1993392"/>
            <a:ext cx="4922215" cy="326768"/>
          </a:xfrm>
          <a:prstGeom prst="rect">
            <a:avLst/>
          </a:prstGeom>
          <a:solidFill>
            <a:srgbClr val="F2F8F3"/>
          </a:solidFill>
          <a:ln/>
        </p:spPr>
        <p:txBody>
          <a:bodyPr wrap="square" lIns="109728" tIns="45720" rIns="109728" bIns="45720" rtlCol="0" anchor="ctr"/>
          <a:lstStyle/>
          <a:p>
            <a:pPr indent="0" marL="0">
              <a:buNone/>
            </a:pPr>
            <a:r>
              <a:rPr lang="en-US" sz="1400" dirty="0">
                <a:solidFill>
                  <a:srgbClr val="2B2B2B"/>
                </a:solidFill>
              </a:rPr>
              <a:t>The three staff ports.</a:t>
            </a:r>
            <a:endParaRPr lang="en-US" sz="1400" dirty="0"/>
          </a:p>
        </p:txBody>
      </p:sp>
      <p:sp>
        <p:nvSpPr>
          <p:cNvPr id="10" name="Command 02"/>
          <p:cNvSpPr/>
          <p:nvPr/>
        </p:nvSpPr>
        <p:spPr>
          <a:xfrm>
            <a:off x="548640" y="2338448"/>
            <a:ext cx="6153912" cy="54380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S1(config-if-range)# </a:t>
            </a:r>
            <a:r>
              <a:rPr lang="en-US" sz="1200" b="1" dirty="0">
                <a:solidFill>
                  <a:srgbClr val="FFFFFF"/>
                </a:solidFill>
                <a:latin typeface="Courier New" pitchFamily="34" charset="0"/>
                <a:ea typeface="Courier New" pitchFamily="34" charset="-122"/>
                <a:cs typeface="Courier New" pitchFamily="34" charset="-120"/>
              </a:rPr>
              <a:t>switchport mode access</a:t>
            </a:r>
            <a:endParaRPr lang="en-US" sz="1200" dirty="0"/>
          </a:p>
        </p:txBody>
      </p:sp>
      <p:sp>
        <p:nvSpPr>
          <p:cNvPr id="11" name="Reveal 02 meaning"/>
          <p:cNvSpPr/>
          <p:nvPr/>
        </p:nvSpPr>
        <p:spPr>
          <a:xfrm>
            <a:off x="6720840" y="2338448"/>
            <a:ext cx="4922215" cy="543809"/>
          </a:xfrm>
          <a:prstGeom prst="rect">
            <a:avLst/>
          </a:prstGeom>
          <a:solidFill>
            <a:srgbClr val="FFFFFF"/>
          </a:solidFill>
          <a:ln/>
        </p:spPr>
        <p:txBody>
          <a:bodyPr wrap="square" lIns="109728" tIns="45720" rIns="109728" bIns="45720" rtlCol="0" anchor="ctr"/>
          <a:lstStyle/>
          <a:p>
            <a:pPr indent="0" marL="0">
              <a:buNone/>
            </a:pPr>
            <a:r>
              <a:rPr lang="en-US" sz="1400" dirty="0">
                <a:solidFill>
                  <a:srgbClr val="2B2B2B"/>
                </a:solidFill>
              </a:rPr>
              <a:t>Port security only works on a port fixed as access (or trunk), not left dynamic.</a:t>
            </a:r>
            <a:endParaRPr lang="en-US" sz="1400" dirty="0"/>
          </a:p>
        </p:txBody>
      </p:sp>
      <p:sp>
        <p:nvSpPr>
          <p:cNvPr id="12" name="Command 03"/>
          <p:cNvSpPr/>
          <p:nvPr/>
        </p:nvSpPr>
        <p:spPr>
          <a:xfrm>
            <a:off x="548640" y="2900545"/>
            <a:ext cx="6153912" cy="54380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S1(config-if-range)# </a:t>
            </a:r>
            <a:r>
              <a:rPr lang="en-US" sz="1200" b="1" dirty="0">
                <a:solidFill>
                  <a:srgbClr val="FFFFFF"/>
                </a:solidFill>
                <a:latin typeface="Courier New" pitchFamily="34" charset="0"/>
                <a:ea typeface="Courier New" pitchFamily="34" charset="-122"/>
                <a:cs typeface="Courier New" pitchFamily="34" charset="-120"/>
              </a:rPr>
              <a:t>switchport port-security</a:t>
            </a:r>
            <a:endParaRPr lang="en-US" sz="1200" dirty="0"/>
          </a:p>
        </p:txBody>
      </p:sp>
      <p:sp>
        <p:nvSpPr>
          <p:cNvPr id="13" name="Reveal 03 meaning"/>
          <p:cNvSpPr/>
          <p:nvPr/>
        </p:nvSpPr>
        <p:spPr>
          <a:xfrm>
            <a:off x="6720840" y="2900545"/>
            <a:ext cx="4922215" cy="543809"/>
          </a:xfrm>
          <a:prstGeom prst="rect">
            <a:avLst/>
          </a:prstGeom>
          <a:solidFill>
            <a:srgbClr val="F2F8F3"/>
          </a:solidFill>
          <a:ln/>
        </p:spPr>
        <p:txBody>
          <a:bodyPr wrap="square" lIns="109728" tIns="45720" rIns="109728" bIns="45720" rtlCol="0" anchor="ctr"/>
          <a:lstStyle/>
          <a:p>
            <a:pPr indent="0" marL="0">
              <a:buNone/>
            </a:pPr>
            <a:r>
              <a:rPr lang="en-US" sz="1400" dirty="0">
                <a:solidFill>
                  <a:srgbClr val="2B2B2B"/>
                </a:solidFill>
              </a:rPr>
              <a:t>Turn the feature on (default: 1 MAC address, violation shutdown).</a:t>
            </a:r>
            <a:endParaRPr lang="en-US" sz="1400" dirty="0"/>
          </a:p>
        </p:txBody>
      </p:sp>
      <p:sp>
        <p:nvSpPr>
          <p:cNvPr id="14" name="Command 04"/>
          <p:cNvSpPr/>
          <p:nvPr/>
        </p:nvSpPr>
        <p:spPr>
          <a:xfrm>
            <a:off x="548640" y="3462642"/>
            <a:ext cx="6153912" cy="54380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S1(config-if-range)# </a:t>
            </a:r>
            <a:r>
              <a:rPr lang="en-US" sz="1200" b="1" dirty="0">
                <a:solidFill>
                  <a:srgbClr val="FFFFFF"/>
                </a:solidFill>
                <a:latin typeface="Courier New" pitchFamily="34" charset="0"/>
                <a:ea typeface="Courier New" pitchFamily="34" charset="-122"/>
                <a:cs typeface="Courier New" pitchFamily="34" charset="-120"/>
              </a:rPr>
              <a:t>switchport port-security maximum 1</a:t>
            </a:r>
            <a:endParaRPr lang="en-US" sz="1200" dirty="0"/>
          </a:p>
        </p:txBody>
      </p:sp>
      <p:sp>
        <p:nvSpPr>
          <p:cNvPr id="15" name="Reveal 04 meaning"/>
          <p:cNvSpPr/>
          <p:nvPr/>
        </p:nvSpPr>
        <p:spPr>
          <a:xfrm>
            <a:off x="6720840" y="3462642"/>
            <a:ext cx="4922215" cy="543809"/>
          </a:xfrm>
          <a:prstGeom prst="rect">
            <a:avLst/>
          </a:prstGeom>
          <a:solidFill>
            <a:srgbClr val="FFFFFF"/>
          </a:solidFill>
          <a:ln/>
        </p:spPr>
        <p:txBody>
          <a:bodyPr wrap="square" lIns="109728" tIns="45720" rIns="109728" bIns="45720" rtlCol="0" anchor="ctr"/>
          <a:lstStyle/>
          <a:p>
            <a:pPr indent="0" marL="0">
              <a:buNone/>
            </a:pPr>
            <a:r>
              <a:rPr lang="en-US" sz="1400" dirty="0">
                <a:solidFill>
                  <a:srgbClr val="2B2B2B"/>
                </a:solidFill>
              </a:rPr>
              <a:t>One device per port. (Use 2 for an IP phone with a PC behind it.)</a:t>
            </a:r>
            <a:endParaRPr lang="en-US" sz="1400" dirty="0"/>
          </a:p>
        </p:txBody>
      </p:sp>
      <p:sp>
        <p:nvSpPr>
          <p:cNvPr id="16" name="Command 05"/>
          <p:cNvSpPr/>
          <p:nvPr/>
        </p:nvSpPr>
        <p:spPr>
          <a:xfrm>
            <a:off x="548640" y="4024739"/>
            <a:ext cx="6153912" cy="54380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S1(config-if-range)# </a:t>
            </a:r>
            <a:r>
              <a:rPr lang="en-US" sz="1200" b="1" dirty="0">
                <a:solidFill>
                  <a:srgbClr val="FFFFFF"/>
                </a:solidFill>
                <a:latin typeface="Courier New" pitchFamily="34" charset="0"/>
                <a:ea typeface="Courier New" pitchFamily="34" charset="-122"/>
                <a:cs typeface="Courier New" pitchFamily="34" charset="-120"/>
              </a:rPr>
              <a:t>switchport port-security mac-address sticky</a:t>
            </a:r>
            <a:endParaRPr lang="en-US" sz="1200" dirty="0"/>
          </a:p>
        </p:txBody>
      </p:sp>
      <p:sp>
        <p:nvSpPr>
          <p:cNvPr id="17" name="Reveal 05 meaning"/>
          <p:cNvSpPr/>
          <p:nvPr/>
        </p:nvSpPr>
        <p:spPr>
          <a:xfrm>
            <a:off x="6720840" y="4024739"/>
            <a:ext cx="4922215" cy="543809"/>
          </a:xfrm>
          <a:prstGeom prst="rect">
            <a:avLst/>
          </a:prstGeom>
          <a:solidFill>
            <a:srgbClr val="F2F8F3"/>
          </a:solidFill>
          <a:ln/>
        </p:spPr>
        <p:txBody>
          <a:bodyPr wrap="square" lIns="109728" tIns="45720" rIns="109728" bIns="45720" rtlCol="0" anchor="ctr"/>
          <a:lstStyle/>
          <a:p>
            <a:pPr indent="0" marL="0">
              <a:buNone/>
            </a:pPr>
            <a:r>
              <a:rPr lang="en-US" sz="1400" dirty="0">
                <a:solidFill>
                  <a:srgbClr val="2B2B2B"/>
                </a:solidFill>
              </a:rPr>
              <a:t>Learn the first device’s MAC and write it into the running-config automatically.</a:t>
            </a:r>
            <a:endParaRPr lang="en-US" sz="1400" dirty="0"/>
          </a:p>
        </p:txBody>
      </p:sp>
      <p:sp>
        <p:nvSpPr>
          <p:cNvPr id="18" name="Command 06"/>
          <p:cNvSpPr/>
          <p:nvPr/>
        </p:nvSpPr>
        <p:spPr>
          <a:xfrm>
            <a:off x="548640" y="4586836"/>
            <a:ext cx="6153912" cy="54380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S1(config-if-range)# </a:t>
            </a:r>
            <a:r>
              <a:rPr lang="en-US" sz="1200" b="1" dirty="0">
                <a:solidFill>
                  <a:srgbClr val="FFFFFF"/>
                </a:solidFill>
                <a:latin typeface="Courier New" pitchFamily="34" charset="0"/>
                <a:ea typeface="Courier New" pitchFamily="34" charset="-122"/>
                <a:cs typeface="Courier New" pitchFamily="34" charset="-120"/>
              </a:rPr>
              <a:t>switchport port-security violation shutdown</a:t>
            </a:r>
            <a:endParaRPr lang="en-US" sz="1200" dirty="0"/>
          </a:p>
        </p:txBody>
      </p:sp>
      <p:sp>
        <p:nvSpPr>
          <p:cNvPr id="19" name="Reveal 06 meaning"/>
          <p:cNvSpPr/>
          <p:nvPr/>
        </p:nvSpPr>
        <p:spPr>
          <a:xfrm>
            <a:off x="6720840" y="4586836"/>
            <a:ext cx="4922215" cy="543809"/>
          </a:xfrm>
          <a:prstGeom prst="rect">
            <a:avLst/>
          </a:prstGeom>
          <a:solidFill>
            <a:srgbClr val="FFFFFF"/>
          </a:solidFill>
          <a:ln/>
        </p:spPr>
        <p:txBody>
          <a:bodyPr wrap="square" lIns="109728" tIns="45720" rIns="109728" bIns="45720" rtlCol="0" anchor="ctr"/>
          <a:lstStyle/>
          <a:p>
            <a:pPr indent="0" marL="0">
              <a:buNone/>
            </a:pPr>
            <a:r>
              <a:rPr lang="en-US" sz="1400" dirty="0">
                <a:solidFill>
                  <a:srgbClr val="2B2B2B"/>
                </a:solidFill>
              </a:rPr>
              <a:t>An unknown device shuts the port (err-disabled). Other modes: </a:t>
            </a:r>
            <a:r>
              <a:rPr lang="en-US" sz="1300" b="1" dirty="0">
                <a:solidFill>
                  <a:srgbClr val="1E5631"/>
                </a:solidFill>
                <a:latin typeface="Courier New" pitchFamily="34" charset="0"/>
                <a:ea typeface="Courier New" pitchFamily="34" charset="-122"/>
                <a:cs typeface="Courier New" pitchFamily="34" charset="-120"/>
              </a:rPr>
              <a:t>restrict</a:t>
            </a:r>
            <a:r>
              <a:rPr lang="en-US" sz="1400" dirty="0">
                <a:solidFill>
                  <a:srgbClr val="2B2B2B"/>
                </a:solidFill>
              </a:rPr>
              <a:t> (drop + log), </a:t>
            </a:r>
            <a:r>
              <a:rPr lang="en-US" sz="1300" b="1" dirty="0">
                <a:solidFill>
                  <a:srgbClr val="1E5631"/>
                </a:solidFill>
                <a:latin typeface="Courier New" pitchFamily="34" charset="0"/>
                <a:ea typeface="Courier New" pitchFamily="34" charset="-122"/>
                <a:cs typeface="Courier New" pitchFamily="34" charset="-120"/>
              </a:rPr>
              <a:t>protect</a:t>
            </a:r>
            <a:r>
              <a:rPr lang="en-US" sz="1400" dirty="0">
                <a:solidFill>
                  <a:srgbClr val="2B2B2B"/>
                </a:solidFill>
              </a:rPr>
              <a:t> (drop quietly).</a:t>
            </a:r>
            <a:endParaRPr lang="en-US" sz="1400" dirty="0"/>
          </a:p>
        </p:txBody>
      </p:sp>
      <p:sp>
        <p:nvSpPr>
          <p:cNvPr id="20" name="Reveal 99 check box"/>
          <p:cNvSpPr/>
          <p:nvPr/>
        </p:nvSpPr>
        <p:spPr>
          <a:xfrm>
            <a:off x="548640" y="5504688"/>
            <a:ext cx="5410048" cy="749808"/>
          </a:xfrm>
          <a:prstGeom prst="roundRect">
            <a:avLst>
              <a:gd name="adj" fmla="val 9756"/>
            </a:avLst>
          </a:prstGeom>
          <a:solidFill>
            <a:srgbClr val="E8F1EA"/>
          </a:solidFill>
          <a:ln w="12700">
            <a:solidFill>
              <a:srgbClr val="B7C9BA"/>
            </a:solidFill>
            <a:prstDash val="solid"/>
          </a:ln>
        </p:spPr>
      </p:sp>
      <p:pic>
        <p:nvPicPr>
          <p:cNvPr id="21" name="Reveal 99 check icon" descr="Check it:">    </p:cNvPr>
          <p:cNvPicPr>
            <a:picLocks noChangeAspect="1"/>
          </p:cNvPicPr>
          <p:nvPr/>
        </p:nvPicPr>
        <p:blipFill>
          <a:blip r:embed="rId3"/>
          <a:stretch>
            <a:fillRect/>
          </a:stretch>
        </p:blipFill>
        <p:spPr>
          <a:xfrm>
            <a:off x="694944" y="5733288"/>
            <a:ext cx="292608" cy="292608"/>
          </a:xfrm>
          <a:prstGeom prst="rect">
            <a:avLst/>
          </a:prstGeom>
        </p:spPr>
      </p:pic>
      <p:sp>
        <p:nvSpPr>
          <p:cNvPr id="22" name="Reveal 99 check text"/>
          <p:cNvSpPr txBox="1"/>
          <p:nvPr/>
        </p:nvSpPr>
        <p:spPr>
          <a:xfrm>
            <a:off x="1097280" y="5541264"/>
            <a:ext cx="4751680" cy="676656"/>
          </a:xfrm>
          <a:prstGeom prst="rect">
            <a:avLst/>
          </a:prstGeom>
          <a:noFill/>
          <a:ln/>
        </p:spPr>
        <p:txBody>
          <a:bodyPr wrap="square" lIns="0" tIns="0" rIns="0" bIns="0" rtlCol="0" anchor="ctr"/>
          <a:lstStyle/>
          <a:p>
            <a:pPr indent="0" marL="0">
              <a:buNone/>
            </a:pPr>
            <a:r>
              <a:rPr lang="en-US" sz="1400" b="1" dirty="0">
                <a:solidFill>
                  <a:srgbClr val="1E5631"/>
                </a:solidFill>
              </a:rPr>
              <a:t>Check it:  </a:t>
            </a:r>
            <a:r>
              <a:rPr lang="en-US" sz="1400" dirty="0">
                <a:solidFill>
                  <a:srgbClr val="2B2B2B"/>
                </a:solidFill>
              </a:rPr>
              <a:t>Ping from each PC first, then </a:t>
            </a:r>
            <a:r>
              <a:rPr lang="en-US" sz="1300" b="1" dirty="0">
                <a:solidFill>
                  <a:srgbClr val="1E5631"/>
                </a:solidFill>
                <a:latin typeface="Courier New" pitchFamily="34" charset="0"/>
                <a:ea typeface="Courier New" pitchFamily="34" charset="-122"/>
                <a:cs typeface="Courier New" pitchFamily="34" charset="-120"/>
              </a:rPr>
              <a:t>show port-security interface fa0/2</a:t>
            </a:r>
            <a:r>
              <a:rPr lang="en-US" sz="1400" dirty="0">
                <a:solidFill>
                  <a:srgbClr val="2B2B2B"/>
                </a:solidFill>
              </a:rPr>
              <a:t> → Secure-up, 1 sticky MAC.</a:t>
            </a:r>
            <a:endParaRPr lang="en-US" sz="1400" dirty="0"/>
          </a:p>
        </p:txBody>
      </p:sp>
      <p:sp>
        <p:nvSpPr>
          <p:cNvPr id="23" name="Reveal 99 watch box"/>
          <p:cNvSpPr/>
          <p:nvPr/>
        </p:nvSpPr>
        <p:spPr>
          <a:xfrm>
            <a:off x="6233008" y="5504688"/>
            <a:ext cx="5410048" cy="749808"/>
          </a:xfrm>
          <a:prstGeom prst="roundRect">
            <a:avLst>
              <a:gd name="adj" fmla="val 9756"/>
            </a:avLst>
          </a:prstGeom>
          <a:solidFill>
            <a:srgbClr val="FBEAEA"/>
          </a:solidFill>
          <a:ln w="12700">
            <a:solidFill>
              <a:srgbClr val="E9B8B5"/>
            </a:solidFill>
            <a:prstDash val="solid"/>
          </a:ln>
        </p:spPr>
      </p:sp>
      <p:pic>
        <p:nvPicPr>
          <p:cNvPr id="24" name="Reveal 99 watch icon" descr="Watch out:">    </p:cNvPr>
          <p:cNvPicPr>
            <a:picLocks noChangeAspect="1"/>
          </p:cNvPicPr>
          <p:nvPr/>
        </p:nvPicPr>
        <p:blipFill>
          <a:blip r:embed="rId4"/>
          <a:stretch>
            <a:fillRect/>
          </a:stretch>
        </p:blipFill>
        <p:spPr>
          <a:xfrm>
            <a:off x="6379312" y="5733288"/>
            <a:ext cx="292608" cy="292608"/>
          </a:xfrm>
          <a:prstGeom prst="rect">
            <a:avLst/>
          </a:prstGeom>
        </p:spPr>
      </p:pic>
      <p:sp>
        <p:nvSpPr>
          <p:cNvPr id="25" name="Reveal 99 watch text"/>
          <p:cNvSpPr txBox="1"/>
          <p:nvPr/>
        </p:nvSpPr>
        <p:spPr>
          <a:xfrm>
            <a:off x="6781648" y="5541264"/>
            <a:ext cx="4751680" cy="676656"/>
          </a:xfrm>
          <a:prstGeom prst="rect">
            <a:avLst/>
          </a:prstGeom>
          <a:noFill/>
          <a:ln/>
        </p:spPr>
        <p:txBody>
          <a:bodyPr wrap="square" lIns="0" tIns="0" rIns="0" bIns="0" rtlCol="0" anchor="ctr"/>
          <a:lstStyle/>
          <a:p>
            <a:pPr indent="0" marL="0">
              <a:buNone/>
            </a:pPr>
            <a:r>
              <a:rPr lang="en-US" sz="1400" b="1" dirty="0">
                <a:solidFill>
                  <a:srgbClr val="8B1A1A"/>
                </a:solidFill>
              </a:rPr>
              <a:t>Watch out:  </a:t>
            </a:r>
            <a:r>
              <a:rPr lang="en-US" sz="1400" dirty="0">
                <a:solidFill>
                  <a:srgbClr val="2B2B2B"/>
                </a:solidFill>
              </a:rPr>
              <a:t>Recover an err-disabled port: remove the rogue device, then </a:t>
            </a:r>
            <a:r>
              <a:rPr lang="en-US" sz="1300" b="1" dirty="0">
                <a:solidFill>
                  <a:srgbClr val="1E5631"/>
                </a:solidFill>
                <a:latin typeface="Courier New" pitchFamily="34" charset="0"/>
                <a:ea typeface="Courier New" pitchFamily="34" charset="-122"/>
                <a:cs typeface="Courier New" pitchFamily="34" charset="-120"/>
              </a:rPr>
              <a:t>shutdown</a:t>
            </a:r>
            <a:r>
              <a:rPr lang="en-US" sz="1400" dirty="0">
                <a:solidFill>
                  <a:srgbClr val="2B2B2B"/>
                </a:solidFill>
              </a:rPr>
              <a:t> and </a:t>
            </a:r>
            <a:r>
              <a:rPr lang="en-US" sz="1300" b="1" dirty="0">
                <a:solidFill>
                  <a:srgbClr val="1E5631"/>
                </a:solidFill>
                <a:latin typeface="Courier New" pitchFamily="34" charset="0"/>
                <a:ea typeface="Courier New" pitchFamily="34" charset="-122"/>
                <a:cs typeface="Courier New" pitchFamily="34" charset="-120"/>
              </a:rPr>
              <a:t>no shutdown</a:t>
            </a:r>
            <a:r>
              <a:rPr lang="en-US" sz="1400" dirty="0">
                <a:solidFill>
                  <a:srgbClr val="2B2B2B"/>
                </a:solidFill>
              </a:rPr>
              <a:t> on the port.</a:t>
            </a:r>
            <a:endParaRPr lang="en-US" sz="1400" dirty="0"/>
          </a:p>
        </p:txBody>
      </p:sp>
      <p:sp>
        <p:nvSpPr>
          <p:cNvPr id="26" name="Slide Number Placeholder 0"/>
          <p:cNvSpPr>
            <a:spLocks noGrp="1"/>
          </p:cNvSpPr>
          <p:nvPr>
            <p:ph type="sldNum" sz="quarter" idx="4294967295"/>
          </p:nvPr>
        </p:nvSpPr>
        <p:spPr>
          <a:xfrm>
            <a:off x="10698480" y="6464808"/>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r"/>
            <a:fld id="{F7021451-1387-4CA6-816F-3879F97B5CBC}" type="slidenum">
              <a:rPr b="0" lang="en-US"/>
              <a:t>62</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4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0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400"/>
                                        <p:tgtEl>
                                          <p:spTgt spid="1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00"/>
                                        <p:tgtEl>
                                          <p:spTgt spid="20"/>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00"/>
                                        <p:tgtEl>
                                          <p:spTgt spid="21"/>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2"/>
                                        </p:tgtEl>
                                        <p:attrNameLst>
                                          <p:attrName>style.visibility</p:attrName>
                                        </p:attrNameLst>
                                      </p:cBhvr>
                                      <p:to>
                                        <p:strVal val="visible"/>
                                      </p:to>
                                    </p:set>
                                    <p:animEffect transition="in" filter="fade">
                                      <p:cBhvr>
                                        <p:cTn id="43" dur="400"/>
                                        <p:tgtEl>
                                          <p:spTgt spid="22"/>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3"/>
                                        </p:tgtEl>
                                        <p:attrNameLst>
                                          <p:attrName>style.visibility</p:attrName>
                                        </p:attrNameLst>
                                      </p:cBhvr>
                                      <p:to>
                                        <p:strVal val="visible"/>
                                      </p:to>
                                    </p:set>
                                    <p:animEffect transition="in" filter="fade">
                                      <p:cBhvr>
                                        <p:cTn id="46" dur="400"/>
                                        <p:tgtEl>
                                          <p:spTgt spid="23"/>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4"/>
                                        </p:tgtEl>
                                        <p:attrNameLst>
                                          <p:attrName>style.visibility</p:attrName>
                                        </p:attrNameLst>
                                      </p:cBhvr>
                                      <p:to>
                                        <p:strVal val="visible"/>
                                      </p:to>
                                    </p:set>
                                    <p:animEffect transition="in" filter="fade">
                                      <p:cBhvr>
                                        <p:cTn id="49" dur="400"/>
                                        <p:tgtEl>
                                          <p:spTgt spid="24"/>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fade">
                                      <p:cBhvr>
                                        <p:cTn id="52"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3" grpId="0" animBg="1"/>
      <p:bldP spid="15" grpId="0" animBg="1"/>
      <p:bldP spid="17" grpId="0" animBg="1"/>
      <p:bldP spid="19" grpId="0" animBg="1"/>
      <p:bldP spid="20" grpId="0" animBg="1"/>
      <p:bldP spid="22" grpId="0" animBg="1"/>
      <p:bldP spid="23" grpId="0" animBg="1"/>
      <p:bldP spid="25"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1"/>
          <p:cNvSpPr/>
          <p:nvPr>
            <p:ph idx="102" type="body" hasCustomPrompt="1"/>
          </p:nvPr>
        </p:nvSpPr>
        <p:spPr>
          <a:xfrm>
            <a:off x="548640" y="274320"/>
            <a:ext cx="9966960" cy="256032"/>
          </a:xfrm>
          <a:prstGeom prst="rect">
            <a:avLst/>
          </a:prstGeom>
          <a:noFill/>
          <a:ln/>
        </p:spPr>
        <p:txBody>
          <a:bodyPr wrap="square" lIns="0" tIns="0" rIns="0" bIns="0" rtlCol="0" anchor="ctr"/>
          <a:lstStyle/>
          <a:p>
            <a:pPr algn="l" indent="0" marL="0">
              <a:buNone/>
            </a:pPr>
            <a:r>
              <a:rPr lang="en-US" sz="1100" b="1" spc="100" kern="0" dirty="0">
                <a:solidFill>
                  <a:schemeClr val="accent2"/>
                </a:solidFill>
              </a:rPr>
              <a:t>08  •  SECURITY &amp; NAT</a:t>
            </a:r>
            <a:endParaRPr lang="en-US" sz="1100" dirty="0"/>
          </a:p>
        </p:txBody>
      </p:sp>
      <p:sp>
        <p:nvSpPr>
          <p:cNvPr id="3" name="Text 1"/>
          <p:cNvSpPr/>
          <p:nvPr>
            <p:ph idx="103" type="title" hasCustomPrompt="1"/>
          </p:nvPr>
        </p:nvSpPr>
        <p:spPr>
          <a:xfrm>
            <a:off x="548640" y="548640"/>
            <a:ext cx="10149840" cy="548640"/>
          </a:xfrm>
          <a:prstGeom prst="rect">
            <a:avLst/>
          </a:prstGeom>
          <a:noFill/>
          <a:ln/>
        </p:spPr>
        <p:txBody>
          <a:bodyPr wrap="square" lIns="0" tIns="0" rIns="0" bIns="0" rtlCol="0" anchor="ctr"/>
          <a:lstStyle/>
          <a:p>
            <a:pPr algn="l" indent="0" marL="0">
              <a:buNone/>
            </a:pPr>
            <a:r>
              <a:rPr lang="en-US" sz="2600" b="1" dirty="0">
                <a:solidFill>
                  <a:schemeClr val="accent1"/>
                </a:solidFill>
              </a:rPr>
              <a:t>How to understand ACL rules before you write one</a:t>
            </a:r>
            <a:endParaRPr lang="en-US" sz="2600" dirty="0"/>
          </a:p>
        </p:txBody>
      </p:sp>
      <p:pic>
        <p:nvPicPr>
          <p:cNvPr id="4" name="Home button" descr="Home: back to the workbook menu">
            <a:hlinkClick r:id="rId2" tooltip="Back to the workbook menu" action="ppaction://hlinksldjump"/>
          </p:cNvPr>
          <p:cNvPicPr>
            <a:picLocks noChangeAspect="1"/>
          </p:cNvPicPr>
          <p:nvPr/>
        </p:nvPicPr>
        <p:blipFill>
          <a:blip r:embed="rId1"/>
          <a:stretch>
            <a:fillRect/>
          </a:stretch>
        </p:blipFill>
        <p:spPr>
          <a:xfrm>
            <a:off x="11365992" y="6336792"/>
            <a:ext cx="365760" cy="365760"/>
          </a:xfrm>
          <a:prstGeom prst="rect">
            <a:avLst/>
          </a:prstGeom>
        </p:spPr>
      </p:pic>
      <p:sp>
        <p:nvSpPr>
          <p:cNvPr id="5" name="Goal"/>
          <p:cNvSpPr txBox="1"/>
          <p:nvPr/>
        </p:nvSpPr>
        <p:spPr>
          <a:xfrm>
            <a:off x="548640" y="1161288"/>
            <a:ext cx="11094415" cy="384048"/>
          </a:xfrm>
          <a:prstGeom prst="rect">
            <a:avLst/>
          </a:prstGeom>
          <a:noFill/>
          <a:ln/>
        </p:spPr>
        <p:txBody>
          <a:bodyPr wrap="square" lIns="0" tIns="0" rIns="0" bIns="0" rtlCol="0" anchor="ctr"/>
          <a:lstStyle/>
          <a:p>
            <a:pPr indent="0" marL="0">
              <a:buNone/>
            </a:pPr>
            <a:r>
              <a:rPr lang="en-US" sz="1400" b="1" dirty="0">
                <a:solidFill>
                  <a:srgbClr val="2B7043"/>
                </a:solidFill>
              </a:rPr>
              <a:t>Goal:  </a:t>
            </a:r>
            <a:r>
              <a:rPr lang="en-US" sz="1400" dirty="0">
                <a:solidFill>
                  <a:srgbClr val="2B2B2B"/>
                </a:solidFill>
              </a:rPr>
              <a:t>An access control list (ACL) is a list of permit/deny rules that a router checks for every packet.</a:t>
            </a:r>
            <a:endParaRPr lang="en-US" sz="1400" dirty="0"/>
          </a:p>
        </p:txBody>
      </p:sp>
      <p:sp>
        <p:nvSpPr>
          <p:cNvPr id="6" name="Card"/>
          <p:cNvSpPr/>
          <p:nvPr/>
        </p:nvSpPr>
        <p:spPr>
          <a:xfrm>
            <a:off x="548640" y="1691640"/>
            <a:ext cx="5989320" cy="4526280"/>
          </a:xfrm>
          <a:prstGeom prst="roundRect">
            <a:avLst>
              <a:gd name="adj" fmla="val 1616"/>
            </a:avLst>
          </a:prstGeom>
          <a:solidFill>
            <a:srgbClr val="F2F8F3"/>
          </a:solidFill>
          <a:ln w="12700">
            <a:solidFill>
              <a:srgbClr val="B7C9BA"/>
            </a:solidFill>
            <a:prstDash val="solid"/>
          </a:ln>
        </p:spPr>
      </p:sp>
      <p:sp>
        <p:nvSpPr>
          <p:cNvPr id="7" name="Text 4"/>
          <p:cNvSpPr txBox="1"/>
          <p:nvPr/>
        </p:nvSpPr>
        <p:spPr>
          <a:xfrm>
            <a:off x="694944" y="1794053"/>
            <a:ext cx="5696712" cy="4321454"/>
          </a:xfrm>
          <a:prstGeom prst="rect">
            <a:avLst/>
          </a:prstGeom>
          <a:noFill/>
          <a:ln/>
        </p:spPr>
        <p:txBody>
          <a:bodyPr wrap="square" lIns="0" tIns="0" rIns="0" bIns="0" rtlCol="0" anchor="t"/>
          <a:lstStyle/>
          <a:p>
            <a:pPr marL="203200" indent="-203200">
              <a:spcAft>
                <a:spcPts val="1400"/>
              </a:spcAft>
              <a:buSzPct val="100000"/>
              <a:buChar char="•"/>
            </a:pPr>
            <a:r>
              <a:rPr lang="en-US" sz="1400" dirty="0">
                <a:solidFill>
                  <a:srgbClr val="2B2B2B"/>
                </a:solidFill>
              </a:rPr>
              <a:t>Rules are checked </a:t>
            </a:r>
            <a:r>
              <a:rPr lang="en-US" sz="1400" b="1" dirty="0">
                <a:solidFill>
                  <a:srgbClr val="2B2B2B"/>
                </a:solidFill>
              </a:rPr>
              <a:t>top-down</a:t>
            </a:r>
            <a:r>
              <a:rPr lang="en-US" sz="1400" dirty="0">
                <a:solidFill>
                  <a:srgbClr val="2B2B2B"/>
                </a:solidFill>
              </a:rPr>
              <a:t>; the </a:t>
            </a:r>
            <a:r>
              <a:rPr lang="en-US" sz="1400" b="1" dirty="0">
                <a:solidFill>
                  <a:srgbClr val="2B2B2B"/>
                </a:solidFill>
              </a:rPr>
              <a:t>first match wins</a:t>
            </a:r>
            <a:r>
              <a:rPr lang="en-US" sz="1400" dirty="0">
                <a:solidFill>
                  <a:srgbClr val="2B2B2B"/>
                </a:solidFill>
              </a:rPr>
              <a:t> and the rest are skipped.</a:t>
            </a:r>
            <a:endParaRPr lang="en-US" sz="1400" dirty="0"/>
          </a:p>
          <a:p>
            <a:pPr marL="203200" indent="-203200">
              <a:spcAft>
                <a:spcPts val="1400"/>
              </a:spcAft>
              <a:buSzPct val="100000"/>
              <a:buChar char="•"/>
            </a:pPr>
            <a:r>
              <a:rPr lang="en-US" sz="1400" dirty="0">
                <a:solidFill>
                  <a:srgbClr val="2B2B2B"/>
                </a:solidFill>
              </a:rPr>
              <a:t>Every ACL ends with a hidden </a:t>
            </a:r>
            <a:r>
              <a:rPr lang="en-US" sz="1400" b="1" dirty="0">
                <a:solidFill>
                  <a:srgbClr val="2B2B2B"/>
                </a:solidFill>
              </a:rPr>
              <a:t>deny any</a:t>
            </a:r>
            <a:r>
              <a:rPr lang="en-US" sz="1400" dirty="0">
                <a:solidFill>
                  <a:srgbClr val="2B2B2B"/>
                </a:solidFill>
              </a:rPr>
              <a:t> — include at least one permit.</a:t>
            </a:r>
            <a:endParaRPr lang="en-US" sz="1400" dirty="0"/>
          </a:p>
          <a:p>
            <a:pPr marL="203200" indent="-203200">
              <a:spcAft>
                <a:spcPts val="1400"/>
              </a:spcAft>
              <a:buSzPct val="100000"/>
              <a:buChar char="•"/>
            </a:pPr>
            <a:r>
              <a:rPr lang="en-US" sz="1400" b="1" dirty="0">
                <a:solidFill>
                  <a:srgbClr val="2B2B2B"/>
                </a:solidFill>
              </a:rPr>
              <a:t>Standard</a:t>
            </a:r>
            <a:r>
              <a:rPr lang="en-US" sz="1400" dirty="0">
                <a:solidFill>
                  <a:srgbClr val="2B2B2B"/>
                </a:solidFill>
              </a:rPr>
              <a:t> (1–99): checks the </a:t>
            </a:r>
            <a:r>
              <a:rPr lang="en-US" sz="1400" b="1" dirty="0">
                <a:solidFill>
                  <a:srgbClr val="2B2B2B"/>
                </a:solidFill>
              </a:rPr>
              <a:t>source</a:t>
            </a:r>
            <a:r>
              <a:rPr lang="en-US" sz="1400" dirty="0">
                <a:solidFill>
                  <a:srgbClr val="2B2B2B"/>
                </a:solidFill>
              </a:rPr>
              <a:t> only → place it </a:t>
            </a:r>
            <a:r>
              <a:rPr lang="en-US" sz="1400" b="1" dirty="0">
                <a:solidFill>
                  <a:srgbClr val="2B2B2B"/>
                </a:solidFill>
              </a:rPr>
              <a:t>near the destination</a:t>
            </a:r>
            <a:r>
              <a:rPr lang="en-US" sz="1400" dirty="0">
                <a:solidFill>
                  <a:srgbClr val="2B2B2B"/>
                </a:solidFill>
              </a:rPr>
              <a:t>.</a:t>
            </a:r>
            <a:endParaRPr lang="en-US" sz="1400" dirty="0"/>
          </a:p>
          <a:p>
            <a:pPr marL="203200" indent="-203200">
              <a:spcAft>
                <a:spcPts val="1400"/>
              </a:spcAft>
              <a:buSzPct val="100000"/>
              <a:buChar char="•"/>
            </a:pPr>
            <a:r>
              <a:rPr lang="en-US" sz="1400" b="1" dirty="0">
                <a:solidFill>
                  <a:srgbClr val="2B2B2B"/>
                </a:solidFill>
              </a:rPr>
              <a:t>Extended</a:t>
            </a:r>
            <a:r>
              <a:rPr lang="en-US" sz="1400" dirty="0">
                <a:solidFill>
                  <a:srgbClr val="2B2B2B"/>
                </a:solidFill>
              </a:rPr>
              <a:t> (100–199 or a name): source, destination, protocol and port → place it </a:t>
            </a:r>
            <a:r>
              <a:rPr lang="en-US" sz="1400" b="1" dirty="0">
                <a:solidFill>
                  <a:srgbClr val="2B2B2B"/>
                </a:solidFill>
              </a:rPr>
              <a:t>near the source</a:t>
            </a:r>
            <a:r>
              <a:rPr lang="en-US" sz="1400" dirty="0">
                <a:solidFill>
                  <a:srgbClr val="2B2B2B"/>
                </a:solidFill>
              </a:rPr>
              <a:t>.</a:t>
            </a:r>
            <a:endParaRPr lang="en-US" sz="1400" dirty="0"/>
          </a:p>
          <a:p>
            <a:pPr marL="203200" indent="-203200">
              <a:spcAft>
                <a:spcPts val="1400"/>
              </a:spcAft>
              <a:buSzPct val="100000"/>
              <a:buChar char="•"/>
            </a:pPr>
            <a:r>
              <a:rPr lang="en-US" sz="1400" b="1" dirty="0">
                <a:solidFill>
                  <a:srgbClr val="2B2B2B"/>
                </a:solidFill>
              </a:rPr>
              <a:t>Wildcards:</a:t>
            </a:r>
            <a:r>
              <a:rPr lang="en-US" sz="1400" dirty="0">
                <a:solidFill>
                  <a:srgbClr val="2B2B2B"/>
                </a:solidFill>
              </a:rPr>
              <a:t> 0 = must match, 1 = ignore. </a:t>
            </a:r>
            <a:r>
              <a:rPr lang="en-US" sz="1300" b="1" dirty="0">
                <a:solidFill>
                  <a:srgbClr val="1E5631"/>
                </a:solidFill>
                <a:latin typeface="Courier New" pitchFamily="34" charset="0"/>
                <a:ea typeface="Courier New" pitchFamily="34" charset="-122"/>
                <a:cs typeface="Courier New" pitchFamily="34" charset="-120"/>
              </a:rPr>
              <a:t>0.0.0.255</a:t>
            </a:r>
            <a:r>
              <a:rPr lang="en-US" sz="1400" dirty="0">
                <a:solidFill>
                  <a:srgbClr val="2B2B2B"/>
                </a:solidFill>
              </a:rPr>
              <a:t> = a /24, </a:t>
            </a:r>
            <a:r>
              <a:rPr lang="en-US" sz="1300" b="1" dirty="0">
                <a:solidFill>
                  <a:srgbClr val="1E5631"/>
                </a:solidFill>
                <a:latin typeface="Courier New" pitchFamily="34" charset="0"/>
                <a:ea typeface="Courier New" pitchFamily="34" charset="-122"/>
                <a:cs typeface="Courier New" pitchFamily="34" charset="-120"/>
              </a:rPr>
              <a:t>host 10.1.1.5</a:t>
            </a:r>
            <a:r>
              <a:rPr lang="en-US" sz="1400" dirty="0">
                <a:solidFill>
                  <a:srgbClr val="2B2B2B"/>
                </a:solidFill>
              </a:rPr>
              <a:t> = one address, </a:t>
            </a:r>
            <a:r>
              <a:rPr lang="en-US" sz="1300" b="1" dirty="0">
                <a:solidFill>
                  <a:srgbClr val="1E5631"/>
                </a:solidFill>
                <a:latin typeface="Courier New" pitchFamily="34" charset="0"/>
                <a:ea typeface="Courier New" pitchFamily="34" charset="-122"/>
                <a:cs typeface="Courier New" pitchFamily="34" charset="-120"/>
              </a:rPr>
              <a:t>any</a:t>
            </a:r>
            <a:r>
              <a:rPr lang="en-US" sz="1400" dirty="0">
                <a:solidFill>
                  <a:srgbClr val="2B2B2B"/>
                </a:solidFill>
              </a:rPr>
              <a:t> = all.</a:t>
            </a:r>
            <a:endParaRPr lang="en-US" sz="1400" dirty="0"/>
          </a:p>
          <a:p>
            <a:pPr marL="203200" indent="-203200">
              <a:spcAft>
                <a:spcPts val="1400"/>
              </a:spcAft>
              <a:buSzPct val="100000"/>
              <a:buChar char="•"/>
            </a:pPr>
            <a:r>
              <a:rPr lang="en-US" sz="1400" dirty="0">
                <a:solidFill>
                  <a:srgbClr val="2B2B2B"/>
                </a:solidFill>
              </a:rPr>
              <a:t>One ACL per interface, per direction (</a:t>
            </a:r>
            <a:r>
              <a:rPr lang="en-US" sz="1300" b="1" dirty="0">
                <a:solidFill>
                  <a:srgbClr val="1E5631"/>
                </a:solidFill>
                <a:latin typeface="Courier New" pitchFamily="34" charset="0"/>
                <a:ea typeface="Courier New" pitchFamily="34" charset="-122"/>
                <a:cs typeface="Courier New" pitchFamily="34" charset="-120"/>
              </a:rPr>
              <a:t>in</a:t>
            </a:r>
            <a:r>
              <a:rPr lang="en-US" sz="1400" dirty="0">
                <a:solidFill>
                  <a:srgbClr val="2B2B2B"/>
                </a:solidFill>
              </a:rPr>
              <a:t> or </a:t>
            </a:r>
            <a:r>
              <a:rPr lang="en-US" sz="1300" b="1" dirty="0">
                <a:solidFill>
                  <a:srgbClr val="1E5631"/>
                </a:solidFill>
                <a:latin typeface="Courier New" pitchFamily="34" charset="0"/>
                <a:ea typeface="Courier New" pitchFamily="34" charset="-122"/>
                <a:cs typeface="Courier New" pitchFamily="34" charset="-120"/>
              </a:rPr>
              <a:t>out</a:t>
            </a:r>
            <a:r>
              <a:rPr lang="en-US" sz="1400" dirty="0">
                <a:solidFill>
                  <a:srgbClr val="2B2B2B"/>
                </a:solidFill>
              </a:rPr>
              <a:t>).</a:t>
            </a:r>
            <a:endParaRPr lang="en-US" sz="1400" dirty="0"/>
          </a:p>
        </p:txBody>
      </p:sp>
      <p:sp>
        <p:nvSpPr>
          <p:cNvPr id="8" name="Shape 5"/>
          <p:cNvSpPr/>
          <p:nvPr/>
        </p:nvSpPr>
        <p:spPr>
          <a:xfrm>
            <a:off x="6903720" y="1691640"/>
            <a:ext cx="2514600" cy="502920"/>
          </a:xfrm>
          <a:prstGeom prst="roundRect">
            <a:avLst>
              <a:gd name="adj" fmla="val 10909"/>
            </a:avLst>
          </a:prstGeom>
          <a:solidFill>
            <a:srgbClr val="2B6CB0"/>
          </a:solidFill>
          <a:ln/>
        </p:spPr>
      </p:sp>
      <p:sp>
        <p:nvSpPr>
          <p:cNvPr id="9" name="Text 6"/>
          <p:cNvSpPr txBox="1"/>
          <p:nvPr/>
        </p:nvSpPr>
        <p:spPr>
          <a:xfrm>
            <a:off x="6903720" y="1691640"/>
            <a:ext cx="2514600" cy="502920"/>
          </a:xfrm>
          <a:prstGeom prst="rect">
            <a:avLst/>
          </a:prstGeom>
          <a:noFill/>
          <a:ln/>
        </p:spPr>
        <p:txBody>
          <a:bodyPr wrap="square" lIns="0" tIns="0" rIns="0" bIns="0" rtlCol="0" anchor="ctr"/>
          <a:lstStyle/>
          <a:p>
            <a:pPr algn="ctr" indent="0" marL="0">
              <a:buNone/>
            </a:pPr>
            <a:r>
              <a:rPr lang="en-US" sz="1400" b="1" dirty="0">
                <a:solidFill>
                  <a:srgbClr val="FFFFFF"/>
                </a:solidFill>
              </a:rPr>
              <a:t>Packet arrives</a:t>
            </a:r>
            <a:endParaRPr lang="en-US" sz="1400" dirty="0"/>
          </a:p>
        </p:txBody>
      </p:sp>
      <p:sp>
        <p:nvSpPr>
          <p:cNvPr id="10" name="Shape 7"/>
          <p:cNvSpPr/>
          <p:nvPr/>
        </p:nvSpPr>
        <p:spPr>
          <a:xfrm>
            <a:off x="8161020" y="2194560"/>
            <a:ext cx="914" cy="320040"/>
          </a:xfrm>
          <a:prstGeom prst="line">
            <a:avLst/>
          </a:prstGeom>
          <a:noFill/>
          <a:ln w="22225">
            <a:solidFill>
              <a:srgbClr val="6B6B6B"/>
            </a:solidFill>
            <a:prstDash val="solid"/>
            <a:tailEnd type="triangle"/>
          </a:ln>
        </p:spPr>
      </p:sp>
      <p:sp>
        <p:nvSpPr>
          <p:cNvPr id="11" name="Shape 8"/>
          <p:cNvSpPr/>
          <p:nvPr/>
        </p:nvSpPr>
        <p:spPr>
          <a:xfrm>
            <a:off x="6903720" y="2514600"/>
            <a:ext cx="2514600" cy="502920"/>
          </a:xfrm>
          <a:prstGeom prst="roundRect">
            <a:avLst>
              <a:gd name="adj" fmla="val 10909"/>
            </a:avLst>
          </a:prstGeom>
          <a:solidFill>
            <a:srgbClr val="E8F1EA"/>
          </a:solidFill>
          <a:ln w="12700">
            <a:solidFill>
              <a:srgbClr val="B7C9BA"/>
            </a:solidFill>
            <a:prstDash val="solid"/>
          </a:ln>
        </p:spPr>
      </p:sp>
      <p:sp>
        <p:nvSpPr>
          <p:cNvPr id="12" name="Text 9"/>
          <p:cNvSpPr txBox="1"/>
          <p:nvPr/>
        </p:nvSpPr>
        <p:spPr>
          <a:xfrm>
            <a:off x="6903720" y="2514600"/>
            <a:ext cx="2514600" cy="502920"/>
          </a:xfrm>
          <a:prstGeom prst="rect">
            <a:avLst/>
          </a:prstGeom>
          <a:noFill/>
          <a:ln/>
        </p:spPr>
        <p:txBody>
          <a:bodyPr wrap="square" lIns="0" tIns="0" rIns="0" bIns="0" rtlCol="0" anchor="ctr"/>
          <a:lstStyle/>
          <a:p>
            <a:pPr algn="ctr" indent="0" marL="0">
              <a:buNone/>
            </a:pPr>
            <a:r>
              <a:rPr lang="en-US" sz="1400" dirty="0">
                <a:solidFill>
                  <a:srgbClr val="2B2B2B"/>
                </a:solidFill>
              </a:rPr>
              <a:t>Line 10 matches?</a:t>
            </a:r>
            <a:endParaRPr lang="en-US" sz="1400" dirty="0"/>
          </a:p>
        </p:txBody>
      </p:sp>
      <p:sp>
        <p:nvSpPr>
          <p:cNvPr id="13" name="Shape 10"/>
          <p:cNvSpPr/>
          <p:nvPr/>
        </p:nvSpPr>
        <p:spPr>
          <a:xfrm>
            <a:off x="9418320" y="2766060"/>
            <a:ext cx="548640" cy="914"/>
          </a:xfrm>
          <a:prstGeom prst="line">
            <a:avLst/>
          </a:prstGeom>
          <a:noFill/>
          <a:ln w="25400">
            <a:solidFill>
              <a:srgbClr val="2B7043"/>
            </a:solidFill>
            <a:prstDash val="solid"/>
            <a:tailEnd type="triangle"/>
          </a:ln>
        </p:spPr>
      </p:sp>
      <p:sp>
        <p:nvSpPr>
          <p:cNvPr id="14" name="Text 11"/>
          <p:cNvSpPr txBox="1"/>
          <p:nvPr/>
        </p:nvSpPr>
        <p:spPr>
          <a:xfrm>
            <a:off x="9436608" y="2468880"/>
            <a:ext cx="548640" cy="256032"/>
          </a:xfrm>
          <a:prstGeom prst="rect">
            <a:avLst/>
          </a:prstGeom>
          <a:noFill/>
          <a:ln/>
        </p:spPr>
        <p:txBody>
          <a:bodyPr wrap="square" lIns="0" tIns="0" rIns="0" bIns="0" rtlCol="0" anchor="ctr"/>
          <a:lstStyle/>
          <a:p>
            <a:pPr algn="ctr" indent="0" marL="0">
              <a:buNone/>
            </a:pPr>
            <a:r>
              <a:rPr lang="en-US" sz="1100" dirty="0">
                <a:solidFill>
                  <a:srgbClr val="6B6B6B"/>
                </a:solidFill>
              </a:rPr>
              <a:t>yes</a:t>
            </a:r>
            <a:endParaRPr lang="en-US" sz="1100" dirty="0"/>
          </a:p>
        </p:txBody>
      </p:sp>
      <p:sp>
        <p:nvSpPr>
          <p:cNvPr id="15" name="Shape 12"/>
          <p:cNvSpPr/>
          <p:nvPr/>
        </p:nvSpPr>
        <p:spPr>
          <a:xfrm>
            <a:off x="10012680" y="2560320"/>
            <a:ext cx="1325880" cy="411480"/>
          </a:xfrm>
          <a:prstGeom prst="roundRect">
            <a:avLst>
              <a:gd name="adj" fmla="val 11111"/>
            </a:avLst>
          </a:prstGeom>
          <a:solidFill>
            <a:srgbClr val="2B7043"/>
          </a:solidFill>
          <a:ln/>
        </p:spPr>
      </p:sp>
      <p:sp>
        <p:nvSpPr>
          <p:cNvPr id="16" name="Text 13"/>
          <p:cNvSpPr txBox="1"/>
          <p:nvPr/>
        </p:nvSpPr>
        <p:spPr>
          <a:xfrm>
            <a:off x="10012680" y="2560320"/>
            <a:ext cx="1325880" cy="411480"/>
          </a:xfrm>
          <a:prstGeom prst="rect">
            <a:avLst/>
          </a:prstGeom>
          <a:noFill/>
          <a:ln/>
        </p:spPr>
        <p:txBody>
          <a:bodyPr wrap="square" lIns="0" tIns="0" rIns="0" bIns="0" rtlCol="0" anchor="ctr"/>
          <a:lstStyle/>
          <a:p>
            <a:pPr algn="ctr" indent="0" marL="0">
              <a:buNone/>
            </a:pPr>
            <a:r>
              <a:rPr lang="en-US" sz="1300" b="1" dirty="0">
                <a:solidFill>
                  <a:srgbClr val="FFFFFF"/>
                </a:solidFill>
              </a:rPr>
              <a:t>PERMIT</a:t>
            </a:r>
            <a:endParaRPr lang="en-US" sz="1300" dirty="0"/>
          </a:p>
        </p:txBody>
      </p:sp>
      <p:sp>
        <p:nvSpPr>
          <p:cNvPr id="17" name="Text 14"/>
          <p:cNvSpPr txBox="1"/>
          <p:nvPr/>
        </p:nvSpPr>
        <p:spPr>
          <a:xfrm>
            <a:off x="8206740" y="3026664"/>
            <a:ext cx="365760" cy="274320"/>
          </a:xfrm>
          <a:prstGeom prst="rect">
            <a:avLst/>
          </a:prstGeom>
          <a:noFill/>
          <a:ln/>
        </p:spPr>
        <p:txBody>
          <a:bodyPr wrap="square" lIns="0" tIns="0" rIns="0" bIns="0" rtlCol="0" anchor="ctr"/>
          <a:lstStyle/>
          <a:p>
            <a:pPr indent="0" marL="0">
              <a:buNone/>
            </a:pPr>
            <a:r>
              <a:rPr lang="en-US" sz="1100" dirty="0">
                <a:solidFill>
                  <a:srgbClr val="6B6B6B"/>
                </a:solidFill>
              </a:rPr>
              <a:t>no</a:t>
            </a:r>
            <a:endParaRPr lang="en-US" sz="1100" dirty="0"/>
          </a:p>
        </p:txBody>
      </p:sp>
      <p:sp>
        <p:nvSpPr>
          <p:cNvPr id="18" name="Shape 15"/>
          <p:cNvSpPr/>
          <p:nvPr/>
        </p:nvSpPr>
        <p:spPr>
          <a:xfrm>
            <a:off x="8161020" y="3017520"/>
            <a:ext cx="914" cy="320040"/>
          </a:xfrm>
          <a:prstGeom prst="line">
            <a:avLst/>
          </a:prstGeom>
          <a:noFill/>
          <a:ln w="22225">
            <a:solidFill>
              <a:srgbClr val="6B6B6B"/>
            </a:solidFill>
            <a:prstDash val="solid"/>
            <a:tailEnd type="triangle"/>
          </a:ln>
        </p:spPr>
      </p:sp>
      <p:sp>
        <p:nvSpPr>
          <p:cNvPr id="19" name="Shape 16"/>
          <p:cNvSpPr/>
          <p:nvPr/>
        </p:nvSpPr>
        <p:spPr>
          <a:xfrm>
            <a:off x="6903720" y="3337560"/>
            <a:ext cx="2514600" cy="502920"/>
          </a:xfrm>
          <a:prstGeom prst="roundRect">
            <a:avLst>
              <a:gd name="adj" fmla="val 10909"/>
            </a:avLst>
          </a:prstGeom>
          <a:solidFill>
            <a:srgbClr val="E8F1EA"/>
          </a:solidFill>
          <a:ln w="12700">
            <a:solidFill>
              <a:srgbClr val="B7C9BA"/>
            </a:solidFill>
            <a:prstDash val="solid"/>
          </a:ln>
        </p:spPr>
      </p:sp>
      <p:sp>
        <p:nvSpPr>
          <p:cNvPr id="20" name="Text 17"/>
          <p:cNvSpPr txBox="1"/>
          <p:nvPr/>
        </p:nvSpPr>
        <p:spPr>
          <a:xfrm>
            <a:off x="6903720" y="3337560"/>
            <a:ext cx="2514600" cy="502920"/>
          </a:xfrm>
          <a:prstGeom prst="rect">
            <a:avLst/>
          </a:prstGeom>
          <a:noFill/>
          <a:ln/>
        </p:spPr>
        <p:txBody>
          <a:bodyPr wrap="square" lIns="0" tIns="0" rIns="0" bIns="0" rtlCol="0" anchor="ctr"/>
          <a:lstStyle/>
          <a:p>
            <a:pPr algn="ctr" indent="0" marL="0">
              <a:buNone/>
            </a:pPr>
            <a:r>
              <a:rPr lang="en-US" sz="1400" dirty="0">
                <a:solidFill>
                  <a:srgbClr val="2B2B2B"/>
                </a:solidFill>
              </a:rPr>
              <a:t>Line 20 matches?</a:t>
            </a:r>
            <a:endParaRPr lang="en-US" sz="1400" dirty="0"/>
          </a:p>
        </p:txBody>
      </p:sp>
      <p:sp>
        <p:nvSpPr>
          <p:cNvPr id="21" name="Shape 18"/>
          <p:cNvSpPr/>
          <p:nvPr/>
        </p:nvSpPr>
        <p:spPr>
          <a:xfrm>
            <a:off x="9418320" y="3589020"/>
            <a:ext cx="548640" cy="914"/>
          </a:xfrm>
          <a:prstGeom prst="line">
            <a:avLst/>
          </a:prstGeom>
          <a:noFill/>
          <a:ln w="25400">
            <a:solidFill>
              <a:srgbClr val="8B1A1A"/>
            </a:solidFill>
            <a:prstDash val="solid"/>
            <a:tailEnd type="triangle"/>
          </a:ln>
        </p:spPr>
      </p:sp>
      <p:sp>
        <p:nvSpPr>
          <p:cNvPr id="22" name="Text 19"/>
          <p:cNvSpPr txBox="1"/>
          <p:nvPr/>
        </p:nvSpPr>
        <p:spPr>
          <a:xfrm>
            <a:off x="9436608" y="3291840"/>
            <a:ext cx="548640" cy="256032"/>
          </a:xfrm>
          <a:prstGeom prst="rect">
            <a:avLst/>
          </a:prstGeom>
          <a:noFill/>
          <a:ln/>
        </p:spPr>
        <p:txBody>
          <a:bodyPr wrap="square" lIns="0" tIns="0" rIns="0" bIns="0" rtlCol="0" anchor="ctr"/>
          <a:lstStyle/>
          <a:p>
            <a:pPr algn="ctr" indent="0" marL="0">
              <a:buNone/>
            </a:pPr>
            <a:r>
              <a:rPr lang="en-US" sz="1100" dirty="0">
                <a:solidFill>
                  <a:srgbClr val="6B6B6B"/>
                </a:solidFill>
              </a:rPr>
              <a:t>yes</a:t>
            </a:r>
            <a:endParaRPr lang="en-US" sz="1100" dirty="0"/>
          </a:p>
        </p:txBody>
      </p:sp>
      <p:sp>
        <p:nvSpPr>
          <p:cNvPr id="23" name="Shape 20"/>
          <p:cNvSpPr/>
          <p:nvPr/>
        </p:nvSpPr>
        <p:spPr>
          <a:xfrm>
            <a:off x="10012680" y="3383280"/>
            <a:ext cx="1325880" cy="411480"/>
          </a:xfrm>
          <a:prstGeom prst="roundRect">
            <a:avLst>
              <a:gd name="adj" fmla="val 11111"/>
            </a:avLst>
          </a:prstGeom>
          <a:solidFill>
            <a:srgbClr val="8B1A1A"/>
          </a:solidFill>
          <a:ln/>
        </p:spPr>
      </p:sp>
      <p:sp>
        <p:nvSpPr>
          <p:cNvPr id="24" name="Text 21"/>
          <p:cNvSpPr txBox="1"/>
          <p:nvPr/>
        </p:nvSpPr>
        <p:spPr>
          <a:xfrm>
            <a:off x="10012680" y="3383280"/>
            <a:ext cx="1325880" cy="411480"/>
          </a:xfrm>
          <a:prstGeom prst="rect">
            <a:avLst/>
          </a:prstGeom>
          <a:noFill/>
          <a:ln/>
        </p:spPr>
        <p:txBody>
          <a:bodyPr wrap="square" lIns="0" tIns="0" rIns="0" bIns="0" rtlCol="0" anchor="ctr"/>
          <a:lstStyle/>
          <a:p>
            <a:pPr algn="ctr" indent="0" marL="0">
              <a:buNone/>
            </a:pPr>
            <a:r>
              <a:rPr lang="en-US" sz="1300" b="1" dirty="0">
                <a:solidFill>
                  <a:srgbClr val="FFFFFF"/>
                </a:solidFill>
              </a:rPr>
              <a:t>DENY</a:t>
            </a:r>
            <a:endParaRPr lang="en-US" sz="1300" dirty="0"/>
          </a:p>
        </p:txBody>
      </p:sp>
      <p:sp>
        <p:nvSpPr>
          <p:cNvPr id="25" name="Text 22"/>
          <p:cNvSpPr txBox="1"/>
          <p:nvPr/>
        </p:nvSpPr>
        <p:spPr>
          <a:xfrm>
            <a:off x="8206740" y="3849624"/>
            <a:ext cx="365760" cy="274320"/>
          </a:xfrm>
          <a:prstGeom prst="rect">
            <a:avLst/>
          </a:prstGeom>
          <a:noFill/>
          <a:ln/>
        </p:spPr>
        <p:txBody>
          <a:bodyPr wrap="square" lIns="0" tIns="0" rIns="0" bIns="0" rtlCol="0" anchor="ctr"/>
          <a:lstStyle/>
          <a:p>
            <a:pPr indent="0" marL="0">
              <a:buNone/>
            </a:pPr>
            <a:r>
              <a:rPr lang="en-US" sz="1100" dirty="0">
                <a:solidFill>
                  <a:srgbClr val="6B6B6B"/>
                </a:solidFill>
              </a:rPr>
              <a:t>no</a:t>
            </a:r>
            <a:endParaRPr lang="en-US" sz="1100" dirty="0"/>
          </a:p>
        </p:txBody>
      </p:sp>
      <p:sp>
        <p:nvSpPr>
          <p:cNvPr id="26" name="Shape 23"/>
          <p:cNvSpPr/>
          <p:nvPr/>
        </p:nvSpPr>
        <p:spPr>
          <a:xfrm>
            <a:off x="8161020" y="3840480"/>
            <a:ext cx="914" cy="320040"/>
          </a:xfrm>
          <a:prstGeom prst="line">
            <a:avLst/>
          </a:prstGeom>
          <a:noFill/>
          <a:ln w="22225">
            <a:solidFill>
              <a:srgbClr val="6B6B6B"/>
            </a:solidFill>
            <a:prstDash val="solid"/>
            <a:tailEnd type="triangle"/>
          </a:ln>
        </p:spPr>
      </p:sp>
      <p:sp>
        <p:nvSpPr>
          <p:cNvPr id="27" name="Shape 24"/>
          <p:cNvSpPr/>
          <p:nvPr/>
        </p:nvSpPr>
        <p:spPr>
          <a:xfrm>
            <a:off x="6903720" y="4160520"/>
            <a:ext cx="2514600" cy="502920"/>
          </a:xfrm>
          <a:prstGeom prst="roundRect">
            <a:avLst>
              <a:gd name="adj" fmla="val 10909"/>
            </a:avLst>
          </a:prstGeom>
          <a:solidFill>
            <a:srgbClr val="E8F1EA"/>
          </a:solidFill>
          <a:ln w="12700">
            <a:solidFill>
              <a:srgbClr val="B7C9BA"/>
            </a:solidFill>
            <a:prstDash val="solid"/>
          </a:ln>
        </p:spPr>
      </p:sp>
      <p:sp>
        <p:nvSpPr>
          <p:cNvPr id="28" name="Text 25"/>
          <p:cNvSpPr txBox="1"/>
          <p:nvPr/>
        </p:nvSpPr>
        <p:spPr>
          <a:xfrm>
            <a:off x="6903720" y="4160520"/>
            <a:ext cx="2514600" cy="502920"/>
          </a:xfrm>
          <a:prstGeom prst="rect">
            <a:avLst/>
          </a:prstGeom>
          <a:noFill/>
          <a:ln/>
        </p:spPr>
        <p:txBody>
          <a:bodyPr wrap="square" lIns="0" tIns="0" rIns="0" bIns="0" rtlCol="0" anchor="ctr"/>
          <a:lstStyle/>
          <a:p>
            <a:pPr algn="ctr" indent="0" marL="0">
              <a:buNone/>
            </a:pPr>
            <a:r>
              <a:rPr lang="en-US" sz="1400" dirty="0">
                <a:solidFill>
                  <a:srgbClr val="2B2B2B"/>
                </a:solidFill>
              </a:rPr>
              <a:t>Line 30 matches?</a:t>
            </a:r>
            <a:endParaRPr lang="en-US" sz="1400" dirty="0"/>
          </a:p>
        </p:txBody>
      </p:sp>
      <p:sp>
        <p:nvSpPr>
          <p:cNvPr id="29" name="Shape 26"/>
          <p:cNvSpPr/>
          <p:nvPr/>
        </p:nvSpPr>
        <p:spPr>
          <a:xfrm>
            <a:off x="9418320" y="4411980"/>
            <a:ext cx="548640" cy="914"/>
          </a:xfrm>
          <a:prstGeom prst="line">
            <a:avLst/>
          </a:prstGeom>
          <a:noFill/>
          <a:ln w="25400">
            <a:solidFill>
              <a:srgbClr val="2B7043"/>
            </a:solidFill>
            <a:prstDash val="solid"/>
            <a:tailEnd type="triangle"/>
          </a:ln>
        </p:spPr>
      </p:sp>
      <p:sp>
        <p:nvSpPr>
          <p:cNvPr id="30" name="Text 27"/>
          <p:cNvSpPr txBox="1"/>
          <p:nvPr/>
        </p:nvSpPr>
        <p:spPr>
          <a:xfrm>
            <a:off x="9436608" y="4114800"/>
            <a:ext cx="548640" cy="256032"/>
          </a:xfrm>
          <a:prstGeom prst="rect">
            <a:avLst/>
          </a:prstGeom>
          <a:noFill/>
          <a:ln/>
        </p:spPr>
        <p:txBody>
          <a:bodyPr wrap="square" lIns="0" tIns="0" rIns="0" bIns="0" rtlCol="0" anchor="ctr"/>
          <a:lstStyle/>
          <a:p>
            <a:pPr algn="ctr" indent="0" marL="0">
              <a:buNone/>
            </a:pPr>
            <a:r>
              <a:rPr lang="en-US" sz="1100" dirty="0">
                <a:solidFill>
                  <a:srgbClr val="6B6B6B"/>
                </a:solidFill>
              </a:rPr>
              <a:t>yes</a:t>
            </a:r>
            <a:endParaRPr lang="en-US" sz="1100" dirty="0"/>
          </a:p>
        </p:txBody>
      </p:sp>
      <p:sp>
        <p:nvSpPr>
          <p:cNvPr id="31" name="Shape 28"/>
          <p:cNvSpPr/>
          <p:nvPr/>
        </p:nvSpPr>
        <p:spPr>
          <a:xfrm>
            <a:off x="10012680" y="4206240"/>
            <a:ext cx="1325880" cy="411480"/>
          </a:xfrm>
          <a:prstGeom prst="roundRect">
            <a:avLst>
              <a:gd name="adj" fmla="val 11111"/>
            </a:avLst>
          </a:prstGeom>
          <a:solidFill>
            <a:srgbClr val="2B7043"/>
          </a:solidFill>
          <a:ln/>
        </p:spPr>
      </p:sp>
      <p:sp>
        <p:nvSpPr>
          <p:cNvPr id="32" name="Text 29"/>
          <p:cNvSpPr txBox="1"/>
          <p:nvPr/>
        </p:nvSpPr>
        <p:spPr>
          <a:xfrm>
            <a:off x="10012680" y="4206240"/>
            <a:ext cx="1325880" cy="411480"/>
          </a:xfrm>
          <a:prstGeom prst="rect">
            <a:avLst/>
          </a:prstGeom>
          <a:noFill/>
          <a:ln/>
        </p:spPr>
        <p:txBody>
          <a:bodyPr wrap="square" lIns="0" tIns="0" rIns="0" bIns="0" rtlCol="0" anchor="ctr"/>
          <a:lstStyle/>
          <a:p>
            <a:pPr algn="ctr" indent="0" marL="0">
              <a:buNone/>
            </a:pPr>
            <a:r>
              <a:rPr lang="en-US" sz="1300" b="1" dirty="0">
                <a:solidFill>
                  <a:srgbClr val="FFFFFF"/>
                </a:solidFill>
              </a:rPr>
              <a:t>PERMIT</a:t>
            </a:r>
            <a:endParaRPr lang="en-US" sz="1300" dirty="0"/>
          </a:p>
        </p:txBody>
      </p:sp>
      <p:sp>
        <p:nvSpPr>
          <p:cNvPr id="33" name="Text 30"/>
          <p:cNvSpPr txBox="1"/>
          <p:nvPr/>
        </p:nvSpPr>
        <p:spPr>
          <a:xfrm>
            <a:off x="8206740" y="4672584"/>
            <a:ext cx="365760" cy="274320"/>
          </a:xfrm>
          <a:prstGeom prst="rect">
            <a:avLst/>
          </a:prstGeom>
          <a:noFill/>
          <a:ln/>
        </p:spPr>
        <p:txBody>
          <a:bodyPr wrap="square" lIns="0" tIns="0" rIns="0" bIns="0" rtlCol="0" anchor="ctr"/>
          <a:lstStyle/>
          <a:p>
            <a:pPr indent="0" marL="0">
              <a:buNone/>
            </a:pPr>
            <a:r>
              <a:rPr lang="en-US" sz="1100" dirty="0">
                <a:solidFill>
                  <a:srgbClr val="6B6B6B"/>
                </a:solidFill>
              </a:rPr>
              <a:t>no</a:t>
            </a:r>
            <a:endParaRPr lang="en-US" sz="1100" dirty="0"/>
          </a:p>
        </p:txBody>
      </p:sp>
      <p:sp>
        <p:nvSpPr>
          <p:cNvPr id="34" name="Shape 31"/>
          <p:cNvSpPr/>
          <p:nvPr/>
        </p:nvSpPr>
        <p:spPr>
          <a:xfrm>
            <a:off x="8161020" y="4663440"/>
            <a:ext cx="914" cy="320040"/>
          </a:xfrm>
          <a:prstGeom prst="line">
            <a:avLst/>
          </a:prstGeom>
          <a:noFill/>
          <a:ln w="22225">
            <a:solidFill>
              <a:srgbClr val="6B6B6B"/>
            </a:solidFill>
            <a:prstDash val="solid"/>
            <a:tailEnd type="triangle"/>
          </a:ln>
        </p:spPr>
      </p:sp>
      <p:sp>
        <p:nvSpPr>
          <p:cNvPr id="35" name="Shape 32"/>
          <p:cNvSpPr/>
          <p:nvPr/>
        </p:nvSpPr>
        <p:spPr>
          <a:xfrm>
            <a:off x="6903720" y="4983480"/>
            <a:ext cx="4434840" cy="548640"/>
          </a:xfrm>
          <a:prstGeom prst="roundRect">
            <a:avLst>
              <a:gd name="adj" fmla="val 10000"/>
            </a:avLst>
          </a:prstGeom>
          <a:solidFill>
            <a:srgbClr val="FBEAEA"/>
          </a:solidFill>
          <a:ln w="15875">
            <a:solidFill>
              <a:srgbClr val="E9B8B5"/>
            </a:solidFill>
            <a:prstDash val="dash"/>
          </a:ln>
        </p:spPr>
      </p:sp>
      <p:sp>
        <p:nvSpPr>
          <p:cNvPr id="36" name="Text 33"/>
          <p:cNvSpPr txBox="1"/>
          <p:nvPr/>
        </p:nvSpPr>
        <p:spPr>
          <a:xfrm>
            <a:off x="6903720" y="4983480"/>
            <a:ext cx="4434840" cy="548640"/>
          </a:xfrm>
          <a:prstGeom prst="rect">
            <a:avLst/>
          </a:prstGeom>
          <a:noFill/>
          <a:ln/>
        </p:spPr>
        <p:txBody>
          <a:bodyPr wrap="square" lIns="0" tIns="0" rIns="0" bIns="0" rtlCol="0" anchor="ctr"/>
          <a:lstStyle/>
          <a:p>
            <a:pPr algn="ctr" indent="0" marL="0">
              <a:buNone/>
            </a:pPr>
            <a:r>
              <a:rPr lang="en-US" sz="1400" dirty="0">
                <a:solidFill>
                  <a:srgbClr val="8B1A1A"/>
                </a:solidFill>
              </a:rPr>
              <a:t>No match at all → hidden </a:t>
            </a:r>
            <a:r>
              <a:rPr lang="en-US" sz="1400" b="1" dirty="0">
                <a:solidFill>
                  <a:srgbClr val="8B1A1A"/>
                </a:solidFill>
              </a:rPr>
              <a:t>deny any</a:t>
            </a:r>
            <a:endParaRPr lang="en-US" sz="1400" dirty="0"/>
          </a:p>
        </p:txBody>
      </p:sp>
      <p:sp>
        <p:nvSpPr>
          <p:cNvPr id="37" name="Text 34"/>
          <p:cNvSpPr txBox="1"/>
          <p:nvPr/>
        </p:nvSpPr>
        <p:spPr>
          <a:xfrm>
            <a:off x="6903720" y="5641848"/>
            <a:ext cx="4434840" cy="502920"/>
          </a:xfrm>
          <a:prstGeom prst="rect">
            <a:avLst/>
          </a:prstGeom>
          <a:noFill/>
          <a:ln/>
        </p:spPr>
        <p:txBody>
          <a:bodyPr wrap="square" lIns="0" tIns="0" rIns="0" bIns="0" rtlCol="0" anchor="t"/>
          <a:lstStyle/>
          <a:p>
            <a:pPr indent="0" marL="0">
              <a:buNone/>
            </a:pPr>
            <a:r>
              <a:rPr lang="en-US" sz="1200" dirty="0">
                <a:solidFill>
                  <a:srgbClr val="6B6B6B"/>
                </a:solidFill>
              </a:rPr>
              <a:t>Once a line matches, the packet is permitted or dropped — later lines are never read.</a:t>
            </a:r>
            <a:endParaRPr lang="en-US" sz="1200" dirty="0"/>
          </a:p>
        </p:txBody>
      </p:sp>
      <p:sp>
        <p:nvSpPr>
          <p:cNvPr id="38" name="Slide Number Placeholder 0"/>
          <p:cNvSpPr>
            <a:spLocks noGrp="1"/>
          </p:cNvSpPr>
          <p:nvPr>
            <p:ph type="sldNum" sz="quarter" idx="4294967295"/>
          </p:nvPr>
        </p:nvSpPr>
        <p:spPr>
          <a:xfrm>
            <a:off x="10698480" y="6464808"/>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1"/>
          <p:cNvSpPr/>
          <p:nvPr>
            <p:ph idx="102" type="body" hasCustomPrompt="1"/>
          </p:nvPr>
        </p:nvSpPr>
        <p:spPr>
          <a:xfrm>
            <a:off x="548640" y="274320"/>
            <a:ext cx="9966960" cy="256032"/>
          </a:xfrm>
          <a:prstGeom prst="rect">
            <a:avLst/>
          </a:prstGeom>
          <a:noFill/>
          <a:ln/>
        </p:spPr>
        <p:txBody>
          <a:bodyPr wrap="square" lIns="0" tIns="0" rIns="0" bIns="0" rtlCol="0" anchor="ctr"/>
          <a:lstStyle/>
          <a:p>
            <a:pPr algn="l" indent="0" marL="0">
              <a:buNone/>
            </a:pPr>
            <a:r>
              <a:rPr lang="en-US" sz="1100" b="1" spc="100" kern="0" dirty="0">
                <a:solidFill>
                  <a:schemeClr val="accent2"/>
                </a:solidFill>
              </a:rPr>
              <a:t>08  •  SECURITY &amp; NAT  •  LAB 6</a:t>
            </a:r>
            <a:endParaRPr lang="en-US" sz="1100" dirty="0"/>
          </a:p>
        </p:txBody>
      </p:sp>
      <p:sp>
        <p:nvSpPr>
          <p:cNvPr id="3" name="Text 1"/>
          <p:cNvSpPr/>
          <p:nvPr>
            <p:ph idx="103" type="title" hasCustomPrompt="1"/>
          </p:nvPr>
        </p:nvSpPr>
        <p:spPr>
          <a:xfrm>
            <a:off x="548640" y="548640"/>
            <a:ext cx="10149840" cy="548640"/>
          </a:xfrm>
          <a:prstGeom prst="rect">
            <a:avLst/>
          </a:prstGeom>
          <a:noFill/>
          <a:ln/>
        </p:spPr>
        <p:txBody>
          <a:bodyPr wrap="square" lIns="0" tIns="0" rIns="0" bIns="0" rtlCol="0" anchor="ctr"/>
          <a:lstStyle/>
          <a:p>
            <a:pPr algn="l" indent="0" marL="0">
              <a:buNone/>
            </a:pPr>
            <a:r>
              <a:rPr lang="en-US" sz="2600" b="1" dirty="0">
                <a:solidFill>
                  <a:schemeClr val="accent1"/>
                </a:solidFill>
              </a:rPr>
              <a:t>How to let only the admin PC manage the router</a:t>
            </a:r>
            <a:endParaRPr lang="en-US" sz="2600" dirty="0"/>
          </a:p>
        </p:txBody>
      </p:sp>
      <p:pic>
        <p:nvPicPr>
          <p:cNvPr id="4" name="Home button" descr="Home: back to the workbook menu">
            <a:hlinkClick r:id="rId2" tooltip="Back to the workbook menu" action="ppaction://hlinksldjump"/>
          </p:cNvPr>
          <p:cNvPicPr>
            <a:picLocks noChangeAspect="1"/>
          </p:cNvPicPr>
          <p:nvPr/>
        </p:nvPicPr>
        <p:blipFill>
          <a:blip r:embed="rId1"/>
          <a:stretch>
            <a:fillRect/>
          </a:stretch>
        </p:blipFill>
        <p:spPr>
          <a:xfrm>
            <a:off x="11365992" y="6336792"/>
            <a:ext cx="365760" cy="365760"/>
          </a:xfrm>
          <a:prstGeom prst="rect">
            <a:avLst/>
          </a:prstGeom>
        </p:spPr>
      </p:pic>
      <p:sp>
        <p:nvSpPr>
          <p:cNvPr id="5" name="Goal"/>
          <p:cNvSpPr txBox="1"/>
          <p:nvPr/>
        </p:nvSpPr>
        <p:spPr>
          <a:xfrm>
            <a:off x="548640" y="1161288"/>
            <a:ext cx="11094415" cy="384048"/>
          </a:xfrm>
          <a:prstGeom prst="rect">
            <a:avLst/>
          </a:prstGeom>
          <a:noFill/>
          <a:ln/>
        </p:spPr>
        <p:txBody>
          <a:bodyPr wrap="square" lIns="0" tIns="0" rIns="0" bIns="0" rtlCol="0" anchor="ctr"/>
          <a:lstStyle/>
          <a:p>
            <a:pPr indent="0" marL="0">
              <a:buNone/>
            </a:pPr>
            <a:r>
              <a:rPr lang="en-US" sz="1400" b="1" dirty="0">
                <a:solidFill>
                  <a:srgbClr val="2B7043"/>
                </a:solidFill>
              </a:rPr>
              <a:t>Goal:  </a:t>
            </a:r>
            <a:r>
              <a:rPr lang="en-US" sz="1400" dirty="0">
                <a:solidFill>
                  <a:srgbClr val="2B2B2B"/>
                </a:solidFill>
              </a:rPr>
              <a:t>A standard ACL on the VTY lines: only ADMIN-PC (192.168.10.10) may open an SSH session to R1.</a:t>
            </a:r>
            <a:endParaRPr lang="en-US" sz="1400" dirty="0"/>
          </a:p>
        </p:txBody>
      </p:sp>
      <p:sp>
        <p:nvSpPr>
          <p:cNvPr id="6" name="Command header"/>
          <p:cNvSpPr/>
          <p:nvPr/>
        </p:nvSpPr>
        <p:spPr>
          <a:xfrm>
            <a:off x="548640" y="1664208"/>
            <a:ext cx="6153912" cy="310896"/>
          </a:xfrm>
          <a:prstGeom prst="rect">
            <a:avLst/>
          </a:prstGeom>
          <a:solidFill>
            <a:srgbClr val="1B2B22"/>
          </a:solidFill>
          <a:ln/>
        </p:spPr>
        <p:txBody>
          <a:bodyPr wrap="square" lIns="109728" tIns="45720" rIns="109728" bIns="45720" rtlCol="0" anchor="ctr"/>
          <a:lstStyle/>
          <a:p>
            <a:pPr indent="0" marL="0">
              <a:buNone/>
            </a:pPr>
            <a:r>
              <a:rPr lang="en-US" sz="1100" dirty="0">
                <a:solidFill>
                  <a:srgbClr val="E0605A"/>
                </a:solidFill>
              </a:rPr>
              <a:t>●  </a:t>
            </a:r>
            <a:r>
              <a:rPr lang="en-US" sz="1100" dirty="0">
                <a:solidFill>
                  <a:srgbClr val="E8B92E"/>
                </a:solidFill>
              </a:rPr>
              <a:t>●  </a:t>
            </a:r>
            <a:r>
              <a:rPr lang="en-US" sz="1100" dirty="0">
                <a:solidFill>
                  <a:srgbClr val="4CAF50"/>
                </a:solidFill>
              </a:rPr>
              <a:t>●   </a:t>
            </a:r>
            <a:r>
              <a:rPr lang="en-US" sz="1100" b="1" dirty="0">
                <a:solidFill>
                  <a:srgbClr val="C9D6CC"/>
                </a:solidFill>
              </a:rPr>
              <a:t>R1  —  type the white text, then press Enter</a:t>
            </a:r>
            <a:endParaRPr lang="en-US" sz="1100" dirty="0"/>
          </a:p>
        </p:txBody>
      </p:sp>
      <p:sp>
        <p:nvSpPr>
          <p:cNvPr id="7" name="Meaning header"/>
          <p:cNvSpPr/>
          <p:nvPr/>
        </p:nvSpPr>
        <p:spPr>
          <a:xfrm>
            <a:off x="6720840" y="1664208"/>
            <a:ext cx="4922215" cy="310896"/>
          </a:xfrm>
          <a:prstGeom prst="rect">
            <a:avLst/>
          </a:prstGeom>
          <a:solidFill>
            <a:srgbClr val="E8F1EA"/>
          </a:solidFill>
          <a:ln/>
        </p:spPr>
        <p:txBody>
          <a:bodyPr wrap="square" lIns="109728" tIns="45720" rIns="109728" bIns="45720" rtlCol="0" anchor="ctr"/>
          <a:lstStyle/>
          <a:p>
            <a:pPr indent="0" marL="0">
              <a:buNone/>
            </a:pPr>
            <a:r>
              <a:rPr lang="en-US" sz="1200" b="1" dirty="0">
                <a:solidFill>
                  <a:srgbClr val="1E5631"/>
                </a:solidFill>
              </a:rPr>
              <a:t>What it does</a:t>
            </a:r>
            <a:endParaRPr lang="en-US" sz="1200" dirty="0"/>
          </a:p>
        </p:txBody>
      </p:sp>
      <p:sp>
        <p:nvSpPr>
          <p:cNvPr id="8" name="Command 01"/>
          <p:cNvSpPr/>
          <p:nvPr/>
        </p:nvSpPr>
        <p:spPr>
          <a:xfrm>
            <a:off x="548640" y="1993392"/>
            <a:ext cx="6153912" cy="326768"/>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R1(config)# </a:t>
            </a:r>
            <a:r>
              <a:rPr lang="en-US" sz="1200" b="1" dirty="0">
                <a:solidFill>
                  <a:srgbClr val="FFFFFF"/>
                </a:solidFill>
                <a:latin typeface="Courier New" pitchFamily="34" charset="0"/>
                <a:ea typeface="Courier New" pitchFamily="34" charset="-122"/>
                <a:cs typeface="Courier New" pitchFamily="34" charset="-120"/>
              </a:rPr>
              <a:t>access-list 10 remark ONLY ADMIN-PC MAY MANAGE R1</a:t>
            </a:r>
            <a:endParaRPr lang="en-US" sz="1200" dirty="0"/>
          </a:p>
        </p:txBody>
      </p:sp>
      <p:sp>
        <p:nvSpPr>
          <p:cNvPr id="9" name="Reveal 01 meaning"/>
          <p:cNvSpPr/>
          <p:nvPr/>
        </p:nvSpPr>
        <p:spPr>
          <a:xfrm>
            <a:off x="6720840" y="1993392"/>
            <a:ext cx="4922215" cy="326768"/>
          </a:xfrm>
          <a:prstGeom prst="rect">
            <a:avLst/>
          </a:prstGeom>
          <a:solidFill>
            <a:srgbClr val="F2F8F3"/>
          </a:solidFill>
          <a:ln/>
        </p:spPr>
        <p:txBody>
          <a:bodyPr wrap="square" lIns="109728" tIns="45720" rIns="109728" bIns="45720" rtlCol="0" anchor="ctr"/>
          <a:lstStyle/>
          <a:p>
            <a:pPr indent="0" marL="0">
              <a:buNone/>
            </a:pPr>
            <a:r>
              <a:rPr lang="en-US" sz="1400" dirty="0">
                <a:solidFill>
                  <a:srgbClr val="2B2B2B"/>
                </a:solidFill>
              </a:rPr>
              <a:t>A note stored with the ACL, for the next administrator.</a:t>
            </a:r>
            <a:endParaRPr lang="en-US" sz="1400" dirty="0"/>
          </a:p>
        </p:txBody>
      </p:sp>
      <p:sp>
        <p:nvSpPr>
          <p:cNvPr id="10" name="Command 02"/>
          <p:cNvSpPr/>
          <p:nvPr/>
        </p:nvSpPr>
        <p:spPr>
          <a:xfrm>
            <a:off x="548640" y="2338448"/>
            <a:ext cx="6153912" cy="54380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R1(config)# </a:t>
            </a:r>
            <a:r>
              <a:rPr lang="en-US" sz="1200" b="1" dirty="0">
                <a:solidFill>
                  <a:srgbClr val="FFFFFF"/>
                </a:solidFill>
                <a:latin typeface="Courier New" pitchFamily="34" charset="0"/>
                <a:ea typeface="Courier New" pitchFamily="34" charset="-122"/>
                <a:cs typeface="Courier New" pitchFamily="34" charset="-120"/>
              </a:rPr>
              <a:t>access-list 10 permit host 192.168.10.10</a:t>
            </a:r>
            <a:endParaRPr lang="en-US" sz="1200" dirty="0"/>
          </a:p>
        </p:txBody>
      </p:sp>
      <p:sp>
        <p:nvSpPr>
          <p:cNvPr id="11" name="Reveal 02 meaning"/>
          <p:cNvSpPr/>
          <p:nvPr/>
        </p:nvSpPr>
        <p:spPr>
          <a:xfrm>
            <a:off x="6720840" y="2338448"/>
            <a:ext cx="4922215" cy="543809"/>
          </a:xfrm>
          <a:prstGeom prst="rect">
            <a:avLst/>
          </a:prstGeom>
          <a:solidFill>
            <a:srgbClr val="FFFFFF"/>
          </a:solidFill>
          <a:ln/>
        </p:spPr>
        <p:txBody>
          <a:bodyPr wrap="square" lIns="109728" tIns="45720" rIns="109728" bIns="45720" rtlCol="0" anchor="ctr"/>
          <a:lstStyle/>
          <a:p>
            <a:pPr indent="0" marL="0">
              <a:buNone/>
            </a:pPr>
            <a:r>
              <a:rPr lang="en-US" sz="1400" dirty="0">
                <a:solidFill>
                  <a:srgbClr val="2B2B2B"/>
                </a:solidFill>
              </a:rPr>
              <a:t>Permit only the admin PC’s address. The hidden deny any blocks everyone else.</a:t>
            </a:r>
            <a:endParaRPr lang="en-US" sz="1400" dirty="0"/>
          </a:p>
        </p:txBody>
      </p:sp>
      <p:sp>
        <p:nvSpPr>
          <p:cNvPr id="12" name="Command 03"/>
          <p:cNvSpPr/>
          <p:nvPr/>
        </p:nvSpPr>
        <p:spPr>
          <a:xfrm>
            <a:off x="548640" y="2900545"/>
            <a:ext cx="6153912" cy="326768"/>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R1(config)# </a:t>
            </a:r>
            <a:r>
              <a:rPr lang="en-US" sz="1200" b="1" dirty="0">
                <a:solidFill>
                  <a:srgbClr val="FFFFFF"/>
                </a:solidFill>
                <a:latin typeface="Courier New" pitchFamily="34" charset="0"/>
                <a:ea typeface="Courier New" pitchFamily="34" charset="-122"/>
                <a:cs typeface="Courier New" pitchFamily="34" charset="-120"/>
              </a:rPr>
              <a:t>line vty 0 4</a:t>
            </a:r>
            <a:endParaRPr lang="en-US" sz="1200" dirty="0"/>
          </a:p>
        </p:txBody>
      </p:sp>
      <p:sp>
        <p:nvSpPr>
          <p:cNvPr id="13" name="Reveal 03 meaning"/>
          <p:cNvSpPr/>
          <p:nvPr/>
        </p:nvSpPr>
        <p:spPr>
          <a:xfrm>
            <a:off x="6720840" y="2900545"/>
            <a:ext cx="4922215" cy="326768"/>
          </a:xfrm>
          <a:prstGeom prst="rect">
            <a:avLst/>
          </a:prstGeom>
          <a:solidFill>
            <a:srgbClr val="F2F8F3"/>
          </a:solidFill>
          <a:ln/>
        </p:spPr>
        <p:txBody>
          <a:bodyPr wrap="square" lIns="109728" tIns="45720" rIns="109728" bIns="45720" rtlCol="0" anchor="ctr"/>
          <a:lstStyle/>
          <a:p>
            <a:pPr indent="0" marL="0">
              <a:buNone/>
            </a:pPr>
            <a:r>
              <a:rPr lang="en-US" sz="1400" dirty="0">
                <a:solidFill>
                  <a:srgbClr val="2B2B2B"/>
                </a:solidFill>
              </a:rPr>
              <a:t>The remote-access lines.</a:t>
            </a:r>
            <a:endParaRPr lang="en-US" sz="1400" dirty="0"/>
          </a:p>
        </p:txBody>
      </p:sp>
      <p:sp>
        <p:nvSpPr>
          <p:cNvPr id="14" name="Command 04"/>
          <p:cNvSpPr/>
          <p:nvPr/>
        </p:nvSpPr>
        <p:spPr>
          <a:xfrm>
            <a:off x="548640" y="3245602"/>
            <a:ext cx="6153912" cy="54380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R1(config-line)# </a:t>
            </a:r>
            <a:r>
              <a:rPr lang="en-US" sz="1200" b="1" dirty="0">
                <a:solidFill>
                  <a:srgbClr val="FFFFFF"/>
                </a:solidFill>
                <a:latin typeface="Courier New" pitchFamily="34" charset="0"/>
                <a:ea typeface="Courier New" pitchFamily="34" charset="-122"/>
                <a:cs typeface="Courier New" pitchFamily="34" charset="-120"/>
              </a:rPr>
              <a:t>access-class 10 in</a:t>
            </a:r>
            <a:endParaRPr lang="en-US" sz="1200" dirty="0"/>
          </a:p>
        </p:txBody>
      </p:sp>
      <p:sp>
        <p:nvSpPr>
          <p:cNvPr id="15" name="Reveal 04 meaning"/>
          <p:cNvSpPr/>
          <p:nvPr/>
        </p:nvSpPr>
        <p:spPr>
          <a:xfrm>
            <a:off x="6720840" y="3245602"/>
            <a:ext cx="4922215" cy="543809"/>
          </a:xfrm>
          <a:prstGeom prst="rect">
            <a:avLst/>
          </a:prstGeom>
          <a:solidFill>
            <a:srgbClr val="FFFFFF"/>
          </a:solidFill>
          <a:ln/>
        </p:spPr>
        <p:txBody>
          <a:bodyPr wrap="square" lIns="109728" tIns="45720" rIns="109728" bIns="45720" rtlCol="0" anchor="ctr"/>
          <a:lstStyle/>
          <a:p>
            <a:pPr indent="0" marL="0">
              <a:buNone/>
            </a:pPr>
            <a:r>
              <a:rPr lang="en-US" sz="1400" dirty="0">
                <a:solidFill>
                  <a:srgbClr val="2B2B2B"/>
                </a:solidFill>
              </a:rPr>
              <a:t>Check each incoming SSH session against ACL 10. On lines it is </a:t>
            </a:r>
            <a:r>
              <a:rPr lang="en-US" sz="1300" b="1" dirty="0">
                <a:solidFill>
                  <a:srgbClr val="1E5631"/>
                </a:solidFill>
                <a:latin typeface="Courier New" pitchFamily="34" charset="0"/>
                <a:ea typeface="Courier New" pitchFamily="34" charset="-122"/>
                <a:cs typeface="Courier New" pitchFamily="34" charset="-120"/>
              </a:rPr>
              <a:t>access-class</a:t>
            </a:r>
            <a:r>
              <a:rPr lang="en-US" sz="1400" dirty="0">
                <a:solidFill>
                  <a:srgbClr val="2B2B2B"/>
                </a:solidFill>
              </a:rPr>
              <a:t>; on interfaces it is </a:t>
            </a:r>
            <a:r>
              <a:rPr lang="en-US" sz="1300" b="1" dirty="0">
                <a:solidFill>
                  <a:srgbClr val="1E5631"/>
                </a:solidFill>
                <a:latin typeface="Courier New" pitchFamily="34" charset="0"/>
                <a:ea typeface="Courier New" pitchFamily="34" charset="-122"/>
                <a:cs typeface="Courier New" pitchFamily="34" charset="-120"/>
              </a:rPr>
              <a:t>ip access-group</a:t>
            </a:r>
            <a:r>
              <a:rPr lang="en-US" sz="1400" dirty="0">
                <a:solidFill>
                  <a:srgbClr val="2B2B2B"/>
                </a:solidFill>
              </a:rPr>
              <a:t>.</a:t>
            </a:r>
            <a:endParaRPr lang="en-US" sz="1400" dirty="0"/>
          </a:p>
        </p:txBody>
      </p:sp>
      <p:sp>
        <p:nvSpPr>
          <p:cNvPr id="16" name="Reveal 99 check box"/>
          <p:cNvSpPr/>
          <p:nvPr/>
        </p:nvSpPr>
        <p:spPr>
          <a:xfrm>
            <a:off x="548640" y="5504688"/>
            <a:ext cx="5410048" cy="749808"/>
          </a:xfrm>
          <a:prstGeom prst="roundRect">
            <a:avLst>
              <a:gd name="adj" fmla="val 9756"/>
            </a:avLst>
          </a:prstGeom>
          <a:solidFill>
            <a:srgbClr val="E8F1EA"/>
          </a:solidFill>
          <a:ln w="12700">
            <a:solidFill>
              <a:srgbClr val="B7C9BA"/>
            </a:solidFill>
            <a:prstDash val="solid"/>
          </a:ln>
        </p:spPr>
      </p:sp>
      <p:pic>
        <p:nvPicPr>
          <p:cNvPr id="17" name="Reveal 99 check icon" descr="Check it:">    </p:cNvPr>
          <p:cNvPicPr>
            <a:picLocks noChangeAspect="1"/>
          </p:cNvPicPr>
          <p:nvPr/>
        </p:nvPicPr>
        <p:blipFill>
          <a:blip r:embed="rId3"/>
          <a:stretch>
            <a:fillRect/>
          </a:stretch>
        </p:blipFill>
        <p:spPr>
          <a:xfrm>
            <a:off x="694944" y="5733288"/>
            <a:ext cx="292608" cy="292608"/>
          </a:xfrm>
          <a:prstGeom prst="rect">
            <a:avLst/>
          </a:prstGeom>
        </p:spPr>
      </p:pic>
      <p:sp>
        <p:nvSpPr>
          <p:cNvPr id="18" name="Reveal 99 check text"/>
          <p:cNvSpPr txBox="1"/>
          <p:nvPr/>
        </p:nvSpPr>
        <p:spPr>
          <a:xfrm>
            <a:off x="1097280" y="5541264"/>
            <a:ext cx="4751680" cy="676656"/>
          </a:xfrm>
          <a:prstGeom prst="rect">
            <a:avLst/>
          </a:prstGeom>
          <a:noFill/>
          <a:ln/>
        </p:spPr>
        <p:txBody>
          <a:bodyPr wrap="square" lIns="0" tIns="0" rIns="0" bIns="0" rtlCol="0" anchor="ctr"/>
          <a:lstStyle/>
          <a:p>
            <a:pPr indent="0" marL="0">
              <a:buNone/>
            </a:pPr>
            <a:r>
              <a:rPr lang="en-US" sz="1400" b="1" dirty="0">
                <a:solidFill>
                  <a:srgbClr val="1E5631"/>
                </a:solidFill>
              </a:rPr>
              <a:t>Check it:  </a:t>
            </a:r>
            <a:r>
              <a:rPr lang="en-US" sz="1400" dirty="0">
                <a:solidFill>
                  <a:srgbClr val="2B2B2B"/>
                </a:solidFill>
              </a:rPr>
              <a:t>ADMIN-PC: </a:t>
            </a:r>
            <a:r>
              <a:rPr lang="en-US" sz="1300" b="1" dirty="0">
                <a:solidFill>
                  <a:srgbClr val="1E5631"/>
                </a:solidFill>
                <a:latin typeface="Courier New" pitchFamily="34" charset="0"/>
                <a:ea typeface="Courier New" pitchFamily="34" charset="-122"/>
                <a:cs typeface="Courier New" pitchFamily="34" charset="-120"/>
              </a:rPr>
              <a:t>ssh -l netadmin 192.168.10.1</a:t>
            </a:r>
            <a:r>
              <a:rPr lang="en-US" sz="1400" dirty="0">
                <a:solidFill>
                  <a:srgbClr val="2B2B2B"/>
                </a:solidFill>
              </a:rPr>
              <a:t> works. STAFF-PC: the connection is refused.</a:t>
            </a:r>
            <a:endParaRPr lang="en-US" sz="1400" dirty="0"/>
          </a:p>
        </p:txBody>
      </p:sp>
      <p:sp>
        <p:nvSpPr>
          <p:cNvPr id="19" name="Reveal 99 watch box"/>
          <p:cNvSpPr/>
          <p:nvPr/>
        </p:nvSpPr>
        <p:spPr>
          <a:xfrm>
            <a:off x="6233008" y="5504688"/>
            <a:ext cx="5410048" cy="749808"/>
          </a:xfrm>
          <a:prstGeom prst="roundRect">
            <a:avLst>
              <a:gd name="adj" fmla="val 9756"/>
            </a:avLst>
          </a:prstGeom>
          <a:solidFill>
            <a:srgbClr val="FBEAEA"/>
          </a:solidFill>
          <a:ln w="12700">
            <a:solidFill>
              <a:srgbClr val="E9B8B5"/>
            </a:solidFill>
            <a:prstDash val="solid"/>
          </a:ln>
        </p:spPr>
      </p:sp>
      <p:pic>
        <p:nvPicPr>
          <p:cNvPr id="20" name="Reveal 99 watch icon" descr="Watch out:">    </p:cNvPr>
          <p:cNvPicPr>
            <a:picLocks noChangeAspect="1"/>
          </p:cNvPicPr>
          <p:nvPr/>
        </p:nvPicPr>
        <p:blipFill>
          <a:blip r:embed="rId4"/>
          <a:stretch>
            <a:fillRect/>
          </a:stretch>
        </p:blipFill>
        <p:spPr>
          <a:xfrm>
            <a:off x="6379312" y="5733288"/>
            <a:ext cx="292608" cy="292608"/>
          </a:xfrm>
          <a:prstGeom prst="rect">
            <a:avLst/>
          </a:prstGeom>
        </p:spPr>
      </p:pic>
      <p:sp>
        <p:nvSpPr>
          <p:cNvPr id="21" name="Reveal 99 watch text"/>
          <p:cNvSpPr txBox="1"/>
          <p:nvPr/>
        </p:nvSpPr>
        <p:spPr>
          <a:xfrm>
            <a:off x="6781648" y="5541264"/>
            <a:ext cx="4751680" cy="676656"/>
          </a:xfrm>
          <a:prstGeom prst="rect">
            <a:avLst/>
          </a:prstGeom>
          <a:noFill/>
          <a:ln/>
        </p:spPr>
        <p:txBody>
          <a:bodyPr wrap="square" lIns="0" tIns="0" rIns="0" bIns="0" rtlCol="0" anchor="ctr"/>
          <a:lstStyle/>
          <a:p>
            <a:pPr indent="0" marL="0">
              <a:buNone/>
            </a:pPr>
            <a:r>
              <a:rPr lang="en-US" sz="1400" b="1" dirty="0">
                <a:solidFill>
                  <a:srgbClr val="8B1A1A"/>
                </a:solidFill>
              </a:rPr>
              <a:t>Watch out:  </a:t>
            </a:r>
            <a:r>
              <a:rPr lang="en-US" sz="1400" dirty="0">
                <a:solidFill>
                  <a:srgbClr val="2B2B2B"/>
                </a:solidFill>
              </a:rPr>
              <a:t>Test from ADMIN-PC before you log out — a wrong address locks everyone out (the console still works).</a:t>
            </a:r>
            <a:endParaRPr lang="en-US" sz="1400" dirty="0"/>
          </a:p>
        </p:txBody>
      </p:sp>
      <p:sp>
        <p:nvSpPr>
          <p:cNvPr id="25" name="Slide Number Placeholder 0"/>
          <p:cNvSpPr>
            <a:spLocks noGrp="1"/>
          </p:cNvSpPr>
          <p:nvPr>
            <p:ph type="sldNum" sz="quarter" idx="4294967295"/>
          </p:nvPr>
        </p:nvSpPr>
        <p:spPr>
          <a:xfrm>
            <a:off x="10698480" y="6464808"/>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r"/>
            <a:fld id="{F7021451-1387-4CA6-816F-3879F97B5CBC}" type="slidenum">
              <a:rPr b="0" lang="en-US"/>
              <a:t>64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4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400"/>
                                        <p:tgtEl>
                                          <p:spTgt spid="16"/>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fade">
                                      <p:cBhvr>
                                        <p:cTn id="30" dur="400"/>
                                        <p:tgtEl>
                                          <p:spTgt spid="17"/>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fade">
                                      <p:cBhvr>
                                        <p:cTn id="33" dur="400"/>
                                        <p:tgtEl>
                                          <p:spTgt spid="18"/>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6" dur="400"/>
                                        <p:tgtEl>
                                          <p:spTgt spid="19"/>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fade">
                                      <p:cBhvr>
                                        <p:cTn id="39" dur="400"/>
                                        <p:tgtEl>
                                          <p:spTgt spid="20"/>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fade">
                                      <p:cBhvr>
                                        <p:cTn id="42"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3" grpId="0" animBg="1"/>
      <p:bldP spid="15" grpId="0" animBg="1"/>
      <p:bldP spid="16" grpId="0" animBg="1"/>
      <p:bldP spid="18" grpId="0" animBg="1"/>
      <p:bldP spid="19" grpId="0" animBg="1"/>
      <p:bldP spid="21"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1"/>
          <p:cNvSpPr/>
          <p:nvPr>
            <p:ph idx="102" type="body" hasCustomPrompt="1"/>
          </p:nvPr>
        </p:nvSpPr>
        <p:spPr>
          <a:xfrm>
            <a:off x="548640" y="274320"/>
            <a:ext cx="9966960" cy="256032"/>
          </a:xfrm>
          <a:prstGeom prst="rect">
            <a:avLst/>
          </a:prstGeom>
          <a:noFill/>
          <a:ln/>
        </p:spPr>
        <p:txBody>
          <a:bodyPr wrap="square" lIns="0" tIns="0" rIns="0" bIns="0" rtlCol="0" anchor="ctr"/>
          <a:lstStyle/>
          <a:p>
            <a:pPr algn="l" indent="0" marL="0">
              <a:buNone/>
            </a:pPr>
            <a:r>
              <a:rPr lang="en-US" sz="1100" b="1" spc="100" kern="0" dirty="0">
                <a:solidFill>
                  <a:schemeClr val="accent2"/>
                </a:solidFill>
              </a:rPr>
              <a:t>08  •  SECURITY &amp; NAT  •  LAB 6</a:t>
            </a:r>
            <a:endParaRPr lang="en-US" sz="1100" dirty="0"/>
          </a:p>
        </p:txBody>
      </p:sp>
      <p:sp>
        <p:nvSpPr>
          <p:cNvPr id="3" name="Text 1"/>
          <p:cNvSpPr/>
          <p:nvPr>
            <p:ph idx="103" type="title" hasCustomPrompt="1"/>
          </p:nvPr>
        </p:nvSpPr>
        <p:spPr>
          <a:xfrm>
            <a:off x="548640" y="548640"/>
            <a:ext cx="10149840" cy="548640"/>
          </a:xfrm>
          <a:prstGeom prst="rect">
            <a:avLst/>
          </a:prstGeom>
          <a:noFill/>
          <a:ln/>
        </p:spPr>
        <p:txBody>
          <a:bodyPr wrap="square" lIns="0" tIns="0" rIns="0" bIns="0" rtlCol="0" anchor="ctr"/>
          <a:lstStyle/>
          <a:p>
            <a:pPr algn="l" indent="0" marL="0">
              <a:buNone/>
            </a:pPr>
            <a:r>
              <a:rPr lang="en-US" sz="2600" b="1" dirty="0">
                <a:solidFill>
                  <a:schemeClr val="accent1"/>
                </a:solidFill>
              </a:rPr>
              <a:t>How to filter traffic with an extended named ACL</a:t>
            </a:r>
            <a:endParaRPr lang="en-US" sz="2600" dirty="0"/>
          </a:p>
        </p:txBody>
      </p:sp>
      <p:pic>
        <p:nvPicPr>
          <p:cNvPr id="4" name="Home button" descr="Home: back to the workbook menu">
            <a:hlinkClick r:id="rId2" tooltip="Back to the workbook menu" action="ppaction://hlinksldjump"/>
          </p:cNvPr>
          <p:cNvPicPr>
            <a:picLocks noChangeAspect="1"/>
          </p:cNvPicPr>
          <p:nvPr/>
        </p:nvPicPr>
        <p:blipFill>
          <a:blip r:embed="rId1"/>
          <a:stretch>
            <a:fillRect/>
          </a:stretch>
        </p:blipFill>
        <p:spPr>
          <a:xfrm>
            <a:off x="11365992" y="6336792"/>
            <a:ext cx="365760" cy="365760"/>
          </a:xfrm>
          <a:prstGeom prst="rect">
            <a:avLst/>
          </a:prstGeom>
        </p:spPr>
      </p:pic>
      <p:sp>
        <p:nvSpPr>
          <p:cNvPr id="5" name="Goal"/>
          <p:cNvSpPr txBox="1"/>
          <p:nvPr/>
        </p:nvSpPr>
        <p:spPr>
          <a:xfrm>
            <a:off x="548640" y="1161288"/>
            <a:ext cx="11094415" cy="384048"/>
          </a:xfrm>
          <a:prstGeom prst="rect">
            <a:avLst/>
          </a:prstGeom>
          <a:noFill/>
          <a:ln/>
        </p:spPr>
        <p:txBody>
          <a:bodyPr wrap="square" lIns="0" tIns="0" rIns="0" bIns="0" rtlCol="0" anchor="ctr"/>
          <a:lstStyle/>
          <a:p>
            <a:pPr indent="0" marL="0">
              <a:buNone/>
            </a:pPr>
            <a:r>
              <a:rPr lang="en-US" sz="1400" b="1" dirty="0">
                <a:solidFill>
                  <a:srgbClr val="2B7043"/>
                </a:solidFill>
              </a:rPr>
              <a:t>Goal:  </a:t>
            </a:r>
            <a:r>
              <a:rPr lang="en-US" sz="1400" dirty="0">
                <a:solidFill>
                  <a:srgbClr val="2B2B2B"/>
                </a:solidFill>
              </a:rPr>
              <a:t>Students may open the intranet web server, but nothing else in the STAFF LAN. Everything else is allowed.</a:t>
            </a:r>
            <a:endParaRPr lang="en-US" sz="1400" dirty="0"/>
          </a:p>
        </p:txBody>
      </p:sp>
      <p:sp>
        <p:nvSpPr>
          <p:cNvPr id="6" name="Command header"/>
          <p:cNvSpPr/>
          <p:nvPr/>
        </p:nvSpPr>
        <p:spPr>
          <a:xfrm>
            <a:off x="548640" y="1664208"/>
            <a:ext cx="6153912" cy="310896"/>
          </a:xfrm>
          <a:prstGeom prst="rect">
            <a:avLst/>
          </a:prstGeom>
          <a:solidFill>
            <a:srgbClr val="1B2B22"/>
          </a:solidFill>
          <a:ln/>
        </p:spPr>
        <p:txBody>
          <a:bodyPr wrap="square" lIns="109728" tIns="45720" rIns="109728" bIns="45720" rtlCol="0" anchor="ctr"/>
          <a:lstStyle/>
          <a:p>
            <a:pPr indent="0" marL="0">
              <a:buNone/>
            </a:pPr>
            <a:r>
              <a:rPr lang="en-US" sz="1100" dirty="0">
                <a:solidFill>
                  <a:srgbClr val="E0605A"/>
                </a:solidFill>
              </a:rPr>
              <a:t>●  </a:t>
            </a:r>
            <a:r>
              <a:rPr lang="en-US" sz="1100" dirty="0">
                <a:solidFill>
                  <a:srgbClr val="E8B92E"/>
                </a:solidFill>
              </a:rPr>
              <a:t>●  </a:t>
            </a:r>
            <a:r>
              <a:rPr lang="en-US" sz="1100" dirty="0">
                <a:solidFill>
                  <a:srgbClr val="4CAF50"/>
                </a:solidFill>
              </a:rPr>
              <a:t>●   </a:t>
            </a:r>
            <a:r>
              <a:rPr lang="en-US" sz="1100" b="1" dirty="0">
                <a:solidFill>
                  <a:srgbClr val="C9D6CC"/>
                </a:solidFill>
              </a:rPr>
              <a:t>R1  —  type the white text, then press Enter</a:t>
            </a:r>
            <a:endParaRPr lang="en-US" sz="1100" dirty="0"/>
          </a:p>
        </p:txBody>
      </p:sp>
      <p:sp>
        <p:nvSpPr>
          <p:cNvPr id="7" name="Meaning header"/>
          <p:cNvSpPr/>
          <p:nvPr/>
        </p:nvSpPr>
        <p:spPr>
          <a:xfrm>
            <a:off x="6720840" y="1664208"/>
            <a:ext cx="4922215" cy="310896"/>
          </a:xfrm>
          <a:prstGeom prst="rect">
            <a:avLst/>
          </a:prstGeom>
          <a:solidFill>
            <a:srgbClr val="E8F1EA"/>
          </a:solidFill>
          <a:ln/>
        </p:spPr>
        <p:txBody>
          <a:bodyPr wrap="square" lIns="109728" tIns="45720" rIns="109728" bIns="45720" rtlCol="0" anchor="ctr"/>
          <a:lstStyle/>
          <a:p>
            <a:pPr indent="0" marL="0">
              <a:buNone/>
            </a:pPr>
            <a:r>
              <a:rPr lang="en-US" sz="1200" b="1" dirty="0">
                <a:solidFill>
                  <a:srgbClr val="1E5631"/>
                </a:solidFill>
              </a:rPr>
              <a:t>What it does</a:t>
            </a:r>
            <a:endParaRPr lang="en-US" sz="1200" dirty="0"/>
          </a:p>
        </p:txBody>
      </p:sp>
      <p:sp>
        <p:nvSpPr>
          <p:cNvPr id="8" name="Command 01"/>
          <p:cNvSpPr/>
          <p:nvPr/>
        </p:nvSpPr>
        <p:spPr>
          <a:xfrm>
            <a:off x="548640" y="1993392"/>
            <a:ext cx="6153912" cy="54380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R1(config)# </a:t>
            </a:r>
            <a:r>
              <a:rPr lang="en-US" sz="1200" b="1" dirty="0">
                <a:solidFill>
                  <a:srgbClr val="FFFFFF"/>
                </a:solidFill>
                <a:latin typeface="Courier New" pitchFamily="34" charset="0"/>
                <a:ea typeface="Courier New" pitchFamily="34" charset="-122"/>
                <a:cs typeface="Courier New" pitchFamily="34" charset="-120"/>
              </a:rPr>
              <a:t>ip access-list extended STUDENT-POLICY</a:t>
            </a:r>
            <a:endParaRPr lang="en-US" sz="1200" dirty="0"/>
          </a:p>
        </p:txBody>
      </p:sp>
      <p:sp>
        <p:nvSpPr>
          <p:cNvPr id="9" name="Reveal 01 meaning"/>
          <p:cNvSpPr/>
          <p:nvPr/>
        </p:nvSpPr>
        <p:spPr>
          <a:xfrm>
            <a:off x="6720840" y="1993392"/>
            <a:ext cx="4922215" cy="543809"/>
          </a:xfrm>
          <a:prstGeom prst="rect">
            <a:avLst/>
          </a:prstGeom>
          <a:solidFill>
            <a:srgbClr val="F2F8F3"/>
          </a:solidFill>
          <a:ln/>
        </p:spPr>
        <p:txBody>
          <a:bodyPr wrap="square" lIns="109728" tIns="45720" rIns="109728" bIns="45720" rtlCol="0" anchor="ctr"/>
          <a:lstStyle/>
          <a:p>
            <a:pPr indent="0" marL="0">
              <a:buNone/>
            </a:pPr>
            <a:r>
              <a:rPr lang="en-US" sz="1400" dirty="0">
                <a:solidFill>
                  <a:srgbClr val="2B2B2B"/>
                </a:solidFill>
              </a:rPr>
              <a:t>Create a named extended ACL. The prompt becomes </a:t>
            </a:r>
            <a:r>
              <a:rPr lang="en-US" sz="1300" b="1" dirty="0">
                <a:solidFill>
                  <a:srgbClr val="1E5631"/>
                </a:solidFill>
                <a:latin typeface="Courier New" pitchFamily="34" charset="0"/>
                <a:ea typeface="Courier New" pitchFamily="34" charset="-122"/>
                <a:cs typeface="Courier New" pitchFamily="34" charset="-120"/>
              </a:rPr>
              <a:t>(config-ext-nacl)#</a:t>
            </a:r>
            <a:r>
              <a:rPr lang="en-US" sz="1400" dirty="0">
                <a:solidFill>
                  <a:srgbClr val="2B2B2B"/>
                </a:solidFill>
              </a:rPr>
              <a:t>.</a:t>
            </a:r>
            <a:endParaRPr lang="en-US" sz="1400" dirty="0"/>
          </a:p>
        </p:txBody>
      </p:sp>
      <p:sp>
        <p:nvSpPr>
          <p:cNvPr id="10" name="Command 02"/>
          <p:cNvSpPr/>
          <p:nvPr/>
        </p:nvSpPr>
        <p:spPr>
          <a:xfrm>
            <a:off x="548640" y="2555489"/>
            <a:ext cx="6153912" cy="455005"/>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R1(config-ext-nacl)# </a:t>
            </a:r>
            <a:r>
              <a:rPr lang="en-US" sz="1200" b="1" dirty="0">
                <a:solidFill>
                  <a:srgbClr val="FFFFFF"/>
                </a:solidFill>
                <a:latin typeface="Courier New" pitchFamily="34" charset="0"/>
                <a:ea typeface="Courier New" pitchFamily="34" charset="-122"/>
                <a:cs typeface="Courier New" pitchFamily="34" charset="-120"/>
              </a:rPr>
              <a:t>remark Students may browse the intranet only</a:t>
            </a:r>
            <a:endParaRPr lang="en-US" sz="1200" dirty="0"/>
          </a:p>
        </p:txBody>
      </p:sp>
      <p:sp>
        <p:nvSpPr>
          <p:cNvPr id="11" name="Reveal 02 meaning"/>
          <p:cNvSpPr/>
          <p:nvPr/>
        </p:nvSpPr>
        <p:spPr>
          <a:xfrm>
            <a:off x="6720840" y="2555489"/>
            <a:ext cx="4922215" cy="455005"/>
          </a:xfrm>
          <a:prstGeom prst="rect">
            <a:avLst/>
          </a:prstGeom>
          <a:solidFill>
            <a:srgbClr val="FFFFFF"/>
          </a:solidFill>
          <a:ln/>
        </p:spPr>
        <p:txBody>
          <a:bodyPr wrap="square" lIns="109728" tIns="45720" rIns="109728" bIns="45720" rtlCol="0" anchor="ctr"/>
          <a:lstStyle/>
          <a:p>
            <a:pPr indent="0" marL="0">
              <a:buNone/>
            </a:pPr>
            <a:r>
              <a:rPr lang="en-US" sz="1400" dirty="0">
                <a:solidFill>
                  <a:srgbClr val="2B2B2B"/>
                </a:solidFill>
              </a:rPr>
              <a:t>A note stored with the ACL.</a:t>
            </a:r>
            <a:endParaRPr lang="en-US" sz="1400" dirty="0"/>
          </a:p>
        </p:txBody>
      </p:sp>
      <p:sp>
        <p:nvSpPr>
          <p:cNvPr id="12" name="Command 03"/>
          <p:cNvSpPr/>
          <p:nvPr/>
        </p:nvSpPr>
        <p:spPr>
          <a:xfrm>
            <a:off x="548640" y="3028782"/>
            <a:ext cx="6153912" cy="54380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R1(config-ext-nacl)# </a:t>
            </a:r>
            <a:r>
              <a:rPr lang="en-US" sz="1200" b="1" dirty="0">
                <a:solidFill>
                  <a:srgbClr val="FFFFFF"/>
                </a:solidFill>
                <a:latin typeface="Courier New" pitchFamily="34" charset="0"/>
                <a:ea typeface="Courier New" pitchFamily="34" charset="-122"/>
                <a:cs typeface="Courier New" pitchFamily="34" charset="-120"/>
              </a:rPr>
              <a:t>permit tcp 192.168.20.0 0.0.0.255 host 192.168.10.100 eq 80</a:t>
            </a:r>
            <a:endParaRPr lang="en-US" sz="1200" dirty="0"/>
          </a:p>
        </p:txBody>
      </p:sp>
      <p:sp>
        <p:nvSpPr>
          <p:cNvPr id="13" name="Reveal 03 meaning"/>
          <p:cNvSpPr/>
          <p:nvPr/>
        </p:nvSpPr>
        <p:spPr>
          <a:xfrm>
            <a:off x="6720840" y="3028782"/>
            <a:ext cx="4922215" cy="543809"/>
          </a:xfrm>
          <a:prstGeom prst="rect">
            <a:avLst/>
          </a:prstGeom>
          <a:solidFill>
            <a:srgbClr val="F2F8F3"/>
          </a:solidFill>
          <a:ln/>
        </p:spPr>
        <p:txBody>
          <a:bodyPr wrap="square" lIns="109728" tIns="45720" rIns="109728" bIns="45720" rtlCol="0" anchor="ctr"/>
          <a:lstStyle/>
          <a:p>
            <a:pPr indent="0" marL="0">
              <a:buNone/>
            </a:pPr>
            <a:r>
              <a:rPr lang="en-US" sz="1400" dirty="0">
                <a:solidFill>
                  <a:srgbClr val="2B2B2B"/>
                </a:solidFill>
              </a:rPr>
              <a:t>Students (192.168.20.x) may open web pages (TCP port 80) on the web server.</a:t>
            </a:r>
            <a:endParaRPr lang="en-US" sz="1400" dirty="0"/>
          </a:p>
        </p:txBody>
      </p:sp>
      <p:sp>
        <p:nvSpPr>
          <p:cNvPr id="14" name="Command 04"/>
          <p:cNvSpPr/>
          <p:nvPr/>
        </p:nvSpPr>
        <p:spPr>
          <a:xfrm>
            <a:off x="548640" y="3590879"/>
            <a:ext cx="6153912" cy="455005"/>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R1(config-ext-nacl)# </a:t>
            </a:r>
            <a:r>
              <a:rPr lang="en-US" sz="1200" b="1" dirty="0">
                <a:solidFill>
                  <a:srgbClr val="FFFFFF"/>
                </a:solidFill>
                <a:latin typeface="Courier New" pitchFamily="34" charset="0"/>
                <a:ea typeface="Courier New" pitchFamily="34" charset="-122"/>
                <a:cs typeface="Courier New" pitchFamily="34" charset="-120"/>
              </a:rPr>
              <a:t>deny ip 192.168.20.0 0.0.0.255 192.168.10.0 0.0.0.255</a:t>
            </a:r>
            <a:endParaRPr lang="en-US" sz="1200" dirty="0"/>
          </a:p>
        </p:txBody>
      </p:sp>
      <p:sp>
        <p:nvSpPr>
          <p:cNvPr id="15" name="Reveal 04 meaning"/>
          <p:cNvSpPr/>
          <p:nvPr/>
        </p:nvSpPr>
        <p:spPr>
          <a:xfrm>
            <a:off x="6720840" y="3590879"/>
            <a:ext cx="4922215" cy="455005"/>
          </a:xfrm>
          <a:prstGeom prst="rect">
            <a:avLst/>
          </a:prstGeom>
          <a:solidFill>
            <a:srgbClr val="FFFFFF"/>
          </a:solidFill>
          <a:ln/>
        </p:spPr>
        <p:txBody>
          <a:bodyPr wrap="square" lIns="109728" tIns="45720" rIns="109728" bIns="45720" rtlCol="0" anchor="ctr"/>
          <a:lstStyle/>
          <a:p>
            <a:pPr indent="0" marL="0">
              <a:buNone/>
            </a:pPr>
            <a:r>
              <a:rPr lang="en-US" sz="1400" dirty="0">
                <a:solidFill>
                  <a:srgbClr val="2B2B2B"/>
                </a:solidFill>
              </a:rPr>
              <a:t>Anything else from students to the staff LAN is blocked.</a:t>
            </a:r>
            <a:endParaRPr lang="en-US" sz="1400" dirty="0"/>
          </a:p>
        </p:txBody>
      </p:sp>
      <p:sp>
        <p:nvSpPr>
          <p:cNvPr id="16" name="Command 05"/>
          <p:cNvSpPr/>
          <p:nvPr/>
        </p:nvSpPr>
        <p:spPr>
          <a:xfrm>
            <a:off x="548640" y="4064173"/>
            <a:ext cx="6153912" cy="54380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R1(config-ext-nacl)# </a:t>
            </a:r>
            <a:r>
              <a:rPr lang="en-US" sz="1200" b="1" dirty="0">
                <a:solidFill>
                  <a:srgbClr val="FFFFFF"/>
                </a:solidFill>
                <a:latin typeface="Courier New" pitchFamily="34" charset="0"/>
                <a:ea typeface="Courier New" pitchFamily="34" charset="-122"/>
                <a:cs typeface="Courier New" pitchFamily="34" charset="-120"/>
              </a:rPr>
              <a:t>permit ip any any</a:t>
            </a:r>
            <a:endParaRPr lang="en-US" sz="1200" dirty="0"/>
          </a:p>
        </p:txBody>
      </p:sp>
      <p:sp>
        <p:nvSpPr>
          <p:cNvPr id="17" name="Reveal 05 meaning"/>
          <p:cNvSpPr/>
          <p:nvPr/>
        </p:nvSpPr>
        <p:spPr>
          <a:xfrm>
            <a:off x="6720840" y="4064173"/>
            <a:ext cx="4922215" cy="543809"/>
          </a:xfrm>
          <a:prstGeom prst="rect">
            <a:avLst/>
          </a:prstGeom>
          <a:solidFill>
            <a:srgbClr val="F2F8F3"/>
          </a:solidFill>
          <a:ln/>
        </p:spPr>
        <p:txBody>
          <a:bodyPr wrap="square" lIns="109728" tIns="45720" rIns="109728" bIns="45720" rtlCol="0" anchor="ctr"/>
          <a:lstStyle/>
          <a:p>
            <a:pPr indent="0" marL="0">
              <a:buNone/>
            </a:pPr>
            <a:r>
              <a:rPr lang="en-US" sz="1400" dirty="0">
                <a:solidFill>
                  <a:srgbClr val="2B2B2B"/>
                </a:solidFill>
              </a:rPr>
              <a:t>Everything else (e.g. the Internet) is allowed — this beats the hidden deny any.</a:t>
            </a:r>
            <a:endParaRPr lang="en-US" sz="1400" dirty="0"/>
          </a:p>
        </p:txBody>
      </p:sp>
      <p:sp>
        <p:nvSpPr>
          <p:cNvPr id="18" name="Command 06"/>
          <p:cNvSpPr/>
          <p:nvPr/>
        </p:nvSpPr>
        <p:spPr>
          <a:xfrm>
            <a:off x="548640" y="4626270"/>
            <a:ext cx="6153912" cy="627644"/>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R1(config-ext-nacl)# </a:t>
            </a:r>
            <a:r>
              <a:rPr lang="en-US" sz="1200" b="1" dirty="0">
                <a:solidFill>
                  <a:srgbClr val="FFFFFF"/>
                </a:solidFill>
                <a:latin typeface="Courier New" pitchFamily="34" charset="0"/>
                <a:ea typeface="Courier New" pitchFamily="34" charset="-122"/>
                <a:cs typeface="Courier New" pitchFamily="34" charset="-120"/>
              </a:rPr>
              <a:t>exit</a:t>
            </a:r>
            <a:endParaRPr lang="en-US" sz="1200" dirty="0"/>
          </a:p>
          <a:p>
            <a:pPr indent="0" marL="0">
              <a:buNone/>
            </a:pPr>
            <a:r>
              <a:rPr lang="en-US" sz="1200" dirty="0">
                <a:solidFill>
                  <a:srgbClr val="8FC9A0"/>
                </a:solidFill>
                <a:latin typeface="Courier New" pitchFamily="34" charset="0"/>
                <a:ea typeface="Courier New" pitchFamily="34" charset="-122"/>
                <a:cs typeface="Courier New" pitchFamily="34" charset="-120"/>
              </a:rPr>
              <a:t>R1(config)# </a:t>
            </a:r>
            <a:r>
              <a:rPr lang="en-US" sz="1200" b="1" dirty="0">
                <a:solidFill>
                  <a:srgbClr val="FFFFFF"/>
                </a:solidFill>
                <a:latin typeface="Courier New" pitchFamily="34" charset="0"/>
                <a:ea typeface="Courier New" pitchFamily="34" charset="-122"/>
                <a:cs typeface="Courier New" pitchFamily="34" charset="-120"/>
              </a:rPr>
              <a:t>interface g0/0/1</a:t>
            </a:r>
            <a:endParaRPr lang="en-US" sz="1200" dirty="0"/>
          </a:p>
          <a:p>
            <a:pPr indent="0" marL="0">
              <a:buNone/>
            </a:pPr>
            <a:r>
              <a:rPr lang="en-US" sz="1200" dirty="0">
                <a:solidFill>
                  <a:srgbClr val="8FC9A0"/>
                </a:solidFill>
                <a:latin typeface="Courier New" pitchFamily="34" charset="0"/>
                <a:ea typeface="Courier New" pitchFamily="34" charset="-122"/>
                <a:cs typeface="Courier New" pitchFamily="34" charset="-120"/>
              </a:rPr>
              <a:t>R1(config-if)# </a:t>
            </a:r>
            <a:r>
              <a:rPr lang="en-US" sz="1200" b="1" dirty="0">
                <a:solidFill>
                  <a:srgbClr val="FFFFFF"/>
                </a:solidFill>
                <a:latin typeface="Courier New" pitchFamily="34" charset="0"/>
                <a:ea typeface="Courier New" pitchFamily="34" charset="-122"/>
                <a:cs typeface="Courier New" pitchFamily="34" charset="-120"/>
              </a:rPr>
              <a:t>ip access-group STUDENT-POLICY in</a:t>
            </a:r>
            <a:endParaRPr lang="en-US" sz="1200" dirty="0"/>
          </a:p>
        </p:txBody>
      </p:sp>
      <p:sp>
        <p:nvSpPr>
          <p:cNvPr id="19" name="Reveal 06 meaning"/>
          <p:cNvSpPr/>
          <p:nvPr/>
        </p:nvSpPr>
        <p:spPr>
          <a:xfrm>
            <a:off x="6720840" y="4626270"/>
            <a:ext cx="4922215" cy="627644"/>
          </a:xfrm>
          <a:prstGeom prst="rect">
            <a:avLst/>
          </a:prstGeom>
          <a:solidFill>
            <a:srgbClr val="FFFFFF"/>
          </a:solidFill>
          <a:ln/>
        </p:spPr>
        <p:txBody>
          <a:bodyPr wrap="square" lIns="109728" tIns="45720" rIns="109728" bIns="45720" rtlCol="0" anchor="ctr"/>
          <a:lstStyle/>
          <a:p>
            <a:pPr indent="0" marL="0">
              <a:buNone/>
            </a:pPr>
            <a:r>
              <a:rPr lang="en-US" sz="1400" dirty="0">
                <a:solidFill>
                  <a:srgbClr val="2B2B2B"/>
                </a:solidFill>
              </a:rPr>
              <a:t>Check packets as they enter R1 from the student LAN — close to the source.</a:t>
            </a:r>
            <a:endParaRPr lang="en-US" sz="1400" dirty="0"/>
          </a:p>
        </p:txBody>
      </p:sp>
      <p:sp>
        <p:nvSpPr>
          <p:cNvPr id="20" name="Reveal 99 check box"/>
          <p:cNvSpPr/>
          <p:nvPr/>
        </p:nvSpPr>
        <p:spPr>
          <a:xfrm>
            <a:off x="548640" y="5504688"/>
            <a:ext cx="5410048" cy="749808"/>
          </a:xfrm>
          <a:prstGeom prst="roundRect">
            <a:avLst>
              <a:gd name="adj" fmla="val 9756"/>
            </a:avLst>
          </a:prstGeom>
          <a:solidFill>
            <a:srgbClr val="E8F1EA"/>
          </a:solidFill>
          <a:ln w="12700">
            <a:solidFill>
              <a:srgbClr val="B7C9BA"/>
            </a:solidFill>
            <a:prstDash val="solid"/>
          </a:ln>
        </p:spPr>
      </p:sp>
      <p:pic>
        <p:nvPicPr>
          <p:cNvPr id="21" name="Reveal 99 check icon" descr="Check it:">    </p:cNvPr>
          <p:cNvPicPr>
            <a:picLocks noChangeAspect="1"/>
          </p:cNvPicPr>
          <p:nvPr/>
        </p:nvPicPr>
        <p:blipFill>
          <a:blip r:embed="rId3"/>
          <a:stretch>
            <a:fillRect/>
          </a:stretch>
        </p:blipFill>
        <p:spPr>
          <a:xfrm>
            <a:off x="694944" y="5733288"/>
            <a:ext cx="292608" cy="292608"/>
          </a:xfrm>
          <a:prstGeom prst="rect">
            <a:avLst/>
          </a:prstGeom>
        </p:spPr>
      </p:pic>
      <p:sp>
        <p:nvSpPr>
          <p:cNvPr id="22" name="Reveal 99 check text"/>
          <p:cNvSpPr txBox="1"/>
          <p:nvPr/>
        </p:nvSpPr>
        <p:spPr>
          <a:xfrm>
            <a:off x="1097280" y="5541264"/>
            <a:ext cx="4751680" cy="676656"/>
          </a:xfrm>
          <a:prstGeom prst="rect">
            <a:avLst/>
          </a:prstGeom>
          <a:noFill/>
          <a:ln/>
        </p:spPr>
        <p:txBody>
          <a:bodyPr wrap="square" lIns="0" tIns="0" rIns="0" bIns="0" rtlCol="0" anchor="ctr"/>
          <a:lstStyle/>
          <a:p>
            <a:pPr indent="0" marL="0">
              <a:buNone/>
            </a:pPr>
            <a:r>
              <a:rPr lang="en-US" sz="1400" b="1" dirty="0">
                <a:solidFill>
                  <a:srgbClr val="1E5631"/>
                </a:solidFill>
              </a:rPr>
              <a:t>Check it:  </a:t>
            </a:r>
            <a:r>
              <a:rPr lang="en-US" sz="1400" dirty="0">
                <a:solidFill>
                  <a:srgbClr val="2B2B2B"/>
                </a:solidFill>
              </a:rPr>
              <a:t>Run the tests on the next slide; </a:t>
            </a:r>
            <a:r>
              <a:rPr lang="en-US" sz="1300" b="1" dirty="0">
                <a:solidFill>
                  <a:srgbClr val="1E5631"/>
                </a:solidFill>
                <a:latin typeface="Courier New" pitchFamily="34" charset="0"/>
                <a:ea typeface="Courier New" pitchFamily="34" charset="-122"/>
                <a:cs typeface="Courier New" pitchFamily="34" charset="-120"/>
              </a:rPr>
              <a:t>show access-lists</a:t>
            </a:r>
            <a:r>
              <a:rPr lang="en-US" sz="1400" dirty="0">
                <a:solidFill>
                  <a:srgbClr val="2B2B2B"/>
                </a:solidFill>
              </a:rPr>
              <a:t> counts the matches of each line.</a:t>
            </a:r>
            <a:endParaRPr lang="en-US" sz="1400" dirty="0"/>
          </a:p>
        </p:txBody>
      </p:sp>
      <p:sp>
        <p:nvSpPr>
          <p:cNvPr id="23" name="Reveal 99 watch box"/>
          <p:cNvSpPr/>
          <p:nvPr/>
        </p:nvSpPr>
        <p:spPr>
          <a:xfrm>
            <a:off x="6233008" y="5504688"/>
            <a:ext cx="5410048" cy="749808"/>
          </a:xfrm>
          <a:prstGeom prst="roundRect">
            <a:avLst>
              <a:gd name="adj" fmla="val 9756"/>
            </a:avLst>
          </a:prstGeom>
          <a:solidFill>
            <a:srgbClr val="FBEAEA"/>
          </a:solidFill>
          <a:ln w="12700">
            <a:solidFill>
              <a:srgbClr val="E9B8B5"/>
            </a:solidFill>
            <a:prstDash val="solid"/>
          </a:ln>
        </p:spPr>
      </p:sp>
      <p:pic>
        <p:nvPicPr>
          <p:cNvPr id="24" name="Reveal 99 watch icon" descr="Watch out:">    </p:cNvPr>
          <p:cNvPicPr>
            <a:picLocks noChangeAspect="1"/>
          </p:cNvPicPr>
          <p:nvPr/>
        </p:nvPicPr>
        <p:blipFill>
          <a:blip r:embed="rId4"/>
          <a:stretch>
            <a:fillRect/>
          </a:stretch>
        </p:blipFill>
        <p:spPr>
          <a:xfrm>
            <a:off x="6379312" y="5733288"/>
            <a:ext cx="292608" cy="292608"/>
          </a:xfrm>
          <a:prstGeom prst="rect">
            <a:avLst/>
          </a:prstGeom>
        </p:spPr>
      </p:pic>
      <p:sp>
        <p:nvSpPr>
          <p:cNvPr id="25" name="Reveal 99 watch text"/>
          <p:cNvSpPr txBox="1"/>
          <p:nvPr/>
        </p:nvSpPr>
        <p:spPr>
          <a:xfrm>
            <a:off x="6781648" y="5541264"/>
            <a:ext cx="4751680" cy="676656"/>
          </a:xfrm>
          <a:prstGeom prst="rect">
            <a:avLst/>
          </a:prstGeom>
          <a:noFill/>
          <a:ln/>
        </p:spPr>
        <p:txBody>
          <a:bodyPr wrap="square" lIns="0" tIns="0" rIns="0" bIns="0" rtlCol="0" anchor="ctr"/>
          <a:lstStyle/>
          <a:p>
            <a:pPr indent="0" marL="0">
              <a:buNone/>
            </a:pPr>
            <a:r>
              <a:rPr lang="en-US" sz="1400" b="1" dirty="0">
                <a:solidFill>
                  <a:srgbClr val="8B1A1A"/>
                </a:solidFill>
              </a:rPr>
              <a:t>Watch out:  </a:t>
            </a:r>
            <a:r>
              <a:rPr lang="en-US" sz="1400" dirty="0">
                <a:solidFill>
                  <a:srgbClr val="2B2B2B"/>
                </a:solidFill>
              </a:rPr>
              <a:t>Order matters: if the deny line came first, even the web page would be blocked.</a:t>
            </a:r>
            <a:endParaRPr lang="en-US" sz="1400" dirty="0"/>
          </a:p>
        </p:txBody>
      </p:sp>
      <p:sp>
        <p:nvSpPr>
          <p:cNvPr id="26" name="Slide Number Placeholder 0"/>
          <p:cNvSpPr>
            <a:spLocks noGrp="1"/>
          </p:cNvSpPr>
          <p:nvPr>
            <p:ph type="sldNum" sz="quarter" idx="4294967295"/>
          </p:nvPr>
        </p:nvSpPr>
        <p:spPr>
          <a:xfrm>
            <a:off x="10698480" y="6464808"/>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r"/>
            <a:fld id="{F7021451-1387-4CA6-816F-3879F97B5CBC}" type="slidenum">
              <a:rPr b="0" lang="en-US"/>
              <a:t>65</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4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0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400"/>
                                        <p:tgtEl>
                                          <p:spTgt spid="1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00"/>
                                        <p:tgtEl>
                                          <p:spTgt spid="20"/>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00"/>
                                        <p:tgtEl>
                                          <p:spTgt spid="21"/>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2"/>
                                        </p:tgtEl>
                                        <p:attrNameLst>
                                          <p:attrName>style.visibility</p:attrName>
                                        </p:attrNameLst>
                                      </p:cBhvr>
                                      <p:to>
                                        <p:strVal val="visible"/>
                                      </p:to>
                                    </p:set>
                                    <p:animEffect transition="in" filter="fade">
                                      <p:cBhvr>
                                        <p:cTn id="43" dur="400"/>
                                        <p:tgtEl>
                                          <p:spTgt spid="22"/>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3"/>
                                        </p:tgtEl>
                                        <p:attrNameLst>
                                          <p:attrName>style.visibility</p:attrName>
                                        </p:attrNameLst>
                                      </p:cBhvr>
                                      <p:to>
                                        <p:strVal val="visible"/>
                                      </p:to>
                                    </p:set>
                                    <p:animEffect transition="in" filter="fade">
                                      <p:cBhvr>
                                        <p:cTn id="46" dur="400"/>
                                        <p:tgtEl>
                                          <p:spTgt spid="23"/>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4"/>
                                        </p:tgtEl>
                                        <p:attrNameLst>
                                          <p:attrName>style.visibility</p:attrName>
                                        </p:attrNameLst>
                                      </p:cBhvr>
                                      <p:to>
                                        <p:strVal val="visible"/>
                                      </p:to>
                                    </p:set>
                                    <p:animEffect transition="in" filter="fade">
                                      <p:cBhvr>
                                        <p:cTn id="49" dur="400"/>
                                        <p:tgtEl>
                                          <p:spTgt spid="24"/>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fade">
                                      <p:cBhvr>
                                        <p:cTn id="52"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3" grpId="0" animBg="1"/>
      <p:bldP spid="15" grpId="0" animBg="1"/>
      <p:bldP spid="17" grpId="0" animBg="1"/>
      <p:bldP spid="19" grpId="0" animBg="1"/>
      <p:bldP spid="20" grpId="0" animBg="1"/>
      <p:bldP spid="22" grpId="0" animBg="1"/>
      <p:bldP spid="23" grpId="0" animBg="1"/>
      <p:bldP spid="25"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1"/>
          <p:cNvSpPr/>
          <p:nvPr>
            <p:ph idx="102" type="body" hasCustomPrompt="1"/>
          </p:nvPr>
        </p:nvSpPr>
        <p:spPr>
          <a:xfrm>
            <a:off x="548640" y="274320"/>
            <a:ext cx="9966960" cy="256032"/>
          </a:xfrm>
          <a:prstGeom prst="rect">
            <a:avLst/>
          </a:prstGeom>
          <a:noFill/>
          <a:ln/>
        </p:spPr>
        <p:txBody>
          <a:bodyPr wrap="square" lIns="0" tIns="0" rIns="0" bIns="0" rtlCol="0" anchor="ctr"/>
          <a:lstStyle/>
          <a:p>
            <a:pPr algn="l" indent="0" marL="0">
              <a:buNone/>
            </a:pPr>
            <a:r>
              <a:rPr lang="en-US" sz="1100" b="1" spc="100" kern="0" dirty="0">
                <a:solidFill>
                  <a:schemeClr val="accent2"/>
                </a:solidFill>
              </a:rPr>
              <a:t>08  •  SECURITY &amp; NAT  •  LAB 6</a:t>
            </a:r>
            <a:endParaRPr lang="en-US" sz="1100" dirty="0"/>
          </a:p>
        </p:txBody>
      </p:sp>
      <p:sp>
        <p:nvSpPr>
          <p:cNvPr id="3" name="Text 1"/>
          <p:cNvSpPr/>
          <p:nvPr>
            <p:ph idx="103" type="title" hasCustomPrompt="1"/>
          </p:nvPr>
        </p:nvSpPr>
        <p:spPr>
          <a:xfrm>
            <a:off x="548640" y="548640"/>
            <a:ext cx="10149840" cy="548640"/>
          </a:xfrm>
          <a:prstGeom prst="rect">
            <a:avLst/>
          </a:prstGeom>
          <a:noFill/>
          <a:ln/>
        </p:spPr>
        <p:txBody>
          <a:bodyPr wrap="square" lIns="0" tIns="0" rIns="0" bIns="0" rtlCol="0" anchor="ctr"/>
          <a:lstStyle/>
          <a:p>
            <a:pPr algn="l" indent="0" marL="0">
              <a:buNone/>
            </a:pPr>
            <a:r>
              <a:rPr lang="en-US" sz="2600" b="1" dirty="0">
                <a:solidFill>
                  <a:schemeClr val="accent1"/>
                </a:solidFill>
              </a:rPr>
              <a:t>How to test and read an ACL</a:t>
            </a:r>
            <a:endParaRPr lang="en-US" sz="2600" dirty="0"/>
          </a:p>
        </p:txBody>
      </p:sp>
      <p:pic>
        <p:nvPicPr>
          <p:cNvPr id="4" name="Home button" descr="Home: back to the workbook menu">
            <a:hlinkClick r:id="rId2" tooltip="Back to the workbook menu" action="ppaction://hlinksldjump"/>
          </p:cNvPr>
          <p:cNvPicPr>
            <a:picLocks noChangeAspect="1"/>
          </p:cNvPicPr>
          <p:nvPr/>
        </p:nvPicPr>
        <p:blipFill>
          <a:blip r:embed="rId1"/>
          <a:stretch>
            <a:fillRect/>
          </a:stretch>
        </p:blipFill>
        <p:spPr>
          <a:xfrm>
            <a:off x="11365992" y="6336792"/>
            <a:ext cx="365760" cy="365760"/>
          </a:xfrm>
          <a:prstGeom prst="rect">
            <a:avLst/>
          </a:prstGeom>
        </p:spPr>
      </p:pic>
      <p:sp>
        <p:nvSpPr>
          <p:cNvPr id="5" name="Goal"/>
          <p:cNvSpPr txBox="1"/>
          <p:nvPr/>
        </p:nvSpPr>
        <p:spPr>
          <a:xfrm>
            <a:off x="548640" y="1161288"/>
            <a:ext cx="11094415" cy="384048"/>
          </a:xfrm>
          <a:prstGeom prst="rect">
            <a:avLst/>
          </a:prstGeom>
          <a:noFill/>
          <a:ln/>
        </p:spPr>
        <p:txBody>
          <a:bodyPr wrap="square" lIns="0" tIns="0" rIns="0" bIns="0" rtlCol="0" anchor="ctr"/>
          <a:lstStyle/>
          <a:p>
            <a:pPr indent="0" marL="0">
              <a:buNone/>
            </a:pPr>
            <a:r>
              <a:rPr lang="en-US" sz="1400" b="1" dirty="0">
                <a:solidFill>
                  <a:srgbClr val="2B7043"/>
                </a:solidFill>
              </a:rPr>
              <a:t>Goal:  </a:t>
            </a:r>
            <a:r>
              <a:rPr lang="en-US" sz="1400" dirty="0">
                <a:solidFill>
                  <a:srgbClr val="2B2B2B"/>
                </a:solidFill>
              </a:rPr>
              <a:t>Prove the policy with planned tests, then read the match counters to see which line caught each packet.</a:t>
            </a:r>
            <a:endParaRPr lang="en-US" sz="1400" dirty="0"/>
          </a:p>
        </p:txBody>
      </p:sp>
      <p:sp>
        <p:nvSpPr>
          <p:cNvPr id="6" name="Terminal window"/>
          <p:cNvSpPr/>
          <p:nvPr/>
        </p:nvSpPr>
        <p:spPr>
          <a:xfrm>
            <a:off x="548640" y="1664208"/>
            <a:ext cx="11094415" cy="1810512"/>
          </a:xfrm>
          <a:prstGeom prst="roundRect">
            <a:avLst>
              <a:gd name="adj" fmla="val 4040"/>
            </a:avLst>
          </a:prstGeom>
          <a:solidFill>
            <a:srgbClr val="1B2B22"/>
          </a:solidFill>
          <a:ln w="6350">
            <a:solidFill>
              <a:srgbClr val="1B2B22"/>
            </a:solidFill>
            <a:prstDash val="solid"/>
          </a:ln>
        </p:spPr>
      </p:sp>
      <p:sp>
        <p:nvSpPr>
          <p:cNvPr id="7" name="Shape 4"/>
          <p:cNvSpPr/>
          <p:nvPr/>
        </p:nvSpPr>
        <p:spPr>
          <a:xfrm>
            <a:off x="713232" y="1783080"/>
            <a:ext cx="109728" cy="109728"/>
          </a:xfrm>
          <a:prstGeom prst="ellipse">
            <a:avLst/>
          </a:prstGeom>
          <a:solidFill>
            <a:srgbClr val="E0605A"/>
          </a:solidFill>
          <a:ln/>
        </p:spPr>
      </p:sp>
      <p:sp>
        <p:nvSpPr>
          <p:cNvPr id="8" name="Shape 5"/>
          <p:cNvSpPr/>
          <p:nvPr/>
        </p:nvSpPr>
        <p:spPr>
          <a:xfrm>
            <a:off x="896112" y="1783080"/>
            <a:ext cx="109728" cy="109728"/>
          </a:xfrm>
          <a:prstGeom prst="ellipse">
            <a:avLst/>
          </a:prstGeom>
          <a:solidFill>
            <a:srgbClr val="E8B92E"/>
          </a:solidFill>
          <a:ln/>
        </p:spPr>
      </p:sp>
      <p:sp>
        <p:nvSpPr>
          <p:cNvPr id="9" name="Shape 6"/>
          <p:cNvSpPr/>
          <p:nvPr/>
        </p:nvSpPr>
        <p:spPr>
          <a:xfrm>
            <a:off x="1078992" y="1783080"/>
            <a:ext cx="109728" cy="109728"/>
          </a:xfrm>
          <a:prstGeom prst="ellipse">
            <a:avLst/>
          </a:prstGeom>
          <a:solidFill>
            <a:srgbClr val="4CAF50"/>
          </a:solidFill>
          <a:ln/>
        </p:spPr>
      </p:sp>
      <p:sp>
        <p:nvSpPr>
          <p:cNvPr id="10" name="Text 7"/>
          <p:cNvSpPr txBox="1"/>
          <p:nvPr/>
        </p:nvSpPr>
        <p:spPr>
          <a:xfrm>
            <a:off x="1325880" y="1709928"/>
            <a:ext cx="10180015" cy="256032"/>
          </a:xfrm>
          <a:prstGeom prst="rect">
            <a:avLst/>
          </a:prstGeom>
          <a:noFill/>
          <a:ln/>
        </p:spPr>
        <p:txBody>
          <a:bodyPr wrap="square" lIns="0" tIns="0" rIns="0" bIns="0" rtlCol="0" anchor="ctr"/>
          <a:lstStyle/>
          <a:p>
            <a:pPr indent="0" marL="0">
              <a:buNone/>
            </a:pPr>
            <a:r>
              <a:rPr lang="en-US" sz="1100" b="1" dirty="0">
                <a:solidFill>
                  <a:srgbClr val="C9D6CC"/>
                </a:solidFill>
              </a:rPr>
              <a:t>R1  ›  CLI</a:t>
            </a:r>
            <a:endParaRPr lang="en-US" sz="1100" dirty="0"/>
          </a:p>
        </p:txBody>
      </p:sp>
      <p:sp>
        <p:nvSpPr>
          <p:cNvPr id="11" name="Terminal text"/>
          <p:cNvSpPr txBox="1"/>
          <p:nvPr/>
        </p:nvSpPr>
        <p:spPr>
          <a:xfrm>
            <a:off x="731520" y="2048256"/>
            <a:ext cx="10774375" cy="1335024"/>
          </a:xfrm>
          <a:prstGeom prst="rect">
            <a:avLst/>
          </a:prstGeom>
          <a:noFill/>
          <a:ln/>
        </p:spPr>
        <p:txBody>
          <a:bodyPr wrap="square" lIns="0" tIns="0" rIns="0" bIns="0" rtlCol="0" anchor="t"/>
          <a:lstStyle/>
          <a:p>
            <a:pPr indent="0" marL="0">
              <a:lnSpc>
                <a:spcPct val="100000"/>
              </a:lnSpc>
              <a:buNone/>
            </a:pPr>
            <a:r>
              <a:rPr lang="en-US" sz="1100" dirty="0">
                <a:solidFill>
                  <a:srgbClr val="8FC9A0"/>
                </a:solidFill>
                <a:latin typeface="Courier New" pitchFamily="34" charset="0"/>
                <a:ea typeface="Courier New" pitchFamily="34" charset="-122"/>
                <a:cs typeface="Courier New" pitchFamily="34" charset="-120"/>
              </a:rPr>
              <a:t>R1# </a:t>
            </a:r>
            <a:r>
              <a:rPr lang="en-US" sz="1100" b="1" dirty="0">
                <a:solidFill>
                  <a:srgbClr val="FFFFFF"/>
                </a:solidFill>
                <a:latin typeface="Courier New" pitchFamily="34" charset="0"/>
                <a:ea typeface="Courier New" pitchFamily="34" charset="-122"/>
                <a:cs typeface="Courier New" pitchFamily="34" charset="-120"/>
              </a:rPr>
              <a:t>show access-lists</a:t>
            </a:r>
            <a:endParaRPr lang="en-US" sz="1100" dirty="0"/>
          </a:p>
          <a:p>
            <a:pPr indent="0" marL="0">
              <a:lnSpc>
                <a:spcPct val="100000"/>
              </a:lnSpc>
              <a:buNone/>
            </a:pPr>
            <a:r>
              <a:rPr lang="en-US" sz="1100" dirty="0">
                <a:solidFill>
                  <a:srgbClr val="D5E2D8"/>
                </a:solidFill>
                <a:latin typeface="Courier New" pitchFamily="34" charset="0"/>
                <a:ea typeface="Courier New" pitchFamily="34" charset="-122"/>
                <a:cs typeface="Courier New" pitchFamily="34" charset="-120"/>
              </a:rPr>
              <a:t>Standard IP access list 10</a:t>
            </a:r>
            <a:endParaRPr lang="en-US" sz="1100" dirty="0"/>
          </a:p>
          <a:p>
            <a:pPr indent="0" marL="0">
              <a:lnSpc>
                <a:spcPct val="100000"/>
              </a:lnSpc>
              <a:buNone/>
            </a:pPr>
            <a:r>
              <a:rPr lang="en-US" sz="1100" dirty="0">
                <a:solidFill>
                  <a:srgbClr val="D5E2D8"/>
                </a:solidFill>
                <a:latin typeface="Courier New" pitchFamily="34" charset="0"/>
                <a:ea typeface="Courier New" pitchFamily="34" charset="-122"/>
                <a:cs typeface="Courier New" pitchFamily="34" charset="-120"/>
              </a:rPr>
              <a:t>    10 permit host 192.168.10.10 </a:t>
            </a:r>
            <a:r>
              <a:rPr lang="en-US" sz="1100" b="1" dirty="0">
                <a:solidFill>
                  <a:srgbClr val="E8B92E"/>
                </a:solidFill>
                <a:latin typeface="Courier New" pitchFamily="34" charset="0"/>
                <a:ea typeface="Courier New" pitchFamily="34" charset="-122"/>
                <a:cs typeface="Courier New" pitchFamily="34" charset="-120"/>
              </a:rPr>
              <a:t>(2 match(es))</a:t>
            </a:r>
            <a:endParaRPr lang="en-US" sz="1100" dirty="0"/>
          </a:p>
          <a:p>
            <a:pPr indent="0" marL="0">
              <a:lnSpc>
                <a:spcPct val="100000"/>
              </a:lnSpc>
              <a:buNone/>
            </a:pPr>
            <a:r>
              <a:rPr lang="en-US" sz="1100" dirty="0">
                <a:solidFill>
                  <a:srgbClr val="D5E2D8"/>
                </a:solidFill>
                <a:latin typeface="Courier New" pitchFamily="34" charset="0"/>
                <a:ea typeface="Courier New" pitchFamily="34" charset="-122"/>
                <a:cs typeface="Courier New" pitchFamily="34" charset="-120"/>
              </a:rPr>
              <a:t>Extended IP access list STUDENT-POLICY</a:t>
            </a:r>
            <a:endParaRPr lang="en-US" sz="1100" dirty="0"/>
          </a:p>
          <a:p>
            <a:pPr indent="0" marL="0">
              <a:lnSpc>
                <a:spcPct val="100000"/>
              </a:lnSpc>
              <a:buNone/>
            </a:pPr>
            <a:r>
              <a:rPr lang="en-US" sz="1100" dirty="0">
                <a:solidFill>
                  <a:srgbClr val="D5E2D8"/>
                </a:solidFill>
                <a:latin typeface="Courier New" pitchFamily="34" charset="0"/>
                <a:ea typeface="Courier New" pitchFamily="34" charset="-122"/>
                <a:cs typeface="Courier New" pitchFamily="34" charset="-120"/>
              </a:rPr>
              <a:t>    10 permit tcp 192.168.20.0 0.0.0.255 host 192.168.10.100 eq </a:t>
            </a:r>
            <a:r>
              <a:rPr lang="en-US" sz="1100" b="1" dirty="0">
                <a:solidFill>
                  <a:srgbClr val="E8B92E"/>
                </a:solidFill>
                <a:latin typeface="Courier New" pitchFamily="34" charset="0"/>
                <a:ea typeface="Courier New" pitchFamily="34" charset="-122"/>
                <a:cs typeface="Courier New" pitchFamily="34" charset="-120"/>
              </a:rPr>
              <a:t>www</a:t>
            </a:r>
            <a:r>
              <a:rPr lang="en-US" sz="1100" dirty="0">
                <a:solidFill>
                  <a:srgbClr val="D5E2D8"/>
                </a:solidFill>
                <a:latin typeface="Courier New" pitchFamily="34" charset="0"/>
                <a:ea typeface="Courier New" pitchFamily="34" charset="-122"/>
                <a:cs typeface="Courier New" pitchFamily="34" charset="-120"/>
              </a:rPr>
              <a:t> (4 match(es))</a:t>
            </a:r>
            <a:endParaRPr lang="en-US" sz="1100" dirty="0"/>
          </a:p>
          <a:p>
            <a:pPr indent="0" marL="0">
              <a:lnSpc>
                <a:spcPct val="100000"/>
              </a:lnSpc>
              <a:buNone/>
            </a:pPr>
            <a:r>
              <a:rPr lang="en-US" sz="1100" dirty="0">
                <a:solidFill>
                  <a:srgbClr val="D5E2D8"/>
                </a:solidFill>
                <a:latin typeface="Courier New" pitchFamily="34" charset="0"/>
                <a:ea typeface="Courier New" pitchFamily="34" charset="-122"/>
                <a:cs typeface="Courier New" pitchFamily="34" charset="-120"/>
              </a:rPr>
              <a:t>    20 deny ip 192.168.20.0 0.0.0.255 192.168.10.0 0.0.0.255 </a:t>
            </a:r>
            <a:r>
              <a:rPr lang="en-US" sz="1100" b="1" dirty="0">
                <a:solidFill>
                  <a:srgbClr val="E8B92E"/>
                </a:solidFill>
                <a:latin typeface="Courier New" pitchFamily="34" charset="0"/>
                <a:ea typeface="Courier New" pitchFamily="34" charset="-122"/>
                <a:cs typeface="Courier New" pitchFamily="34" charset="-120"/>
              </a:rPr>
              <a:t>(8 match(es))</a:t>
            </a:r>
            <a:endParaRPr lang="en-US" sz="1100" dirty="0"/>
          </a:p>
          <a:p>
            <a:pPr indent="0" marL="0">
              <a:lnSpc>
                <a:spcPct val="100000"/>
              </a:lnSpc>
              <a:buNone/>
            </a:pPr>
            <a:r>
              <a:rPr lang="en-US" sz="1100" dirty="0">
                <a:solidFill>
                  <a:srgbClr val="D5E2D8"/>
                </a:solidFill>
                <a:latin typeface="Courier New" pitchFamily="34" charset="0"/>
                <a:ea typeface="Courier New" pitchFamily="34" charset="-122"/>
                <a:cs typeface="Courier New" pitchFamily="34" charset="-120"/>
              </a:rPr>
              <a:t>    30 permit ip any any (12 match(es))</a:t>
            </a:r>
            <a:endParaRPr lang="en-US" sz="1100" dirty="0"/>
          </a:p>
        </p:txBody>
      </p:sp>
      <p:graphicFrame>
        <p:nvGraphicFramePr>
          <p:cNvPr id="67" name="acl tests"/>
          <p:cNvGraphicFramePr>
            <a:graphicFrameLocks noGrp="1"/>
          </p:cNvGraphicFramePr>
          <p:nvPr>
            <p:extLst>
              <p:ext uri="{D42A27DB-BD31-4B8C-83A1-F6EECF244321}">
                <p14:modId xmlns:p14="http://schemas.microsoft.com/office/powerpoint/2010/main" val="1579011935"/>
              </p:ext>
            </p:extLst>
          </p:nvPr>
        </p:nvGraphicFramePr>
        <p:xfrm>
          <a:off x="548640" y="3657600"/>
          <a:ext cx="6812280" cy="914400"/>
        </p:xfrm>
        <a:graphic>
          <a:graphicData uri="http://schemas.openxmlformats.org/drawingml/2006/table">
            <a:tbl>
              <a:tblPr/>
              <a:tblGrid>
                <a:gridCol w="3017520"/>
                <a:gridCol w="1691640"/>
                <a:gridCol w="2103120"/>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Test from STU-PC1</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1E563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Expected</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1E563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Because of</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1E5631"/>
                    </a:solidFill>
                  </a:tcPr>
                </a:tc>
              </a:tr>
              <a:tr h="0">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Browser: http://192.168.10.100</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Page loads</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line 10 (TCP 80)</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r>
              <a:tr h="0">
                <a:tc>
                  <a:txBody>
                    <a:bodyPr/>
                    <a:lstStyle/>
                    <a:p>
                      <a:pPr indent="0" marL="0">
                        <a:buNone/>
                      </a:pPr>
                      <a:r>
                        <a:rPr lang="en-US" sz="1100" b="1" dirty="0">
                          <a:solidFill>
                            <a:srgbClr val="1E5631"/>
                          </a:solidFill>
                          <a:latin typeface="Courier New" pitchFamily="34" charset="0"/>
                          <a:ea typeface="Courier New" pitchFamily="34" charset="-122"/>
                          <a:cs typeface="Courier New" pitchFamily="34" charset="-120"/>
                        </a:rPr>
                        <a:t>ping 192.168.10.100</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Fails</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line 20</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E5631"/>
                          </a:solidFill>
                          <a:latin typeface="Courier New" pitchFamily="34" charset="0"/>
                          <a:ea typeface="Courier New" pitchFamily="34" charset="-122"/>
                          <a:cs typeface="Courier New" pitchFamily="34" charset="-120"/>
                        </a:rPr>
                        <a:t>ping 192.168.10.11</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Fails</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line 20</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r>
              <a:tr h="0">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Browser: http://198.51.100.10</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Page loads</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line 30 (after NAT)</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r>
            </a:tbl>
          </a:graphicData>
        </a:graphic>
      </p:graphicFrame>
      <p:sp>
        <p:nvSpPr>
          <p:cNvPr id="13" name="Card"/>
          <p:cNvSpPr/>
          <p:nvPr/>
        </p:nvSpPr>
        <p:spPr>
          <a:xfrm>
            <a:off x="7086600" y="3657600"/>
            <a:ext cx="4553712" cy="1417320"/>
          </a:xfrm>
          <a:prstGeom prst="roundRect">
            <a:avLst>
              <a:gd name="adj" fmla="val 5161"/>
            </a:avLst>
          </a:prstGeom>
          <a:solidFill>
            <a:srgbClr val="F2F8F3"/>
          </a:solidFill>
          <a:ln w="12700">
            <a:solidFill>
              <a:srgbClr val="B7C9BA"/>
            </a:solidFill>
            <a:prstDash val="solid"/>
          </a:ln>
        </p:spPr>
      </p:sp>
      <p:sp>
        <p:nvSpPr>
          <p:cNvPr id="14" name="Text 10"/>
          <p:cNvSpPr txBox="1"/>
          <p:nvPr/>
        </p:nvSpPr>
        <p:spPr>
          <a:xfrm>
            <a:off x="7232904" y="3760013"/>
            <a:ext cx="4261104" cy="1212494"/>
          </a:xfrm>
          <a:prstGeom prst="rect">
            <a:avLst/>
          </a:prstGeom>
          <a:noFill/>
          <a:ln/>
        </p:spPr>
        <p:txBody>
          <a:bodyPr wrap="square" lIns="0" tIns="0" rIns="0" bIns="0" rtlCol="0" anchor="t"/>
          <a:lstStyle/>
          <a:p>
            <a:pPr indent="0" marL="0">
              <a:buNone/>
            </a:pPr>
            <a:r>
              <a:rPr lang="en-US" sz="1400" b="1" dirty="0">
                <a:solidFill>
                  <a:srgbClr val="1E5631"/>
                </a:solidFill>
              </a:rPr>
              <a:t>Reading the output</a:t>
            </a:r>
            <a:endParaRPr lang="en-US" sz="1300" dirty="0"/>
          </a:p>
          <a:p>
            <a:pPr indent="0" marL="0">
              <a:buNone/>
            </a:pPr>
            <a:r>
              <a:rPr lang="en-US" sz="1200" b="1" dirty="0">
                <a:solidFill>
                  <a:srgbClr val="1E5631"/>
                </a:solidFill>
                <a:latin typeface="Courier New" pitchFamily="34" charset="0"/>
                <a:ea typeface="Courier New" pitchFamily="34" charset="-122"/>
                <a:cs typeface="Courier New" pitchFamily="34" charset="-120"/>
              </a:rPr>
              <a:t>eq www</a:t>
            </a:r>
            <a:r>
              <a:rPr lang="en-US" sz="1300" dirty="0">
                <a:solidFill>
                  <a:srgbClr val="2B2B2B"/>
                </a:solidFill>
              </a:rPr>
              <a:t> = port 80. 10, 20, 30 are sequence numbers: insert a line with </a:t>
            </a:r>
            <a:r>
              <a:rPr lang="en-US" sz="1200" b="1" dirty="0">
                <a:solidFill>
                  <a:srgbClr val="1E5631"/>
                </a:solidFill>
                <a:latin typeface="Courier New" pitchFamily="34" charset="0"/>
                <a:ea typeface="Courier New" pitchFamily="34" charset="-122"/>
                <a:cs typeface="Courier New" pitchFamily="34" charset="-120"/>
              </a:rPr>
              <a:t>15 permit …</a:t>
            </a:r>
            <a:r>
              <a:rPr lang="en-US" sz="1300" dirty="0">
                <a:solidFill>
                  <a:srgbClr val="2B2B2B"/>
                </a:solidFill>
              </a:rPr>
              <a:t>, remove one with </a:t>
            </a:r>
            <a:r>
              <a:rPr lang="en-US" sz="1200" b="1" dirty="0">
                <a:solidFill>
                  <a:srgbClr val="1E5631"/>
                </a:solidFill>
                <a:latin typeface="Courier New" pitchFamily="34" charset="0"/>
                <a:ea typeface="Courier New" pitchFamily="34" charset="-122"/>
                <a:cs typeface="Courier New" pitchFamily="34" charset="-120"/>
              </a:rPr>
              <a:t>no 20</a:t>
            </a:r>
            <a:r>
              <a:rPr lang="en-US" sz="1300" dirty="0">
                <a:solidFill>
                  <a:srgbClr val="2B2B2B"/>
                </a:solidFill>
              </a:rPr>
              <a:t>.</a:t>
            </a:r>
            <a:endParaRPr lang="en-US" sz="1300" dirty="0"/>
          </a:p>
        </p:txBody>
      </p:sp>
      <p:sp>
        <p:nvSpPr>
          <p:cNvPr id="15" name="Card"/>
          <p:cNvSpPr/>
          <p:nvPr/>
        </p:nvSpPr>
        <p:spPr>
          <a:xfrm>
            <a:off x="7086600" y="5193792"/>
            <a:ext cx="4553712" cy="1024128"/>
          </a:xfrm>
          <a:prstGeom prst="roundRect">
            <a:avLst>
              <a:gd name="adj" fmla="val 7143"/>
            </a:avLst>
          </a:prstGeom>
          <a:solidFill>
            <a:srgbClr val="FBEAEA"/>
          </a:solidFill>
          <a:ln w="12700">
            <a:solidFill>
              <a:srgbClr val="E9B8B5"/>
            </a:solidFill>
            <a:prstDash val="solid"/>
          </a:ln>
        </p:spPr>
      </p:sp>
      <p:sp>
        <p:nvSpPr>
          <p:cNvPr id="16" name="Text 12"/>
          <p:cNvSpPr txBox="1"/>
          <p:nvPr/>
        </p:nvSpPr>
        <p:spPr>
          <a:xfrm>
            <a:off x="7232904" y="5296205"/>
            <a:ext cx="4261104" cy="819302"/>
          </a:xfrm>
          <a:prstGeom prst="rect">
            <a:avLst/>
          </a:prstGeom>
          <a:noFill/>
          <a:ln/>
        </p:spPr>
        <p:txBody>
          <a:bodyPr wrap="square" lIns="0" tIns="0" rIns="0" bIns="0" rtlCol="0" anchor="t"/>
          <a:lstStyle/>
          <a:p>
            <a:pPr indent="0" marL="0">
              <a:buNone/>
            </a:pPr>
            <a:r>
              <a:rPr lang="en-US" sz="1400" b="1" dirty="0">
                <a:solidFill>
                  <a:srgbClr val="8B1A1A"/>
                </a:solidFill>
              </a:rPr>
              <a:t>Think</a:t>
            </a:r>
            <a:endParaRPr lang="en-US" sz="1300" dirty="0"/>
          </a:p>
          <a:p>
            <a:pPr indent="0" marL="0">
              <a:buNone/>
            </a:pPr>
            <a:r>
              <a:rPr lang="en-US" sz="1300" dirty="0">
                <a:solidFill>
                  <a:srgbClr val="2B2B2B"/>
                </a:solidFill>
              </a:rPr>
              <a:t>STAFF-PC → STU-PC1 ping fails too. Why? The reply hits line 20.</a:t>
            </a:r>
            <a:endParaRPr lang="en-US" sz="1300" dirty="0"/>
          </a:p>
        </p:txBody>
      </p:sp>
      <p:sp>
        <p:nvSpPr>
          <p:cNvPr id="25" name="Slide Number Placeholder 0"/>
          <p:cNvSpPr>
            <a:spLocks noGrp="1"/>
          </p:cNvSpPr>
          <p:nvPr>
            <p:ph type="sldNum" sz="quarter" idx="4294967295"/>
          </p:nvPr>
        </p:nvSpPr>
        <p:spPr>
          <a:xfrm>
            <a:off x="10698480" y="6464808"/>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1"/>
          <p:cNvSpPr/>
          <p:nvPr>
            <p:ph idx="102" type="body" hasCustomPrompt="1"/>
          </p:nvPr>
        </p:nvSpPr>
        <p:spPr>
          <a:xfrm>
            <a:off x="548640" y="274320"/>
            <a:ext cx="9966960" cy="256032"/>
          </a:xfrm>
          <a:prstGeom prst="rect">
            <a:avLst/>
          </a:prstGeom>
          <a:noFill/>
          <a:ln/>
        </p:spPr>
        <p:txBody>
          <a:bodyPr wrap="square" lIns="0" tIns="0" rIns="0" bIns="0" rtlCol="0" anchor="ctr"/>
          <a:lstStyle/>
          <a:p>
            <a:pPr algn="l" indent="0" marL="0">
              <a:buNone/>
            </a:pPr>
            <a:r>
              <a:rPr lang="en-US" sz="1100" b="1" spc="100" kern="0" dirty="0">
                <a:solidFill>
                  <a:schemeClr val="accent2"/>
                </a:solidFill>
              </a:rPr>
              <a:t>08  •  SECURITY &amp; NAT  •  LAB 6</a:t>
            </a:r>
            <a:endParaRPr lang="en-US" sz="1100" dirty="0"/>
          </a:p>
        </p:txBody>
      </p:sp>
      <p:sp>
        <p:nvSpPr>
          <p:cNvPr id="3" name="Text 1"/>
          <p:cNvSpPr/>
          <p:nvPr>
            <p:ph idx="103" type="title" hasCustomPrompt="1"/>
          </p:nvPr>
        </p:nvSpPr>
        <p:spPr>
          <a:xfrm>
            <a:off x="548640" y="548640"/>
            <a:ext cx="10149840" cy="548640"/>
          </a:xfrm>
          <a:prstGeom prst="rect">
            <a:avLst/>
          </a:prstGeom>
          <a:noFill/>
          <a:ln/>
        </p:spPr>
        <p:txBody>
          <a:bodyPr wrap="square" lIns="0" tIns="0" rIns="0" bIns="0" rtlCol="0" anchor="ctr"/>
          <a:lstStyle/>
          <a:p>
            <a:pPr algn="l" indent="0" marL="0">
              <a:buNone/>
            </a:pPr>
            <a:r>
              <a:rPr lang="en-US" sz="2600" b="1" dirty="0">
                <a:solidFill>
                  <a:schemeClr val="accent1"/>
                </a:solidFill>
              </a:rPr>
              <a:t>How to share one public address with PAT</a:t>
            </a:r>
            <a:endParaRPr lang="en-US" sz="2600" dirty="0"/>
          </a:p>
        </p:txBody>
      </p:sp>
      <p:pic>
        <p:nvPicPr>
          <p:cNvPr id="4" name="Home button" descr="Home: back to the workbook menu">
            <a:hlinkClick r:id="rId2" tooltip="Back to the workbook menu" action="ppaction://hlinksldjump"/>
          </p:cNvPr>
          <p:cNvPicPr>
            <a:picLocks noChangeAspect="1"/>
          </p:cNvPicPr>
          <p:nvPr/>
        </p:nvPicPr>
        <p:blipFill>
          <a:blip r:embed="rId1"/>
          <a:stretch>
            <a:fillRect/>
          </a:stretch>
        </p:blipFill>
        <p:spPr>
          <a:xfrm>
            <a:off x="11365992" y="6336792"/>
            <a:ext cx="365760" cy="365760"/>
          </a:xfrm>
          <a:prstGeom prst="rect">
            <a:avLst/>
          </a:prstGeom>
        </p:spPr>
      </p:pic>
      <p:sp>
        <p:nvSpPr>
          <p:cNvPr id="5" name="Goal"/>
          <p:cNvSpPr txBox="1"/>
          <p:nvPr/>
        </p:nvSpPr>
        <p:spPr>
          <a:xfrm>
            <a:off x="548640" y="1161288"/>
            <a:ext cx="11094415" cy="384048"/>
          </a:xfrm>
          <a:prstGeom prst="rect">
            <a:avLst/>
          </a:prstGeom>
          <a:noFill/>
          <a:ln/>
        </p:spPr>
        <p:txBody>
          <a:bodyPr wrap="square" lIns="0" tIns="0" rIns="0" bIns="0" rtlCol="0" anchor="ctr"/>
          <a:lstStyle/>
          <a:p>
            <a:pPr indent="0" marL="0">
              <a:buNone/>
            </a:pPr>
            <a:r>
              <a:rPr lang="en-US" sz="1400" b="1" dirty="0">
                <a:solidFill>
                  <a:srgbClr val="2B7043"/>
                </a:solidFill>
              </a:rPr>
              <a:t>Goal:  </a:t>
            </a:r>
            <a:r>
              <a:rPr lang="en-US" sz="1400" dirty="0">
                <a:solidFill>
                  <a:srgbClr val="2B2B2B"/>
                </a:solidFill>
              </a:rPr>
              <a:t>All inside PCs reach the Internet through R1’s single public address, told apart by port numbers (NAT overload).</a:t>
            </a:r>
            <a:endParaRPr lang="en-US" sz="1400" dirty="0"/>
          </a:p>
        </p:txBody>
      </p:sp>
      <p:sp>
        <p:nvSpPr>
          <p:cNvPr id="6" name="Command header"/>
          <p:cNvSpPr/>
          <p:nvPr/>
        </p:nvSpPr>
        <p:spPr>
          <a:xfrm>
            <a:off x="548640" y="1664208"/>
            <a:ext cx="6153912" cy="310896"/>
          </a:xfrm>
          <a:prstGeom prst="rect">
            <a:avLst/>
          </a:prstGeom>
          <a:solidFill>
            <a:srgbClr val="1B2B22"/>
          </a:solidFill>
          <a:ln/>
        </p:spPr>
        <p:txBody>
          <a:bodyPr wrap="square" lIns="109728" tIns="45720" rIns="109728" bIns="45720" rtlCol="0" anchor="ctr"/>
          <a:lstStyle/>
          <a:p>
            <a:pPr indent="0" marL="0">
              <a:buNone/>
            </a:pPr>
            <a:r>
              <a:rPr lang="en-US" sz="1100" dirty="0">
                <a:solidFill>
                  <a:srgbClr val="E0605A"/>
                </a:solidFill>
              </a:rPr>
              <a:t>●  </a:t>
            </a:r>
            <a:r>
              <a:rPr lang="en-US" sz="1100" dirty="0">
                <a:solidFill>
                  <a:srgbClr val="E8B92E"/>
                </a:solidFill>
              </a:rPr>
              <a:t>●  </a:t>
            </a:r>
            <a:r>
              <a:rPr lang="en-US" sz="1100" dirty="0">
                <a:solidFill>
                  <a:srgbClr val="4CAF50"/>
                </a:solidFill>
              </a:rPr>
              <a:t>●   </a:t>
            </a:r>
            <a:r>
              <a:rPr lang="en-US" sz="1100" b="1" dirty="0">
                <a:solidFill>
                  <a:srgbClr val="C9D6CC"/>
                </a:solidFill>
              </a:rPr>
              <a:t>R1  —  type the white text, then press Enter</a:t>
            </a:r>
            <a:endParaRPr lang="en-US" sz="1100" dirty="0"/>
          </a:p>
        </p:txBody>
      </p:sp>
      <p:sp>
        <p:nvSpPr>
          <p:cNvPr id="7" name="Meaning header"/>
          <p:cNvSpPr/>
          <p:nvPr/>
        </p:nvSpPr>
        <p:spPr>
          <a:xfrm>
            <a:off x="6720840" y="1664208"/>
            <a:ext cx="4922215" cy="310896"/>
          </a:xfrm>
          <a:prstGeom prst="rect">
            <a:avLst/>
          </a:prstGeom>
          <a:solidFill>
            <a:srgbClr val="E8F1EA"/>
          </a:solidFill>
          <a:ln/>
        </p:spPr>
        <p:txBody>
          <a:bodyPr wrap="square" lIns="109728" tIns="45720" rIns="109728" bIns="45720" rtlCol="0" anchor="ctr"/>
          <a:lstStyle/>
          <a:p>
            <a:pPr indent="0" marL="0">
              <a:buNone/>
            </a:pPr>
            <a:r>
              <a:rPr lang="en-US" sz="1200" b="1" dirty="0">
                <a:solidFill>
                  <a:srgbClr val="1E5631"/>
                </a:solidFill>
              </a:rPr>
              <a:t>What it does</a:t>
            </a:r>
            <a:endParaRPr lang="en-US" sz="1200" dirty="0"/>
          </a:p>
        </p:txBody>
      </p:sp>
      <p:sp>
        <p:nvSpPr>
          <p:cNvPr id="8" name="Command 01"/>
          <p:cNvSpPr/>
          <p:nvPr/>
        </p:nvSpPr>
        <p:spPr>
          <a:xfrm>
            <a:off x="548640" y="1993392"/>
            <a:ext cx="6153912" cy="455005"/>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R1(config)# </a:t>
            </a:r>
            <a:r>
              <a:rPr lang="en-US" sz="1200" b="1" dirty="0">
                <a:solidFill>
                  <a:srgbClr val="FFFFFF"/>
                </a:solidFill>
                <a:latin typeface="Courier New" pitchFamily="34" charset="0"/>
                <a:ea typeface="Courier New" pitchFamily="34" charset="-122"/>
                <a:cs typeface="Courier New" pitchFamily="34" charset="-120"/>
              </a:rPr>
              <a:t>interface g0/0/0</a:t>
            </a:r>
            <a:endParaRPr lang="en-US" sz="1200" dirty="0"/>
          </a:p>
          <a:p>
            <a:pPr indent="0" marL="0">
              <a:buNone/>
            </a:pPr>
            <a:r>
              <a:rPr lang="en-US" sz="1200" dirty="0">
                <a:solidFill>
                  <a:srgbClr val="8FC9A0"/>
                </a:solidFill>
                <a:latin typeface="Courier New" pitchFamily="34" charset="0"/>
                <a:ea typeface="Courier New" pitchFamily="34" charset="-122"/>
                <a:cs typeface="Courier New" pitchFamily="34" charset="-120"/>
              </a:rPr>
              <a:t>R1(config-if)# </a:t>
            </a:r>
            <a:r>
              <a:rPr lang="en-US" sz="1200" b="1" dirty="0">
                <a:solidFill>
                  <a:srgbClr val="FFFFFF"/>
                </a:solidFill>
                <a:latin typeface="Courier New" pitchFamily="34" charset="0"/>
                <a:ea typeface="Courier New" pitchFamily="34" charset="-122"/>
                <a:cs typeface="Courier New" pitchFamily="34" charset="-120"/>
              </a:rPr>
              <a:t>ip nat inside</a:t>
            </a:r>
            <a:endParaRPr lang="en-US" sz="1200" dirty="0"/>
          </a:p>
        </p:txBody>
      </p:sp>
      <p:sp>
        <p:nvSpPr>
          <p:cNvPr id="9" name="Reveal 01 meaning"/>
          <p:cNvSpPr/>
          <p:nvPr/>
        </p:nvSpPr>
        <p:spPr>
          <a:xfrm>
            <a:off x="6720840" y="1993392"/>
            <a:ext cx="4922215" cy="455005"/>
          </a:xfrm>
          <a:prstGeom prst="rect">
            <a:avLst/>
          </a:prstGeom>
          <a:solidFill>
            <a:srgbClr val="F2F8F3"/>
          </a:solidFill>
          <a:ln/>
        </p:spPr>
        <p:txBody>
          <a:bodyPr wrap="square" lIns="109728" tIns="45720" rIns="109728" bIns="45720" rtlCol="0" anchor="ctr"/>
          <a:lstStyle/>
          <a:p>
            <a:pPr indent="0" marL="0">
              <a:buNone/>
            </a:pPr>
            <a:r>
              <a:rPr lang="en-US" sz="1400" dirty="0">
                <a:solidFill>
                  <a:srgbClr val="2B2B2B"/>
                </a:solidFill>
              </a:rPr>
              <a:t>The STAFF LAN port is on the inside (private addresses).</a:t>
            </a:r>
            <a:endParaRPr lang="en-US" sz="1400" dirty="0"/>
          </a:p>
        </p:txBody>
      </p:sp>
      <p:sp>
        <p:nvSpPr>
          <p:cNvPr id="10" name="Command 02"/>
          <p:cNvSpPr/>
          <p:nvPr/>
        </p:nvSpPr>
        <p:spPr>
          <a:xfrm>
            <a:off x="548640" y="2466685"/>
            <a:ext cx="6153912" cy="455005"/>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R1(config-if)# </a:t>
            </a:r>
            <a:r>
              <a:rPr lang="en-US" sz="1200" b="1" dirty="0">
                <a:solidFill>
                  <a:srgbClr val="FFFFFF"/>
                </a:solidFill>
                <a:latin typeface="Courier New" pitchFamily="34" charset="0"/>
                <a:ea typeface="Courier New" pitchFamily="34" charset="-122"/>
                <a:cs typeface="Courier New" pitchFamily="34" charset="-120"/>
              </a:rPr>
              <a:t>interface g0/0/1</a:t>
            </a:r>
            <a:endParaRPr lang="en-US" sz="1200" dirty="0"/>
          </a:p>
          <a:p>
            <a:pPr indent="0" marL="0">
              <a:buNone/>
            </a:pPr>
            <a:r>
              <a:rPr lang="en-US" sz="1200" dirty="0">
                <a:solidFill>
                  <a:srgbClr val="8FC9A0"/>
                </a:solidFill>
                <a:latin typeface="Courier New" pitchFamily="34" charset="0"/>
                <a:ea typeface="Courier New" pitchFamily="34" charset="-122"/>
                <a:cs typeface="Courier New" pitchFamily="34" charset="-120"/>
              </a:rPr>
              <a:t>R1(config-if)# </a:t>
            </a:r>
            <a:r>
              <a:rPr lang="en-US" sz="1200" b="1" dirty="0">
                <a:solidFill>
                  <a:srgbClr val="FFFFFF"/>
                </a:solidFill>
                <a:latin typeface="Courier New" pitchFamily="34" charset="0"/>
                <a:ea typeface="Courier New" pitchFamily="34" charset="-122"/>
                <a:cs typeface="Courier New" pitchFamily="34" charset="-120"/>
              </a:rPr>
              <a:t>ip nat inside</a:t>
            </a:r>
            <a:endParaRPr lang="en-US" sz="1200" dirty="0"/>
          </a:p>
        </p:txBody>
      </p:sp>
      <p:sp>
        <p:nvSpPr>
          <p:cNvPr id="11" name="Reveal 02 meaning"/>
          <p:cNvSpPr/>
          <p:nvPr/>
        </p:nvSpPr>
        <p:spPr>
          <a:xfrm>
            <a:off x="6720840" y="2466685"/>
            <a:ext cx="4922215" cy="455005"/>
          </a:xfrm>
          <a:prstGeom prst="rect">
            <a:avLst/>
          </a:prstGeom>
          <a:solidFill>
            <a:srgbClr val="FFFFFF"/>
          </a:solidFill>
          <a:ln/>
        </p:spPr>
        <p:txBody>
          <a:bodyPr wrap="square" lIns="109728" tIns="45720" rIns="109728" bIns="45720" rtlCol="0" anchor="ctr"/>
          <a:lstStyle/>
          <a:p>
            <a:pPr indent="0" marL="0">
              <a:buNone/>
            </a:pPr>
            <a:r>
              <a:rPr lang="en-US" sz="1400" dirty="0">
                <a:solidFill>
                  <a:srgbClr val="2B2B2B"/>
                </a:solidFill>
              </a:rPr>
              <a:t>The STUDENT LAN port is inside too.</a:t>
            </a:r>
            <a:endParaRPr lang="en-US" sz="1400" dirty="0"/>
          </a:p>
        </p:txBody>
      </p:sp>
      <p:sp>
        <p:nvSpPr>
          <p:cNvPr id="12" name="Command 03"/>
          <p:cNvSpPr/>
          <p:nvPr/>
        </p:nvSpPr>
        <p:spPr>
          <a:xfrm>
            <a:off x="548640" y="2939979"/>
            <a:ext cx="6153912" cy="627644"/>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R1(config-if)# </a:t>
            </a:r>
            <a:r>
              <a:rPr lang="en-US" sz="1200" b="1" dirty="0">
                <a:solidFill>
                  <a:srgbClr val="FFFFFF"/>
                </a:solidFill>
                <a:latin typeface="Courier New" pitchFamily="34" charset="0"/>
                <a:ea typeface="Courier New" pitchFamily="34" charset="-122"/>
                <a:cs typeface="Courier New" pitchFamily="34" charset="-120"/>
              </a:rPr>
              <a:t>interface g0/0/2</a:t>
            </a:r>
            <a:endParaRPr lang="en-US" sz="1200" dirty="0"/>
          </a:p>
          <a:p>
            <a:pPr indent="0" marL="0">
              <a:buNone/>
            </a:pPr>
            <a:r>
              <a:rPr lang="en-US" sz="1200" dirty="0">
                <a:solidFill>
                  <a:srgbClr val="8FC9A0"/>
                </a:solidFill>
                <a:latin typeface="Courier New" pitchFamily="34" charset="0"/>
                <a:ea typeface="Courier New" pitchFamily="34" charset="-122"/>
                <a:cs typeface="Courier New" pitchFamily="34" charset="-120"/>
              </a:rPr>
              <a:t>R1(config-if)# </a:t>
            </a:r>
            <a:r>
              <a:rPr lang="en-US" sz="1200" b="1" dirty="0">
                <a:solidFill>
                  <a:srgbClr val="FFFFFF"/>
                </a:solidFill>
                <a:latin typeface="Courier New" pitchFamily="34" charset="0"/>
                <a:ea typeface="Courier New" pitchFamily="34" charset="-122"/>
                <a:cs typeface="Courier New" pitchFamily="34" charset="-120"/>
              </a:rPr>
              <a:t>ip nat outside</a:t>
            </a:r>
            <a:endParaRPr lang="en-US" sz="1200" dirty="0"/>
          </a:p>
          <a:p>
            <a:pPr indent="0" marL="0">
              <a:buNone/>
            </a:pPr>
            <a:r>
              <a:rPr lang="en-US" sz="1200" dirty="0">
                <a:solidFill>
                  <a:srgbClr val="8FC9A0"/>
                </a:solidFill>
                <a:latin typeface="Courier New" pitchFamily="34" charset="0"/>
                <a:ea typeface="Courier New" pitchFamily="34" charset="-122"/>
                <a:cs typeface="Courier New" pitchFamily="34" charset="-120"/>
              </a:rPr>
              <a:t>R1(config-if)# </a:t>
            </a:r>
            <a:r>
              <a:rPr lang="en-US" sz="1200" b="1" dirty="0">
                <a:solidFill>
                  <a:srgbClr val="FFFFFF"/>
                </a:solidFill>
                <a:latin typeface="Courier New" pitchFamily="34" charset="0"/>
                <a:ea typeface="Courier New" pitchFamily="34" charset="-122"/>
                <a:cs typeface="Courier New" pitchFamily="34" charset="-120"/>
              </a:rPr>
              <a:t>exit</a:t>
            </a:r>
            <a:endParaRPr lang="en-US" sz="1200" dirty="0"/>
          </a:p>
        </p:txBody>
      </p:sp>
      <p:sp>
        <p:nvSpPr>
          <p:cNvPr id="13" name="Reveal 03 meaning"/>
          <p:cNvSpPr/>
          <p:nvPr/>
        </p:nvSpPr>
        <p:spPr>
          <a:xfrm>
            <a:off x="6720840" y="2939979"/>
            <a:ext cx="4922215" cy="627644"/>
          </a:xfrm>
          <a:prstGeom prst="rect">
            <a:avLst/>
          </a:prstGeom>
          <a:solidFill>
            <a:srgbClr val="F2F8F3"/>
          </a:solidFill>
          <a:ln/>
        </p:spPr>
        <p:txBody>
          <a:bodyPr wrap="square" lIns="109728" tIns="45720" rIns="109728" bIns="45720" rtlCol="0" anchor="ctr"/>
          <a:lstStyle/>
          <a:p>
            <a:pPr indent="0" marL="0">
              <a:buNone/>
            </a:pPr>
            <a:r>
              <a:rPr lang="en-US" sz="1400" dirty="0">
                <a:solidFill>
                  <a:srgbClr val="2B2B2B"/>
                </a:solidFill>
              </a:rPr>
              <a:t>The ISP link is the outside (public address 203.0.113.2).</a:t>
            </a:r>
            <a:endParaRPr lang="en-US" sz="1400" dirty="0"/>
          </a:p>
        </p:txBody>
      </p:sp>
      <p:sp>
        <p:nvSpPr>
          <p:cNvPr id="14" name="Command 04"/>
          <p:cNvSpPr/>
          <p:nvPr/>
        </p:nvSpPr>
        <p:spPr>
          <a:xfrm>
            <a:off x="548640" y="3585911"/>
            <a:ext cx="6153912" cy="54380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R1(config)# </a:t>
            </a:r>
            <a:r>
              <a:rPr lang="en-US" sz="1200" b="1" dirty="0">
                <a:solidFill>
                  <a:srgbClr val="FFFFFF"/>
                </a:solidFill>
                <a:latin typeface="Courier New" pitchFamily="34" charset="0"/>
                <a:ea typeface="Courier New" pitchFamily="34" charset="-122"/>
                <a:cs typeface="Courier New" pitchFamily="34" charset="-120"/>
              </a:rPr>
              <a:t>access-list 1 permit 192.168.10.0 0.0.0.255</a:t>
            </a:r>
            <a:endParaRPr lang="en-US" sz="1200" dirty="0"/>
          </a:p>
          <a:p>
            <a:pPr indent="0" marL="0">
              <a:buNone/>
            </a:pPr>
            <a:r>
              <a:rPr lang="en-US" sz="1200" dirty="0">
                <a:solidFill>
                  <a:srgbClr val="8FC9A0"/>
                </a:solidFill>
                <a:latin typeface="Courier New" pitchFamily="34" charset="0"/>
                <a:ea typeface="Courier New" pitchFamily="34" charset="-122"/>
                <a:cs typeface="Courier New" pitchFamily="34" charset="-120"/>
              </a:rPr>
              <a:t>R1(config)# </a:t>
            </a:r>
            <a:r>
              <a:rPr lang="en-US" sz="1200" b="1" dirty="0">
                <a:solidFill>
                  <a:srgbClr val="FFFFFF"/>
                </a:solidFill>
                <a:latin typeface="Courier New" pitchFamily="34" charset="0"/>
                <a:ea typeface="Courier New" pitchFamily="34" charset="-122"/>
                <a:cs typeface="Courier New" pitchFamily="34" charset="-120"/>
              </a:rPr>
              <a:t>access-list 1 permit 192.168.20.0 0.0.0.255</a:t>
            </a:r>
            <a:endParaRPr lang="en-US" sz="1200" dirty="0"/>
          </a:p>
        </p:txBody>
      </p:sp>
      <p:sp>
        <p:nvSpPr>
          <p:cNvPr id="15" name="Reveal 04 meaning"/>
          <p:cNvSpPr/>
          <p:nvPr/>
        </p:nvSpPr>
        <p:spPr>
          <a:xfrm>
            <a:off x="6720840" y="3585911"/>
            <a:ext cx="4922215" cy="543809"/>
          </a:xfrm>
          <a:prstGeom prst="rect">
            <a:avLst/>
          </a:prstGeom>
          <a:solidFill>
            <a:srgbClr val="FFFFFF"/>
          </a:solidFill>
          <a:ln/>
        </p:spPr>
        <p:txBody>
          <a:bodyPr wrap="square" lIns="109728" tIns="45720" rIns="109728" bIns="45720" rtlCol="0" anchor="ctr"/>
          <a:lstStyle/>
          <a:p>
            <a:pPr indent="0" marL="0">
              <a:buNone/>
            </a:pPr>
            <a:r>
              <a:rPr lang="en-US" sz="1400" dirty="0">
                <a:solidFill>
                  <a:srgbClr val="2B2B2B"/>
                </a:solidFill>
              </a:rPr>
              <a:t>Choose which inside addresses may be translated. Here the ACL selects — it does not filter.</a:t>
            </a:r>
            <a:endParaRPr lang="en-US" sz="1400" dirty="0"/>
          </a:p>
        </p:txBody>
      </p:sp>
      <p:sp>
        <p:nvSpPr>
          <p:cNvPr id="16" name="Command 05"/>
          <p:cNvSpPr/>
          <p:nvPr/>
        </p:nvSpPr>
        <p:spPr>
          <a:xfrm>
            <a:off x="548640" y="4148008"/>
            <a:ext cx="6153912" cy="54380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R1(config)# </a:t>
            </a:r>
            <a:r>
              <a:rPr lang="en-US" sz="1200" b="1" dirty="0">
                <a:solidFill>
                  <a:srgbClr val="FFFFFF"/>
                </a:solidFill>
                <a:latin typeface="Courier New" pitchFamily="34" charset="0"/>
                <a:ea typeface="Courier New" pitchFamily="34" charset="-122"/>
                <a:cs typeface="Courier New" pitchFamily="34" charset="-120"/>
              </a:rPr>
              <a:t>ip nat inside source list 1 interface g0/0/2 overload</a:t>
            </a:r>
            <a:endParaRPr lang="en-US" sz="1200" dirty="0"/>
          </a:p>
        </p:txBody>
      </p:sp>
      <p:sp>
        <p:nvSpPr>
          <p:cNvPr id="17" name="Reveal 05 meaning"/>
          <p:cNvSpPr/>
          <p:nvPr/>
        </p:nvSpPr>
        <p:spPr>
          <a:xfrm>
            <a:off x="6720840" y="4148008"/>
            <a:ext cx="4922215" cy="543809"/>
          </a:xfrm>
          <a:prstGeom prst="rect">
            <a:avLst/>
          </a:prstGeom>
          <a:solidFill>
            <a:srgbClr val="F2F8F3"/>
          </a:solidFill>
          <a:ln/>
        </p:spPr>
        <p:txBody>
          <a:bodyPr wrap="square" lIns="109728" tIns="45720" rIns="109728" bIns="45720" rtlCol="0" anchor="ctr"/>
          <a:lstStyle/>
          <a:p>
            <a:pPr indent="0" marL="0">
              <a:buNone/>
            </a:pPr>
            <a:r>
              <a:rPr lang="en-US" sz="1400" dirty="0">
                <a:solidFill>
                  <a:srgbClr val="2B2B2B"/>
                </a:solidFill>
              </a:rPr>
              <a:t>Translate those sources to G0/0/2’s public address and share it by port number: PAT.</a:t>
            </a:r>
            <a:endParaRPr lang="en-US" sz="1400" dirty="0"/>
          </a:p>
        </p:txBody>
      </p:sp>
      <p:sp>
        <p:nvSpPr>
          <p:cNvPr id="18" name="Reveal 99 check box"/>
          <p:cNvSpPr/>
          <p:nvPr/>
        </p:nvSpPr>
        <p:spPr>
          <a:xfrm>
            <a:off x="548640" y="5504688"/>
            <a:ext cx="5410048" cy="749808"/>
          </a:xfrm>
          <a:prstGeom prst="roundRect">
            <a:avLst>
              <a:gd name="adj" fmla="val 9756"/>
            </a:avLst>
          </a:prstGeom>
          <a:solidFill>
            <a:srgbClr val="E8F1EA"/>
          </a:solidFill>
          <a:ln w="12700">
            <a:solidFill>
              <a:srgbClr val="B7C9BA"/>
            </a:solidFill>
            <a:prstDash val="solid"/>
          </a:ln>
        </p:spPr>
      </p:sp>
      <p:pic>
        <p:nvPicPr>
          <p:cNvPr id="19" name="Reveal 99 check icon" descr="Check it:">    </p:cNvPr>
          <p:cNvPicPr>
            <a:picLocks noChangeAspect="1"/>
          </p:cNvPicPr>
          <p:nvPr/>
        </p:nvPicPr>
        <p:blipFill>
          <a:blip r:embed="rId3"/>
          <a:stretch>
            <a:fillRect/>
          </a:stretch>
        </p:blipFill>
        <p:spPr>
          <a:xfrm>
            <a:off x="694944" y="5733288"/>
            <a:ext cx="292608" cy="292608"/>
          </a:xfrm>
          <a:prstGeom prst="rect">
            <a:avLst/>
          </a:prstGeom>
        </p:spPr>
      </p:pic>
      <p:sp>
        <p:nvSpPr>
          <p:cNvPr id="20" name="Reveal 99 check text"/>
          <p:cNvSpPr txBox="1"/>
          <p:nvPr/>
        </p:nvSpPr>
        <p:spPr>
          <a:xfrm>
            <a:off x="1097280" y="5541264"/>
            <a:ext cx="4751680" cy="676656"/>
          </a:xfrm>
          <a:prstGeom prst="rect">
            <a:avLst/>
          </a:prstGeom>
          <a:noFill/>
          <a:ln/>
        </p:spPr>
        <p:txBody>
          <a:bodyPr wrap="square" lIns="0" tIns="0" rIns="0" bIns="0" rtlCol="0" anchor="ctr"/>
          <a:lstStyle/>
          <a:p>
            <a:pPr indent="0" marL="0">
              <a:buNone/>
            </a:pPr>
            <a:r>
              <a:rPr lang="en-US" sz="1400" b="1" dirty="0">
                <a:solidFill>
                  <a:srgbClr val="1E5631"/>
                </a:solidFill>
              </a:rPr>
              <a:t>Check it:  </a:t>
            </a:r>
            <a:r>
              <a:rPr lang="en-US" sz="1400" dirty="0">
                <a:solidFill>
                  <a:srgbClr val="2B2B2B"/>
                </a:solidFill>
              </a:rPr>
              <a:t>Browse http://198.51.100.10 from a PC, then run </a:t>
            </a:r>
            <a:r>
              <a:rPr lang="en-US" sz="1300" b="1" dirty="0">
                <a:solidFill>
                  <a:srgbClr val="1E5631"/>
                </a:solidFill>
                <a:latin typeface="Courier New" pitchFamily="34" charset="0"/>
                <a:ea typeface="Courier New" pitchFamily="34" charset="-122"/>
                <a:cs typeface="Courier New" pitchFamily="34" charset="-120"/>
              </a:rPr>
              <a:t>show ip nat translations</a:t>
            </a:r>
            <a:r>
              <a:rPr lang="en-US" sz="1400" dirty="0">
                <a:solidFill>
                  <a:srgbClr val="2B2B2B"/>
                </a:solidFill>
              </a:rPr>
              <a:t> on R1.</a:t>
            </a:r>
            <a:endParaRPr lang="en-US" sz="1400" dirty="0"/>
          </a:p>
        </p:txBody>
      </p:sp>
      <p:sp>
        <p:nvSpPr>
          <p:cNvPr id="21" name="Reveal 99 watch box"/>
          <p:cNvSpPr/>
          <p:nvPr/>
        </p:nvSpPr>
        <p:spPr>
          <a:xfrm>
            <a:off x="6233008" y="5504688"/>
            <a:ext cx="5410048" cy="749808"/>
          </a:xfrm>
          <a:prstGeom prst="roundRect">
            <a:avLst>
              <a:gd name="adj" fmla="val 9756"/>
            </a:avLst>
          </a:prstGeom>
          <a:solidFill>
            <a:srgbClr val="FBEAEA"/>
          </a:solidFill>
          <a:ln w="12700">
            <a:solidFill>
              <a:srgbClr val="E9B8B5"/>
            </a:solidFill>
            <a:prstDash val="solid"/>
          </a:ln>
        </p:spPr>
      </p:sp>
      <p:pic>
        <p:nvPicPr>
          <p:cNvPr id="22" name="Reveal 99 watch icon" descr="Watch out:">    </p:cNvPr>
          <p:cNvPicPr>
            <a:picLocks noChangeAspect="1"/>
          </p:cNvPicPr>
          <p:nvPr/>
        </p:nvPicPr>
        <p:blipFill>
          <a:blip r:embed="rId4"/>
          <a:stretch>
            <a:fillRect/>
          </a:stretch>
        </p:blipFill>
        <p:spPr>
          <a:xfrm>
            <a:off x="6379312" y="5733288"/>
            <a:ext cx="292608" cy="292608"/>
          </a:xfrm>
          <a:prstGeom prst="rect">
            <a:avLst/>
          </a:prstGeom>
        </p:spPr>
      </p:pic>
      <p:sp>
        <p:nvSpPr>
          <p:cNvPr id="23" name="Reveal 99 watch text"/>
          <p:cNvSpPr txBox="1"/>
          <p:nvPr/>
        </p:nvSpPr>
        <p:spPr>
          <a:xfrm>
            <a:off x="6781648" y="5541264"/>
            <a:ext cx="4751680" cy="676656"/>
          </a:xfrm>
          <a:prstGeom prst="rect">
            <a:avLst/>
          </a:prstGeom>
          <a:noFill/>
          <a:ln/>
        </p:spPr>
        <p:txBody>
          <a:bodyPr wrap="square" lIns="0" tIns="0" rIns="0" bIns="0" rtlCol="0" anchor="ctr"/>
          <a:lstStyle/>
          <a:p>
            <a:pPr indent="0" marL="0">
              <a:buNone/>
            </a:pPr>
            <a:r>
              <a:rPr lang="en-US" sz="1400" b="1" dirty="0">
                <a:solidFill>
                  <a:srgbClr val="8B1A1A"/>
                </a:solidFill>
              </a:rPr>
              <a:t>Watch out:  </a:t>
            </a:r>
            <a:r>
              <a:rPr lang="en-US" sz="1400" dirty="0">
                <a:solidFill>
                  <a:srgbClr val="2B2B2B"/>
                </a:solidFill>
              </a:rPr>
              <a:t>NAT “does nothing”? Usually inside and outside are swapped, or the default route to the ISP is missing.</a:t>
            </a:r>
            <a:endParaRPr lang="en-US" sz="1400" dirty="0"/>
          </a:p>
        </p:txBody>
      </p:sp>
      <p:sp>
        <p:nvSpPr>
          <p:cNvPr id="25" name="Slide Number Placeholder 0"/>
          <p:cNvSpPr>
            <a:spLocks noGrp="1"/>
          </p:cNvSpPr>
          <p:nvPr>
            <p:ph type="sldNum" sz="quarter" idx="4294967295"/>
          </p:nvPr>
        </p:nvSpPr>
        <p:spPr>
          <a:xfrm>
            <a:off x="10698480" y="6464808"/>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r"/>
            <a:fld id="{F7021451-1387-4CA6-816F-3879F97B5CBC}" type="slidenum">
              <a:rPr b="0" lang="en-US"/>
              <a:t>67</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4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0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400"/>
                                        <p:tgtEl>
                                          <p:spTgt spid="1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400"/>
                                        <p:tgtEl>
                                          <p:spTgt spid="1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fade">
                                      <p:cBhvr>
                                        <p:cTn id="38" dur="400"/>
                                        <p:tgtEl>
                                          <p:spTgt spid="20"/>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fade">
                                      <p:cBhvr>
                                        <p:cTn id="41" dur="400"/>
                                        <p:tgtEl>
                                          <p:spTgt spid="21"/>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fade">
                                      <p:cBhvr>
                                        <p:cTn id="44" dur="400"/>
                                        <p:tgtEl>
                                          <p:spTgt spid="22"/>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3" grpId="0" animBg="1"/>
      <p:bldP spid="15" grpId="0" animBg="1"/>
      <p:bldP spid="17" grpId="0" animBg="1"/>
      <p:bldP spid="18" grpId="0" animBg="1"/>
      <p:bldP spid="20" grpId="0" animBg="1"/>
      <p:bldP spid="21" grpId="0" animBg="1"/>
      <p:bldP spid="23"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1"/>
          <p:cNvSpPr/>
          <p:nvPr>
            <p:ph idx="102" type="body" hasCustomPrompt="1"/>
          </p:nvPr>
        </p:nvSpPr>
        <p:spPr>
          <a:xfrm>
            <a:off x="548640" y="274320"/>
            <a:ext cx="9966960" cy="256032"/>
          </a:xfrm>
          <a:prstGeom prst="rect">
            <a:avLst/>
          </a:prstGeom>
          <a:noFill/>
          <a:ln/>
        </p:spPr>
        <p:txBody>
          <a:bodyPr wrap="square" lIns="0" tIns="0" rIns="0" bIns="0" rtlCol="0" anchor="ctr"/>
          <a:lstStyle/>
          <a:p>
            <a:pPr algn="l" indent="0" marL="0">
              <a:buNone/>
            </a:pPr>
            <a:r>
              <a:rPr lang="en-US" sz="1100" b="1" spc="100" kern="0" dirty="0">
                <a:solidFill>
                  <a:schemeClr val="accent2"/>
                </a:solidFill>
              </a:rPr>
              <a:t>08  •  SECURITY &amp; NAT  •  LAB 6</a:t>
            </a:r>
            <a:endParaRPr lang="en-US" sz="1100" dirty="0"/>
          </a:p>
        </p:txBody>
      </p:sp>
      <p:sp>
        <p:nvSpPr>
          <p:cNvPr id="3" name="Text 1"/>
          <p:cNvSpPr/>
          <p:nvPr>
            <p:ph idx="103" type="title" hasCustomPrompt="1"/>
          </p:nvPr>
        </p:nvSpPr>
        <p:spPr>
          <a:xfrm>
            <a:off x="548640" y="548640"/>
            <a:ext cx="10149840" cy="548640"/>
          </a:xfrm>
          <a:prstGeom prst="rect">
            <a:avLst/>
          </a:prstGeom>
          <a:noFill/>
          <a:ln/>
        </p:spPr>
        <p:txBody>
          <a:bodyPr wrap="square" lIns="0" tIns="0" rIns="0" bIns="0" rtlCol="0" anchor="ctr"/>
          <a:lstStyle/>
          <a:p>
            <a:pPr algn="l" indent="0" marL="0">
              <a:buNone/>
            </a:pPr>
            <a:r>
              <a:rPr lang="en-US" sz="2600" b="1" dirty="0">
                <a:solidFill>
                  <a:schemeClr val="accent1"/>
                </a:solidFill>
              </a:rPr>
              <a:t>How to publish an internal server with static NAT</a:t>
            </a:r>
            <a:endParaRPr lang="en-US" sz="2600" dirty="0"/>
          </a:p>
        </p:txBody>
      </p:sp>
      <p:pic>
        <p:nvPicPr>
          <p:cNvPr id="4" name="Home button" descr="Home: back to the workbook menu">
            <a:hlinkClick r:id="rId2" tooltip="Back to the workbook menu" action="ppaction://hlinksldjump"/>
          </p:cNvPr>
          <p:cNvPicPr>
            <a:picLocks noChangeAspect="1"/>
          </p:cNvPicPr>
          <p:nvPr/>
        </p:nvPicPr>
        <p:blipFill>
          <a:blip r:embed="rId1"/>
          <a:stretch>
            <a:fillRect/>
          </a:stretch>
        </p:blipFill>
        <p:spPr>
          <a:xfrm>
            <a:off x="11365992" y="6336792"/>
            <a:ext cx="365760" cy="365760"/>
          </a:xfrm>
          <a:prstGeom prst="rect">
            <a:avLst/>
          </a:prstGeom>
        </p:spPr>
      </p:pic>
      <p:sp>
        <p:nvSpPr>
          <p:cNvPr id="5" name="Goal"/>
          <p:cNvSpPr txBox="1"/>
          <p:nvPr/>
        </p:nvSpPr>
        <p:spPr>
          <a:xfrm>
            <a:off x="548640" y="1161288"/>
            <a:ext cx="11094415" cy="384048"/>
          </a:xfrm>
          <a:prstGeom prst="rect">
            <a:avLst/>
          </a:prstGeom>
          <a:noFill/>
          <a:ln/>
        </p:spPr>
        <p:txBody>
          <a:bodyPr wrap="square" lIns="0" tIns="0" rIns="0" bIns="0" rtlCol="0" anchor="ctr"/>
          <a:lstStyle/>
          <a:p>
            <a:pPr indent="0" marL="0">
              <a:buNone/>
            </a:pPr>
            <a:r>
              <a:rPr lang="en-US" sz="1400" b="1" dirty="0">
                <a:solidFill>
                  <a:srgbClr val="2B7043"/>
                </a:solidFill>
              </a:rPr>
              <a:t>Goal:  </a:t>
            </a:r>
            <a:r>
              <a:rPr lang="en-US" sz="1400" dirty="0">
                <a:solidFill>
                  <a:srgbClr val="2B2B2B"/>
                </a:solidFill>
              </a:rPr>
              <a:t>A permanent one-to-one mapping lets Internet users reach the internal web server at a public address.</a:t>
            </a:r>
            <a:endParaRPr lang="en-US" sz="1400" dirty="0"/>
          </a:p>
        </p:txBody>
      </p:sp>
      <p:sp>
        <p:nvSpPr>
          <p:cNvPr id="6" name="Command header"/>
          <p:cNvSpPr/>
          <p:nvPr/>
        </p:nvSpPr>
        <p:spPr>
          <a:xfrm>
            <a:off x="548640" y="1664208"/>
            <a:ext cx="6153912" cy="310896"/>
          </a:xfrm>
          <a:prstGeom prst="rect">
            <a:avLst/>
          </a:prstGeom>
          <a:solidFill>
            <a:srgbClr val="1B2B22"/>
          </a:solidFill>
          <a:ln/>
        </p:spPr>
        <p:txBody>
          <a:bodyPr wrap="square" lIns="109728" tIns="45720" rIns="109728" bIns="45720" rtlCol="0" anchor="ctr"/>
          <a:lstStyle/>
          <a:p>
            <a:pPr indent="0" marL="0">
              <a:buNone/>
            </a:pPr>
            <a:r>
              <a:rPr lang="en-US" sz="1100" dirty="0">
                <a:solidFill>
                  <a:srgbClr val="E0605A"/>
                </a:solidFill>
              </a:rPr>
              <a:t>●  </a:t>
            </a:r>
            <a:r>
              <a:rPr lang="en-US" sz="1100" dirty="0">
                <a:solidFill>
                  <a:srgbClr val="E8B92E"/>
                </a:solidFill>
              </a:rPr>
              <a:t>●  </a:t>
            </a:r>
            <a:r>
              <a:rPr lang="en-US" sz="1100" dirty="0">
                <a:solidFill>
                  <a:srgbClr val="4CAF50"/>
                </a:solidFill>
              </a:rPr>
              <a:t>●   </a:t>
            </a:r>
            <a:r>
              <a:rPr lang="en-US" sz="1100" b="1" dirty="0">
                <a:solidFill>
                  <a:srgbClr val="C9D6CC"/>
                </a:solidFill>
              </a:rPr>
              <a:t>R1  —  type the white text, then press Enter</a:t>
            </a:r>
            <a:endParaRPr lang="en-US" sz="1100" dirty="0"/>
          </a:p>
        </p:txBody>
      </p:sp>
      <p:sp>
        <p:nvSpPr>
          <p:cNvPr id="7" name="Meaning header"/>
          <p:cNvSpPr/>
          <p:nvPr/>
        </p:nvSpPr>
        <p:spPr>
          <a:xfrm>
            <a:off x="6720840" y="1664208"/>
            <a:ext cx="4922215" cy="310896"/>
          </a:xfrm>
          <a:prstGeom prst="rect">
            <a:avLst/>
          </a:prstGeom>
          <a:solidFill>
            <a:srgbClr val="E8F1EA"/>
          </a:solidFill>
          <a:ln/>
        </p:spPr>
        <p:txBody>
          <a:bodyPr wrap="square" lIns="109728" tIns="45720" rIns="109728" bIns="45720" rtlCol="0" anchor="ctr"/>
          <a:lstStyle/>
          <a:p>
            <a:pPr indent="0" marL="0">
              <a:buNone/>
            </a:pPr>
            <a:r>
              <a:rPr lang="en-US" sz="1200" b="1" dirty="0">
                <a:solidFill>
                  <a:srgbClr val="1E5631"/>
                </a:solidFill>
              </a:rPr>
              <a:t>What it does</a:t>
            </a:r>
            <a:endParaRPr lang="en-US" sz="1200" dirty="0"/>
          </a:p>
        </p:txBody>
      </p:sp>
      <p:sp>
        <p:nvSpPr>
          <p:cNvPr id="8" name="Command 01"/>
          <p:cNvSpPr/>
          <p:nvPr/>
        </p:nvSpPr>
        <p:spPr>
          <a:xfrm>
            <a:off x="548640" y="1993392"/>
            <a:ext cx="6153912" cy="54380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R1(config)# </a:t>
            </a:r>
            <a:r>
              <a:rPr lang="en-US" sz="1200" b="1" dirty="0">
                <a:solidFill>
                  <a:srgbClr val="FFFFFF"/>
                </a:solidFill>
                <a:latin typeface="Courier New" pitchFamily="34" charset="0"/>
                <a:ea typeface="Courier New" pitchFamily="34" charset="-122"/>
                <a:cs typeface="Courier New" pitchFamily="34" charset="-120"/>
              </a:rPr>
              <a:t>ip nat inside source static 192.168.10.100 203.0.113.5</a:t>
            </a:r>
            <a:endParaRPr lang="en-US" sz="1200" dirty="0"/>
          </a:p>
        </p:txBody>
      </p:sp>
      <p:sp>
        <p:nvSpPr>
          <p:cNvPr id="9" name="Reveal 01 meaning"/>
          <p:cNvSpPr/>
          <p:nvPr/>
        </p:nvSpPr>
        <p:spPr>
          <a:xfrm>
            <a:off x="6720840" y="1993392"/>
            <a:ext cx="4922215" cy="543809"/>
          </a:xfrm>
          <a:prstGeom prst="rect">
            <a:avLst/>
          </a:prstGeom>
          <a:solidFill>
            <a:srgbClr val="F2F8F3"/>
          </a:solidFill>
          <a:ln/>
        </p:spPr>
        <p:txBody>
          <a:bodyPr wrap="square" lIns="109728" tIns="45720" rIns="109728" bIns="45720" rtlCol="0" anchor="ctr"/>
          <a:lstStyle/>
          <a:p>
            <a:pPr indent="0" marL="0">
              <a:buNone/>
            </a:pPr>
            <a:r>
              <a:rPr lang="en-US" sz="1400" dirty="0">
                <a:solidFill>
                  <a:srgbClr val="2B2B2B"/>
                </a:solidFill>
              </a:rPr>
              <a:t>Internet users who browse to 203.0.113.5 reach WEB-INT (192.168.10.100), and its replies leave as 203.0.113.5.</a:t>
            </a:r>
            <a:endParaRPr lang="en-US" sz="1400" dirty="0"/>
          </a:p>
        </p:txBody>
      </p:sp>
      <p:sp>
        <p:nvSpPr>
          <p:cNvPr id="10" name="Command 02"/>
          <p:cNvSpPr/>
          <p:nvPr/>
        </p:nvSpPr>
        <p:spPr>
          <a:xfrm>
            <a:off x="548640" y="2555489"/>
            <a:ext cx="6153912" cy="326768"/>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 </a:t>
            </a:r>
            <a:r>
              <a:rPr lang="en-US" sz="1200" b="1" dirty="0">
                <a:solidFill>
                  <a:srgbClr val="FFFFFF"/>
                </a:solidFill>
                <a:latin typeface="Courier New" pitchFamily="34" charset="0"/>
                <a:ea typeface="Courier New" pitchFamily="34" charset="-122"/>
                <a:cs typeface="Courier New" pitchFamily="34" charset="-120"/>
              </a:rPr>
              <a:t>show ip nat translations</a:t>
            </a:r>
            <a:endParaRPr lang="en-US" sz="1200" dirty="0"/>
          </a:p>
        </p:txBody>
      </p:sp>
      <p:sp>
        <p:nvSpPr>
          <p:cNvPr id="11" name="Reveal 02 meaning"/>
          <p:cNvSpPr/>
          <p:nvPr/>
        </p:nvSpPr>
        <p:spPr>
          <a:xfrm>
            <a:off x="6720840" y="2555489"/>
            <a:ext cx="4922215" cy="326768"/>
          </a:xfrm>
          <a:prstGeom prst="rect">
            <a:avLst/>
          </a:prstGeom>
          <a:solidFill>
            <a:srgbClr val="FFFFFF"/>
          </a:solidFill>
          <a:ln/>
        </p:spPr>
        <p:txBody>
          <a:bodyPr wrap="square" lIns="109728" tIns="45720" rIns="109728" bIns="45720" rtlCol="0" anchor="ctr"/>
          <a:lstStyle/>
          <a:p>
            <a:pPr indent="0" marL="0">
              <a:buNone/>
            </a:pPr>
            <a:r>
              <a:rPr lang="en-US" sz="1400" dirty="0">
                <a:solidFill>
                  <a:srgbClr val="2B2B2B"/>
                </a:solidFill>
              </a:rPr>
              <a:t>Show the NAT table (below).</a:t>
            </a:r>
            <a:endParaRPr lang="en-US" sz="1400" dirty="0"/>
          </a:p>
        </p:txBody>
      </p:sp>
      <p:sp>
        <p:nvSpPr>
          <p:cNvPr id="12" name="Terminal window"/>
          <p:cNvSpPr/>
          <p:nvPr/>
        </p:nvSpPr>
        <p:spPr>
          <a:xfrm>
            <a:off x="548640" y="3063240"/>
            <a:ext cx="11094415" cy="1261872"/>
          </a:xfrm>
          <a:prstGeom prst="roundRect">
            <a:avLst>
              <a:gd name="adj" fmla="val 5797"/>
            </a:avLst>
          </a:prstGeom>
          <a:solidFill>
            <a:srgbClr val="1B2B22"/>
          </a:solidFill>
          <a:ln w="6350">
            <a:solidFill>
              <a:srgbClr val="1B2B22"/>
            </a:solidFill>
            <a:prstDash val="solid"/>
          </a:ln>
        </p:spPr>
      </p:sp>
      <p:sp>
        <p:nvSpPr>
          <p:cNvPr id="13" name="Shape 10"/>
          <p:cNvSpPr/>
          <p:nvPr/>
        </p:nvSpPr>
        <p:spPr>
          <a:xfrm>
            <a:off x="713232" y="3182112"/>
            <a:ext cx="109728" cy="109728"/>
          </a:xfrm>
          <a:prstGeom prst="ellipse">
            <a:avLst/>
          </a:prstGeom>
          <a:solidFill>
            <a:srgbClr val="E0605A"/>
          </a:solidFill>
          <a:ln/>
        </p:spPr>
      </p:sp>
      <p:sp>
        <p:nvSpPr>
          <p:cNvPr id="14" name="Shape 11"/>
          <p:cNvSpPr/>
          <p:nvPr/>
        </p:nvSpPr>
        <p:spPr>
          <a:xfrm>
            <a:off x="896112" y="3182112"/>
            <a:ext cx="109728" cy="109728"/>
          </a:xfrm>
          <a:prstGeom prst="ellipse">
            <a:avLst/>
          </a:prstGeom>
          <a:solidFill>
            <a:srgbClr val="E8B92E"/>
          </a:solidFill>
          <a:ln/>
        </p:spPr>
      </p:sp>
      <p:sp>
        <p:nvSpPr>
          <p:cNvPr id="15" name="Shape 12"/>
          <p:cNvSpPr/>
          <p:nvPr/>
        </p:nvSpPr>
        <p:spPr>
          <a:xfrm>
            <a:off x="1078992" y="3182112"/>
            <a:ext cx="109728" cy="109728"/>
          </a:xfrm>
          <a:prstGeom prst="ellipse">
            <a:avLst/>
          </a:prstGeom>
          <a:solidFill>
            <a:srgbClr val="4CAF50"/>
          </a:solidFill>
          <a:ln/>
        </p:spPr>
      </p:sp>
      <p:sp>
        <p:nvSpPr>
          <p:cNvPr id="16" name="Text 13"/>
          <p:cNvSpPr txBox="1"/>
          <p:nvPr/>
        </p:nvSpPr>
        <p:spPr>
          <a:xfrm>
            <a:off x="1325880" y="3108960"/>
            <a:ext cx="10180015" cy="256032"/>
          </a:xfrm>
          <a:prstGeom prst="rect">
            <a:avLst/>
          </a:prstGeom>
          <a:noFill/>
          <a:ln/>
        </p:spPr>
        <p:txBody>
          <a:bodyPr wrap="square" lIns="0" tIns="0" rIns="0" bIns="0" rtlCol="0" anchor="ctr"/>
          <a:lstStyle/>
          <a:p>
            <a:pPr indent="0" marL="0">
              <a:buNone/>
            </a:pPr>
            <a:r>
              <a:rPr lang="en-US" sz="1100" b="1" dirty="0">
                <a:solidFill>
                  <a:srgbClr val="C9D6CC"/>
                </a:solidFill>
              </a:rPr>
              <a:t>R1  ›  CLI</a:t>
            </a:r>
            <a:endParaRPr lang="en-US" sz="1100" dirty="0"/>
          </a:p>
        </p:txBody>
      </p:sp>
      <p:sp>
        <p:nvSpPr>
          <p:cNvPr id="17" name="Terminal text"/>
          <p:cNvSpPr txBox="1"/>
          <p:nvPr/>
        </p:nvSpPr>
        <p:spPr>
          <a:xfrm>
            <a:off x="731520" y="3447288"/>
            <a:ext cx="10774375" cy="786384"/>
          </a:xfrm>
          <a:prstGeom prst="rect">
            <a:avLst/>
          </a:prstGeom>
          <a:noFill/>
          <a:ln/>
        </p:spPr>
        <p:txBody>
          <a:bodyPr wrap="square" lIns="0" tIns="0" rIns="0" bIns="0" rtlCol="0" anchor="t"/>
          <a:lstStyle/>
          <a:p>
            <a:pPr indent="0" marL="0">
              <a:lnSpc>
                <a:spcPct val="100000"/>
              </a:lnSpc>
              <a:buNone/>
            </a:pPr>
            <a:r>
              <a:rPr lang="en-US" sz="1100" dirty="0">
                <a:solidFill>
                  <a:srgbClr val="D5E2D8"/>
                </a:solidFill>
                <a:latin typeface="Courier New" pitchFamily="34" charset="0"/>
                <a:ea typeface="Courier New" pitchFamily="34" charset="-122"/>
                <a:cs typeface="Courier New" pitchFamily="34" charset="-120"/>
              </a:rPr>
              <a:t>Pro  Inside global        Inside local          Outside local        Outside global</a:t>
            </a:r>
            <a:endParaRPr lang="en-US" sz="1100" dirty="0"/>
          </a:p>
          <a:p>
            <a:pPr indent="0" marL="0">
              <a:lnSpc>
                <a:spcPct val="100000"/>
              </a:lnSpc>
              <a:buNone/>
            </a:pPr>
            <a:r>
              <a:rPr lang="en-US" sz="1100" dirty="0">
                <a:solidFill>
                  <a:srgbClr val="D5E2D8"/>
                </a:solidFill>
                <a:latin typeface="Courier New" pitchFamily="34" charset="0"/>
                <a:ea typeface="Courier New" pitchFamily="34" charset="-122"/>
                <a:cs typeface="Courier New" pitchFamily="34" charset="-120"/>
              </a:rPr>
              <a:t>---  </a:t>
            </a:r>
            <a:r>
              <a:rPr lang="en-US" sz="1100" b="1" dirty="0">
                <a:solidFill>
                  <a:srgbClr val="E8B92E"/>
                </a:solidFill>
                <a:latin typeface="Courier New" pitchFamily="34" charset="0"/>
                <a:ea typeface="Courier New" pitchFamily="34" charset="-122"/>
                <a:cs typeface="Courier New" pitchFamily="34" charset="-120"/>
              </a:rPr>
              <a:t>203.0.113.5</a:t>
            </a:r>
            <a:r>
              <a:rPr lang="en-US" sz="1100" dirty="0">
                <a:solidFill>
                  <a:srgbClr val="D5E2D8"/>
                </a:solidFill>
                <a:latin typeface="Courier New" pitchFamily="34" charset="0"/>
                <a:ea typeface="Courier New" pitchFamily="34" charset="-122"/>
                <a:cs typeface="Courier New" pitchFamily="34" charset="-120"/>
              </a:rPr>
              <a:t>          </a:t>
            </a:r>
            <a:r>
              <a:rPr lang="en-US" sz="1100" b="1" dirty="0">
                <a:solidFill>
                  <a:srgbClr val="E8B92E"/>
                </a:solidFill>
                <a:latin typeface="Courier New" pitchFamily="34" charset="0"/>
                <a:ea typeface="Courier New" pitchFamily="34" charset="-122"/>
                <a:cs typeface="Courier New" pitchFamily="34" charset="-120"/>
              </a:rPr>
              <a:t>192.168.10.100</a:t>
            </a:r>
            <a:r>
              <a:rPr lang="en-US" sz="1100" dirty="0">
                <a:solidFill>
                  <a:srgbClr val="D5E2D8"/>
                </a:solidFill>
                <a:latin typeface="Courier New" pitchFamily="34" charset="0"/>
                <a:ea typeface="Courier New" pitchFamily="34" charset="-122"/>
                <a:cs typeface="Courier New" pitchFamily="34" charset="-120"/>
              </a:rPr>
              <a:t>        ---                  ---</a:t>
            </a:r>
            <a:endParaRPr lang="en-US" sz="1100" dirty="0"/>
          </a:p>
          <a:p>
            <a:pPr indent="0" marL="0">
              <a:lnSpc>
                <a:spcPct val="100000"/>
              </a:lnSpc>
              <a:buNone/>
            </a:pPr>
            <a:r>
              <a:rPr lang="en-US" sz="1100" dirty="0">
                <a:solidFill>
                  <a:srgbClr val="D5E2D8"/>
                </a:solidFill>
                <a:latin typeface="Courier New" pitchFamily="34" charset="0"/>
                <a:ea typeface="Courier New" pitchFamily="34" charset="-122"/>
                <a:cs typeface="Courier New" pitchFamily="34" charset="-120"/>
              </a:rPr>
              <a:t>tcp  203.0.113.2:1025     192.168.20.15:1025    198.51.100.10:80     198.51.100.10:80</a:t>
            </a:r>
            <a:endParaRPr lang="en-US" sz="1100" dirty="0"/>
          </a:p>
        </p:txBody>
      </p:sp>
      <p:sp>
        <p:nvSpPr>
          <p:cNvPr id="18" name="Card"/>
          <p:cNvSpPr/>
          <p:nvPr/>
        </p:nvSpPr>
        <p:spPr>
          <a:xfrm>
            <a:off x="548640" y="4462272"/>
            <a:ext cx="3520440" cy="914400"/>
          </a:xfrm>
          <a:prstGeom prst="roundRect">
            <a:avLst>
              <a:gd name="adj" fmla="val 8000"/>
            </a:avLst>
          </a:prstGeom>
          <a:solidFill>
            <a:srgbClr val="F2F8F3"/>
          </a:solidFill>
          <a:ln w="12700">
            <a:solidFill>
              <a:srgbClr val="B7C9BA"/>
            </a:solidFill>
            <a:prstDash val="solid"/>
          </a:ln>
        </p:spPr>
      </p:sp>
      <p:sp>
        <p:nvSpPr>
          <p:cNvPr id="19" name="Text 16"/>
          <p:cNvSpPr txBox="1"/>
          <p:nvPr/>
        </p:nvSpPr>
        <p:spPr>
          <a:xfrm>
            <a:off x="667512" y="4545482"/>
            <a:ext cx="3282696" cy="747979"/>
          </a:xfrm>
          <a:prstGeom prst="rect">
            <a:avLst/>
          </a:prstGeom>
          <a:noFill/>
          <a:ln/>
        </p:spPr>
        <p:txBody>
          <a:bodyPr wrap="square" lIns="0" tIns="0" rIns="0" bIns="0" rtlCol="0" anchor="t"/>
          <a:lstStyle/>
          <a:p>
            <a:pPr indent="0" marL="0">
              <a:buNone/>
            </a:pPr>
            <a:r>
              <a:rPr lang="en-US" sz="1400" b="1" dirty="0">
                <a:solidFill>
                  <a:srgbClr val="1E5631"/>
                </a:solidFill>
              </a:rPr>
              <a:t>Inside local</a:t>
            </a:r>
            <a:endParaRPr lang="en-US" sz="1300" dirty="0"/>
          </a:p>
          <a:p>
            <a:pPr indent="0" marL="0">
              <a:buNone/>
            </a:pPr>
            <a:r>
              <a:rPr lang="en-US" sz="1300" dirty="0">
                <a:solidFill>
                  <a:srgbClr val="2B2B2B"/>
                </a:solidFill>
              </a:rPr>
              <a:t>The private address of the inside host, e.g. 192.168.10.100.</a:t>
            </a:r>
            <a:endParaRPr lang="en-US" sz="1300" dirty="0"/>
          </a:p>
        </p:txBody>
      </p:sp>
      <p:sp>
        <p:nvSpPr>
          <p:cNvPr id="20" name="Card"/>
          <p:cNvSpPr/>
          <p:nvPr/>
        </p:nvSpPr>
        <p:spPr>
          <a:xfrm>
            <a:off x="4334256" y="4462272"/>
            <a:ext cx="3520440" cy="914400"/>
          </a:xfrm>
          <a:prstGeom prst="roundRect">
            <a:avLst>
              <a:gd name="adj" fmla="val 8000"/>
            </a:avLst>
          </a:prstGeom>
          <a:solidFill>
            <a:srgbClr val="F2F8F3"/>
          </a:solidFill>
          <a:ln w="12700">
            <a:solidFill>
              <a:srgbClr val="B7C9BA"/>
            </a:solidFill>
            <a:prstDash val="solid"/>
          </a:ln>
        </p:spPr>
      </p:sp>
      <p:sp>
        <p:nvSpPr>
          <p:cNvPr id="21" name="Text 18"/>
          <p:cNvSpPr txBox="1"/>
          <p:nvPr/>
        </p:nvSpPr>
        <p:spPr>
          <a:xfrm>
            <a:off x="4453128" y="4545482"/>
            <a:ext cx="3282696" cy="747979"/>
          </a:xfrm>
          <a:prstGeom prst="rect">
            <a:avLst/>
          </a:prstGeom>
          <a:noFill/>
          <a:ln/>
        </p:spPr>
        <p:txBody>
          <a:bodyPr wrap="square" lIns="0" tIns="0" rIns="0" bIns="0" rtlCol="0" anchor="t"/>
          <a:lstStyle/>
          <a:p>
            <a:pPr indent="0" marL="0">
              <a:buNone/>
            </a:pPr>
            <a:r>
              <a:rPr lang="en-US" sz="1400" b="1" dirty="0">
                <a:solidFill>
                  <a:srgbClr val="1E5631"/>
                </a:solidFill>
              </a:rPr>
              <a:t>Inside global</a:t>
            </a:r>
            <a:endParaRPr lang="en-US" sz="1300" dirty="0"/>
          </a:p>
          <a:p>
            <a:pPr indent="0" marL="0">
              <a:buNone/>
            </a:pPr>
            <a:r>
              <a:rPr lang="en-US" sz="1300" dirty="0">
                <a:solidFill>
                  <a:srgbClr val="2B2B2B"/>
                </a:solidFill>
              </a:rPr>
              <a:t>The public address it becomes on the Internet, e.g. 203.0.113.5.</a:t>
            </a:r>
            <a:endParaRPr lang="en-US" sz="1300" dirty="0"/>
          </a:p>
        </p:txBody>
      </p:sp>
      <p:sp>
        <p:nvSpPr>
          <p:cNvPr id="22" name="Card"/>
          <p:cNvSpPr/>
          <p:nvPr/>
        </p:nvSpPr>
        <p:spPr>
          <a:xfrm>
            <a:off x="8119872" y="4462272"/>
            <a:ext cx="3520440" cy="914400"/>
          </a:xfrm>
          <a:prstGeom prst="roundRect">
            <a:avLst>
              <a:gd name="adj" fmla="val 8000"/>
            </a:avLst>
          </a:prstGeom>
          <a:solidFill>
            <a:srgbClr val="F2F8F3"/>
          </a:solidFill>
          <a:ln w="12700">
            <a:solidFill>
              <a:srgbClr val="B7C9BA"/>
            </a:solidFill>
            <a:prstDash val="solid"/>
          </a:ln>
        </p:spPr>
      </p:sp>
      <p:sp>
        <p:nvSpPr>
          <p:cNvPr id="23" name="Text 20"/>
          <p:cNvSpPr txBox="1"/>
          <p:nvPr/>
        </p:nvSpPr>
        <p:spPr>
          <a:xfrm>
            <a:off x="8238744" y="4545482"/>
            <a:ext cx="3282696" cy="747979"/>
          </a:xfrm>
          <a:prstGeom prst="rect">
            <a:avLst/>
          </a:prstGeom>
          <a:noFill/>
          <a:ln/>
        </p:spPr>
        <p:txBody>
          <a:bodyPr wrap="square" lIns="0" tIns="0" rIns="0" bIns="0" rtlCol="0" anchor="t"/>
          <a:lstStyle/>
          <a:p>
            <a:pPr indent="0" marL="0">
              <a:buNone/>
            </a:pPr>
            <a:r>
              <a:rPr lang="en-US" sz="1400" b="1" dirty="0">
                <a:solidFill>
                  <a:srgbClr val="1E5631"/>
                </a:solidFill>
              </a:rPr>
              <a:t>Outside local / global</a:t>
            </a:r>
            <a:endParaRPr lang="en-US" sz="1300" dirty="0"/>
          </a:p>
          <a:p>
            <a:pPr indent="0" marL="0">
              <a:buNone/>
            </a:pPr>
            <a:r>
              <a:rPr lang="en-US" sz="1300" dirty="0">
                <a:solidFill>
                  <a:srgbClr val="2B2B2B"/>
                </a:solidFill>
              </a:rPr>
              <a:t>The Internet host — the same in this lab: 198.51.100.10.</a:t>
            </a:r>
            <a:endParaRPr lang="en-US" sz="1300" dirty="0"/>
          </a:p>
        </p:txBody>
      </p:sp>
      <p:sp>
        <p:nvSpPr>
          <p:cNvPr id="24" name="Reveal 99 check box"/>
          <p:cNvSpPr/>
          <p:nvPr/>
        </p:nvSpPr>
        <p:spPr>
          <a:xfrm>
            <a:off x="548640" y="5504688"/>
            <a:ext cx="5410048" cy="749808"/>
          </a:xfrm>
          <a:prstGeom prst="roundRect">
            <a:avLst>
              <a:gd name="adj" fmla="val 9756"/>
            </a:avLst>
          </a:prstGeom>
          <a:solidFill>
            <a:srgbClr val="E8F1EA"/>
          </a:solidFill>
          <a:ln w="12700">
            <a:solidFill>
              <a:srgbClr val="B7C9BA"/>
            </a:solidFill>
            <a:prstDash val="solid"/>
          </a:ln>
        </p:spPr>
      </p:sp>
      <p:pic>
        <p:nvPicPr>
          <p:cNvPr id="25" name="Reveal 99 check icon" descr="Check it:">    </p:cNvPr>
          <p:cNvPicPr>
            <a:picLocks noChangeAspect="1"/>
          </p:cNvPicPr>
          <p:nvPr/>
        </p:nvPicPr>
        <p:blipFill>
          <a:blip r:embed="rId3"/>
          <a:stretch>
            <a:fillRect/>
          </a:stretch>
        </p:blipFill>
        <p:spPr>
          <a:xfrm>
            <a:off x="694944" y="5733288"/>
            <a:ext cx="292608" cy="292608"/>
          </a:xfrm>
          <a:prstGeom prst="rect">
            <a:avLst/>
          </a:prstGeom>
        </p:spPr>
      </p:pic>
      <p:sp>
        <p:nvSpPr>
          <p:cNvPr id="26" name="Reveal 99 check text"/>
          <p:cNvSpPr txBox="1"/>
          <p:nvPr/>
        </p:nvSpPr>
        <p:spPr>
          <a:xfrm>
            <a:off x="1097280" y="5541264"/>
            <a:ext cx="4751680" cy="676656"/>
          </a:xfrm>
          <a:prstGeom prst="rect">
            <a:avLst/>
          </a:prstGeom>
          <a:noFill/>
          <a:ln/>
        </p:spPr>
        <p:txBody>
          <a:bodyPr wrap="square" lIns="0" tIns="0" rIns="0" bIns="0" rtlCol="0" anchor="ctr"/>
          <a:lstStyle/>
          <a:p>
            <a:pPr indent="0" marL="0">
              <a:buNone/>
            </a:pPr>
            <a:r>
              <a:rPr lang="en-US" sz="1400" b="1" dirty="0">
                <a:solidFill>
                  <a:srgbClr val="1E5631"/>
                </a:solidFill>
              </a:rPr>
              <a:t>Check it:  </a:t>
            </a:r>
            <a:r>
              <a:rPr lang="en-US" sz="1400" dirty="0">
                <a:solidFill>
                  <a:srgbClr val="2B2B2B"/>
                </a:solidFill>
              </a:rPr>
              <a:t>From the Internet server’s side, browse http://203.0.113.5: the WEB-INT page appears.</a:t>
            </a:r>
            <a:endParaRPr lang="en-US" sz="1400" dirty="0"/>
          </a:p>
        </p:txBody>
      </p:sp>
      <p:sp>
        <p:nvSpPr>
          <p:cNvPr id="27" name="Reveal 99 watch box"/>
          <p:cNvSpPr/>
          <p:nvPr/>
        </p:nvSpPr>
        <p:spPr>
          <a:xfrm>
            <a:off x="6233008" y="5504688"/>
            <a:ext cx="5410048" cy="749808"/>
          </a:xfrm>
          <a:prstGeom prst="roundRect">
            <a:avLst>
              <a:gd name="adj" fmla="val 9756"/>
            </a:avLst>
          </a:prstGeom>
          <a:solidFill>
            <a:srgbClr val="FBEAEA"/>
          </a:solidFill>
          <a:ln w="12700">
            <a:solidFill>
              <a:srgbClr val="E9B8B5"/>
            </a:solidFill>
            <a:prstDash val="solid"/>
          </a:ln>
        </p:spPr>
      </p:sp>
      <p:pic>
        <p:nvPicPr>
          <p:cNvPr id="28" name="Reveal 99 watch icon" descr="Watch out:">    </p:cNvPr>
          <p:cNvPicPr>
            <a:picLocks noChangeAspect="1"/>
          </p:cNvPicPr>
          <p:nvPr/>
        </p:nvPicPr>
        <p:blipFill>
          <a:blip r:embed="rId4"/>
          <a:stretch>
            <a:fillRect/>
          </a:stretch>
        </p:blipFill>
        <p:spPr>
          <a:xfrm>
            <a:off x="6379312" y="5733288"/>
            <a:ext cx="292608" cy="292608"/>
          </a:xfrm>
          <a:prstGeom prst="rect">
            <a:avLst/>
          </a:prstGeom>
        </p:spPr>
      </p:pic>
      <p:sp>
        <p:nvSpPr>
          <p:cNvPr id="29" name="Reveal 99 watch text"/>
          <p:cNvSpPr txBox="1"/>
          <p:nvPr/>
        </p:nvSpPr>
        <p:spPr>
          <a:xfrm>
            <a:off x="6781648" y="5541264"/>
            <a:ext cx="4751680" cy="676656"/>
          </a:xfrm>
          <a:prstGeom prst="rect">
            <a:avLst/>
          </a:prstGeom>
          <a:noFill/>
          <a:ln/>
        </p:spPr>
        <p:txBody>
          <a:bodyPr wrap="square" lIns="0" tIns="0" rIns="0" bIns="0" rtlCol="0" anchor="ctr"/>
          <a:lstStyle/>
          <a:p>
            <a:pPr indent="0" marL="0">
              <a:buNone/>
            </a:pPr>
            <a:r>
              <a:rPr lang="en-US" sz="1400" b="1" dirty="0">
                <a:solidFill>
                  <a:srgbClr val="8B1A1A"/>
                </a:solidFill>
              </a:rPr>
              <a:t>Watch out:  </a:t>
            </a:r>
            <a:r>
              <a:rPr lang="en-US" sz="1400" dirty="0">
                <a:solidFill>
                  <a:srgbClr val="2B2B2B"/>
                </a:solidFill>
              </a:rPr>
              <a:t>Use a public address no other device uses — here one from R1’s ISP subnet (203.0.113.0/29).</a:t>
            </a:r>
            <a:endParaRPr lang="en-US" sz="1400" dirty="0"/>
          </a:p>
        </p:txBody>
      </p:sp>
      <p:sp>
        <p:nvSpPr>
          <p:cNvPr id="30" name="Slide Number Placeholder 0"/>
          <p:cNvSpPr>
            <a:spLocks noGrp="1"/>
          </p:cNvSpPr>
          <p:nvPr>
            <p:ph type="sldNum" sz="quarter" idx="4294967295"/>
          </p:nvPr>
        </p:nvSpPr>
        <p:spPr>
          <a:xfrm>
            <a:off x="10698480" y="6464808"/>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r"/>
            <a:fld id="{F7021451-1387-4CA6-816F-3879F97B5CBC}" type="slidenum">
              <a:rPr b="0" lang="en-US"/>
              <a:t>68</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fade">
                                      <p:cBhvr>
                                        <p:cTn id="17" dur="400"/>
                                        <p:tgtEl>
                                          <p:spTgt spid="24"/>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fade">
                                      <p:cBhvr>
                                        <p:cTn id="20" dur="400"/>
                                        <p:tgtEl>
                                          <p:spTgt spid="25"/>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400"/>
                                        <p:tgtEl>
                                          <p:spTgt spid="2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7"/>
                                        </p:tgtEl>
                                        <p:attrNameLst>
                                          <p:attrName>style.visibility</p:attrName>
                                        </p:attrNameLst>
                                      </p:cBhvr>
                                      <p:to>
                                        <p:strVal val="visible"/>
                                      </p:to>
                                    </p:set>
                                    <p:animEffect transition="in" filter="fade">
                                      <p:cBhvr>
                                        <p:cTn id="26" dur="400"/>
                                        <p:tgtEl>
                                          <p:spTgt spid="2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8"/>
                                        </p:tgtEl>
                                        <p:attrNameLst>
                                          <p:attrName>style.visibility</p:attrName>
                                        </p:attrNameLst>
                                      </p:cBhvr>
                                      <p:to>
                                        <p:strVal val="visible"/>
                                      </p:to>
                                    </p:set>
                                    <p:animEffect transition="in" filter="fade">
                                      <p:cBhvr>
                                        <p:cTn id="29" dur="400"/>
                                        <p:tgtEl>
                                          <p:spTgt spid="2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9"/>
                                        </p:tgtEl>
                                        <p:attrNameLst>
                                          <p:attrName>style.visibility</p:attrName>
                                        </p:attrNameLst>
                                      </p:cBhvr>
                                      <p:to>
                                        <p:strVal val="visible"/>
                                      </p:to>
                                    </p:set>
                                    <p:animEffect transition="in" filter="fade">
                                      <p:cBhvr>
                                        <p:cTn id="32" dur="4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24" grpId="0" animBg="1"/>
      <p:bldP spid="26" grpId="0" animBg="1"/>
      <p:bldP spid="27" grpId="0" animBg="1"/>
      <p:bldP spid="29"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1"/>
          <p:cNvSpPr/>
          <p:nvPr>
            <p:ph idx="101" type="body" hasCustomPrompt="1"/>
          </p:nvPr>
        </p:nvSpPr>
        <p:spPr>
          <a:xfrm>
            <a:off x="548640" y="685800"/>
            <a:ext cx="3200400" cy="1143000"/>
          </a:xfrm>
          <a:prstGeom prst="rect">
            <a:avLst/>
          </a:prstGeom>
          <a:noFill/>
          <a:ln/>
        </p:spPr>
        <p:txBody>
          <a:bodyPr wrap="square" lIns="0" tIns="0" rIns="0" bIns="0" rtlCol="0" anchor="b"/>
          <a:lstStyle/>
          <a:p>
            <a:pPr algn="l" indent="0" marL="0">
              <a:buNone/>
            </a:pPr>
            <a:r>
              <a:rPr lang="en-US" sz="7200" b="1" dirty="0">
                <a:solidFill>
                  <a:schemeClr val="accent3"/>
                </a:solidFill>
                <a:latin typeface="Cambria" pitchFamily="34" charset="0"/>
                <a:ea typeface="Cambria" pitchFamily="34" charset="-122"/>
                <a:cs typeface="Cambria" pitchFamily="34" charset="-120"/>
              </a:rPr>
              <a:t>09</a:t>
            </a:r>
            <a:endParaRPr lang="en-US" sz="7200" dirty="0"/>
          </a:p>
        </p:txBody>
      </p:sp>
      <p:sp>
        <p:nvSpPr>
          <p:cNvPr id="3" name="Text 1"/>
          <p:cNvSpPr/>
          <p:nvPr>
            <p:ph idx="102" type="title" hasCustomPrompt="1"/>
          </p:nvPr>
        </p:nvSpPr>
        <p:spPr>
          <a:xfrm>
            <a:off x="548640" y="2011680"/>
            <a:ext cx="6492240" cy="1600200"/>
          </a:xfrm>
          <a:prstGeom prst="rect">
            <a:avLst/>
          </a:prstGeom>
          <a:noFill/>
          <a:ln/>
        </p:spPr>
        <p:txBody>
          <a:bodyPr wrap="square" lIns="0" tIns="0" rIns="0" bIns="0" rtlCol="0" anchor="t"/>
          <a:lstStyle/>
          <a:p>
            <a:pPr algn="l" indent="0" marL="0">
              <a:buNone/>
            </a:pPr>
            <a:r>
              <a:rPr lang="en-US" sz="3400" b="1" dirty="0">
                <a:solidFill>
                  <a:srgbClr val="FFFFFF"/>
                </a:solidFill>
              </a:rPr>
              <a:t>How to add redundancy without loops</a:t>
            </a:r>
            <a:endParaRPr lang="en-US" sz="3400" dirty="0"/>
          </a:p>
        </p:txBody>
      </p:sp>
      <p:sp>
        <p:nvSpPr>
          <p:cNvPr id="4" name="Text 1"/>
          <p:cNvSpPr/>
          <p:nvPr>
            <p:ph idx="103" type="body" hasCustomPrompt="1"/>
          </p:nvPr>
        </p:nvSpPr>
        <p:spPr>
          <a:xfrm>
            <a:off x="548640" y="3703320"/>
            <a:ext cx="6309360" cy="1188720"/>
          </a:xfrm>
          <a:prstGeom prst="rect">
            <a:avLst/>
          </a:prstGeom>
          <a:noFill/>
          <a:ln/>
        </p:spPr>
        <p:txBody>
          <a:bodyPr wrap="square" lIns="0" tIns="0" rIns="0" bIns="0" rtlCol="0" anchor="t"/>
          <a:lstStyle/>
          <a:p>
            <a:pPr algn="l" indent="0" marL="0">
              <a:buNone/>
            </a:pPr>
            <a:r>
              <a:rPr lang="en-US" sz="1600" dirty="0">
                <a:solidFill>
                  <a:srgbClr val="CFE3D4"/>
                </a:solidFill>
              </a:rPr>
              <a:t>Extra links between switches keep users online when a cable fails — if Spanning Tree controls them. EtherChannel turns parallel links into one. (Lab 7)</a:t>
            </a:r>
            <a:endParaRPr lang="en-US" sz="1600" dirty="0"/>
          </a:p>
        </p:txBody>
      </p:sp>
      <p:sp>
        <p:nvSpPr>
          <p:cNvPr id="5" name="Shape 3"/>
          <p:cNvSpPr/>
          <p:nvPr/>
        </p:nvSpPr>
        <p:spPr>
          <a:xfrm>
            <a:off x="7452360" y="1985645"/>
            <a:ext cx="4187952" cy="2886710"/>
          </a:xfrm>
          <a:prstGeom prst="roundRect">
            <a:avLst>
              <a:gd name="adj" fmla="val 3168"/>
            </a:avLst>
          </a:prstGeom>
          <a:solidFill>
            <a:srgbClr val="1B2B22">
              <a:alpha val="75000"/>
            </a:srgbClr>
          </a:solidFill>
          <a:ln w="12700">
            <a:solidFill>
              <a:srgbClr val="24663A"/>
            </a:solidFill>
            <a:prstDash val="solid"/>
          </a:ln>
        </p:spPr>
      </p:sp>
      <p:sp>
        <p:nvSpPr>
          <p:cNvPr id="6" name="Text 4"/>
          <p:cNvSpPr txBox="1"/>
          <p:nvPr/>
        </p:nvSpPr>
        <p:spPr>
          <a:xfrm>
            <a:off x="7726680" y="2241677"/>
            <a:ext cx="3639312" cy="320040"/>
          </a:xfrm>
          <a:prstGeom prst="rect">
            <a:avLst/>
          </a:prstGeom>
          <a:noFill/>
          <a:ln/>
        </p:spPr>
        <p:txBody>
          <a:bodyPr wrap="square" lIns="0" tIns="0" rIns="0" bIns="0" rtlCol="0" anchor="ctr"/>
          <a:lstStyle/>
          <a:p>
            <a:pPr indent="0" marL="0">
              <a:buNone/>
            </a:pPr>
            <a:r>
              <a:rPr lang="en-US" sz="1500" b="1" dirty="0">
                <a:solidFill>
                  <a:srgbClr val="E8B92E"/>
                </a:solidFill>
              </a:rPr>
              <a:t>In this part, learn how to:</a:t>
            </a:r>
            <a:endParaRPr lang="en-US" sz="1500" dirty="0"/>
          </a:p>
        </p:txBody>
      </p:sp>
      <p:sp>
        <p:nvSpPr>
          <p:cNvPr id="7" name="Text 5"/>
          <p:cNvSpPr txBox="1"/>
          <p:nvPr/>
        </p:nvSpPr>
        <p:spPr>
          <a:xfrm>
            <a:off x="7726680" y="2717165"/>
            <a:ext cx="3730752" cy="197231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FFFFFF"/>
                </a:solidFill>
              </a:rPr>
              <a:t>understand Spanning Tree and the lab</a:t>
            </a:r>
            <a:endParaRPr lang="en-US" sz="1500" dirty="0"/>
          </a:p>
          <a:p>
            <a:pPr marL="203200" indent="-203200">
              <a:spcAft>
                <a:spcPts val="800"/>
              </a:spcAft>
              <a:buSzPct val="100000"/>
              <a:buChar char="•"/>
            </a:pPr>
            <a:r>
              <a:rPr lang="en-US" sz="1500" dirty="0">
                <a:solidFill>
                  <a:srgbClr val="FFFFFF"/>
                </a:solidFill>
              </a:rPr>
              <a:t>choose the root bridge, PortFast and BPDU Guard</a:t>
            </a:r>
            <a:endParaRPr lang="en-US" sz="1500" dirty="0"/>
          </a:p>
          <a:p>
            <a:pPr marL="203200" indent="-203200">
              <a:spcAft>
                <a:spcPts val="800"/>
              </a:spcAft>
              <a:buSzPct val="100000"/>
              <a:buChar char="•"/>
            </a:pPr>
            <a:r>
              <a:rPr lang="en-US" sz="1500" dirty="0">
                <a:solidFill>
                  <a:srgbClr val="FFFFFF"/>
                </a:solidFill>
              </a:rPr>
              <a:t>read show spanning-tree</a:t>
            </a:r>
            <a:endParaRPr lang="en-US" sz="1500" dirty="0"/>
          </a:p>
          <a:p>
            <a:pPr marL="203200" indent="-203200">
              <a:spcAft>
                <a:spcPts val="800"/>
              </a:spcAft>
              <a:buSzPct val="100000"/>
              <a:buChar char="•"/>
            </a:pPr>
            <a:r>
              <a:rPr lang="en-US" sz="1500" dirty="0">
                <a:solidFill>
                  <a:srgbClr val="FFFFFF"/>
                </a:solidFill>
              </a:rPr>
              <a:t>bundle links with LACP EtherChannel</a:t>
            </a:r>
            <a:endParaRPr lang="en-US" sz="1500" dirty="0"/>
          </a:p>
        </p:txBody>
      </p:sp>
      <p:sp>
        <p:nvSpPr>
          <p:cNvPr id="8" name="Shape 6"/>
          <p:cNvSpPr/>
          <p:nvPr/>
        </p:nvSpPr>
        <p:spPr>
          <a:xfrm>
            <a:off x="548640" y="5989320"/>
            <a:ext cx="914400" cy="566928"/>
          </a:xfrm>
          <a:prstGeom prst="roundRect">
            <a:avLst>
              <a:gd name="adj" fmla="val 9677"/>
            </a:avLst>
          </a:prstGeom>
          <a:solidFill>
            <a:srgbClr val="FFFFFF"/>
          </a:solidFill>
          <a:ln/>
        </p:spPr>
      </p:sp>
      <p:pic>
        <p:nvPicPr>
          <p:cNvPr id="9" name="Image 0" descr="Kabete National Polytechnic logo">    </p:cNvPr>
          <p:cNvPicPr>
            <a:picLocks noChangeAspect="1"/>
          </p:cNvPicPr>
          <p:nvPr/>
        </p:nvPicPr>
        <p:blipFill>
          <a:blip r:embed="rId1"/>
          <a:stretch>
            <a:fillRect/>
          </a:stretch>
        </p:blipFill>
        <p:spPr>
          <a:xfrm>
            <a:off x="594360" y="6022175"/>
            <a:ext cx="822960" cy="501218"/>
          </a:xfrm>
          <a:prstGeom prst="rect">
            <a:avLst/>
          </a:prstGeom>
        </p:spPr>
      </p:pic>
      <p:pic>
        <p:nvPicPr>
          <p:cNvPr id="10" name="Home button" descr="Home: back to the workbook menu">
            <a:hlinkClick r:id="rId3" tooltip="Back to the workbook menu" action="ppaction://hlinksldjump"/>
          </p:cNvPr>
          <p:cNvPicPr>
            <a:picLocks noChangeAspect="1"/>
          </p:cNvPicPr>
          <p:nvPr/>
        </p:nvPicPr>
        <p:blipFill>
          <a:blip r:embed="rId2"/>
          <a:stretch>
            <a:fillRect/>
          </a:stretch>
        </p:blipFill>
        <p:spPr>
          <a:xfrm>
            <a:off x="11365992" y="6336792"/>
            <a:ext cx="365760" cy="365760"/>
          </a:xfrm>
          <a:prstGeom prst="rect">
            <a:avLst/>
          </a:prstGeom>
        </p:spPr>
      </p:pic>
      <p:sp>
        <p:nvSpPr>
          <p:cNvPr id="25" name="Slide Number Placeholder 0"/>
          <p:cNvSpPr>
            <a:spLocks noGrp="1"/>
          </p:cNvSpPr>
          <p:nvPr>
            <p:ph type="sldNum" sz="quarter" idx="4294967295"/>
          </p:nvPr>
        </p:nvSpPr>
        <p:spPr>
          <a:xfrm>
            <a:off x="10698480" y="6464808"/>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CFE3D4"/>
                </a:solidFill>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1"/>
          <p:cNvSpPr/>
          <p:nvPr>
            <p:ph idx="102" type="body" hasCustomPrompt="1"/>
          </p:nvPr>
        </p:nvSpPr>
        <p:spPr>
          <a:xfrm>
            <a:off x="548640" y="274320"/>
            <a:ext cx="9966960" cy="256032"/>
          </a:xfrm>
          <a:prstGeom prst="rect">
            <a:avLst/>
          </a:prstGeom>
          <a:noFill/>
          <a:ln/>
        </p:spPr>
        <p:txBody>
          <a:bodyPr wrap="square" lIns="0" tIns="0" rIns="0" bIns="0" rtlCol="0" anchor="ctr"/>
          <a:lstStyle/>
          <a:p>
            <a:pPr algn="l" indent="0" marL="0">
              <a:buNone/>
            </a:pPr>
            <a:r>
              <a:rPr lang="en-US" sz="1100" b="1" spc="100" kern="0" dirty="0">
                <a:solidFill>
                  <a:schemeClr val="accent2"/>
                </a:solidFill>
              </a:rPr>
              <a:t>09  •  STP &amp; ETHERCHANNEL  •  LAB 7</a:t>
            </a:r>
            <a:endParaRPr lang="en-US" sz="1100" dirty="0"/>
          </a:p>
        </p:txBody>
      </p:sp>
      <p:sp>
        <p:nvSpPr>
          <p:cNvPr id="3" name="Text 1"/>
          <p:cNvSpPr/>
          <p:nvPr>
            <p:ph idx="103" type="title" hasCustomPrompt="1"/>
          </p:nvPr>
        </p:nvSpPr>
        <p:spPr>
          <a:xfrm>
            <a:off x="548640" y="548640"/>
            <a:ext cx="10149840" cy="548640"/>
          </a:xfrm>
          <a:prstGeom prst="rect">
            <a:avLst/>
          </a:prstGeom>
          <a:noFill/>
          <a:ln/>
        </p:spPr>
        <p:txBody>
          <a:bodyPr wrap="square" lIns="0" tIns="0" rIns="0" bIns="0" rtlCol="0" anchor="ctr"/>
          <a:lstStyle/>
          <a:p>
            <a:pPr algn="l" indent="0" marL="0">
              <a:buNone/>
            </a:pPr>
            <a:r>
              <a:rPr lang="en-US" sz="2600" b="1" dirty="0">
                <a:solidFill>
                  <a:schemeClr val="accent1"/>
                </a:solidFill>
              </a:rPr>
              <a:t>How to understand Spanning Tree before you configure it</a:t>
            </a:r>
            <a:endParaRPr lang="en-US" sz="2600" dirty="0"/>
          </a:p>
        </p:txBody>
      </p:sp>
      <p:pic>
        <p:nvPicPr>
          <p:cNvPr id="4" name="Home button" descr="Home: back to the workbook menu">
            <a:hlinkClick r:id="rId2" tooltip="Back to the workbook menu" action="ppaction://hlinksldjump"/>
          </p:cNvPr>
          <p:cNvPicPr>
            <a:picLocks noChangeAspect="1"/>
          </p:cNvPicPr>
          <p:nvPr/>
        </p:nvPicPr>
        <p:blipFill>
          <a:blip r:embed="rId1"/>
          <a:stretch>
            <a:fillRect/>
          </a:stretch>
        </p:blipFill>
        <p:spPr>
          <a:xfrm>
            <a:off x="11365992" y="6336792"/>
            <a:ext cx="365760" cy="365760"/>
          </a:xfrm>
          <a:prstGeom prst="rect">
            <a:avLst/>
          </a:prstGeom>
        </p:spPr>
      </p:pic>
      <p:sp>
        <p:nvSpPr>
          <p:cNvPr id="5" name="Goal"/>
          <p:cNvSpPr txBox="1"/>
          <p:nvPr/>
        </p:nvSpPr>
        <p:spPr>
          <a:xfrm>
            <a:off x="548640" y="1161288"/>
            <a:ext cx="11094415" cy="384048"/>
          </a:xfrm>
          <a:prstGeom prst="rect">
            <a:avLst/>
          </a:prstGeom>
          <a:noFill/>
          <a:ln/>
        </p:spPr>
        <p:txBody>
          <a:bodyPr wrap="square" lIns="0" tIns="0" rIns="0" bIns="0" rtlCol="0" anchor="ctr"/>
          <a:lstStyle/>
          <a:p>
            <a:pPr indent="0" marL="0">
              <a:buNone/>
            </a:pPr>
            <a:r>
              <a:rPr lang="en-US" sz="1400" b="1" dirty="0">
                <a:solidFill>
                  <a:srgbClr val="2B7043"/>
                </a:solidFill>
              </a:rPr>
              <a:t>Goal:  </a:t>
            </a:r>
            <a:r>
              <a:rPr lang="en-US" sz="1400" dirty="0">
                <a:solidFill>
                  <a:srgbClr val="2B2B2B"/>
                </a:solidFill>
              </a:rPr>
              <a:t>Redundant links are good for uptime but create loops. Spanning Tree keeps one path active and the others on standby.</a:t>
            </a:r>
            <a:endParaRPr lang="en-US" sz="1400" dirty="0"/>
          </a:p>
        </p:txBody>
      </p:sp>
      <p:sp>
        <p:nvSpPr>
          <p:cNvPr id="6" name="Card"/>
          <p:cNvSpPr/>
          <p:nvPr/>
        </p:nvSpPr>
        <p:spPr>
          <a:xfrm>
            <a:off x="548640" y="1691640"/>
            <a:ext cx="5486400" cy="3429000"/>
          </a:xfrm>
          <a:prstGeom prst="roundRect">
            <a:avLst>
              <a:gd name="adj" fmla="val 2133"/>
            </a:avLst>
          </a:prstGeom>
          <a:solidFill>
            <a:srgbClr val="F2F8F3"/>
          </a:solidFill>
          <a:ln w="12700">
            <a:solidFill>
              <a:srgbClr val="B7C9BA"/>
            </a:solidFill>
            <a:prstDash val="solid"/>
          </a:ln>
        </p:spPr>
      </p:sp>
      <p:sp>
        <p:nvSpPr>
          <p:cNvPr id="7" name="Text 4"/>
          <p:cNvSpPr txBox="1"/>
          <p:nvPr/>
        </p:nvSpPr>
        <p:spPr>
          <a:xfrm>
            <a:off x="694944" y="1794053"/>
            <a:ext cx="5193792" cy="3224174"/>
          </a:xfrm>
          <a:prstGeom prst="rect">
            <a:avLst/>
          </a:prstGeom>
          <a:noFill/>
          <a:ln/>
        </p:spPr>
        <p:txBody>
          <a:bodyPr wrap="square" lIns="0" tIns="0" rIns="0" bIns="0" rtlCol="0" anchor="t"/>
          <a:lstStyle/>
          <a:p>
            <a:pPr marL="203200" indent="-203200">
              <a:spcAft>
                <a:spcPts val="600"/>
              </a:spcAft>
              <a:buSzPct val="100000"/>
              <a:buChar char="•"/>
            </a:pPr>
            <a:r>
              <a:rPr lang="en-US" sz="1400" b="1" dirty="0">
                <a:solidFill>
                  <a:srgbClr val="2B2B2B"/>
                </a:solidFill>
              </a:rPr>
              <a:t>Extra links = backup paths</a:t>
            </a:r>
            <a:r>
              <a:rPr lang="en-US" sz="1400" dirty="0">
                <a:solidFill>
                  <a:srgbClr val="2B2B2B"/>
                </a:solidFill>
              </a:rPr>
              <a:t> — but they also create loops.</a:t>
            </a:r>
            <a:endParaRPr lang="en-US" sz="1400" dirty="0"/>
          </a:p>
          <a:p>
            <a:pPr marL="203200" indent="-203200">
              <a:spcAft>
                <a:spcPts val="600"/>
              </a:spcAft>
              <a:buSzPct val="100000"/>
              <a:buChar char="•"/>
            </a:pPr>
            <a:r>
              <a:rPr lang="en-US" sz="1400" b="1" dirty="0">
                <a:solidFill>
                  <a:srgbClr val="2B2B2B"/>
                </a:solidFill>
              </a:rPr>
              <a:t>A loop is deadly at Layer 2:</a:t>
            </a:r>
            <a:r>
              <a:rPr lang="en-US" sz="1400" dirty="0">
                <a:solidFill>
                  <a:srgbClr val="2B2B2B"/>
                </a:solidFill>
              </a:rPr>
              <a:t> frames have no TTL, so broadcasts circle for ever (a broadcast storm) and the network freezes.</a:t>
            </a:r>
            <a:endParaRPr lang="en-US" sz="1400" dirty="0"/>
          </a:p>
          <a:p>
            <a:pPr marL="203200" indent="-203200">
              <a:spcAft>
                <a:spcPts val="600"/>
              </a:spcAft>
              <a:buSzPct val="100000"/>
              <a:buChar char="•"/>
            </a:pPr>
            <a:r>
              <a:rPr lang="en-US" sz="1400" b="1" dirty="0">
                <a:solidFill>
                  <a:srgbClr val="2B2B2B"/>
                </a:solidFill>
              </a:rPr>
              <a:t>STP elects a root bridge</a:t>
            </a:r>
            <a:r>
              <a:rPr lang="en-US" sz="1400" dirty="0">
                <a:solidFill>
                  <a:srgbClr val="2B2B2B"/>
                </a:solidFill>
              </a:rPr>
              <a:t> (the lowest bridge ID) and keeps the best path from every switch to it.</a:t>
            </a:r>
            <a:endParaRPr lang="en-US" sz="1400" dirty="0"/>
          </a:p>
          <a:p>
            <a:pPr marL="203200" indent="-203200">
              <a:spcAft>
                <a:spcPts val="600"/>
              </a:spcAft>
              <a:buSzPct val="100000"/>
              <a:buChar char="•"/>
            </a:pPr>
            <a:r>
              <a:rPr lang="en-US" sz="1400" dirty="0">
                <a:solidFill>
                  <a:srgbClr val="2B2B2B"/>
                </a:solidFill>
              </a:rPr>
              <a:t>Every other path is </a:t>
            </a:r>
            <a:r>
              <a:rPr lang="en-US" sz="1400" b="1" dirty="0">
                <a:solidFill>
                  <a:srgbClr val="2B2B2B"/>
                </a:solidFill>
              </a:rPr>
              <a:t>blocked</a:t>
            </a:r>
            <a:r>
              <a:rPr lang="en-US" sz="1400" dirty="0">
                <a:solidFill>
                  <a:srgbClr val="2B2B2B"/>
                </a:solidFill>
              </a:rPr>
              <a:t> — but kept ready.</a:t>
            </a:r>
            <a:endParaRPr lang="en-US" sz="1400" dirty="0"/>
          </a:p>
          <a:p>
            <a:pPr marL="203200" indent="-203200">
              <a:spcAft>
                <a:spcPts val="600"/>
              </a:spcAft>
              <a:buSzPct val="100000"/>
              <a:buChar char="•"/>
            </a:pPr>
            <a:r>
              <a:rPr lang="en-US" sz="1400" b="1" dirty="0">
                <a:solidFill>
                  <a:srgbClr val="2B2B2B"/>
                </a:solidFill>
              </a:rPr>
              <a:t>If the active path fails</a:t>
            </a:r>
            <a:r>
              <a:rPr lang="en-US" sz="1400" dirty="0">
                <a:solidFill>
                  <a:srgbClr val="2B2B2B"/>
                </a:solidFill>
              </a:rPr>
              <a:t>, the blocked port starts forwarding: in 1–2 seconds with Rapid PVST+.</a:t>
            </a:r>
            <a:endParaRPr lang="en-US" sz="1400" dirty="0"/>
          </a:p>
        </p:txBody>
      </p:sp>
      <p:sp>
        <p:nvSpPr>
          <p:cNvPr id="8" name="Card"/>
          <p:cNvSpPr/>
          <p:nvPr/>
        </p:nvSpPr>
        <p:spPr>
          <a:xfrm>
            <a:off x="548640" y="5257800"/>
            <a:ext cx="5486400" cy="960120"/>
          </a:xfrm>
          <a:prstGeom prst="roundRect">
            <a:avLst>
              <a:gd name="adj" fmla="val 7619"/>
            </a:avLst>
          </a:prstGeom>
          <a:solidFill>
            <a:srgbClr val="E6EEF8"/>
          </a:solidFill>
          <a:ln w="12700">
            <a:solidFill>
              <a:srgbClr val="B8C9E0"/>
            </a:solidFill>
            <a:prstDash val="solid"/>
          </a:ln>
        </p:spPr>
      </p:sp>
      <p:sp>
        <p:nvSpPr>
          <p:cNvPr id="9" name="Text 6"/>
          <p:cNvSpPr txBox="1"/>
          <p:nvPr/>
        </p:nvSpPr>
        <p:spPr>
          <a:xfrm>
            <a:off x="694944" y="5360213"/>
            <a:ext cx="5193792" cy="755294"/>
          </a:xfrm>
          <a:prstGeom prst="rect">
            <a:avLst/>
          </a:prstGeom>
          <a:noFill/>
          <a:ln/>
        </p:spPr>
        <p:txBody>
          <a:bodyPr wrap="square" lIns="0" tIns="0" rIns="0" bIns="0" rtlCol="0" anchor="t"/>
          <a:lstStyle/>
          <a:p>
            <a:pPr indent="0" marL="0">
              <a:buNone/>
            </a:pPr>
            <a:r>
              <a:rPr lang="en-US" sz="1400" b="1" dirty="0">
                <a:solidFill>
                  <a:srgbClr val="1F4E8C"/>
                </a:solidFill>
              </a:rPr>
              <a:t>Think of it like this</a:t>
            </a:r>
            <a:endParaRPr lang="en-US" sz="1300" dirty="0"/>
          </a:p>
          <a:p>
            <a:pPr indent="0" marL="0">
              <a:buNone/>
            </a:pPr>
            <a:r>
              <a:rPr lang="en-US" sz="1300" dirty="0">
                <a:solidFill>
                  <a:srgbClr val="2B2B2B"/>
                </a:solidFill>
              </a:rPr>
              <a:t>A ring road with one barrier: traffic never circles, and if the main road closes the barrier lifts.</a:t>
            </a:r>
            <a:endParaRPr lang="en-US" sz="1300" dirty="0"/>
          </a:p>
        </p:txBody>
      </p:sp>
      <p:sp>
        <p:nvSpPr>
          <p:cNvPr id="10" name="Shape 7"/>
          <p:cNvSpPr/>
          <p:nvPr/>
        </p:nvSpPr>
        <p:spPr>
          <a:xfrm>
            <a:off x="8961120" y="2468880"/>
            <a:ext cx="1920240" cy="1920240"/>
          </a:xfrm>
          <a:prstGeom prst="line">
            <a:avLst/>
          </a:prstGeom>
          <a:noFill/>
          <a:ln w="28575">
            <a:solidFill>
              <a:srgbClr val="3A3A3A"/>
            </a:solidFill>
            <a:prstDash val="solid"/>
          </a:ln>
        </p:spPr>
      </p:sp>
      <p:sp>
        <p:nvSpPr>
          <p:cNvPr id="11" name="Shape 8"/>
          <p:cNvSpPr/>
          <p:nvPr/>
        </p:nvSpPr>
        <p:spPr>
          <a:xfrm>
            <a:off x="8842248" y="2587752"/>
            <a:ext cx="1920240" cy="1920240"/>
          </a:xfrm>
          <a:prstGeom prst="line">
            <a:avLst/>
          </a:prstGeom>
          <a:noFill/>
          <a:ln w="28575">
            <a:solidFill>
              <a:srgbClr val="3A3A3A"/>
            </a:solidFill>
            <a:prstDash val="solid"/>
          </a:ln>
        </p:spPr>
      </p:sp>
      <p:sp>
        <p:nvSpPr>
          <p:cNvPr id="12" name="Shape 9"/>
          <p:cNvSpPr/>
          <p:nvPr/>
        </p:nvSpPr>
        <p:spPr>
          <a:xfrm flipH="1">
            <a:off x="6995160" y="2514600"/>
            <a:ext cx="1920240" cy="1920240"/>
          </a:xfrm>
          <a:prstGeom prst="line">
            <a:avLst/>
          </a:prstGeom>
          <a:noFill/>
          <a:ln w="28575">
            <a:solidFill>
              <a:srgbClr val="3A3A3A"/>
            </a:solidFill>
            <a:prstDash val="solid"/>
          </a:ln>
        </p:spPr>
      </p:sp>
      <p:sp>
        <p:nvSpPr>
          <p:cNvPr id="13" name="Shape 10"/>
          <p:cNvSpPr/>
          <p:nvPr/>
        </p:nvSpPr>
        <p:spPr>
          <a:xfrm>
            <a:off x="6995160" y="4434840"/>
            <a:ext cx="3840480" cy="914"/>
          </a:xfrm>
          <a:prstGeom prst="line">
            <a:avLst/>
          </a:prstGeom>
          <a:noFill/>
          <a:ln w="28575">
            <a:solidFill>
              <a:srgbClr val="8B1A1A"/>
            </a:solidFill>
            <a:prstDash val="dash"/>
          </a:ln>
        </p:spPr>
      </p:sp>
      <p:sp>
        <p:nvSpPr>
          <p:cNvPr id="14" name="Shape 11"/>
          <p:cNvSpPr/>
          <p:nvPr/>
        </p:nvSpPr>
        <p:spPr>
          <a:xfrm flipH="1">
            <a:off x="7680960" y="2514600"/>
            <a:ext cx="1234440" cy="914"/>
          </a:xfrm>
          <a:prstGeom prst="line">
            <a:avLst/>
          </a:prstGeom>
          <a:noFill/>
          <a:ln w="22225">
            <a:solidFill>
              <a:srgbClr val="2F855A"/>
            </a:solidFill>
            <a:prstDash val="solid"/>
          </a:ln>
        </p:spPr>
      </p:sp>
      <p:sp>
        <p:nvSpPr>
          <p:cNvPr id="15" name="Shape 12"/>
          <p:cNvSpPr/>
          <p:nvPr/>
        </p:nvSpPr>
        <p:spPr>
          <a:xfrm>
            <a:off x="6995160" y="4434840"/>
            <a:ext cx="914" cy="1143000"/>
          </a:xfrm>
          <a:prstGeom prst="line">
            <a:avLst/>
          </a:prstGeom>
          <a:noFill/>
          <a:ln w="22225">
            <a:solidFill>
              <a:srgbClr val="2F855A"/>
            </a:solidFill>
            <a:prstDash val="solid"/>
          </a:ln>
        </p:spPr>
      </p:sp>
      <p:pic>
        <p:nvPicPr>
          <p:cNvPr id="16" name="Image 1" descr="S1">    </p:cNvPr>
          <p:cNvPicPr>
            <a:picLocks noChangeAspect="1"/>
          </p:cNvPicPr>
          <p:nvPr/>
        </p:nvPicPr>
        <p:blipFill>
          <a:blip r:embed="rId3"/>
          <a:stretch>
            <a:fillRect/>
          </a:stretch>
        </p:blipFill>
        <p:spPr>
          <a:xfrm>
            <a:off x="8586216" y="2185416"/>
            <a:ext cx="658368" cy="658368"/>
          </a:xfrm>
          <a:prstGeom prst="rect">
            <a:avLst/>
          </a:prstGeom>
        </p:spPr>
      </p:pic>
      <p:sp>
        <p:nvSpPr>
          <p:cNvPr id="17" name="Text 13"/>
          <p:cNvSpPr txBox="1"/>
          <p:nvPr/>
        </p:nvSpPr>
        <p:spPr>
          <a:xfrm>
            <a:off x="9290304" y="2377440"/>
            <a:ext cx="457200" cy="274320"/>
          </a:xfrm>
          <a:prstGeom prst="rect">
            <a:avLst/>
          </a:prstGeom>
          <a:noFill/>
          <a:ln/>
        </p:spPr>
        <p:txBody>
          <a:bodyPr wrap="square" lIns="0" tIns="0" rIns="0" bIns="0" rtlCol="0" anchor="t"/>
          <a:lstStyle/>
          <a:p>
            <a:pPr algn="l" indent="0" marL="0">
              <a:buNone/>
            </a:pPr>
            <a:r>
              <a:rPr lang="en-US" sz="1200" b="1" dirty="0">
                <a:solidFill>
                  <a:srgbClr val="2B2B2B"/>
                </a:solidFill>
              </a:rPr>
              <a:t>S1</a:t>
            </a:r>
            <a:endParaRPr lang="en-US" sz="1200" dirty="0"/>
          </a:p>
        </p:txBody>
      </p:sp>
      <p:pic>
        <p:nvPicPr>
          <p:cNvPr id="18" name="Image 2" descr="S2">    </p:cNvPr>
          <p:cNvPicPr>
            <a:picLocks noChangeAspect="1"/>
          </p:cNvPicPr>
          <p:nvPr/>
        </p:nvPicPr>
        <p:blipFill>
          <a:blip r:embed="rId4"/>
          <a:stretch>
            <a:fillRect/>
          </a:stretch>
        </p:blipFill>
        <p:spPr>
          <a:xfrm>
            <a:off x="10506456" y="4105656"/>
            <a:ext cx="658368" cy="658368"/>
          </a:xfrm>
          <a:prstGeom prst="rect">
            <a:avLst/>
          </a:prstGeom>
        </p:spPr>
      </p:pic>
      <p:sp>
        <p:nvSpPr>
          <p:cNvPr id="19" name="Text 14"/>
          <p:cNvSpPr txBox="1"/>
          <p:nvPr/>
        </p:nvSpPr>
        <p:spPr>
          <a:xfrm>
            <a:off x="10104120" y="4672584"/>
            <a:ext cx="1463040" cy="274320"/>
          </a:xfrm>
          <a:prstGeom prst="rect">
            <a:avLst/>
          </a:prstGeom>
          <a:noFill/>
          <a:ln/>
        </p:spPr>
        <p:txBody>
          <a:bodyPr wrap="square" lIns="0" tIns="0" rIns="0" bIns="0" rtlCol="0" anchor="t"/>
          <a:lstStyle/>
          <a:p>
            <a:pPr algn="ctr" indent="0" marL="0">
              <a:buNone/>
            </a:pPr>
            <a:r>
              <a:rPr lang="en-US" sz="1200" b="1" dirty="0">
                <a:solidFill>
                  <a:srgbClr val="2B2B2B"/>
                </a:solidFill>
              </a:rPr>
              <a:t>S2</a:t>
            </a:r>
            <a:endParaRPr lang="en-US" sz="1200" dirty="0"/>
          </a:p>
        </p:txBody>
      </p:sp>
      <p:pic>
        <p:nvPicPr>
          <p:cNvPr id="20" name="Image 3" descr="S3">    </p:cNvPr>
          <p:cNvPicPr>
            <a:picLocks noChangeAspect="1"/>
          </p:cNvPicPr>
          <p:nvPr/>
        </p:nvPicPr>
        <p:blipFill>
          <a:blip r:embed="rId5"/>
          <a:stretch>
            <a:fillRect/>
          </a:stretch>
        </p:blipFill>
        <p:spPr>
          <a:xfrm>
            <a:off x="6665976" y="4105656"/>
            <a:ext cx="658368" cy="658368"/>
          </a:xfrm>
          <a:prstGeom prst="rect">
            <a:avLst/>
          </a:prstGeom>
        </p:spPr>
      </p:pic>
      <p:sp>
        <p:nvSpPr>
          <p:cNvPr id="21" name="Text 15"/>
          <p:cNvSpPr txBox="1"/>
          <p:nvPr/>
        </p:nvSpPr>
        <p:spPr>
          <a:xfrm>
            <a:off x="6163056" y="4297680"/>
            <a:ext cx="457200" cy="274320"/>
          </a:xfrm>
          <a:prstGeom prst="rect">
            <a:avLst/>
          </a:prstGeom>
          <a:noFill/>
          <a:ln/>
        </p:spPr>
        <p:txBody>
          <a:bodyPr wrap="square" lIns="0" tIns="0" rIns="0" bIns="0" rtlCol="0" anchor="t"/>
          <a:lstStyle/>
          <a:p>
            <a:pPr algn="r" indent="0" marL="0">
              <a:buNone/>
            </a:pPr>
            <a:r>
              <a:rPr lang="en-US" sz="1200" b="1" dirty="0">
                <a:solidFill>
                  <a:srgbClr val="2B2B2B"/>
                </a:solidFill>
              </a:rPr>
              <a:t>S3</a:t>
            </a:r>
            <a:endParaRPr lang="en-US" sz="1200" dirty="0"/>
          </a:p>
        </p:txBody>
      </p:sp>
      <p:pic>
        <p:nvPicPr>
          <p:cNvPr id="22" name="Image 4" descr="PC2">    </p:cNvPr>
          <p:cNvPicPr>
            <a:picLocks noChangeAspect="1"/>
          </p:cNvPicPr>
          <p:nvPr/>
        </p:nvPicPr>
        <p:blipFill>
          <a:blip r:embed="rId6"/>
          <a:stretch>
            <a:fillRect/>
          </a:stretch>
        </p:blipFill>
        <p:spPr>
          <a:xfrm>
            <a:off x="7360920" y="2286000"/>
            <a:ext cx="457200" cy="457200"/>
          </a:xfrm>
          <a:prstGeom prst="rect">
            <a:avLst/>
          </a:prstGeom>
        </p:spPr>
      </p:pic>
      <p:sp>
        <p:nvSpPr>
          <p:cNvPr id="23" name="Text 16"/>
          <p:cNvSpPr txBox="1"/>
          <p:nvPr/>
        </p:nvSpPr>
        <p:spPr>
          <a:xfrm>
            <a:off x="6858000" y="1828800"/>
            <a:ext cx="1463040" cy="457200"/>
          </a:xfrm>
          <a:prstGeom prst="rect">
            <a:avLst/>
          </a:prstGeom>
          <a:noFill/>
          <a:ln/>
        </p:spPr>
        <p:txBody>
          <a:bodyPr wrap="square" lIns="0" tIns="0" rIns="0" bIns="0" rtlCol="0" anchor="t"/>
          <a:lstStyle/>
          <a:p>
            <a:pPr algn="ctr" indent="0" marL="0">
              <a:buNone/>
            </a:pPr>
            <a:r>
              <a:rPr lang="en-US" sz="1200" b="1" dirty="0">
                <a:solidFill>
                  <a:srgbClr val="2B2B2B"/>
                </a:solidFill>
              </a:rPr>
              <a:t>PC2</a:t>
            </a:r>
            <a:endParaRPr lang="en-US" sz="1200" dirty="0"/>
          </a:p>
          <a:p>
            <a:pPr algn="ctr" indent="0" marL="0">
              <a:buNone/>
            </a:pPr>
            <a:r>
              <a:rPr lang="en-US" sz="1000" dirty="0">
                <a:solidFill>
                  <a:srgbClr val="6B6B6B"/>
                </a:solidFill>
              </a:rPr>
              <a:t>VLAN 10</a:t>
            </a:r>
            <a:endParaRPr lang="en-US" sz="1200" dirty="0"/>
          </a:p>
        </p:txBody>
      </p:sp>
      <p:pic>
        <p:nvPicPr>
          <p:cNvPr id="24" name="Image 5" descr="PC1">    </p:cNvPr>
          <p:cNvPicPr>
            <a:picLocks noChangeAspect="1"/>
          </p:cNvPicPr>
          <p:nvPr/>
        </p:nvPicPr>
        <p:blipFill>
          <a:blip r:embed="rId7"/>
          <a:stretch>
            <a:fillRect/>
          </a:stretch>
        </p:blipFill>
        <p:spPr>
          <a:xfrm>
            <a:off x="6766560" y="5486400"/>
            <a:ext cx="457200" cy="457200"/>
          </a:xfrm>
          <a:prstGeom prst="rect">
            <a:avLst/>
          </a:prstGeom>
        </p:spPr>
      </p:pic>
      <p:sp>
        <p:nvSpPr>
          <p:cNvPr id="25" name="Text 17"/>
          <p:cNvSpPr txBox="1"/>
          <p:nvPr/>
        </p:nvSpPr>
        <p:spPr>
          <a:xfrm>
            <a:off x="7269480" y="5486400"/>
            <a:ext cx="822960" cy="457200"/>
          </a:xfrm>
          <a:prstGeom prst="rect">
            <a:avLst/>
          </a:prstGeom>
          <a:noFill/>
          <a:ln/>
        </p:spPr>
        <p:txBody>
          <a:bodyPr wrap="square" lIns="0" tIns="0" rIns="0" bIns="0" rtlCol="0" anchor="t"/>
          <a:lstStyle/>
          <a:p>
            <a:pPr algn="l" indent="0" marL="0">
              <a:buNone/>
            </a:pPr>
            <a:r>
              <a:rPr lang="en-US" sz="1200" b="1" dirty="0">
                <a:solidFill>
                  <a:srgbClr val="2B2B2B"/>
                </a:solidFill>
              </a:rPr>
              <a:t>PC1</a:t>
            </a:r>
            <a:endParaRPr lang="en-US" sz="1200" dirty="0"/>
          </a:p>
          <a:p>
            <a:pPr algn="l" indent="0" marL="0">
              <a:buNone/>
            </a:pPr>
            <a:r>
              <a:rPr lang="en-US" sz="1000" dirty="0">
                <a:solidFill>
                  <a:srgbClr val="6B6B6B"/>
                </a:solidFill>
              </a:rPr>
              <a:t>VLAN 10</a:t>
            </a:r>
            <a:endParaRPr lang="en-US" sz="1200" dirty="0"/>
          </a:p>
        </p:txBody>
      </p:sp>
      <p:sp>
        <p:nvSpPr>
          <p:cNvPr id="26" name="Shape 18"/>
          <p:cNvSpPr/>
          <p:nvPr/>
        </p:nvSpPr>
        <p:spPr>
          <a:xfrm>
            <a:off x="8531352" y="1737360"/>
            <a:ext cx="768096" cy="274320"/>
          </a:xfrm>
          <a:prstGeom prst="roundRect">
            <a:avLst>
              <a:gd name="adj" fmla="val 16667"/>
            </a:avLst>
          </a:prstGeom>
          <a:solidFill>
            <a:srgbClr val="E8B92E"/>
          </a:solidFill>
          <a:ln/>
        </p:spPr>
      </p:sp>
      <p:sp>
        <p:nvSpPr>
          <p:cNvPr id="27" name="Text 19"/>
          <p:cNvSpPr txBox="1"/>
          <p:nvPr/>
        </p:nvSpPr>
        <p:spPr>
          <a:xfrm>
            <a:off x="8531352" y="1737360"/>
            <a:ext cx="768096" cy="274320"/>
          </a:xfrm>
          <a:prstGeom prst="rect">
            <a:avLst/>
          </a:prstGeom>
          <a:noFill/>
          <a:ln/>
        </p:spPr>
        <p:txBody>
          <a:bodyPr wrap="square" lIns="0" tIns="0" rIns="0" bIns="0" rtlCol="0" anchor="ctr"/>
          <a:lstStyle/>
          <a:p>
            <a:pPr algn="ctr" indent="0" marL="0">
              <a:buNone/>
            </a:pPr>
            <a:r>
              <a:rPr lang="en-US" sz="1200" b="1" dirty="0">
                <a:solidFill>
                  <a:srgbClr val="1B2B22"/>
                </a:solidFill>
              </a:rPr>
              <a:t>ROOT</a:t>
            </a:r>
            <a:endParaRPr lang="en-US" sz="1200" dirty="0"/>
          </a:p>
        </p:txBody>
      </p:sp>
      <p:sp>
        <p:nvSpPr>
          <p:cNvPr id="28" name="Text 20"/>
          <p:cNvSpPr txBox="1"/>
          <p:nvPr/>
        </p:nvSpPr>
        <p:spPr>
          <a:xfrm>
            <a:off x="10012680" y="3154680"/>
            <a:ext cx="1737360" cy="237744"/>
          </a:xfrm>
          <a:prstGeom prst="rect">
            <a:avLst/>
          </a:prstGeom>
          <a:noFill/>
          <a:ln/>
        </p:spPr>
        <p:txBody>
          <a:bodyPr wrap="square" lIns="254" tIns="254" rIns="254" bIns="254" rtlCol="0" anchor="ctr"/>
          <a:lstStyle/>
          <a:p>
            <a:pPr algn="l" indent="0" marL="0">
              <a:buNone/>
            </a:pPr>
            <a:r>
              <a:rPr lang="en-US" sz="1100" b="1" dirty="0">
                <a:solidFill>
                  <a:srgbClr val="2B2B2B"/>
                </a:solidFill>
              </a:rPr>
              <a:t>Po1 = Fa0/1 + Fa0/2</a:t>
            </a:r>
            <a:endParaRPr lang="en-US" sz="1100" dirty="0"/>
          </a:p>
        </p:txBody>
      </p:sp>
      <p:sp>
        <p:nvSpPr>
          <p:cNvPr id="29" name="Text 21"/>
          <p:cNvSpPr txBox="1"/>
          <p:nvPr/>
        </p:nvSpPr>
        <p:spPr>
          <a:xfrm>
            <a:off x="7040880" y="3520440"/>
            <a:ext cx="640080" cy="237744"/>
          </a:xfrm>
          <a:prstGeom prst="rect">
            <a:avLst/>
          </a:prstGeom>
          <a:noFill/>
          <a:ln/>
        </p:spPr>
        <p:txBody>
          <a:bodyPr wrap="square" lIns="254" tIns="254" rIns="254" bIns="254" rtlCol="0" anchor="ctr"/>
          <a:lstStyle/>
          <a:p>
            <a:pPr algn="ctr" indent="0" marL="0">
              <a:buNone/>
            </a:pPr>
            <a:r>
              <a:rPr lang="en-US" sz="1100" dirty="0">
                <a:solidFill>
                  <a:srgbClr val="2B2B2B"/>
                </a:solidFill>
              </a:rPr>
              <a:t>Fa0/3</a:t>
            </a:r>
            <a:endParaRPr lang="en-US" sz="1100" dirty="0"/>
          </a:p>
        </p:txBody>
      </p:sp>
      <p:sp>
        <p:nvSpPr>
          <p:cNvPr id="30" name="Text 22"/>
          <p:cNvSpPr txBox="1"/>
          <p:nvPr/>
        </p:nvSpPr>
        <p:spPr>
          <a:xfrm>
            <a:off x="7543800" y="4617720"/>
            <a:ext cx="640080" cy="237744"/>
          </a:xfrm>
          <a:prstGeom prst="rect">
            <a:avLst/>
          </a:prstGeom>
          <a:noFill/>
          <a:ln/>
        </p:spPr>
        <p:txBody>
          <a:bodyPr wrap="square" lIns="254" tIns="254" rIns="254" bIns="254" rtlCol="0" anchor="ctr"/>
          <a:lstStyle/>
          <a:p>
            <a:pPr algn="ctr" indent="0" marL="0">
              <a:buNone/>
            </a:pPr>
            <a:r>
              <a:rPr lang="en-US" sz="1100" dirty="0">
                <a:solidFill>
                  <a:srgbClr val="2B2B2B"/>
                </a:solidFill>
              </a:rPr>
              <a:t>Fa0/4</a:t>
            </a:r>
            <a:endParaRPr lang="en-US" sz="1100" dirty="0"/>
          </a:p>
        </p:txBody>
      </p:sp>
      <p:sp>
        <p:nvSpPr>
          <p:cNvPr id="31" name="Shape 23"/>
          <p:cNvSpPr/>
          <p:nvPr/>
        </p:nvSpPr>
        <p:spPr>
          <a:xfrm>
            <a:off x="8001000" y="4270248"/>
            <a:ext cx="1965960" cy="329184"/>
          </a:xfrm>
          <a:prstGeom prst="roundRect">
            <a:avLst>
              <a:gd name="adj" fmla="val 13889"/>
            </a:avLst>
          </a:prstGeom>
          <a:solidFill>
            <a:srgbClr val="FBEAEA"/>
          </a:solidFill>
          <a:ln w="9525">
            <a:solidFill>
              <a:srgbClr val="E9B8B5"/>
            </a:solidFill>
            <a:prstDash val="solid"/>
          </a:ln>
        </p:spPr>
      </p:sp>
      <p:sp>
        <p:nvSpPr>
          <p:cNvPr id="32" name="Text 24"/>
          <p:cNvSpPr txBox="1"/>
          <p:nvPr/>
        </p:nvSpPr>
        <p:spPr>
          <a:xfrm>
            <a:off x="8001000" y="4270248"/>
            <a:ext cx="1965960" cy="329184"/>
          </a:xfrm>
          <a:prstGeom prst="rect">
            <a:avLst/>
          </a:prstGeom>
          <a:noFill/>
          <a:ln/>
        </p:spPr>
        <p:txBody>
          <a:bodyPr wrap="square" lIns="0" tIns="0" rIns="0" bIns="0" rtlCol="0" anchor="ctr"/>
          <a:lstStyle/>
          <a:p>
            <a:pPr algn="ctr" indent="0" marL="0">
              <a:buNone/>
            </a:pPr>
            <a:r>
              <a:rPr lang="en-US" sz="1100" b="1" dirty="0">
                <a:solidFill>
                  <a:srgbClr val="8B1A1A"/>
                </a:solidFill>
              </a:rPr>
              <a:t>S3 Fa0/4 BLOCKED (backup)</a:t>
            </a:r>
            <a:endParaRPr lang="en-US" sz="1100" dirty="0"/>
          </a:p>
        </p:txBody>
      </p:sp>
      <p:sp>
        <p:nvSpPr>
          <p:cNvPr id="33" name="Text 25"/>
          <p:cNvSpPr txBox="1"/>
          <p:nvPr/>
        </p:nvSpPr>
        <p:spPr>
          <a:xfrm>
            <a:off x="8412480" y="5303520"/>
            <a:ext cx="3227832" cy="548640"/>
          </a:xfrm>
          <a:prstGeom prst="rect">
            <a:avLst/>
          </a:prstGeom>
          <a:noFill/>
          <a:ln/>
        </p:spPr>
        <p:txBody>
          <a:bodyPr wrap="square" lIns="0" tIns="0" rIns="0" bIns="0" rtlCol="0" anchor="t"/>
          <a:lstStyle/>
          <a:p>
            <a:pPr indent="0" marL="0">
              <a:buNone/>
            </a:pPr>
            <a:r>
              <a:rPr lang="en-US" sz="1200" dirty="0">
                <a:solidFill>
                  <a:srgbClr val="6B6B6B"/>
                </a:solidFill>
              </a:rPr>
              <a:t>Cross-over cables between switches; all switch–switch links are trunks.</a:t>
            </a:r>
            <a:endParaRPr lang="en-US" sz="1200" dirty="0"/>
          </a:p>
        </p:txBody>
      </p:sp>
      <p:sp>
        <p:nvSpPr>
          <p:cNvPr id="34" name="Slide Number Placeholder 0"/>
          <p:cNvSpPr>
            <a:spLocks noGrp="1"/>
          </p:cNvSpPr>
          <p:nvPr>
            <p:ph type="sldNum" sz="quarter" idx="4294967295"/>
          </p:nvPr>
        </p:nvSpPr>
        <p:spPr>
          <a:xfrm>
            <a:off x="10698480" y="6464808"/>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1"/>
          <p:cNvSpPr/>
          <p:nvPr>
            <p:ph idx="102" type="body" hasCustomPrompt="1"/>
          </p:nvPr>
        </p:nvSpPr>
        <p:spPr>
          <a:xfrm>
            <a:off x="548640" y="274320"/>
            <a:ext cx="9966960" cy="256032"/>
          </a:xfrm>
          <a:prstGeom prst="rect">
            <a:avLst/>
          </a:prstGeom>
          <a:noFill/>
          <a:ln/>
        </p:spPr>
        <p:txBody>
          <a:bodyPr wrap="square" lIns="0" tIns="0" rIns="0" bIns="0" rtlCol="0" anchor="ctr"/>
          <a:lstStyle/>
          <a:p>
            <a:pPr algn="l" indent="0" marL="0">
              <a:buNone/>
            </a:pPr>
            <a:r>
              <a:rPr lang="en-US" sz="1100" b="1" spc="100" kern="0" dirty="0">
                <a:solidFill>
                  <a:schemeClr val="accent2"/>
                </a:solidFill>
              </a:rPr>
              <a:t>09  •  STP &amp; ETHERCHANNEL  •  LAB 7</a:t>
            </a:r>
            <a:endParaRPr lang="en-US" sz="1100" dirty="0"/>
          </a:p>
        </p:txBody>
      </p:sp>
      <p:sp>
        <p:nvSpPr>
          <p:cNvPr id="3" name="Text 1"/>
          <p:cNvSpPr/>
          <p:nvPr>
            <p:ph idx="103" type="title" hasCustomPrompt="1"/>
          </p:nvPr>
        </p:nvSpPr>
        <p:spPr>
          <a:xfrm>
            <a:off x="548640" y="548640"/>
            <a:ext cx="10149840" cy="548640"/>
          </a:xfrm>
          <a:prstGeom prst="rect">
            <a:avLst/>
          </a:prstGeom>
          <a:noFill/>
          <a:ln/>
        </p:spPr>
        <p:txBody>
          <a:bodyPr wrap="square" lIns="0" tIns="0" rIns="0" bIns="0" rtlCol="0" anchor="ctr"/>
          <a:lstStyle/>
          <a:p>
            <a:pPr algn="l" indent="0" marL="0">
              <a:buNone/>
            </a:pPr>
            <a:r>
              <a:rPr lang="en-US" sz="2600" b="1" dirty="0">
                <a:solidFill>
                  <a:schemeClr val="accent1"/>
                </a:solidFill>
              </a:rPr>
              <a:t>How to set the root bridge, PortFast and BPDU Guard</a:t>
            </a:r>
            <a:endParaRPr lang="en-US" sz="2600" dirty="0"/>
          </a:p>
        </p:txBody>
      </p:sp>
      <p:pic>
        <p:nvPicPr>
          <p:cNvPr id="4" name="Home button" descr="Home: back to the workbook menu">
            <a:hlinkClick r:id="rId2" tooltip="Back to the workbook menu" action="ppaction://hlinksldjump"/>
          </p:cNvPr>
          <p:cNvPicPr>
            <a:picLocks noChangeAspect="1"/>
          </p:cNvPicPr>
          <p:nvPr/>
        </p:nvPicPr>
        <p:blipFill>
          <a:blip r:embed="rId1"/>
          <a:stretch>
            <a:fillRect/>
          </a:stretch>
        </p:blipFill>
        <p:spPr>
          <a:xfrm>
            <a:off x="11365992" y="6336792"/>
            <a:ext cx="365760" cy="365760"/>
          </a:xfrm>
          <a:prstGeom prst="rect">
            <a:avLst/>
          </a:prstGeom>
        </p:spPr>
      </p:pic>
      <p:sp>
        <p:nvSpPr>
          <p:cNvPr id="5" name="Goal"/>
          <p:cNvSpPr txBox="1"/>
          <p:nvPr/>
        </p:nvSpPr>
        <p:spPr>
          <a:xfrm>
            <a:off x="548640" y="1161288"/>
            <a:ext cx="11094415" cy="384048"/>
          </a:xfrm>
          <a:prstGeom prst="rect">
            <a:avLst/>
          </a:prstGeom>
          <a:noFill/>
          <a:ln/>
        </p:spPr>
        <p:txBody>
          <a:bodyPr wrap="square" lIns="0" tIns="0" rIns="0" bIns="0" rtlCol="0" anchor="ctr"/>
          <a:lstStyle/>
          <a:p>
            <a:pPr indent="0" marL="0">
              <a:buNone/>
            </a:pPr>
            <a:r>
              <a:rPr lang="en-US" sz="1400" b="1" dirty="0">
                <a:solidFill>
                  <a:srgbClr val="2B7043"/>
                </a:solidFill>
              </a:rPr>
              <a:t>Goal:  </a:t>
            </a:r>
            <a:r>
              <a:rPr lang="en-US" sz="1400" dirty="0">
                <a:solidFill>
                  <a:srgbClr val="2B2B2B"/>
                </a:solidFill>
              </a:rPr>
              <a:t>Choose the centre of the network yourself, start PC ports instantly, and protect them from rogue switches.</a:t>
            </a:r>
            <a:endParaRPr lang="en-US" sz="1400" dirty="0"/>
          </a:p>
        </p:txBody>
      </p:sp>
      <p:sp>
        <p:nvSpPr>
          <p:cNvPr id="6" name="Command header"/>
          <p:cNvSpPr/>
          <p:nvPr/>
        </p:nvSpPr>
        <p:spPr>
          <a:xfrm>
            <a:off x="548640" y="1664208"/>
            <a:ext cx="6153912" cy="310896"/>
          </a:xfrm>
          <a:prstGeom prst="rect">
            <a:avLst/>
          </a:prstGeom>
          <a:solidFill>
            <a:srgbClr val="1B2B22"/>
          </a:solidFill>
          <a:ln/>
        </p:spPr>
        <p:txBody>
          <a:bodyPr wrap="square" lIns="109728" tIns="45720" rIns="109728" bIns="45720" rtlCol="0" anchor="ctr"/>
          <a:lstStyle/>
          <a:p>
            <a:pPr indent="0" marL="0">
              <a:buNone/>
            </a:pPr>
            <a:r>
              <a:rPr lang="en-US" sz="1100" dirty="0">
                <a:solidFill>
                  <a:srgbClr val="E0605A"/>
                </a:solidFill>
              </a:rPr>
              <a:t>●  </a:t>
            </a:r>
            <a:r>
              <a:rPr lang="en-US" sz="1100" dirty="0">
                <a:solidFill>
                  <a:srgbClr val="E8B92E"/>
                </a:solidFill>
              </a:rPr>
              <a:t>●  </a:t>
            </a:r>
            <a:r>
              <a:rPr lang="en-US" sz="1100" dirty="0">
                <a:solidFill>
                  <a:srgbClr val="4CAF50"/>
                </a:solidFill>
              </a:rPr>
              <a:t>●   </a:t>
            </a:r>
            <a:r>
              <a:rPr lang="en-US" sz="1100" b="1" dirty="0">
                <a:solidFill>
                  <a:srgbClr val="C9D6CC"/>
                </a:solidFill>
              </a:rPr>
              <a:t>S1 / S2 / S3  —  type the white text, then press Enter</a:t>
            </a:r>
            <a:endParaRPr lang="en-US" sz="1100" dirty="0"/>
          </a:p>
        </p:txBody>
      </p:sp>
      <p:sp>
        <p:nvSpPr>
          <p:cNvPr id="7" name="Meaning header"/>
          <p:cNvSpPr/>
          <p:nvPr/>
        </p:nvSpPr>
        <p:spPr>
          <a:xfrm>
            <a:off x="6720840" y="1664208"/>
            <a:ext cx="4922215" cy="310896"/>
          </a:xfrm>
          <a:prstGeom prst="rect">
            <a:avLst/>
          </a:prstGeom>
          <a:solidFill>
            <a:srgbClr val="E8F1EA"/>
          </a:solidFill>
          <a:ln/>
        </p:spPr>
        <p:txBody>
          <a:bodyPr wrap="square" lIns="109728" tIns="45720" rIns="109728" bIns="45720" rtlCol="0" anchor="ctr"/>
          <a:lstStyle/>
          <a:p>
            <a:pPr indent="0" marL="0">
              <a:buNone/>
            </a:pPr>
            <a:r>
              <a:rPr lang="en-US" sz="1200" b="1" dirty="0">
                <a:solidFill>
                  <a:srgbClr val="1E5631"/>
                </a:solidFill>
              </a:rPr>
              <a:t>What it does</a:t>
            </a:r>
            <a:endParaRPr lang="en-US" sz="1200" dirty="0"/>
          </a:p>
        </p:txBody>
      </p:sp>
      <p:sp>
        <p:nvSpPr>
          <p:cNvPr id="8" name="Command 01"/>
          <p:cNvSpPr/>
          <p:nvPr/>
        </p:nvSpPr>
        <p:spPr>
          <a:xfrm>
            <a:off x="548640" y="1993392"/>
            <a:ext cx="6153912" cy="54380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S1(config)# </a:t>
            </a:r>
            <a:r>
              <a:rPr lang="en-US" sz="1200" b="1" dirty="0">
                <a:solidFill>
                  <a:srgbClr val="FFFFFF"/>
                </a:solidFill>
                <a:latin typeface="Courier New" pitchFamily="34" charset="0"/>
                <a:ea typeface="Courier New" pitchFamily="34" charset="-122"/>
                <a:cs typeface="Courier New" pitchFamily="34" charset="-120"/>
              </a:rPr>
              <a:t>spanning-tree mode rapid-pvst</a:t>
            </a:r>
            <a:endParaRPr lang="en-US" sz="1200" dirty="0"/>
          </a:p>
        </p:txBody>
      </p:sp>
      <p:sp>
        <p:nvSpPr>
          <p:cNvPr id="9" name="Reveal 01 meaning"/>
          <p:cNvSpPr/>
          <p:nvPr/>
        </p:nvSpPr>
        <p:spPr>
          <a:xfrm>
            <a:off x="6720840" y="1993392"/>
            <a:ext cx="4922215" cy="543809"/>
          </a:xfrm>
          <a:prstGeom prst="rect">
            <a:avLst/>
          </a:prstGeom>
          <a:solidFill>
            <a:srgbClr val="F2F8F3"/>
          </a:solidFill>
          <a:ln/>
        </p:spPr>
        <p:txBody>
          <a:bodyPr wrap="square" lIns="109728" tIns="45720" rIns="109728" bIns="45720" rtlCol="0" anchor="ctr"/>
          <a:lstStyle/>
          <a:p>
            <a:pPr indent="0" marL="0">
              <a:buNone/>
            </a:pPr>
            <a:r>
              <a:rPr lang="en-US" sz="1400" dirty="0">
                <a:solidFill>
                  <a:srgbClr val="2B2B2B"/>
                </a:solidFill>
              </a:rPr>
              <a:t>Use Rapid PVST+: it recovers in about 1–2 s instead of 30–50 s. Type it on every switch.</a:t>
            </a:r>
            <a:endParaRPr lang="en-US" sz="1400" dirty="0"/>
          </a:p>
        </p:txBody>
      </p:sp>
      <p:sp>
        <p:nvSpPr>
          <p:cNvPr id="10" name="Command 02"/>
          <p:cNvSpPr/>
          <p:nvPr/>
        </p:nvSpPr>
        <p:spPr>
          <a:xfrm>
            <a:off x="548640" y="2555489"/>
            <a:ext cx="6153912" cy="54380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S1(config)# </a:t>
            </a:r>
            <a:r>
              <a:rPr lang="en-US" sz="1200" b="1" dirty="0">
                <a:solidFill>
                  <a:srgbClr val="FFFFFF"/>
                </a:solidFill>
                <a:latin typeface="Courier New" pitchFamily="34" charset="0"/>
                <a:ea typeface="Courier New" pitchFamily="34" charset="-122"/>
                <a:cs typeface="Courier New" pitchFamily="34" charset="-120"/>
              </a:rPr>
              <a:t>spanning-tree vlan 1,10,20 root primary</a:t>
            </a:r>
            <a:endParaRPr lang="en-US" sz="1200" dirty="0"/>
          </a:p>
        </p:txBody>
      </p:sp>
      <p:sp>
        <p:nvSpPr>
          <p:cNvPr id="11" name="Reveal 02 meaning"/>
          <p:cNvSpPr/>
          <p:nvPr/>
        </p:nvSpPr>
        <p:spPr>
          <a:xfrm>
            <a:off x="6720840" y="2555489"/>
            <a:ext cx="4922215" cy="543809"/>
          </a:xfrm>
          <a:prstGeom prst="rect">
            <a:avLst/>
          </a:prstGeom>
          <a:solidFill>
            <a:srgbClr val="FFFFFF"/>
          </a:solidFill>
          <a:ln/>
        </p:spPr>
        <p:txBody>
          <a:bodyPr wrap="square" lIns="109728" tIns="45720" rIns="109728" bIns="45720" rtlCol="0" anchor="ctr"/>
          <a:lstStyle/>
          <a:p>
            <a:pPr indent="0" marL="0">
              <a:buNone/>
            </a:pPr>
            <a:r>
              <a:rPr lang="en-US" sz="1400" dirty="0">
                <a:solidFill>
                  <a:srgbClr val="2B2B2B"/>
                </a:solidFill>
              </a:rPr>
              <a:t>Make S1 the root bridge for these VLANs (priority 24576) — your choice, not luck.</a:t>
            </a:r>
            <a:endParaRPr lang="en-US" sz="1400" dirty="0"/>
          </a:p>
        </p:txBody>
      </p:sp>
      <p:sp>
        <p:nvSpPr>
          <p:cNvPr id="12" name="Command 03"/>
          <p:cNvSpPr/>
          <p:nvPr/>
        </p:nvSpPr>
        <p:spPr>
          <a:xfrm>
            <a:off x="548640" y="3117586"/>
            <a:ext cx="6153912" cy="326768"/>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S2(config)# </a:t>
            </a:r>
            <a:r>
              <a:rPr lang="en-US" sz="1200" b="1" dirty="0">
                <a:solidFill>
                  <a:srgbClr val="FFFFFF"/>
                </a:solidFill>
                <a:latin typeface="Courier New" pitchFamily="34" charset="0"/>
                <a:ea typeface="Courier New" pitchFamily="34" charset="-122"/>
                <a:cs typeface="Courier New" pitchFamily="34" charset="-120"/>
              </a:rPr>
              <a:t>spanning-tree vlan 1,10,20 root secondary</a:t>
            </a:r>
            <a:endParaRPr lang="en-US" sz="1200" dirty="0"/>
          </a:p>
        </p:txBody>
      </p:sp>
      <p:sp>
        <p:nvSpPr>
          <p:cNvPr id="13" name="Reveal 03 meaning"/>
          <p:cNvSpPr/>
          <p:nvPr/>
        </p:nvSpPr>
        <p:spPr>
          <a:xfrm>
            <a:off x="6720840" y="3117586"/>
            <a:ext cx="4922215" cy="326768"/>
          </a:xfrm>
          <a:prstGeom prst="rect">
            <a:avLst/>
          </a:prstGeom>
          <a:solidFill>
            <a:srgbClr val="F2F8F3"/>
          </a:solidFill>
          <a:ln/>
        </p:spPr>
        <p:txBody>
          <a:bodyPr wrap="square" lIns="109728" tIns="45720" rIns="109728" bIns="45720" rtlCol="0" anchor="ctr"/>
          <a:lstStyle/>
          <a:p>
            <a:pPr indent="0" marL="0">
              <a:buNone/>
            </a:pPr>
            <a:r>
              <a:rPr lang="en-US" sz="1400" dirty="0">
                <a:solidFill>
                  <a:srgbClr val="2B2B2B"/>
                </a:solidFill>
              </a:rPr>
              <a:t>S2 takes over as root if S1 fails (priority 28672).</a:t>
            </a:r>
            <a:endParaRPr lang="en-US" sz="1400" dirty="0"/>
          </a:p>
        </p:txBody>
      </p:sp>
      <p:sp>
        <p:nvSpPr>
          <p:cNvPr id="14" name="Command 04"/>
          <p:cNvSpPr/>
          <p:nvPr/>
        </p:nvSpPr>
        <p:spPr>
          <a:xfrm>
            <a:off x="548640" y="3462642"/>
            <a:ext cx="6153912" cy="54380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S3(config)# </a:t>
            </a:r>
            <a:r>
              <a:rPr lang="en-US" sz="1200" b="1" dirty="0">
                <a:solidFill>
                  <a:srgbClr val="FFFFFF"/>
                </a:solidFill>
                <a:latin typeface="Courier New" pitchFamily="34" charset="0"/>
                <a:ea typeface="Courier New" pitchFamily="34" charset="-122"/>
                <a:cs typeface="Courier New" pitchFamily="34" charset="-120"/>
              </a:rPr>
              <a:t>interface fa0/10</a:t>
            </a:r>
            <a:endParaRPr lang="en-US" sz="1200" dirty="0"/>
          </a:p>
          <a:p>
            <a:pPr indent="0" marL="0">
              <a:buNone/>
            </a:pPr>
            <a:r>
              <a:rPr lang="en-US" sz="1200" dirty="0">
                <a:solidFill>
                  <a:srgbClr val="8FC9A0"/>
                </a:solidFill>
                <a:latin typeface="Courier New" pitchFamily="34" charset="0"/>
                <a:ea typeface="Courier New" pitchFamily="34" charset="-122"/>
                <a:cs typeface="Courier New" pitchFamily="34" charset="-120"/>
              </a:rPr>
              <a:t>S3(config-if)# </a:t>
            </a:r>
            <a:r>
              <a:rPr lang="en-US" sz="1200" b="1" dirty="0">
                <a:solidFill>
                  <a:srgbClr val="FFFFFF"/>
                </a:solidFill>
                <a:latin typeface="Courier New" pitchFamily="34" charset="0"/>
                <a:ea typeface="Courier New" pitchFamily="34" charset="-122"/>
                <a:cs typeface="Courier New" pitchFamily="34" charset="-120"/>
              </a:rPr>
              <a:t>spanning-tree portfast</a:t>
            </a:r>
            <a:endParaRPr lang="en-US" sz="1200" dirty="0"/>
          </a:p>
        </p:txBody>
      </p:sp>
      <p:sp>
        <p:nvSpPr>
          <p:cNvPr id="15" name="Reveal 04 meaning"/>
          <p:cNvSpPr/>
          <p:nvPr/>
        </p:nvSpPr>
        <p:spPr>
          <a:xfrm>
            <a:off x="6720840" y="3462642"/>
            <a:ext cx="4922215" cy="543809"/>
          </a:xfrm>
          <a:prstGeom prst="rect">
            <a:avLst/>
          </a:prstGeom>
          <a:solidFill>
            <a:srgbClr val="FFFFFF"/>
          </a:solidFill>
          <a:ln/>
        </p:spPr>
        <p:txBody>
          <a:bodyPr wrap="square" lIns="109728" tIns="45720" rIns="109728" bIns="45720" rtlCol="0" anchor="ctr"/>
          <a:lstStyle/>
          <a:p>
            <a:pPr indent="0" marL="0">
              <a:buNone/>
            </a:pPr>
            <a:r>
              <a:rPr lang="en-US" sz="1400" dirty="0">
                <a:solidFill>
                  <a:srgbClr val="2B2B2B"/>
                </a:solidFill>
              </a:rPr>
              <a:t>The PC port starts forwarding at once — no 30-second wait. Only on ports to end devices!</a:t>
            </a:r>
            <a:endParaRPr lang="en-US" sz="1400" dirty="0"/>
          </a:p>
        </p:txBody>
      </p:sp>
      <p:sp>
        <p:nvSpPr>
          <p:cNvPr id="16" name="Command 05"/>
          <p:cNvSpPr/>
          <p:nvPr/>
        </p:nvSpPr>
        <p:spPr>
          <a:xfrm>
            <a:off x="548640" y="4024739"/>
            <a:ext cx="6153912" cy="54380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S3(config-if)# </a:t>
            </a:r>
            <a:r>
              <a:rPr lang="en-US" sz="1200" b="1" dirty="0">
                <a:solidFill>
                  <a:srgbClr val="FFFFFF"/>
                </a:solidFill>
                <a:latin typeface="Courier New" pitchFamily="34" charset="0"/>
                <a:ea typeface="Courier New" pitchFamily="34" charset="-122"/>
                <a:cs typeface="Courier New" pitchFamily="34" charset="-120"/>
              </a:rPr>
              <a:t>spanning-tree bpduguard enable</a:t>
            </a:r>
            <a:endParaRPr lang="en-US" sz="1200" dirty="0"/>
          </a:p>
        </p:txBody>
      </p:sp>
      <p:sp>
        <p:nvSpPr>
          <p:cNvPr id="17" name="Reveal 05 meaning"/>
          <p:cNvSpPr/>
          <p:nvPr/>
        </p:nvSpPr>
        <p:spPr>
          <a:xfrm>
            <a:off x="6720840" y="4024739"/>
            <a:ext cx="4922215" cy="543809"/>
          </a:xfrm>
          <a:prstGeom prst="rect">
            <a:avLst/>
          </a:prstGeom>
          <a:solidFill>
            <a:srgbClr val="F2F8F3"/>
          </a:solidFill>
          <a:ln/>
        </p:spPr>
        <p:txBody>
          <a:bodyPr wrap="square" lIns="109728" tIns="45720" rIns="109728" bIns="45720" rtlCol="0" anchor="ctr"/>
          <a:lstStyle/>
          <a:p>
            <a:pPr indent="0" marL="0">
              <a:buNone/>
            </a:pPr>
            <a:r>
              <a:rPr lang="en-US" sz="1400" dirty="0">
                <a:solidFill>
                  <a:srgbClr val="2B2B2B"/>
                </a:solidFill>
              </a:rPr>
              <a:t>If someone plugs a switch into this PC port, the port shuts down (err-disabled) before a loop forms.</a:t>
            </a:r>
            <a:endParaRPr lang="en-US" sz="1400" dirty="0"/>
          </a:p>
        </p:txBody>
      </p:sp>
      <p:sp>
        <p:nvSpPr>
          <p:cNvPr id="18" name="Reveal 99 check box"/>
          <p:cNvSpPr/>
          <p:nvPr/>
        </p:nvSpPr>
        <p:spPr>
          <a:xfrm>
            <a:off x="548640" y="5504688"/>
            <a:ext cx="5410048" cy="749808"/>
          </a:xfrm>
          <a:prstGeom prst="roundRect">
            <a:avLst>
              <a:gd name="adj" fmla="val 9756"/>
            </a:avLst>
          </a:prstGeom>
          <a:solidFill>
            <a:srgbClr val="E8F1EA"/>
          </a:solidFill>
          <a:ln w="12700">
            <a:solidFill>
              <a:srgbClr val="B7C9BA"/>
            </a:solidFill>
            <a:prstDash val="solid"/>
          </a:ln>
        </p:spPr>
      </p:sp>
      <p:pic>
        <p:nvPicPr>
          <p:cNvPr id="19" name="Reveal 99 check icon" descr="Check it:">    </p:cNvPr>
          <p:cNvPicPr>
            <a:picLocks noChangeAspect="1"/>
          </p:cNvPicPr>
          <p:nvPr/>
        </p:nvPicPr>
        <p:blipFill>
          <a:blip r:embed="rId3"/>
          <a:stretch>
            <a:fillRect/>
          </a:stretch>
        </p:blipFill>
        <p:spPr>
          <a:xfrm>
            <a:off x="694944" y="5733288"/>
            <a:ext cx="292608" cy="292608"/>
          </a:xfrm>
          <a:prstGeom prst="rect">
            <a:avLst/>
          </a:prstGeom>
        </p:spPr>
      </p:pic>
      <p:sp>
        <p:nvSpPr>
          <p:cNvPr id="20" name="Reveal 99 check text"/>
          <p:cNvSpPr txBox="1"/>
          <p:nvPr/>
        </p:nvSpPr>
        <p:spPr>
          <a:xfrm>
            <a:off x="1097280" y="5541264"/>
            <a:ext cx="4751680" cy="676656"/>
          </a:xfrm>
          <a:prstGeom prst="rect">
            <a:avLst/>
          </a:prstGeom>
          <a:noFill/>
          <a:ln/>
        </p:spPr>
        <p:txBody>
          <a:bodyPr wrap="square" lIns="0" tIns="0" rIns="0" bIns="0" rtlCol="0" anchor="ctr"/>
          <a:lstStyle/>
          <a:p>
            <a:pPr indent="0" marL="0">
              <a:buNone/>
            </a:pPr>
            <a:r>
              <a:rPr lang="en-US" sz="1400" b="1" dirty="0">
                <a:solidFill>
                  <a:srgbClr val="1E5631"/>
                </a:solidFill>
              </a:rPr>
              <a:t>Check it:  </a:t>
            </a:r>
            <a:r>
              <a:rPr lang="en-US" sz="1300" b="1" dirty="0">
                <a:solidFill>
                  <a:srgbClr val="1E5631"/>
                </a:solidFill>
                <a:latin typeface="Courier New" pitchFamily="34" charset="0"/>
                <a:ea typeface="Courier New" pitchFamily="34" charset="-122"/>
                <a:cs typeface="Courier New" pitchFamily="34" charset="-120"/>
              </a:rPr>
              <a:t>show spanning-tree vlan 10</a:t>
            </a:r>
            <a:r>
              <a:rPr lang="en-US" sz="1400" dirty="0">
                <a:solidFill>
                  <a:srgbClr val="2B2B2B"/>
                </a:solidFill>
              </a:rPr>
              <a:t> on S1 says “This bridge is the root”.</a:t>
            </a:r>
            <a:endParaRPr lang="en-US" sz="1400" dirty="0"/>
          </a:p>
        </p:txBody>
      </p:sp>
      <p:sp>
        <p:nvSpPr>
          <p:cNvPr id="21" name="Reveal 99 watch box"/>
          <p:cNvSpPr/>
          <p:nvPr/>
        </p:nvSpPr>
        <p:spPr>
          <a:xfrm>
            <a:off x="6233008" y="5504688"/>
            <a:ext cx="5410048" cy="749808"/>
          </a:xfrm>
          <a:prstGeom prst="roundRect">
            <a:avLst>
              <a:gd name="adj" fmla="val 9756"/>
            </a:avLst>
          </a:prstGeom>
          <a:solidFill>
            <a:srgbClr val="FBEAEA"/>
          </a:solidFill>
          <a:ln w="12700">
            <a:solidFill>
              <a:srgbClr val="E9B8B5"/>
            </a:solidFill>
            <a:prstDash val="solid"/>
          </a:ln>
        </p:spPr>
      </p:sp>
      <p:pic>
        <p:nvPicPr>
          <p:cNvPr id="22" name="Reveal 99 watch icon" descr="Watch out:">    </p:cNvPr>
          <p:cNvPicPr>
            <a:picLocks noChangeAspect="1"/>
          </p:cNvPicPr>
          <p:nvPr/>
        </p:nvPicPr>
        <p:blipFill>
          <a:blip r:embed="rId4"/>
          <a:stretch>
            <a:fillRect/>
          </a:stretch>
        </p:blipFill>
        <p:spPr>
          <a:xfrm>
            <a:off x="6379312" y="5733288"/>
            <a:ext cx="292608" cy="292608"/>
          </a:xfrm>
          <a:prstGeom prst="rect">
            <a:avLst/>
          </a:prstGeom>
        </p:spPr>
      </p:pic>
      <p:sp>
        <p:nvSpPr>
          <p:cNvPr id="23" name="Reveal 99 watch text"/>
          <p:cNvSpPr txBox="1"/>
          <p:nvPr/>
        </p:nvSpPr>
        <p:spPr>
          <a:xfrm>
            <a:off x="6781648" y="5541264"/>
            <a:ext cx="4751680" cy="676656"/>
          </a:xfrm>
          <a:prstGeom prst="rect">
            <a:avLst/>
          </a:prstGeom>
          <a:noFill/>
          <a:ln/>
        </p:spPr>
        <p:txBody>
          <a:bodyPr wrap="square" lIns="0" tIns="0" rIns="0" bIns="0" rtlCol="0" anchor="ctr"/>
          <a:lstStyle/>
          <a:p>
            <a:pPr indent="0" marL="0">
              <a:buNone/>
            </a:pPr>
            <a:r>
              <a:rPr lang="en-US" sz="1400" b="1" dirty="0">
                <a:solidFill>
                  <a:srgbClr val="8B1A1A"/>
                </a:solidFill>
              </a:rPr>
              <a:t>Watch out:  </a:t>
            </a:r>
            <a:r>
              <a:rPr lang="en-US" sz="1400" dirty="0">
                <a:solidFill>
                  <a:srgbClr val="2B2B2B"/>
                </a:solidFill>
              </a:rPr>
              <a:t>Never use PortFast on a port that connects to another switch — it can create a temporary loop.</a:t>
            </a:r>
            <a:endParaRPr lang="en-US" sz="1400" dirty="0"/>
          </a:p>
        </p:txBody>
      </p:sp>
      <p:sp>
        <p:nvSpPr>
          <p:cNvPr id="25" name="Slide Number Placeholder 0"/>
          <p:cNvSpPr>
            <a:spLocks noGrp="1"/>
          </p:cNvSpPr>
          <p:nvPr>
            <p:ph type="sldNum" sz="quarter" idx="4294967295"/>
          </p:nvPr>
        </p:nvSpPr>
        <p:spPr>
          <a:xfrm>
            <a:off x="10698480" y="6464808"/>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r"/>
            <a:fld id="{F7021451-1387-4CA6-816F-3879F97B5CBC}" type="slidenum">
              <a:rPr b="0" lang="en-US"/>
              <a:t>71</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4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0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400"/>
                                        <p:tgtEl>
                                          <p:spTgt spid="1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400"/>
                                        <p:tgtEl>
                                          <p:spTgt spid="1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fade">
                                      <p:cBhvr>
                                        <p:cTn id="38" dur="400"/>
                                        <p:tgtEl>
                                          <p:spTgt spid="20"/>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fade">
                                      <p:cBhvr>
                                        <p:cTn id="41" dur="400"/>
                                        <p:tgtEl>
                                          <p:spTgt spid="21"/>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fade">
                                      <p:cBhvr>
                                        <p:cTn id="44" dur="400"/>
                                        <p:tgtEl>
                                          <p:spTgt spid="22"/>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3" grpId="0" animBg="1"/>
      <p:bldP spid="15" grpId="0" animBg="1"/>
      <p:bldP spid="17" grpId="0" animBg="1"/>
      <p:bldP spid="18" grpId="0" animBg="1"/>
      <p:bldP spid="20" grpId="0" animBg="1"/>
      <p:bldP spid="21" grpId="0" animBg="1"/>
      <p:bldP spid="23"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1"/>
          <p:cNvSpPr/>
          <p:nvPr>
            <p:ph idx="102" type="body" hasCustomPrompt="1"/>
          </p:nvPr>
        </p:nvSpPr>
        <p:spPr>
          <a:xfrm>
            <a:off x="548640" y="274320"/>
            <a:ext cx="9966960" cy="256032"/>
          </a:xfrm>
          <a:prstGeom prst="rect">
            <a:avLst/>
          </a:prstGeom>
          <a:noFill/>
          <a:ln/>
        </p:spPr>
        <p:txBody>
          <a:bodyPr wrap="square" lIns="0" tIns="0" rIns="0" bIns="0" rtlCol="0" anchor="ctr"/>
          <a:lstStyle/>
          <a:p>
            <a:pPr algn="l" indent="0" marL="0">
              <a:buNone/>
            </a:pPr>
            <a:r>
              <a:rPr lang="en-US" sz="1100" b="1" spc="100" kern="0" dirty="0">
                <a:solidFill>
                  <a:schemeClr val="accent2"/>
                </a:solidFill>
              </a:rPr>
              <a:t>09  •  STP &amp; ETHERCHANNEL  •  LAB 7</a:t>
            </a:r>
            <a:endParaRPr lang="en-US" sz="1100" dirty="0"/>
          </a:p>
        </p:txBody>
      </p:sp>
      <p:sp>
        <p:nvSpPr>
          <p:cNvPr id="3" name="Text 1"/>
          <p:cNvSpPr/>
          <p:nvPr>
            <p:ph idx="103" type="title" hasCustomPrompt="1"/>
          </p:nvPr>
        </p:nvSpPr>
        <p:spPr>
          <a:xfrm>
            <a:off x="548640" y="548640"/>
            <a:ext cx="10149840" cy="548640"/>
          </a:xfrm>
          <a:prstGeom prst="rect">
            <a:avLst/>
          </a:prstGeom>
          <a:noFill/>
          <a:ln/>
        </p:spPr>
        <p:txBody>
          <a:bodyPr wrap="square" lIns="0" tIns="0" rIns="0" bIns="0" rtlCol="0" anchor="ctr"/>
          <a:lstStyle/>
          <a:p>
            <a:pPr algn="l" indent="0" marL="0">
              <a:buNone/>
            </a:pPr>
            <a:r>
              <a:rPr lang="en-US" sz="2600" b="1" dirty="0">
                <a:solidFill>
                  <a:schemeClr val="accent1"/>
                </a:solidFill>
              </a:rPr>
              <a:t>How to read show spanning-tree</a:t>
            </a:r>
            <a:endParaRPr lang="en-US" sz="2600" dirty="0"/>
          </a:p>
        </p:txBody>
      </p:sp>
      <p:pic>
        <p:nvPicPr>
          <p:cNvPr id="4" name="Home button" descr="Home: back to the workbook menu">
            <a:hlinkClick r:id="rId2" tooltip="Back to the workbook menu" action="ppaction://hlinksldjump"/>
          </p:cNvPr>
          <p:cNvPicPr>
            <a:picLocks noChangeAspect="1"/>
          </p:cNvPicPr>
          <p:nvPr/>
        </p:nvPicPr>
        <p:blipFill>
          <a:blip r:embed="rId1"/>
          <a:stretch>
            <a:fillRect/>
          </a:stretch>
        </p:blipFill>
        <p:spPr>
          <a:xfrm>
            <a:off x="11365992" y="6336792"/>
            <a:ext cx="365760" cy="365760"/>
          </a:xfrm>
          <a:prstGeom prst="rect">
            <a:avLst/>
          </a:prstGeom>
        </p:spPr>
      </p:pic>
      <p:sp>
        <p:nvSpPr>
          <p:cNvPr id="5" name="Goal"/>
          <p:cNvSpPr txBox="1"/>
          <p:nvPr/>
        </p:nvSpPr>
        <p:spPr>
          <a:xfrm>
            <a:off x="548640" y="1161288"/>
            <a:ext cx="11094415" cy="384048"/>
          </a:xfrm>
          <a:prstGeom prst="rect">
            <a:avLst/>
          </a:prstGeom>
          <a:noFill/>
          <a:ln/>
        </p:spPr>
        <p:txBody>
          <a:bodyPr wrap="square" lIns="0" tIns="0" rIns="0" bIns="0" rtlCol="0" anchor="ctr"/>
          <a:lstStyle/>
          <a:p>
            <a:pPr indent="0" marL="0">
              <a:buNone/>
            </a:pPr>
            <a:r>
              <a:rPr lang="en-US" sz="1400" b="1" dirty="0">
                <a:solidFill>
                  <a:srgbClr val="2B7043"/>
                </a:solidFill>
              </a:rPr>
              <a:t>Goal:  </a:t>
            </a:r>
            <a:r>
              <a:rPr lang="en-US" sz="1400" dirty="0">
                <a:solidFill>
                  <a:srgbClr val="2B2B2B"/>
                </a:solidFill>
              </a:rPr>
              <a:t>Find the root, the blocked port and the edge port from one output — then prove that failover works.</a:t>
            </a:r>
            <a:endParaRPr lang="en-US" sz="1400" dirty="0"/>
          </a:p>
        </p:txBody>
      </p:sp>
      <p:sp>
        <p:nvSpPr>
          <p:cNvPr id="6" name="Terminal window"/>
          <p:cNvSpPr/>
          <p:nvPr/>
        </p:nvSpPr>
        <p:spPr>
          <a:xfrm>
            <a:off x="548640" y="1664208"/>
            <a:ext cx="6720840" cy="4553712"/>
          </a:xfrm>
          <a:prstGeom prst="roundRect">
            <a:avLst>
              <a:gd name="adj" fmla="val 1606"/>
            </a:avLst>
          </a:prstGeom>
          <a:solidFill>
            <a:srgbClr val="1B2B22"/>
          </a:solidFill>
          <a:ln w="6350">
            <a:solidFill>
              <a:srgbClr val="1B2B22"/>
            </a:solidFill>
            <a:prstDash val="solid"/>
          </a:ln>
        </p:spPr>
      </p:sp>
      <p:sp>
        <p:nvSpPr>
          <p:cNvPr id="7" name="Shape 4"/>
          <p:cNvSpPr/>
          <p:nvPr/>
        </p:nvSpPr>
        <p:spPr>
          <a:xfrm>
            <a:off x="713232" y="1783080"/>
            <a:ext cx="109728" cy="109728"/>
          </a:xfrm>
          <a:prstGeom prst="ellipse">
            <a:avLst/>
          </a:prstGeom>
          <a:solidFill>
            <a:srgbClr val="E0605A"/>
          </a:solidFill>
          <a:ln/>
        </p:spPr>
      </p:sp>
      <p:sp>
        <p:nvSpPr>
          <p:cNvPr id="8" name="Shape 5"/>
          <p:cNvSpPr/>
          <p:nvPr/>
        </p:nvSpPr>
        <p:spPr>
          <a:xfrm>
            <a:off x="896112" y="1783080"/>
            <a:ext cx="109728" cy="109728"/>
          </a:xfrm>
          <a:prstGeom prst="ellipse">
            <a:avLst/>
          </a:prstGeom>
          <a:solidFill>
            <a:srgbClr val="E8B92E"/>
          </a:solidFill>
          <a:ln/>
        </p:spPr>
      </p:sp>
      <p:sp>
        <p:nvSpPr>
          <p:cNvPr id="9" name="Shape 6"/>
          <p:cNvSpPr/>
          <p:nvPr/>
        </p:nvSpPr>
        <p:spPr>
          <a:xfrm>
            <a:off x="1078992" y="1783080"/>
            <a:ext cx="109728" cy="109728"/>
          </a:xfrm>
          <a:prstGeom prst="ellipse">
            <a:avLst/>
          </a:prstGeom>
          <a:solidFill>
            <a:srgbClr val="4CAF50"/>
          </a:solidFill>
          <a:ln/>
        </p:spPr>
      </p:sp>
      <p:sp>
        <p:nvSpPr>
          <p:cNvPr id="10" name="Text 7"/>
          <p:cNvSpPr txBox="1"/>
          <p:nvPr/>
        </p:nvSpPr>
        <p:spPr>
          <a:xfrm>
            <a:off x="1325880" y="1709928"/>
            <a:ext cx="5806440" cy="256032"/>
          </a:xfrm>
          <a:prstGeom prst="rect">
            <a:avLst/>
          </a:prstGeom>
          <a:noFill/>
          <a:ln/>
        </p:spPr>
        <p:txBody>
          <a:bodyPr wrap="square" lIns="0" tIns="0" rIns="0" bIns="0" rtlCol="0" anchor="ctr"/>
          <a:lstStyle/>
          <a:p>
            <a:pPr indent="0" marL="0">
              <a:buNone/>
            </a:pPr>
            <a:r>
              <a:rPr lang="en-US" sz="1100" b="1" dirty="0">
                <a:solidFill>
                  <a:srgbClr val="C9D6CC"/>
                </a:solidFill>
              </a:rPr>
              <a:t>S3  ›  CLI</a:t>
            </a:r>
            <a:endParaRPr lang="en-US" sz="1100" dirty="0"/>
          </a:p>
        </p:txBody>
      </p:sp>
      <p:sp>
        <p:nvSpPr>
          <p:cNvPr id="11" name="Terminal text"/>
          <p:cNvSpPr txBox="1"/>
          <p:nvPr/>
        </p:nvSpPr>
        <p:spPr>
          <a:xfrm>
            <a:off x="731520" y="2048256"/>
            <a:ext cx="6400800" cy="4078224"/>
          </a:xfrm>
          <a:prstGeom prst="rect">
            <a:avLst/>
          </a:prstGeom>
          <a:noFill/>
          <a:ln/>
        </p:spPr>
        <p:txBody>
          <a:bodyPr wrap="square" lIns="0" tIns="0" rIns="0" bIns="0" rtlCol="0" anchor="t"/>
          <a:lstStyle/>
          <a:p>
            <a:pPr indent="0" marL="0">
              <a:lnSpc>
                <a:spcPct val="100000"/>
              </a:lnSpc>
              <a:buNone/>
            </a:pPr>
            <a:r>
              <a:rPr lang="en-US" sz="1100" dirty="0">
                <a:solidFill>
                  <a:srgbClr val="8FC9A0"/>
                </a:solidFill>
                <a:latin typeface="Courier New" pitchFamily="34" charset="0"/>
                <a:ea typeface="Courier New" pitchFamily="34" charset="-122"/>
                <a:cs typeface="Courier New" pitchFamily="34" charset="-120"/>
              </a:rPr>
              <a:t>S3# </a:t>
            </a:r>
            <a:r>
              <a:rPr lang="en-US" sz="1100" b="1" dirty="0">
                <a:solidFill>
                  <a:srgbClr val="FFFFFF"/>
                </a:solidFill>
                <a:latin typeface="Courier New" pitchFamily="34" charset="0"/>
                <a:ea typeface="Courier New" pitchFamily="34" charset="-122"/>
                <a:cs typeface="Courier New" pitchFamily="34" charset="-120"/>
              </a:rPr>
              <a:t>show spanning-tree vlan 10</a:t>
            </a:r>
            <a:endParaRPr lang="en-US" sz="1100" dirty="0"/>
          </a:p>
          <a:p>
            <a:pPr indent="0" marL="0">
              <a:lnSpc>
                <a:spcPct val="100000"/>
              </a:lnSpc>
              <a:buNone/>
            </a:pPr>
            <a:r>
              <a:rPr lang="en-US" sz="1100" dirty="0">
                <a:solidFill>
                  <a:srgbClr val="D5E2D8"/>
                </a:solidFill>
                <a:latin typeface="Courier New" pitchFamily="34" charset="0"/>
                <a:ea typeface="Courier New" pitchFamily="34" charset="-122"/>
                <a:cs typeface="Courier New" pitchFamily="34" charset="-120"/>
              </a:rPr>
              <a:t>VLAN0010</a:t>
            </a:r>
            <a:endParaRPr lang="en-US" sz="1100" dirty="0"/>
          </a:p>
          <a:p>
            <a:pPr indent="0" marL="0">
              <a:lnSpc>
                <a:spcPct val="100000"/>
              </a:lnSpc>
              <a:buNone/>
            </a:pPr>
            <a:r>
              <a:rPr lang="en-US" sz="1100" dirty="0">
                <a:solidFill>
                  <a:srgbClr val="D5E2D8"/>
                </a:solidFill>
                <a:latin typeface="Courier New" pitchFamily="34" charset="0"/>
                <a:ea typeface="Courier New" pitchFamily="34" charset="-122"/>
                <a:cs typeface="Courier New" pitchFamily="34" charset="-120"/>
              </a:rPr>
              <a:t>  Spanning tree enabled protocol rstp</a:t>
            </a:r>
            <a:endParaRPr lang="en-US" sz="1100" dirty="0"/>
          </a:p>
          <a:p>
            <a:pPr indent="0" marL="0">
              <a:lnSpc>
                <a:spcPct val="100000"/>
              </a:lnSpc>
              <a:buNone/>
            </a:pPr>
            <a:r>
              <a:rPr lang="en-US" sz="1100" dirty="0">
                <a:solidFill>
                  <a:srgbClr val="D5E2D8"/>
                </a:solidFill>
                <a:latin typeface="Courier New" pitchFamily="34" charset="0"/>
                <a:ea typeface="Courier New" pitchFamily="34" charset="-122"/>
                <a:cs typeface="Courier New" pitchFamily="34" charset="-120"/>
              </a:rPr>
              <a:t>  Root ID    Priority    </a:t>
            </a:r>
            <a:r>
              <a:rPr lang="en-US" sz="1100" b="1" dirty="0">
                <a:solidFill>
                  <a:srgbClr val="E8B92E"/>
                </a:solidFill>
                <a:latin typeface="Courier New" pitchFamily="34" charset="0"/>
                <a:ea typeface="Courier New" pitchFamily="34" charset="-122"/>
                <a:cs typeface="Courier New" pitchFamily="34" charset="-120"/>
              </a:rPr>
              <a:t>24586</a:t>
            </a:r>
            <a:endParaRPr lang="en-US" sz="1100" dirty="0"/>
          </a:p>
          <a:p>
            <a:pPr indent="0" marL="0">
              <a:lnSpc>
                <a:spcPct val="100000"/>
              </a:lnSpc>
              <a:buNone/>
            </a:pPr>
            <a:r>
              <a:rPr lang="en-US" sz="1100" dirty="0">
                <a:solidFill>
                  <a:srgbClr val="D5E2D8"/>
                </a:solidFill>
                <a:latin typeface="Courier New" pitchFamily="34" charset="0"/>
                <a:ea typeface="Courier New" pitchFamily="34" charset="-122"/>
                <a:cs typeface="Courier New" pitchFamily="34" charset="-120"/>
              </a:rPr>
              <a:t>             Address     0001.4295.A7C1</a:t>
            </a:r>
            <a:endParaRPr lang="en-US" sz="1100" dirty="0"/>
          </a:p>
          <a:p>
            <a:pPr indent="0" marL="0">
              <a:lnSpc>
                <a:spcPct val="100000"/>
              </a:lnSpc>
              <a:buNone/>
            </a:pPr>
            <a:r>
              <a:rPr lang="en-US" sz="1100" dirty="0">
                <a:solidFill>
                  <a:srgbClr val="D5E2D8"/>
                </a:solidFill>
                <a:latin typeface="Courier New" pitchFamily="34" charset="0"/>
                <a:ea typeface="Courier New" pitchFamily="34" charset="-122"/>
                <a:cs typeface="Courier New" pitchFamily="34" charset="-120"/>
              </a:rPr>
              <a:t>             Cost        19</a:t>
            </a:r>
            <a:endParaRPr lang="en-US" sz="1100" dirty="0"/>
          </a:p>
          <a:p>
            <a:pPr indent="0" marL="0">
              <a:lnSpc>
                <a:spcPct val="100000"/>
              </a:lnSpc>
              <a:buNone/>
            </a:pPr>
            <a:r>
              <a:rPr lang="en-US" sz="1100" dirty="0">
                <a:solidFill>
                  <a:srgbClr val="D5E2D8"/>
                </a:solidFill>
                <a:latin typeface="Courier New" pitchFamily="34" charset="0"/>
                <a:ea typeface="Courier New" pitchFamily="34" charset="-122"/>
                <a:cs typeface="Courier New" pitchFamily="34" charset="-120"/>
              </a:rPr>
              <a:t>             Port        3(FastEthernet0/3)</a:t>
            </a:r>
            <a:endParaRPr lang="en-US" sz="1100" dirty="0"/>
          </a:p>
          <a:p>
            <a:pPr indent="0" marL="0">
              <a:lnSpc>
                <a:spcPct val="100000"/>
              </a:lnSpc>
              <a:buNone/>
            </a:pPr>
            <a:r>
              <a:rPr lang="en-US" sz="1100" dirty="0">
                <a:solidFill>
                  <a:srgbClr val="D5E2D8"/>
                </a:solidFill>
                <a:latin typeface="Courier New" pitchFamily="34" charset="0"/>
                <a:ea typeface="Courier New" pitchFamily="34" charset="-122"/>
                <a:cs typeface="Courier New" pitchFamily="34" charset="-120"/>
              </a:rPr>
              <a:t>  Bridge ID  Priority    32778</a:t>
            </a:r>
            <a:endParaRPr lang="en-US" sz="1100" dirty="0"/>
          </a:p>
          <a:p>
            <a:pPr indent="0" marL="0">
              <a:lnSpc>
                <a:spcPct val="100000"/>
              </a:lnSpc>
              <a:buNone/>
            </a:pPr>
            <a:r>
              <a:rPr lang="en-US" sz="1100" dirty="0">
                <a:solidFill>
                  <a:srgbClr val="D5E2D8"/>
                </a:solidFill>
                <a:latin typeface="Courier New" pitchFamily="34" charset="0"/>
                <a:ea typeface="Courier New" pitchFamily="34" charset="-122"/>
                <a:cs typeface="Courier New" pitchFamily="34" charset="-120"/>
              </a:rPr>
              <a:t> </a:t>
            </a:r>
            <a:endParaRPr lang="en-US" sz="1100" dirty="0"/>
          </a:p>
          <a:p>
            <a:pPr indent="0" marL="0">
              <a:lnSpc>
                <a:spcPct val="100000"/>
              </a:lnSpc>
              <a:buNone/>
            </a:pPr>
            <a:r>
              <a:rPr lang="en-US" sz="1100" dirty="0">
                <a:solidFill>
                  <a:srgbClr val="D5E2D8"/>
                </a:solidFill>
                <a:latin typeface="Courier New" pitchFamily="34" charset="0"/>
                <a:ea typeface="Courier New" pitchFamily="34" charset="-122"/>
                <a:cs typeface="Courier New" pitchFamily="34" charset="-120"/>
              </a:rPr>
              <a:t>Interface   Role Sts Cost  Prio.Nbr Type</a:t>
            </a:r>
            <a:endParaRPr lang="en-US" sz="1100" dirty="0"/>
          </a:p>
          <a:p>
            <a:pPr indent="0" marL="0">
              <a:lnSpc>
                <a:spcPct val="100000"/>
              </a:lnSpc>
              <a:buNone/>
            </a:pPr>
            <a:r>
              <a:rPr lang="en-US" sz="1100" dirty="0">
                <a:solidFill>
                  <a:srgbClr val="D5E2D8"/>
                </a:solidFill>
                <a:latin typeface="Courier New" pitchFamily="34" charset="0"/>
                <a:ea typeface="Courier New" pitchFamily="34" charset="-122"/>
                <a:cs typeface="Courier New" pitchFamily="34" charset="-120"/>
              </a:rPr>
              <a:t>----------- ---- --- ----- -------- --------</a:t>
            </a:r>
            <a:endParaRPr lang="en-US" sz="1100" dirty="0"/>
          </a:p>
          <a:p>
            <a:pPr indent="0" marL="0">
              <a:lnSpc>
                <a:spcPct val="100000"/>
              </a:lnSpc>
              <a:buNone/>
            </a:pPr>
            <a:r>
              <a:rPr lang="en-US" sz="1100" dirty="0">
                <a:solidFill>
                  <a:srgbClr val="D5E2D8"/>
                </a:solidFill>
                <a:latin typeface="Courier New" pitchFamily="34" charset="0"/>
                <a:ea typeface="Courier New" pitchFamily="34" charset="-122"/>
                <a:cs typeface="Courier New" pitchFamily="34" charset="-120"/>
              </a:rPr>
              <a:t>Fa0/3       </a:t>
            </a:r>
            <a:r>
              <a:rPr lang="en-US" sz="1100" b="1" dirty="0">
                <a:solidFill>
                  <a:srgbClr val="E8B92E"/>
                </a:solidFill>
                <a:latin typeface="Courier New" pitchFamily="34" charset="0"/>
                <a:ea typeface="Courier New" pitchFamily="34" charset="-122"/>
                <a:cs typeface="Courier New" pitchFamily="34" charset="-120"/>
              </a:rPr>
              <a:t>Root FWD</a:t>
            </a:r>
            <a:r>
              <a:rPr lang="en-US" sz="1100" dirty="0">
                <a:solidFill>
                  <a:srgbClr val="D5E2D8"/>
                </a:solidFill>
                <a:latin typeface="Courier New" pitchFamily="34" charset="0"/>
                <a:ea typeface="Courier New" pitchFamily="34" charset="-122"/>
                <a:cs typeface="Courier New" pitchFamily="34" charset="-120"/>
              </a:rPr>
              <a:t> 19    128.3    P2p</a:t>
            </a:r>
            <a:endParaRPr lang="en-US" sz="1100" dirty="0"/>
          </a:p>
          <a:p>
            <a:pPr indent="0" marL="0">
              <a:lnSpc>
                <a:spcPct val="100000"/>
              </a:lnSpc>
              <a:buNone/>
            </a:pPr>
            <a:r>
              <a:rPr lang="en-US" sz="1100" dirty="0">
                <a:solidFill>
                  <a:srgbClr val="D5E2D8"/>
                </a:solidFill>
                <a:latin typeface="Courier New" pitchFamily="34" charset="0"/>
                <a:ea typeface="Courier New" pitchFamily="34" charset="-122"/>
                <a:cs typeface="Courier New" pitchFamily="34" charset="-120"/>
              </a:rPr>
              <a:t>Fa0/4       </a:t>
            </a:r>
            <a:r>
              <a:rPr lang="en-US" sz="1100" b="1" dirty="0">
                <a:solidFill>
                  <a:srgbClr val="E8B92E"/>
                </a:solidFill>
                <a:latin typeface="Courier New" pitchFamily="34" charset="0"/>
                <a:ea typeface="Courier New" pitchFamily="34" charset="-122"/>
                <a:cs typeface="Courier New" pitchFamily="34" charset="-120"/>
              </a:rPr>
              <a:t>Altn BLK</a:t>
            </a:r>
            <a:r>
              <a:rPr lang="en-US" sz="1100" dirty="0">
                <a:solidFill>
                  <a:srgbClr val="D5E2D8"/>
                </a:solidFill>
                <a:latin typeface="Courier New" pitchFamily="34" charset="0"/>
                <a:ea typeface="Courier New" pitchFamily="34" charset="-122"/>
                <a:cs typeface="Courier New" pitchFamily="34" charset="-120"/>
              </a:rPr>
              <a:t> 19    128.4    P2p</a:t>
            </a:r>
            <a:endParaRPr lang="en-US" sz="1100" dirty="0"/>
          </a:p>
          <a:p>
            <a:pPr indent="0" marL="0">
              <a:lnSpc>
                <a:spcPct val="100000"/>
              </a:lnSpc>
              <a:buNone/>
            </a:pPr>
            <a:r>
              <a:rPr lang="en-US" sz="1100" dirty="0">
                <a:solidFill>
                  <a:srgbClr val="D5E2D8"/>
                </a:solidFill>
                <a:latin typeface="Courier New" pitchFamily="34" charset="0"/>
                <a:ea typeface="Courier New" pitchFamily="34" charset="-122"/>
                <a:cs typeface="Courier New" pitchFamily="34" charset="-120"/>
              </a:rPr>
              <a:t>Fa0/10      Desg FWD 19    128.10   P2p </a:t>
            </a:r>
            <a:r>
              <a:rPr lang="en-US" sz="1100" b="1" dirty="0">
                <a:solidFill>
                  <a:srgbClr val="E8B92E"/>
                </a:solidFill>
                <a:latin typeface="Courier New" pitchFamily="34" charset="0"/>
                <a:ea typeface="Courier New" pitchFamily="34" charset="-122"/>
                <a:cs typeface="Courier New" pitchFamily="34" charset="-120"/>
              </a:rPr>
              <a:t>Edge</a:t>
            </a:r>
            <a:endParaRPr lang="en-US" sz="1100" dirty="0"/>
          </a:p>
        </p:txBody>
      </p:sp>
      <p:sp>
        <p:nvSpPr>
          <p:cNvPr id="12" name="Card"/>
          <p:cNvSpPr/>
          <p:nvPr/>
        </p:nvSpPr>
        <p:spPr>
          <a:xfrm>
            <a:off x="7498080" y="1664208"/>
            <a:ext cx="4142232" cy="914400"/>
          </a:xfrm>
          <a:prstGeom prst="roundRect">
            <a:avLst>
              <a:gd name="adj" fmla="val 8000"/>
            </a:avLst>
          </a:prstGeom>
          <a:solidFill>
            <a:srgbClr val="F2F8F3"/>
          </a:solidFill>
          <a:ln w="12700">
            <a:solidFill>
              <a:srgbClr val="B7C9BA"/>
            </a:solidFill>
            <a:prstDash val="solid"/>
          </a:ln>
        </p:spPr>
      </p:sp>
      <p:sp>
        <p:nvSpPr>
          <p:cNvPr id="13" name="Text 10"/>
          <p:cNvSpPr txBox="1"/>
          <p:nvPr/>
        </p:nvSpPr>
        <p:spPr>
          <a:xfrm>
            <a:off x="7607808" y="1741018"/>
            <a:ext cx="3922776" cy="760781"/>
          </a:xfrm>
          <a:prstGeom prst="rect">
            <a:avLst/>
          </a:prstGeom>
          <a:noFill/>
          <a:ln/>
        </p:spPr>
        <p:txBody>
          <a:bodyPr wrap="square" lIns="0" tIns="0" rIns="0" bIns="0" rtlCol="0" anchor="t"/>
          <a:lstStyle/>
          <a:p>
            <a:pPr indent="0" marL="0">
              <a:buNone/>
            </a:pPr>
            <a:r>
              <a:rPr lang="en-US" sz="1300" b="1" dirty="0">
                <a:solidFill>
                  <a:srgbClr val="1E5631"/>
                </a:solidFill>
              </a:rPr>
              <a:t>Root ID priority 24586</a:t>
            </a:r>
            <a:endParaRPr lang="en-US" sz="1200" dirty="0"/>
          </a:p>
          <a:p>
            <a:pPr indent="0" marL="0">
              <a:buNone/>
            </a:pPr>
            <a:r>
              <a:rPr lang="en-US" sz="1200" dirty="0">
                <a:solidFill>
                  <a:srgbClr val="2B2B2B"/>
                </a:solidFill>
              </a:rPr>
              <a:t>24576 (root primary) + 10 (the VLAN number): the root is S1.</a:t>
            </a:r>
            <a:endParaRPr lang="en-US" sz="1200" dirty="0"/>
          </a:p>
        </p:txBody>
      </p:sp>
      <p:sp>
        <p:nvSpPr>
          <p:cNvPr id="14" name="Card"/>
          <p:cNvSpPr/>
          <p:nvPr/>
        </p:nvSpPr>
        <p:spPr>
          <a:xfrm>
            <a:off x="7498080" y="2651760"/>
            <a:ext cx="4142232" cy="914400"/>
          </a:xfrm>
          <a:prstGeom prst="roundRect">
            <a:avLst>
              <a:gd name="adj" fmla="val 8000"/>
            </a:avLst>
          </a:prstGeom>
          <a:solidFill>
            <a:srgbClr val="F2F8F3"/>
          </a:solidFill>
          <a:ln w="12700">
            <a:solidFill>
              <a:srgbClr val="B7C9BA"/>
            </a:solidFill>
            <a:prstDash val="solid"/>
          </a:ln>
        </p:spPr>
      </p:sp>
      <p:sp>
        <p:nvSpPr>
          <p:cNvPr id="15" name="Text 12"/>
          <p:cNvSpPr txBox="1"/>
          <p:nvPr/>
        </p:nvSpPr>
        <p:spPr>
          <a:xfrm>
            <a:off x="7607808" y="2728570"/>
            <a:ext cx="3922776" cy="760781"/>
          </a:xfrm>
          <a:prstGeom prst="rect">
            <a:avLst/>
          </a:prstGeom>
          <a:noFill/>
          <a:ln/>
        </p:spPr>
        <p:txBody>
          <a:bodyPr wrap="square" lIns="0" tIns="0" rIns="0" bIns="0" rtlCol="0" anchor="t"/>
          <a:lstStyle/>
          <a:p>
            <a:pPr indent="0" marL="0">
              <a:buNone/>
            </a:pPr>
            <a:r>
              <a:rPr lang="en-US" sz="1300" b="1" dirty="0">
                <a:solidFill>
                  <a:srgbClr val="1E5631"/>
                </a:solidFill>
              </a:rPr>
              <a:t>Root FWD</a:t>
            </a:r>
            <a:endParaRPr lang="en-US" sz="1200" dirty="0"/>
          </a:p>
          <a:p>
            <a:pPr indent="0" marL="0">
              <a:buNone/>
            </a:pPr>
            <a:r>
              <a:rPr lang="en-US" sz="1200" dirty="0">
                <a:solidFill>
                  <a:srgbClr val="2B2B2B"/>
                </a:solidFill>
              </a:rPr>
              <a:t>This switch’s best path to the root, forwarding. Cost 19 = one 100 Mbps link.</a:t>
            </a:r>
            <a:endParaRPr lang="en-US" sz="1200" dirty="0"/>
          </a:p>
        </p:txBody>
      </p:sp>
      <p:sp>
        <p:nvSpPr>
          <p:cNvPr id="16" name="Card"/>
          <p:cNvSpPr/>
          <p:nvPr/>
        </p:nvSpPr>
        <p:spPr>
          <a:xfrm>
            <a:off x="7498080" y="3639312"/>
            <a:ext cx="4142232" cy="914400"/>
          </a:xfrm>
          <a:prstGeom prst="roundRect">
            <a:avLst>
              <a:gd name="adj" fmla="val 8000"/>
            </a:avLst>
          </a:prstGeom>
          <a:solidFill>
            <a:srgbClr val="F2F8F3"/>
          </a:solidFill>
          <a:ln w="12700">
            <a:solidFill>
              <a:srgbClr val="B7C9BA"/>
            </a:solidFill>
            <a:prstDash val="solid"/>
          </a:ln>
        </p:spPr>
      </p:sp>
      <p:sp>
        <p:nvSpPr>
          <p:cNvPr id="17" name="Text 14"/>
          <p:cNvSpPr txBox="1"/>
          <p:nvPr/>
        </p:nvSpPr>
        <p:spPr>
          <a:xfrm>
            <a:off x="7607808" y="3716122"/>
            <a:ext cx="3922776" cy="760781"/>
          </a:xfrm>
          <a:prstGeom prst="rect">
            <a:avLst/>
          </a:prstGeom>
          <a:noFill/>
          <a:ln/>
        </p:spPr>
        <p:txBody>
          <a:bodyPr wrap="square" lIns="0" tIns="0" rIns="0" bIns="0" rtlCol="0" anchor="t"/>
          <a:lstStyle/>
          <a:p>
            <a:pPr indent="0" marL="0">
              <a:buNone/>
            </a:pPr>
            <a:r>
              <a:rPr lang="en-US" sz="1300" b="1" dirty="0">
                <a:solidFill>
                  <a:srgbClr val="1E5631"/>
                </a:solidFill>
              </a:rPr>
              <a:t>Altn BLK</a:t>
            </a:r>
            <a:endParaRPr lang="en-US" sz="1200" dirty="0"/>
          </a:p>
          <a:p>
            <a:pPr indent="0" marL="0">
              <a:buNone/>
            </a:pPr>
            <a:r>
              <a:rPr lang="en-US" sz="1200" dirty="0">
                <a:solidFill>
                  <a:srgbClr val="2B2B2B"/>
                </a:solidFill>
              </a:rPr>
              <a:t>The blocked backup port. It breaks the loop and waits to take over.</a:t>
            </a:r>
            <a:endParaRPr lang="en-US" sz="1200" dirty="0"/>
          </a:p>
        </p:txBody>
      </p:sp>
      <p:sp>
        <p:nvSpPr>
          <p:cNvPr id="18" name="Card"/>
          <p:cNvSpPr/>
          <p:nvPr/>
        </p:nvSpPr>
        <p:spPr>
          <a:xfrm>
            <a:off x="7498080" y="4626864"/>
            <a:ext cx="4142232" cy="914400"/>
          </a:xfrm>
          <a:prstGeom prst="roundRect">
            <a:avLst>
              <a:gd name="adj" fmla="val 8000"/>
            </a:avLst>
          </a:prstGeom>
          <a:solidFill>
            <a:srgbClr val="F2F8F3"/>
          </a:solidFill>
          <a:ln w="12700">
            <a:solidFill>
              <a:srgbClr val="B7C9BA"/>
            </a:solidFill>
            <a:prstDash val="solid"/>
          </a:ln>
        </p:spPr>
      </p:sp>
      <p:sp>
        <p:nvSpPr>
          <p:cNvPr id="19" name="Text 16"/>
          <p:cNvSpPr txBox="1"/>
          <p:nvPr/>
        </p:nvSpPr>
        <p:spPr>
          <a:xfrm>
            <a:off x="7607808" y="4703674"/>
            <a:ext cx="3922776" cy="760781"/>
          </a:xfrm>
          <a:prstGeom prst="rect">
            <a:avLst/>
          </a:prstGeom>
          <a:noFill/>
          <a:ln/>
        </p:spPr>
        <p:txBody>
          <a:bodyPr wrap="square" lIns="0" tIns="0" rIns="0" bIns="0" rtlCol="0" anchor="t"/>
          <a:lstStyle/>
          <a:p>
            <a:pPr indent="0" marL="0">
              <a:buNone/>
            </a:pPr>
            <a:r>
              <a:rPr lang="en-US" sz="1300" b="1" dirty="0">
                <a:solidFill>
                  <a:srgbClr val="1E5631"/>
                </a:solidFill>
              </a:rPr>
              <a:t>Desg FWD … Edge</a:t>
            </a:r>
            <a:endParaRPr lang="en-US" sz="1200" dirty="0"/>
          </a:p>
          <a:p>
            <a:pPr indent="0" marL="0">
              <a:buNone/>
            </a:pPr>
            <a:r>
              <a:rPr lang="en-US" sz="1200" dirty="0">
                <a:solidFill>
                  <a:srgbClr val="2B2B2B"/>
                </a:solidFill>
              </a:rPr>
              <a:t>The PC port, forwarding at once thanks to PortFast.</a:t>
            </a:r>
            <a:endParaRPr lang="en-US" sz="1200" dirty="0"/>
          </a:p>
        </p:txBody>
      </p:sp>
      <p:sp>
        <p:nvSpPr>
          <p:cNvPr id="20" name="Card"/>
          <p:cNvSpPr/>
          <p:nvPr/>
        </p:nvSpPr>
        <p:spPr>
          <a:xfrm>
            <a:off x="7498080" y="5632704"/>
            <a:ext cx="4142232" cy="585216"/>
          </a:xfrm>
          <a:prstGeom prst="roundRect">
            <a:avLst>
              <a:gd name="adj" fmla="val 12500"/>
            </a:avLst>
          </a:prstGeom>
          <a:solidFill>
            <a:srgbClr val="E6EEF8"/>
          </a:solidFill>
          <a:ln w="12700">
            <a:solidFill>
              <a:srgbClr val="B8C9E0"/>
            </a:solidFill>
            <a:prstDash val="solid"/>
          </a:ln>
        </p:spPr>
      </p:sp>
      <p:sp>
        <p:nvSpPr>
          <p:cNvPr id="21" name="Text 18"/>
          <p:cNvSpPr txBox="1"/>
          <p:nvPr/>
        </p:nvSpPr>
        <p:spPr>
          <a:xfrm>
            <a:off x="7607808" y="5709514"/>
            <a:ext cx="3922776" cy="431597"/>
          </a:xfrm>
          <a:prstGeom prst="rect">
            <a:avLst/>
          </a:prstGeom>
          <a:noFill/>
          <a:ln/>
        </p:spPr>
        <p:txBody>
          <a:bodyPr wrap="square" lIns="0" tIns="0" rIns="0" bIns="0" rtlCol="0" anchor="t"/>
          <a:lstStyle/>
          <a:p>
            <a:pPr indent="0" marL="0">
              <a:buNone/>
            </a:pPr>
            <a:r>
              <a:rPr lang="en-US" sz="1200" b="1" dirty="0">
                <a:solidFill>
                  <a:srgbClr val="2B2B2B"/>
                </a:solidFill>
              </a:rPr>
              <a:t>Test:</a:t>
            </a:r>
            <a:r>
              <a:rPr lang="en-US" sz="1200" dirty="0">
                <a:solidFill>
                  <a:srgbClr val="2B2B2B"/>
                </a:solidFill>
              </a:rPr>
              <a:t> </a:t>
            </a:r>
            <a:r>
              <a:rPr lang="en-US" sz="1100" b="1" dirty="0">
                <a:solidFill>
                  <a:srgbClr val="1E5631"/>
                </a:solidFill>
                <a:latin typeface="Courier New" pitchFamily="34" charset="0"/>
                <a:ea typeface="Courier New" pitchFamily="34" charset="-122"/>
                <a:cs typeface="Courier New" pitchFamily="34" charset="-120"/>
              </a:rPr>
              <a:t>ping -t</a:t>
            </a:r>
            <a:r>
              <a:rPr lang="en-US" sz="1200" dirty="0">
                <a:solidFill>
                  <a:srgbClr val="2B2B2B"/>
                </a:solidFill>
              </a:rPr>
              <a:t> PC1 → PC2, then shut S3 Fa0/3.</a:t>
            </a:r>
            <a:endParaRPr lang="en-US" sz="1200" dirty="0"/>
          </a:p>
        </p:txBody>
      </p:sp>
      <p:sp>
        <p:nvSpPr>
          <p:cNvPr id="25" name="Slide Number Placeholder 0"/>
          <p:cNvSpPr>
            <a:spLocks noGrp="1"/>
          </p:cNvSpPr>
          <p:nvPr>
            <p:ph type="sldNum" sz="quarter" idx="4294967295"/>
          </p:nvPr>
        </p:nvSpPr>
        <p:spPr>
          <a:xfrm>
            <a:off x="10698480" y="6464808"/>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1"/>
          <p:cNvSpPr/>
          <p:nvPr>
            <p:ph idx="102" type="body" hasCustomPrompt="1"/>
          </p:nvPr>
        </p:nvSpPr>
        <p:spPr>
          <a:xfrm>
            <a:off x="548640" y="274320"/>
            <a:ext cx="9966960" cy="256032"/>
          </a:xfrm>
          <a:prstGeom prst="rect">
            <a:avLst/>
          </a:prstGeom>
          <a:noFill/>
          <a:ln/>
        </p:spPr>
        <p:txBody>
          <a:bodyPr wrap="square" lIns="0" tIns="0" rIns="0" bIns="0" rtlCol="0" anchor="ctr"/>
          <a:lstStyle/>
          <a:p>
            <a:pPr algn="l" indent="0" marL="0">
              <a:buNone/>
            </a:pPr>
            <a:r>
              <a:rPr lang="en-US" sz="1100" b="1" spc="100" kern="0" dirty="0">
                <a:solidFill>
                  <a:schemeClr val="accent2"/>
                </a:solidFill>
              </a:rPr>
              <a:t>09  •  STP &amp; ETHERCHANNEL  •  LAB 7</a:t>
            </a:r>
            <a:endParaRPr lang="en-US" sz="1100" dirty="0"/>
          </a:p>
        </p:txBody>
      </p:sp>
      <p:sp>
        <p:nvSpPr>
          <p:cNvPr id="3" name="Text 1"/>
          <p:cNvSpPr/>
          <p:nvPr>
            <p:ph idx="103" type="title" hasCustomPrompt="1"/>
          </p:nvPr>
        </p:nvSpPr>
        <p:spPr>
          <a:xfrm>
            <a:off x="548640" y="548640"/>
            <a:ext cx="10149840" cy="548640"/>
          </a:xfrm>
          <a:prstGeom prst="rect">
            <a:avLst/>
          </a:prstGeom>
          <a:noFill/>
          <a:ln/>
        </p:spPr>
        <p:txBody>
          <a:bodyPr wrap="square" lIns="0" tIns="0" rIns="0" bIns="0" rtlCol="0" anchor="ctr"/>
          <a:lstStyle/>
          <a:p>
            <a:pPr algn="l" indent="0" marL="0">
              <a:buNone/>
            </a:pPr>
            <a:r>
              <a:rPr lang="en-US" sz="2600" b="1" dirty="0">
                <a:solidFill>
                  <a:schemeClr val="accent1"/>
                </a:solidFill>
              </a:rPr>
              <a:t>How to bundle links with an LACP EtherChannel</a:t>
            </a:r>
            <a:endParaRPr lang="en-US" sz="2600" dirty="0"/>
          </a:p>
        </p:txBody>
      </p:sp>
      <p:pic>
        <p:nvPicPr>
          <p:cNvPr id="4" name="Home button" descr="Home: back to the workbook menu">
            <a:hlinkClick r:id="rId2" tooltip="Back to the workbook menu" action="ppaction://hlinksldjump"/>
          </p:cNvPr>
          <p:cNvPicPr>
            <a:picLocks noChangeAspect="1"/>
          </p:cNvPicPr>
          <p:nvPr/>
        </p:nvPicPr>
        <p:blipFill>
          <a:blip r:embed="rId1"/>
          <a:stretch>
            <a:fillRect/>
          </a:stretch>
        </p:blipFill>
        <p:spPr>
          <a:xfrm>
            <a:off x="11365992" y="6336792"/>
            <a:ext cx="365760" cy="365760"/>
          </a:xfrm>
          <a:prstGeom prst="rect">
            <a:avLst/>
          </a:prstGeom>
        </p:spPr>
      </p:pic>
      <p:sp>
        <p:nvSpPr>
          <p:cNvPr id="5" name="Goal"/>
          <p:cNvSpPr txBox="1"/>
          <p:nvPr/>
        </p:nvSpPr>
        <p:spPr>
          <a:xfrm>
            <a:off x="548640" y="1161288"/>
            <a:ext cx="11094415" cy="384048"/>
          </a:xfrm>
          <a:prstGeom prst="rect">
            <a:avLst/>
          </a:prstGeom>
          <a:noFill/>
          <a:ln/>
        </p:spPr>
        <p:txBody>
          <a:bodyPr wrap="square" lIns="0" tIns="0" rIns="0" bIns="0" rtlCol="0" anchor="ctr"/>
          <a:lstStyle/>
          <a:p>
            <a:pPr indent="0" marL="0">
              <a:buNone/>
            </a:pPr>
            <a:r>
              <a:rPr lang="en-US" sz="1400" b="1" dirty="0">
                <a:solidFill>
                  <a:srgbClr val="2B7043"/>
                </a:solidFill>
              </a:rPr>
              <a:t>Goal:  </a:t>
            </a:r>
            <a:r>
              <a:rPr lang="en-US" sz="1400" dirty="0">
                <a:solidFill>
                  <a:srgbClr val="2B2B2B"/>
                </a:solidFill>
              </a:rPr>
              <a:t>Join the two S1–S2 links into one logical link: double the bandwidth, and STP blocks neither of them.</a:t>
            </a:r>
            <a:endParaRPr lang="en-US" sz="1400" dirty="0"/>
          </a:p>
        </p:txBody>
      </p:sp>
      <p:sp>
        <p:nvSpPr>
          <p:cNvPr id="6" name="Command header"/>
          <p:cNvSpPr/>
          <p:nvPr/>
        </p:nvSpPr>
        <p:spPr>
          <a:xfrm>
            <a:off x="548640" y="1664208"/>
            <a:ext cx="6153912" cy="310896"/>
          </a:xfrm>
          <a:prstGeom prst="rect">
            <a:avLst/>
          </a:prstGeom>
          <a:solidFill>
            <a:srgbClr val="1B2B22"/>
          </a:solidFill>
          <a:ln/>
        </p:spPr>
        <p:txBody>
          <a:bodyPr wrap="square" lIns="109728" tIns="45720" rIns="109728" bIns="45720" rtlCol="0" anchor="ctr"/>
          <a:lstStyle/>
          <a:p>
            <a:pPr indent="0" marL="0">
              <a:buNone/>
            </a:pPr>
            <a:r>
              <a:rPr lang="en-US" sz="1100" dirty="0">
                <a:solidFill>
                  <a:srgbClr val="E0605A"/>
                </a:solidFill>
              </a:rPr>
              <a:t>●  </a:t>
            </a:r>
            <a:r>
              <a:rPr lang="en-US" sz="1100" dirty="0">
                <a:solidFill>
                  <a:srgbClr val="E8B92E"/>
                </a:solidFill>
              </a:rPr>
              <a:t>●  </a:t>
            </a:r>
            <a:r>
              <a:rPr lang="en-US" sz="1100" dirty="0">
                <a:solidFill>
                  <a:srgbClr val="4CAF50"/>
                </a:solidFill>
              </a:rPr>
              <a:t>●   </a:t>
            </a:r>
            <a:r>
              <a:rPr lang="en-US" sz="1100" b="1" dirty="0">
                <a:solidFill>
                  <a:srgbClr val="C9D6CC"/>
                </a:solidFill>
              </a:rPr>
              <a:t>S1  —  type the white text, then press Enter</a:t>
            </a:r>
            <a:endParaRPr lang="en-US" sz="1100" dirty="0"/>
          </a:p>
        </p:txBody>
      </p:sp>
      <p:sp>
        <p:nvSpPr>
          <p:cNvPr id="7" name="Meaning header"/>
          <p:cNvSpPr/>
          <p:nvPr/>
        </p:nvSpPr>
        <p:spPr>
          <a:xfrm>
            <a:off x="6720840" y="1664208"/>
            <a:ext cx="4922215" cy="310896"/>
          </a:xfrm>
          <a:prstGeom prst="rect">
            <a:avLst/>
          </a:prstGeom>
          <a:solidFill>
            <a:srgbClr val="E8F1EA"/>
          </a:solidFill>
          <a:ln/>
        </p:spPr>
        <p:txBody>
          <a:bodyPr wrap="square" lIns="109728" tIns="45720" rIns="109728" bIns="45720" rtlCol="0" anchor="ctr"/>
          <a:lstStyle/>
          <a:p>
            <a:pPr indent="0" marL="0">
              <a:buNone/>
            </a:pPr>
            <a:r>
              <a:rPr lang="en-US" sz="1200" b="1" dirty="0">
                <a:solidFill>
                  <a:srgbClr val="1E5631"/>
                </a:solidFill>
              </a:rPr>
              <a:t>What it does</a:t>
            </a:r>
            <a:endParaRPr lang="en-US" sz="1200" dirty="0"/>
          </a:p>
        </p:txBody>
      </p:sp>
      <p:sp>
        <p:nvSpPr>
          <p:cNvPr id="8" name="Command 01"/>
          <p:cNvSpPr/>
          <p:nvPr/>
        </p:nvSpPr>
        <p:spPr>
          <a:xfrm>
            <a:off x="548640" y="1993392"/>
            <a:ext cx="6153912" cy="326768"/>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S1(config)# </a:t>
            </a:r>
            <a:r>
              <a:rPr lang="en-US" sz="1200" b="1" dirty="0">
                <a:solidFill>
                  <a:srgbClr val="FFFFFF"/>
                </a:solidFill>
                <a:latin typeface="Courier New" pitchFamily="34" charset="0"/>
                <a:ea typeface="Courier New" pitchFamily="34" charset="-122"/>
                <a:cs typeface="Courier New" pitchFamily="34" charset="-120"/>
              </a:rPr>
              <a:t>interface range fa0/1 - 2</a:t>
            </a:r>
            <a:endParaRPr lang="en-US" sz="1200" dirty="0"/>
          </a:p>
        </p:txBody>
      </p:sp>
      <p:sp>
        <p:nvSpPr>
          <p:cNvPr id="9" name="Reveal 01 meaning"/>
          <p:cNvSpPr/>
          <p:nvPr/>
        </p:nvSpPr>
        <p:spPr>
          <a:xfrm>
            <a:off x="6720840" y="1993392"/>
            <a:ext cx="4922215" cy="326768"/>
          </a:xfrm>
          <a:prstGeom prst="rect">
            <a:avLst/>
          </a:prstGeom>
          <a:solidFill>
            <a:srgbClr val="F2F8F3"/>
          </a:solidFill>
          <a:ln/>
        </p:spPr>
        <p:txBody>
          <a:bodyPr wrap="square" lIns="109728" tIns="45720" rIns="109728" bIns="45720" rtlCol="0" anchor="ctr"/>
          <a:lstStyle/>
          <a:p>
            <a:pPr indent="0" marL="0">
              <a:buNone/>
            </a:pPr>
            <a:r>
              <a:rPr lang="en-US" sz="1400" dirty="0">
                <a:solidFill>
                  <a:srgbClr val="2B2B2B"/>
                </a:solidFill>
              </a:rPr>
              <a:t>The two parallel links between S1 and S2.</a:t>
            </a:r>
            <a:endParaRPr lang="en-US" sz="1400" dirty="0"/>
          </a:p>
        </p:txBody>
      </p:sp>
      <p:sp>
        <p:nvSpPr>
          <p:cNvPr id="10" name="Command 02"/>
          <p:cNvSpPr/>
          <p:nvPr/>
        </p:nvSpPr>
        <p:spPr>
          <a:xfrm>
            <a:off x="548640" y="2338448"/>
            <a:ext cx="6153912" cy="54380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S1(config-if-range)# </a:t>
            </a:r>
            <a:r>
              <a:rPr lang="en-US" sz="1200" b="1" dirty="0">
                <a:solidFill>
                  <a:srgbClr val="FFFFFF"/>
                </a:solidFill>
                <a:latin typeface="Courier New" pitchFamily="34" charset="0"/>
                <a:ea typeface="Courier New" pitchFamily="34" charset="-122"/>
                <a:cs typeface="Courier New" pitchFamily="34" charset="-120"/>
              </a:rPr>
              <a:t>channel-group 1 mode active</a:t>
            </a:r>
            <a:endParaRPr lang="en-US" sz="1200" dirty="0"/>
          </a:p>
        </p:txBody>
      </p:sp>
      <p:sp>
        <p:nvSpPr>
          <p:cNvPr id="11" name="Reveal 02 meaning"/>
          <p:cNvSpPr/>
          <p:nvPr/>
        </p:nvSpPr>
        <p:spPr>
          <a:xfrm>
            <a:off x="6720840" y="2338448"/>
            <a:ext cx="4922215" cy="543809"/>
          </a:xfrm>
          <a:prstGeom prst="rect">
            <a:avLst/>
          </a:prstGeom>
          <a:solidFill>
            <a:srgbClr val="FFFFFF"/>
          </a:solidFill>
          <a:ln/>
        </p:spPr>
        <p:txBody>
          <a:bodyPr wrap="square" lIns="109728" tIns="45720" rIns="109728" bIns="45720" rtlCol="0" anchor="ctr"/>
          <a:lstStyle/>
          <a:p>
            <a:pPr indent="0" marL="0">
              <a:buNone/>
            </a:pPr>
            <a:r>
              <a:rPr lang="en-US" sz="1400" dirty="0">
                <a:solidFill>
                  <a:srgbClr val="2B2B2B"/>
                </a:solidFill>
              </a:rPr>
              <a:t>Bundle them as Port-channel 1 using LACP. </a:t>
            </a:r>
            <a:r>
              <a:rPr lang="en-US" sz="1300" b="1" dirty="0">
                <a:solidFill>
                  <a:srgbClr val="1E5631"/>
                </a:solidFill>
                <a:latin typeface="Courier New" pitchFamily="34" charset="0"/>
                <a:ea typeface="Courier New" pitchFamily="34" charset="-122"/>
                <a:cs typeface="Courier New" pitchFamily="34" charset="-120"/>
              </a:rPr>
              <a:t>active</a:t>
            </a:r>
            <a:r>
              <a:rPr lang="en-US" sz="1400" dirty="0">
                <a:solidFill>
                  <a:srgbClr val="2B2B2B"/>
                </a:solidFill>
              </a:rPr>
              <a:t> proposes the bundle; the other end must be </a:t>
            </a:r>
            <a:r>
              <a:rPr lang="en-US" sz="1300" b="1" dirty="0">
                <a:solidFill>
                  <a:srgbClr val="1E5631"/>
                </a:solidFill>
                <a:latin typeface="Courier New" pitchFamily="34" charset="0"/>
                <a:ea typeface="Courier New" pitchFamily="34" charset="-122"/>
                <a:cs typeface="Courier New" pitchFamily="34" charset="-120"/>
              </a:rPr>
              <a:t>active</a:t>
            </a:r>
            <a:r>
              <a:rPr lang="en-US" sz="1400" dirty="0">
                <a:solidFill>
                  <a:srgbClr val="2B2B2B"/>
                </a:solidFill>
              </a:rPr>
              <a:t> or </a:t>
            </a:r>
            <a:r>
              <a:rPr lang="en-US" sz="1300" b="1" dirty="0">
                <a:solidFill>
                  <a:srgbClr val="1E5631"/>
                </a:solidFill>
                <a:latin typeface="Courier New" pitchFamily="34" charset="0"/>
                <a:ea typeface="Courier New" pitchFamily="34" charset="-122"/>
                <a:cs typeface="Courier New" pitchFamily="34" charset="-120"/>
              </a:rPr>
              <a:t>passive</a:t>
            </a:r>
            <a:r>
              <a:rPr lang="en-US" sz="1400" dirty="0">
                <a:solidFill>
                  <a:srgbClr val="2B2B2B"/>
                </a:solidFill>
              </a:rPr>
              <a:t>.</a:t>
            </a:r>
            <a:endParaRPr lang="en-US" sz="1400" dirty="0"/>
          </a:p>
        </p:txBody>
      </p:sp>
      <p:sp>
        <p:nvSpPr>
          <p:cNvPr id="12" name="Command 03"/>
          <p:cNvSpPr/>
          <p:nvPr/>
        </p:nvSpPr>
        <p:spPr>
          <a:xfrm>
            <a:off x="548640" y="2900545"/>
            <a:ext cx="6153912" cy="326768"/>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S1(config-if-range)# </a:t>
            </a:r>
            <a:r>
              <a:rPr lang="en-US" sz="1200" b="1" dirty="0">
                <a:solidFill>
                  <a:srgbClr val="FFFFFF"/>
                </a:solidFill>
                <a:latin typeface="Courier New" pitchFamily="34" charset="0"/>
                <a:ea typeface="Courier New" pitchFamily="34" charset="-122"/>
                <a:cs typeface="Courier New" pitchFamily="34" charset="-120"/>
              </a:rPr>
              <a:t>exit</a:t>
            </a:r>
            <a:endParaRPr lang="en-US" sz="1200" dirty="0"/>
          </a:p>
        </p:txBody>
      </p:sp>
      <p:sp>
        <p:nvSpPr>
          <p:cNvPr id="13" name="Reveal 03 meaning"/>
          <p:cNvSpPr/>
          <p:nvPr/>
        </p:nvSpPr>
        <p:spPr>
          <a:xfrm>
            <a:off x="6720840" y="2900545"/>
            <a:ext cx="4922215" cy="326768"/>
          </a:xfrm>
          <a:prstGeom prst="rect">
            <a:avLst/>
          </a:prstGeom>
          <a:solidFill>
            <a:srgbClr val="F2F8F3"/>
          </a:solidFill>
          <a:ln/>
        </p:spPr>
        <p:txBody>
          <a:bodyPr wrap="square" lIns="109728" tIns="45720" rIns="109728" bIns="45720" rtlCol="0" anchor="ctr"/>
          <a:lstStyle/>
          <a:p>
            <a:pPr indent="0" marL="0">
              <a:buNone/>
            </a:pPr>
            <a:r>
              <a:rPr lang="en-US" sz="1400" dirty="0">
                <a:solidFill>
                  <a:srgbClr val="2B2B2B"/>
                </a:solidFill>
              </a:rPr>
              <a:t>Back to global mode. Interface Port-channel1 now exists.</a:t>
            </a:r>
            <a:endParaRPr lang="en-US" sz="1400" dirty="0"/>
          </a:p>
        </p:txBody>
      </p:sp>
      <p:sp>
        <p:nvSpPr>
          <p:cNvPr id="14" name="Command 04"/>
          <p:cNvSpPr/>
          <p:nvPr/>
        </p:nvSpPr>
        <p:spPr>
          <a:xfrm>
            <a:off x="548640" y="3245602"/>
            <a:ext cx="6153912" cy="54380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S1(config)# </a:t>
            </a:r>
            <a:r>
              <a:rPr lang="en-US" sz="1200" b="1" dirty="0">
                <a:solidFill>
                  <a:srgbClr val="FFFFFF"/>
                </a:solidFill>
                <a:latin typeface="Courier New" pitchFamily="34" charset="0"/>
                <a:ea typeface="Courier New" pitchFamily="34" charset="-122"/>
                <a:cs typeface="Courier New" pitchFamily="34" charset="-120"/>
              </a:rPr>
              <a:t>interface port-channel 1</a:t>
            </a:r>
            <a:endParaRPr lang="en-US" sz="1200" dirty="0"/>
          </a:p>
          <a:p>
            <a:pPr indent="0" marL="0">
              <a:buNone/>
            </a:pPr>
            <a:r>
              <a:rPr lang="en-US" sz="1200" dirty="0">
                <a:solidFill>
                  <a:srgbClr val="8FC9A0"/>
                </a:solidFill>
                <a:latin typeface="Courier New" pitchFamily="34" charset="0"/>
                <a:ea typeface="Courier New" pitchFamily="34" charset="-122"/>
                <a:cs typeface="Courier New" pitchFamily="34" charset="-120"/>
              </a:rPr>
              <a:t>S1(config-if)# </a:t>
            </a:r>
            <a:r>
              <a:rPr lang="en-US" sz="1200" b="1" dirty="0">
                <a:solidFill>
                  <a:srgbClr val="FFFFFF"/>
                </a:solidFill>
                <a:latin typeface="Courier New" pitchFamily="34" charset="0"/>
                <a:ea typeface="Courier New" pitchFamily="34" charset="-122"/>
                <a:cs typeface="Courier New" pitchFamily="34" charset="-120"/>
              </a:rPr>
              <a:t>switchport mode trunk</a:t>
            </a:r>
            <a:endParaRPr lang="en-US" sz="1200" dirty="0"/>
          </a:p>
        </p:txBody>
      </p:sp>
      <p:sp>
        <p:nvSpPr>
          <p:cNvPr id="15" name="Reveal 04 meaning"/>
          <p:cNvSpPr/>
          <p:nvPr/>
        </p:nvSpPr>
        <p:spPr>
          <a:xfrm>
            <a:off x="6720840" y="3245602"/>
            <a:ext cx="4922215" cy="543809"/>
          </a:xfrm>
          <a:prstGeom prst="rect">
            <a:avLst/>
          </a:prstGeom>
          <a:solidFill>
            <a:srgbClr val="FFFFFF"/>
          </a:solidFill>
          <a:ln/>
        </p:spPr>
        <p:txBody>
          <a:bodyPr wrap="square" lIns="109728" tIns="45720" rIns="109728" bIns="45720" rtlCol="0" anchor="ctr"/>
          <a:lstStyle/>
          <a:p>
            <a:pPr indent="0" marL="0">
              <a:buNone/>
            </a:pPr>
            <a:r>
              <a:rPr lang="en-US" sz="1400" dirty="0">
                <a:solidFill>
                  <a:srgbClr val="2B2B2B"/>
                </a:solidFill>
              </a:rPr>
              <a:t>From now on configure the bundle, not its member ports. Here it becomes one logical trunk.</a:t>
            </a:r>
            <a:endParaRPr lang="en-US" sz="1400" dirty="0"/>
          </a:p>
        </p:txBody>
      </p:sp>
      <p:sp>
        <p:nvSpPr>
          <p:cNvPr id="16" name="Command 05"/>
          <p:cNvSpPr/>
          <p:nvPr/>
        </p:nvSpPr>
        <p:spPr>
          <a:xfrm>
            <a:off x="548640" y="3807699"/>
            <a:ext cx="6153912" cy="326768"/>
          </a:xfrm>
          <a:prstGeom prst="rect">
            <a:avLst/>
          </a:prstGeom>
          <a:solidFill>
            <a:srgbClr val="1B2B22"/>
          </a:solidFill>
          <a:ln/>
        </p:spPr>
        <p:txBody>
          <a:bodyPr wrap="square" lIns="109728" tIns="45720" rIns="109728" bIns="45720" rtlCol="0" anchor="ctr"/>
          <a:lstStyle/>
          <a:p>
            <a:pPr indent="0" marL="0">
              <a:buNone/>
            </a:pPr>
            <a:r>
              <a:rPr lang="en-US" sz="1200" i="1" dirty="0">
                <a:solidFill>
                  <a:srgbClr val="9FB3A6"/>
                </a:solidFill>
                <a:latin typeface="Courier New" pitchFamily="34" charset="0"/>
                <a:ea typeface="Courier New" pitchFamily="34" charset="-122"/>
                <a:cs typeface="Courier New" pitchFamily="34" charset="-120"/>
              </a:rPr>
              <a:t>! Repeat the same commands on S2</a:t>
            </a:r>
            <a:endParaRPr lang="en-US" sz="1200" dirty="0"/>
          </a:p>
        </p:txBody>
      </p:sp>
      <p:sp>
        <p:nvSpPr>
          <p:cNvPr id="17" name="Reveal 05 meaning"/>
          <p:cNvSpPr/>
          <p:nvPr/>
        </p:nvSpPr>
        <p:spPr>
          <a:xfrm>
            <a:off x="6720840" y="3807699"/>
            <a:ext cx="4922215" cy="326768"/>
          </a:xfrm>
          <a:prstGeom prst="rect">
            <a:avLst/>
          </a:prstGeom>
          <a:solidFill>
            <a:srgbClr val="F2F8F3"/>
          </a:solidFill>
          <a:ln/>
        </p:spPr>
        <p:txBody>
          <a:bodyPr wrap="square" lIns="109728" tIns="45720" rIns="109728" bIns="45720" rtlCol="0" anchor="ctr"/>
          <a:lstStyle/>
          <a:p>
            <a:pPr indent="0" marL="0">
              <a:buNone/>
            </a:pPr>
            <a:r>
              <a:rPr lang="en-US" sz="1400" dirty="0">
                <a:solidFill>
                  <a:srgbClr val="2B2B2B"/>
                </a:solidFill>
              </a:rPr>
              <a:t>A bundle needs both ends configured.</a:t>
            </a:r>
            <a:endParaRPr lang="en-US" sz="1400" dirty="0"/>
          </a:p>
        </p:txBody>
      </p:sp>
      <p:sp>
        <p:nvSpPr>
          <p:cNvPr id="18" name="Command 06"/>
          <p:cNvSpPr/>
          <p:nvPr/>
        </p:nvSpPr>
        <p:spPr>
          <a:xfrm>
            <a:off x="548640" y="4152755"/>
            <a:ext cx="6153912" cy="54380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S1# </a:t>
            </a:r>
            <a:r>
              <a:rPr lang="en-US" sz="1200" b="1" dirty="0">
                <a:solidFill>
                  <a:srgbClr val="FFFFFF"/>
                </a:solidFill>
                <a:latin typeface="Courier New" pitchFamily="34" charset="0"/>
                <a:ea typeface="Courier New" pitchFamily="34" charset="-122"/>
                <a:cs typeface="Courier New" pitchFamily="34" charset="-120"/>
              </a:rPr>
              <a:t>show etherchannel summary</a:t>
            </a:r>
            <a:endParaRPr lang="en-US" sz="1200" dirty="0"/>
          </a:p>
        </p:txBody>
      </p:sp>
      <p:sp>
        <p:nvSpPr>
          <p:cNvPr id="19" name="Reveal 06 meaning"/>
          <p:cNvSpPr/>
          <p:nvPr/>
        </p:nvSpPr>
        <p:spPr>
          <a:xfrm>
            <a:off x="6720840" y="4152755"/>
            <a:ext cx="4922215" cy="543809"/>
          </a:xfrm>
          <a:prstGeom prst="rect">
            <a:avLst/>
          </a:prstGeom>
          <a:solidFill>
            <a:srgbClr val="FFFFFF"/>
          </a:solidFill>
          <a:ln/>
        </p:spPr>
        <p:txBody>
          <a:bodyPr wrap="square" lIns="109728" tIns="45720" rIns="109728" bIns="45720" rtlCol="0" anchor="ctr"/>
          <a:lstStyle/>
          <a:p>
            <a:pPr indent="0" marL="0">
              <a:buNone/>
            </a:pPr>
            <a:r>
              <a:rPr lang="en-US" sz="1400" dirty="0">
                <a:solidFill>
                  <a:srgbClr val="2B2B2B"/>
                </a:solidFill>
              </a:rPr>
              <a:t>Look for </a:t>
            </a:r>
            <a:r>
              <a:rPr lang="en-US" sz="1300" b="1" dirty="0">
                <a:solidFill>
                  <a:srgbClr val="1E5631"/>
                </a:solidFill>
                <a:latin typeface="Courier New" pitchFamily="34" charset="0"/>
                <a:ea typeface="Courier New" pitchFamily="34" charset="-122"/>
                <a:cs typeface="Courier New" pitchFamily="34" charset="-120"/>
              </a:rPr>
              <a:t>Po1(SU)</a:t>
            </a:r>
            <a:r>
              <a:rPr lang="en-US" sz="1400" dirty="0">
                <a:solidFill>
                  <a:srgbClr val="2B2B2B"/>
                </a:solidFill>
              </a:rPr>
              <a:t> (S = Layer 2, U = in use) with both members marked </a:t>
            </a:r>
            <a:r>
              <a:rPr lang="en-US" sz="1300" b="1" dirty="0">
                <a:solidFill>
                  <a:srgbClr val="1E5631"/>
                </a:solidFill>
                <a:latin typeface="Courier New" pitchFamily="34" charset="0"/>
                <a:ea typeface="Courier New" pitchFamily="34" charset="-122"/>
                <a:cs typeface="Courier New" pitchFamily="34" charset="-120"/>
              </a:rPr>
              <a:t>(P)</a:t>
            </a:r>
            <a:r>
              <a:rPr lang="en-US" sz="1400" dirty="0">
                <a:solidFill>
                  <a:srgbClr val="2B2B2B"/>
                </a:solidFill>
              </a:rPr>
              <a:t> = bundled.</a:t>
            </a:r>
            <a:endParaRPr lang="en-US" sz="1400" dirty="0"/>
          </a:p>
        </p:txBody>
      </p:sp>
      <p:sp>
        <p:nvSpPr>
          <p:cNvPr id="20" name="Reveal 99 check box"/>
          <p:cNvSpPr/>
          <p:nvPr/>
        </p:nvSpPr>
        <p:spPr>
          <a:xfrm>
            <a:off x="548640" y="5504688"/>
            <a:ext cx="5410048" cy="749808"/>
          </a:xfrm>
          <a:prstGeom prst="roundRect">
            <a:avLst>
              <a:gd name="adj" fmla="val 9756"/>
            </a:avLst>
          </a:prstGeom>
          <a:solidFill>
            <a:srgbClr val="E8F1EA"/>
          </a:solidFill>
          <a:ln w="12700">
            <a:solidFill>
              <a:srgbClr val="B7C9BA"/>
            </a:solidFill>
            <a:prstDash val="solid"/>
          </a:ln>
        </p:spPr>
      </p:sp>
      <p:pic>
        <p:nvPicPr>
          <p:cNvPr id="21" name="Reveal 99 check icon" descr="Check it:">    </p:cNvPr>
          <p:cNvPicPr>
            <a:picLocks noChangeAspect="1"/>
          </p:cNvPicPr>
          <p:nvPr/>
        </p:nvPicPr>
        <p:blipFill>
          <a:blip r:embed="rId3"/>
          <a:stretch>
            <a:fillRect/>
          </a:stretch>
        </p:blipFill>
        <p:spPr>
          <a:xfrm>
            <a:off x="694944" y="5733288"/>
            <a:ext cx="292608" cy="292608"/>
          </a:xfrm>
          <a:prstGeom prst="rect">
            <a:avLst/>
          </a:prstGeom>
        </p:spPr>
      </p:pic>
      <p:sp>
        <p:nvSpPr>
          <p:cNvPr id="22" name="Reveal 99 check text"/>
          <p:cNvSpPr txBox="1"/>
          <p:nvPr/>
        </p:nvSpPr>
        <p:spPr>
          <a:xfrm>
            <a:off x="1097280" y="5541264"/>
            <a:ext cx="4751680" cy="676656"/>
          </a:xfrm>
          <a:prstGeom prst="rect">
            <a:avLst/>
          </a:prstGeom>
          <a:noFill/>
          <a:ln/>
        </p:spPr>
        <p:txBody>
          <a:bodyPr wrap="square" lIns="0" tIns="0" rIns="0" bIns="0" rtlCol="0" anchor="ctr"/>
          <a:lstStyle/>
          <a:p>
            <a:pPr indent="0" marL="0">
              <a:buNone/>
            </a:pPr>
            <a:r>
              <a:rPr lang="en-US" sz="1400" b="1" dirty="0">
                <a:solidFill>
                  <a:srgbClr val="1E5631"/>
                </a:solidFill>
              </a:rPr>
              <a:t>Check it:  </a:t>
            </a:r>
            <a:r>
              <a:rPr lang="en-US" sz="1400" dirty="0">
                <a:solidFill>
                  <a:srgbClr val="2B2B2B"/>
                </a:solidFill>
              </a:rPr>
              <a:t>Both switches show </a:t>
            </a:r>
            <a:r>
              <a:rPr lang="en-US" sz="1300" b="1" dirty="0">
                <a:solidFill>
                  <a:srgbClr val="1E5631"/>
                </a:solidFill>
                <a:latin typeface="Courier New" pitchFamily="34" charset="0"/>
                <a:ea typeface="Courier New" pitchFamily="34" charset="-122"/>
                <a:cs typeface="Courier New" pitchFamily="34" charset="-120"/>
              </a:rPr>
              <a:t>Po1(SU)</a:t>
            </a:r>
            <a:r>
              <a:rPr lang="en-US" sz="1400" dirty="0">
                <a:solidFill>
                  <a:srgbClr val="2B2B2B"/>
                </a:solidFill>
              </a:rPr>
              <a:t> with </a:t>
            </a:r>
            <a:r>
              <a:rPr lang="en-US" sz="1300" b="1" dirty="0">
                <a:solidFill>
                  <a:srgbClr val="1E5631"/>
                </a:solidFill>
                <a:latin typeface="Courier New" pitchFamily="34" charset="0"/>
                <a:ea typeface="Courier New" pitchFamily="34" charset="-122"/>
                <a:cs typeface="Courier New" pitchFamily="34" charset="-120"/>
              </a:rPr>
              <a:t>Fa0/1(P) Fa0/2(P)</a:t>
            </a:r>
            <a:r>
              <a:rPr lang="en-US" sz="1400" dirty="0">
                <a:solidFill>
                  <a:srgbClr val="2B2B2B"/>
                </a:solidFill>
              </a:rPr>
              <a:t>; STP now treats Po1 as one link.</a:t>
            </a:r>
            <a:endParaRPr lang="en-US" sz="1400" dirty="0"/>
          </a:p>
        </p:txBody>
      </p:sp>
      <p:sp>
        <p:nvSpPr>
          <p:cNvPr id="23" name="Reveal 99 watch box"/>
          <p:cNvSpPr/>
          <p:nvPr/>
        </p:nvSpPr>
        <p:spPr>
          <a:xfrm>
            <a:off x="6233008" y="5504688"/>
            <a:ext cx="5410048" cy="749808"/>
          </a:xfrm>
          <a:prstGeom prst="roundRect">
            <a:avLst>
              <a:gd name="adj" fmla="val 9756"/>
            </a:avLst>
          </a:prstGeom>
          <a:solidFill>
            <a:srgbClr val="FBEAEA"/>
          </a:solidFill>
          <a:ln w="12700">
            <a:solidFill>
              <a:srgbClr val="E9B8B5"/>
            </a:solidFill>
            <a:prstDash val="solid"/>
          </a:ln>
        </p:spPr>
      </p:sp>
      <p:pic>
        <p:nvPicPr>
          <p:cNvPr id="24" name="Reveal 99 watch icon" descr="Watch out:">    </p:cNvPr>
          <p:cNvPicPr>
            <a:picLocks noChangeAspect="1"/>
          </p:cNvPicPr>
          <p:nvPr/>
        </p:nvPicPr>
        <p:blipFill>
          <a:blip r:embed="rId4"/>
          <a:stretch>
            <a:fillRect/>
          </a:stretch>
        </p:blipFill>
        <p:spPr>
          <a:xfrm>
            <a:off x="6379312" y="5733288"/>
            <a:ext cx="292608" cy="292608"/>
          </a:xfrm>
          <a:prstGeom prst="rect">
            <a:avLst/>
          </a:prstGeom>
        </p:spPr>
      </p:pic>
      <p:sp>
        <p:nvSpPr>
          <p:cNvPr id="25" name="Reveal 99 watch text"/>
          <p:cNvSpPr txBox="1"/>
          <p:nvPr/>
        </p:nvSpPr>
        <p:spPr>
          <a:xfrm>
            <a:off x="6781648" y="5541264"/>
            <a:ext cx="4751680" cy="676656"/>
          </a:xfrm>
          <a:prstGeom prst="rect">
            <a:avLst/>
          </a:prstGeom>
          <a:noFill/>
          <a:ln/>
        </p:spPr>
        <p:txBody>
          <a:bodyPr wrap="square" lIns="0" tIns="0" rIns="0" bIns="0" rtlCol="0" anchor="ctr"/>
          <a:lstStyle/>
          <a:p>
            <a:pPr indent="0" marL="0">
              <a:buNone/>
            </a:pPr>
            <a:r>
              <a:rPr lang="en-US" sz="1400" b="1" dirty="0">
                <a:solidFill>
                  <a:srgbClr val="8B1A1A"/>
                </a:solidFill>
              </a:rPr>
              <a:t>Watch out:  </a:t>
            </a:r>
            <a:r>
              <a:rPr lang="en-US" sz="1400" dirty="0">
                <a:solidFill>
                  <a:srgbClr val="2B2B2B"/>
                </a:solidFill>
              </a:rPr>
              <a:t>Members must match: speed, duplex, access/trunk mode and allowed VLANs. (I) or (s) = a mismatch.</a:t>
            </a:r>
            <a:endParaRPr lang="en-US" sz="1400" dirty="0"/>
          </a:p>
        </p:txBody>
      </p:sp>
      <p:sp>
        <p:nvSpPr>
          <p:cNvPr id="26" name="Slide Number Placeholder 0"/>
          <p:cNvSpPr>
            <a:spLocks noGrp="1"/>
          </p:cNvSpPr>
          <p:nvPr>
            <p:ph type="sldNum" sz="quarter" idx="4294967295"/>
          </p:nvPr>
        </p:nvSpPr>
        <p:spPr>
          <a:xfrm>
            <a:off x="10698480" y="6464808"/>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r"/>
            <a:fld id="{F7021451-1387-4CA6-816F-3879F97B5CBC}" type="slidenum">
              <a:rPr b="0" lang="en-US"/>
              <a:t>73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4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0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400"/>
                                        <p:tgtEl>
                                          <p:spTgt spid="1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00"/>
                                        <p:tgtEl>
                                          <p:spTgt spid="20"/>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00"/>
                                        <p:tgtEl>
                                          <p:spTgt spid="21"/>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2"/>
                                        </p:tgtEl>
                                        <p:attrNameLst>
                                          <p:attrName>style.visibility</p:attrName>
                                        </p:attrNameLst>
                                      </p:cBhvr>
                                      <p:to>
                                        <p:strVal val="visible"/>
                                      </p:to>
                                    </p:set>
                                    <p:animEffect transition="in" filter="fade">
                                      <p:cBhvr>
                                        <p:cTn id="43" dur="400"/>
                                        <p:tgtEl>
                                          <p:spTgt spid="22"/>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3"/>
                                        </p:tgtEl>
                                        <p:attrNameLst>
                                          <p:attrName>style.visibility</p:attrName>
                                        </p:attrNameLst>
                                      </p:cBhvr>
                                      <p:to>
                                        <p:strVal val="visible"/>
                                      </p:to>
                                    </p:set>
                                    <p:animEffect transition="in" filter="fade">
                                      <p:cBhvr>
                                        <p:cTn id="46" dur="400"/>
                                        <p:tgtEl>
                                          <p:spTgt spid="23"/>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4"/>
                                        </p:tgtEl>
                                        <p:attrNameLst>
                                          <p:attrName>style.visibility</p:attrName>
                                        </p:attrNameLst>
                                      </p:cBhvr>
                                      <p:to>
                                        <p:strVal val="visible"/>
                                      </p:to>
                                    </p:set>
                                    <p:animEffect transition="in" filter="fade">
                                      <p:cBhvr>
                                        <p:cTn id="49" dur="400"/>
                                        <p:tgtEl>
                                          <p:spTgt spid="24"/>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fade">
                                      <p:cBhvr>
                                        <p:cTn id="52"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3" grpId="0" animBg="1"/>
      <p:bldP spid="15" grpId="0" animBg="1"/>
      <p:bldP spid="17" grpId="0" animBg="1"/>
      <p:bldP spid="19" grpId="0" animBg="1"/>
      <p:bldP spid="20" grpId="0" animBg="1"/>
      <p:bldP spid="22" grpId="0" animBg="1"/>
      <p:bldP spid="23" grpId="0" animBg="1"/>
      <p:bldP spid="25"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1"/>
          <p:cNvSpPr/>
          <p:nvPr>
            <p:ph idx="101" type="body" hasCustomPrompt="1"/>
          </p:nvPr>
        </p:nvSpPr>
        <p:spPr>
          <a:xfrm>
            <a:off x="548640" y="685800"/>
            <a:ext cx="3200400" cy="1143000"/>
          </a:xfrm>
          <a:prstGeom prst="rect">
            <a:avLst/>
          </a:prstGeom>
          <a:noFill/>
          <a:ln/>
        </p:spPr>
        <p:txBody>
          <a:bodyPr wrap="square" lIns="0" tIns="0" rIns="0" bIns="0" rtlCol="0" anchor="b"/>
          <a:lstStyle/>
          <a:p>
            <a:pPr algn="l" indent="0" marL="0">
              <a:buNone/>
            </a:pPr>
            <a:r>
              <a:rPr lang="en-US" sz="7200" b="1" dirty="0">
                <a:solidFill>
                  <a:schemeClr val="accent3"/>
                </a:solidFill>
                <a:latin typeface="Cambria" pitchFamily="34" charset="0"/>
                <a:ea typeface="Cambria" pitchFamily="34" charset="-122"/>
                <a:cs typeface="Cambria" pitchFamily="34" charset="-120"/>
              </a:rPr>
              <a:t>10</a:t>
            </a:r>
            <a:endParaRPr lang="en-US" sz="7200" dirty="0"/>
          </a:p>
        </p:txBody>
      </p:sp>
      <p:sp>
        <p:nvSpPr>
          <p:cNvPr id="3" name="Text 1"/>
          <p:cNvSpPr/>
          <p:nvPr>
            <p:ph idx="102" type="title" hasCustomPrompt="1"/>
          </p:nvPr>
        </p:nvSpPr>
        <p:spPr>
          <a:xfrm>
            <a:off x="548640" y="2011680"/>
            <a:ext cx="6492240" cy="1600200"/>
          </a:xfrm>
          <a:prstGeom prst="rect">
            <a:avLst/>
          </a:prstGeom>
          <a:noFill/>
          <a:ln/>
        </p:spPr>
        <p:txBody>
          <a:bodyPr wrap="square" lIns="0" tIns="0" rIns="0" bIns="0" rtlCol="0" anchor="t"/>
          <a:lstStyle/>
          <a:p>
            <a:pPr algn="l" indent="0" marL="0">
              <a:buNone/>
            </a:pPr>
            <a:r>
              <a:rPr lang="en-US" sz="3400" b="1" dirty="0">
                <a:solidFill>
                  <a:srgbClr val="FFFFFF"/>
                </a:solidFill>
              </a:rPr>
              <a:t>How to manage devices and add IPv6</a:t>
            </a:r>
            <a:endParaRPr lang="en-US" sz="3400" dirty="0"/>
          </a:p>
        </p:txBody>
      </p:sp>
      <p:sp>
        <p:nvSpPr>
          <p:cNvPr id="4" name="Text 1"/>
          <p:cNvSpPr/>
          <p:nvPr>
            <p:ph idx="103" type="body" hasCustomPrompt="1"/>
          </p:nvPr>
        </p:nvSpPr>
        <p:spPr>
          <a:xfrm>
            <a:off x="548640" y="3703320"/>
            <a:ext cx="6309360" cy="1188720"/>
          </a:xfrm>
          <a:prstGeom prst="rect">
            <a:avLst/>
          </a:prstGeom>
          <a:noFill/>
          <a:ln/>
        </p:spPr>
        <p:txBody>
          <a:bodyPr wrap="square" lIns="0" tIns="0" rIns="0" bIns="0" rtlCol="0" anchor="t"/>
          <a:lstStyle/>
          <a:p>
            <a:pPr algn="l" indent="0" marL="0">
              <a:buNone/>
            </a:pPr>
            <a:r>
              <a:rPr lang="en-US" sz="1600" dirty="0">
                <a:solidFill>
                  <a:srgbClr val="CFE3D4"/>
                </a:solidFill>
              </a:rPr>
              <a:t>Keep every device on the same clock, send logs to a server, discover neighbours, back up configurations — and switch on IPv6. (Labs 9 and 10)</a:t>
            </a:r>
            <a:endParaRPr lang="en-US" sz="1600" dirty="0"/>
          </a:p>
        </p:txBody>
      </p:sp>
      <p:sp>
        <p:nvSpPr>
          <p:cNvPr id="5" name="Shape 3"/>
          <p:cNvSpPr/>
          <p:nvPr/>
        </p:nvSpPr>
        <p:spPr>
          <a:xfrm>
            <a:off x="7452360" y="1866583"/>
            <a:ext cx="4187952" cy="3124835"/>
          </a:xfrm>
          <a:prstGeom prst="roundRect">
            <a:avLst>
              <a:gd name="adj" fmla="val 2926"/>
            </a:avLst>
          </a:prstGeom>
          <a:solidFill>
            <a:srgbClr val="1B2B22">
              <a:alpha val="75000"/>
            </a:srgbClr>
          </a:solidFill>
          <a:ln w="12700">
            <a:solidFill>
              <a:srgbClr val="24663A"/>
            </a:solidFill>
            <a:prstDash val="solid"/>
          </a:ln>
        </p:spPr>
      </p:sp>
      <p:sp>
        <p:nvSpPr>
          <p:cNvPr id="6" name="Text 4"/>
          <p:cNvSpPr txBox="1"/>
          <p:nvPr/>
        </p:nvSpPr>
        <p:spPr>
          <a:xfrm>
            <a:off x="7726680" y="2122615"/>
            <a:ext cx="3639312" cy="320040"/>
          </a:xfrm>
          <a:prstGeom prst="rect">
            <a:avLst/>
          </a:prstGeom>
          <a:noFill/>
          <a:ln/>
        </p:spPr>
        <p:txBody>
          <a:bodyPr wrap="square" lIns="0" tIns="0" rIns="0" bIns="0" rtlCol="0" anchor="ctr"/>
          <a:lstStyle/>
          <a:p>
            <a:pPr indent="0" marL="0">
              <a:buNone/>
            </a:pPr>
            <a:r>
              <a:rPr lang="en-US" sz="1500" b="1" dirty="0">
                <a:solidFill>
                  <a:srgbClr val="E8B92E"/>
                </a:solidFill>
              </a:rPr>
              <a:t>In this part, learn how to:</a:t>
            </a:r>
            <a:endParaRPr lang="en-US" sz="1500" dirty="0"/>
          </a:p>
        </p:txBody>
      </p:sp>
      <p:sp>
        <p:nvSpPr>
          <p:cNvPr id="7" name="Text 5"/>
          <p:cNvSpPr txBox="1"/>
          <p:nvPr/>
        </p:nvSpPr>
        <p:spPr>
          <a:xfrm>
            <a:off x="7726680" y="2598103"/>
            <a:ext cx="3730752" cy="2210435"/>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FFFFFF"/>
                </a:solidFill>
              </a:rPr>
              <a:t>set the time and send logs (NTP, Syslog)</a:t>
            </a:r>
            <a:endParaRPr lang="en-US" sz="1500" dirty="0"/>
          </a:p>
          <a:p>
            <a:pPr marL="203200" indent="-203200">
              <a:spcAft>
                <a:spcPts val="800"/>
              </a:spcAft>
              <a:buSzPct val="100000"/>
              <a:buChar char="•"/>
            </a:pPr>
            <a:r>
              <a:rPr lang="en-US" sz="1500" dirty="0">
                <a:solidFill>
                  <a:srgbClr val="FFFFFF"/>
                </a:solidFill>
              </a:rPr>
              <a:t>discover neighbours and allow monitoring (CDP, LLDP, SNMP)</a:t>
            </a:r>
            <a:endParaRPr lang="en-US" sz="1500" dirty="0"/>
          </a:p>
          <a:p>
            <a:pPr marL="203200" indent="-203200">
              <a:spcAft>
                <a:spcPts val="800"/>
              </a:spcAft>
              <a:buSzPct val="100000"/>
              <a:buChar char="•"/>
            </a:pPr>
            <a:r>
              <a:rPr lang="en-US" sz="1500" dirty="0">
                <a:solidFill>
                  <a:srgbClr val="FFFFFF"/>
                </a:solidFill>
              </a:rPr>
              <a:t>back up and restore with TFTP</a:t>
            </a:r>
            <a:endParaRPr lang="en-US" sz="1500" dirty="0"/>
          </a:p>
          <a:p>
            <a:pPr marL="203200" indent="-203200">
              <a:spcAft>
                <a:spcPts val="800"/>
              </a:spcAft>
              <a:buSzPct val="100000"/>
              <a:buChar char="•"/>
            </a:pPr>
            <a:r>
              <a:rPr lang="en-US" sz="1500" dirty="0">
                <a:solidFill>
                  <a:srgbClr val="FFFFFF"/>
                </a:solidFill>
              </a:rPr>
              <a:t>configure basic IPv6 addressing and routing</a:t>
            </a:r>
            <a:endParaRPr lang="en-US" sz="1500" dirty="0"/>
          </a:p>
        </p:txBody>
      </p:sp>
      <p:sp>
        <p:nvSpPr>
          <p:cNvPr id="8" name="Shape 6"/>
          <p:cNvSpPr/>
          <p:nvPr/>
        </p:nvSpPr>
        <p:spPr>
          <a:xfrm>
            <a:off x="548640" y="5989320"/>
            <a:ext cx="914400" cy="566928"/>
          </a:xfrm>
          <a:prstGeom prst="roundRect">
            <a:avLst>
              <a:gd name="adj" fmla="val 9677"/>
            </a:avLst>
          </a:prstGeom>
          <a:solidFill>
            <a:srgbClr val="FFFFFF"/>
          </a:solidFill>
          <a:ln/>
        </p:spPr>
      </p:sp>
      <p:pic>
        <p:nvPicPr>
          <p:cNvPr id="9" name="Image 0" descr="Kabete National Polytechnic logo">    </p:cNvPr>
          <p:cNvPicPr>
            <a:picLocks noChangeAspect="1"/>
          </p:cNvPicPr>
          <p:nvPr/>
        </p:nvPicPr>
        <p:blipFill>
          <a:blip r:embed="rId1"/>
          <a:stretch>
            <a:fillRect/>
          </a:stretch>
        </p:blipFill>
        <p:spPr>
          <a:xfrm>
            <a:off x="594360" y="6022175"/>
            <a:ext cx="822960" cy="501218"/>
          </a:xfrm>
          <a:prstGeom prst="rect">
            <a:avLst/>
          </a:prstGeom>
        </p:spPr>
      </p:pic>
      <p:pic>
        <p:nvPicPr>
          <p:cNvPr id="10" name="Home button" descr="Home: back to the workbook menu">
            <a:hlinkClick r:id="rId3" tooltip="Back to the workbook menu" action="ppaction://hlinksldjump"/>
          </p:cNvPr>
          <p:cNvPicPr>
            <a:picLocks noChangeAspect="1"/>
          </p:cNvPicPr>
          <p:nvPr/>
        </p:nvPicPr>
        <p:blipFill>
          <a:blip r:embed="rId2"/>
          <a:stretch>
            <a:fillRect/>
          </a:stretch>
        </p:blipFill>
        <p:spPr>
          <a:xfrm>
            <a:off x="11365992" y="6336792"/>
            <a:ext cx="365760" cy="365760"/>
          </a:xfrm>
          <a:prstGeom prst="rect">
            <a:avLst/>
          </a:prstGeom>
        </p:spPr>
      </p:pic>
      <p:sp>
        <p:nvSpPr>
          <p:cNvPr id="25" name="Slide Number Placeholder 0"/>
          <p:cNvSpPr>
            <a:spLocks noGrp="1"/>
          </p:cNvSpPr>
          <p:nvPr>
            <p:ph type="sldNum" sz="quarter" idx="4294967295"/>
          </p:nvPr>
        </p:nvSpPr>
        <p:spPr>
          <a:xfrm>
            <a:off x="10698480" y="6464808"/>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CFE3D4"/>
                </a:solidFill>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1"/>
          <p:cNvSpPr/>
          <p:nvPr>
            <p:ph idx="102" type="body" hasCustomPrompt="1"/>
          </p:nvPr>
        </p:nvSpPr>
        <p:spPr>
          <a:xfrm>
            <a:off x="548640" y="274320"/>
            <a:ext cx="9966960" cy="256032"/>
          </a:xfrm>
          <a:prstGeom prst="rect">
            <a:avLst/>
          </a:prstGeom>
          <a:noFill/>
          <a:ln/>
        </p:spPr>
        <p:txBody>
          <a:bodyPr wrap="square" lIns="0" tIns="0" rIns="0" bIns="0" rtlCol="0" anchor="ctr"/>
          <a:lstStyle/>
          <a:p>
            <a:pPr algn="l" indent="0" marL="0">
              <a:buNone/>
            </a:pPr>
            <a:r>
              <a:rPr lang="en-US" sz="1100" b="1" spc="100" kern="0" dirty="0">
                <a:solidFill>
                  <a:schemeClr val="accent2"/>
                </a:solidFill>
              </a:rPr>
              <a:t>10  •  MANAGEMENT &amp; IPV6  •  LAB 9</a:t>
            </a:r>
            <a:endParaRPr lang="en-US" sz="1100" dirty="0"/>
          </a:p>
        </p:txBody>
      </p:sp>
      <p:sp>
        <p:nvSpPr>
          <p:cNvPr id="3" name="Text 1"/>
          <p:cNvSpPr/>
          <p:nvPr>
            <p:ph idx="103" type="title" hasCustomPrompt="1"/>
          </p:nvPr>
        </p:nvSpPr>
        <p:spPr>
          <a:xfrm>
            <a:off x="548640" y="548640"/>
            <a:ext cx="10149840" cy="548640"/>
          </a:xfrm>
          <a:prstGeom prst="rect">
            <a:avLst/>
          </a:prstGeom>
          <a:noFill/>
          <a:ln/>
        </p:spPr>
        <p:txBody>
          <a:bodyPr wrap="square" lIns="0" tIns="0" rIns="0" bIns="0" rtlCol="0" anchor="ctr"/>
          <a:lstStyle/>
          <a:p>
            <a:pPr algn="l" indent="0" marL="0">
              <a:buNone/>
            </a:pPr>
            <a:r>
              <a:rPr lang="en-US" sz="2600" b="1" dirty="0">
                <a:solidFill>
                  <a:schemeClr val="accent1"/>
                </a:solidFill>
              </a:rPr>
              <a:t>How to set the time and send logs to a server</a:t>
            </a:r>
            <a:endParaRPr lang="en-US" sz="2600" dirty="0"/>
          </a:p>
        </p:txBody>
      </p:sp>
      <p:pic>
        <p:nvPicPr>
          <p:cNvPr id="4" name="Home button" descr="Home: back to the workbook menu">
            <a:hlinkClick r:id="rId2" tooltip="Back to the workbook menu" action="ppaction://hlinksldjump"/>
          </p:cNvPr>
          <p:cNvPicPr>
            <a:picLocks noChangeAspect="1"/>
          </p:cNvPicPr>
          <p:nvPr/>
        </p:nvPicPr>
        <p:blipFill>
          <a:blip r:embed="rId1"/>
          <a:stretch>
            <a:fillRect/>
          </a:stretch>
        </p:blipFill>
        <p:spPr>
          <a:xfrm>
            <a:off x="11365992" y="6336792"/>
            <a:ext cx="365760" cy="365760"/>
          </a:xfrm>
          <a:prstGeom prst="rect">
            <a:avLst/>
          </a:prstGeom>
        </p:spPr>
      </p:pic>
      <p:sp>
        <p:nvSpPr>
          <p:cNvPr id="5" name="Goal"/>
          <p:cNvSpPr txBox="1"/>
          <p:nvPr/>
        </p:nvSpPr>
        <p:spPr>
          <a:xfrm>
            <a:off x="548640" y="1161288"/>
            <a:ext cx="11094415" cy="384048"/>
          </a:xfrm>
          <a:prstGeom prst="rect">
            <a:avLst/>
          </a:prstGeom>
          <a:noFill/>
          <a:ln/>
        </p:spPr>
        <p:txBody>
          <a:bodyPr wrap="square" lIns="0" tIns="0" rIns="0" bIns="0" rtlCol="0" anchor="ctr"/>
          <a:lstStyle/>
          <a:p>
            <a:pPr indent="0" marL="0">
              <a:buNone/>
            </a:pPr>
            <a:r>
              <a:rPr lang="en-US" sz="1400" b="1" dirty="0">
                <a:solidFill>
                  <a:srgbClr val="2B7043"/>
                </a:solidFill>
              </a:rPr>
              <a:t>Goal:  </a:t>
            </a:r>
            <a:r>
              <a:rPr lang="en-US" sz="1400" dirty="0">
                <a:solidFill>
                  <a:srgbClr val="2B2B2B"/>
                </a:solidFill>
              </a:rPr>
              <a:t>Logs are only useful if every device has the right time and sends its messages to one place.</a:t>
            </a:r>
            <a:endParaRPr lang="en-US" sz="1400" dirty="0"/>
          </a:p>
        </p:txBody>
      </p:sp>
      <p:sp>
        <p:nvSpPr>
          <p:cNvPr id="6" name="Command header"/>
          <p:cNvSpPr/>
          <p:nvPr/>
        </p:nvSpPr>
        <p:spPr>
          <a:xfrm>
            <a:off x="548640" y="1664208"/>
            <a:ext cx="6153912" cy="310896"/>
          </a:xfrm>
          <a:prstGeom prst="rect">
            <a:avLst/>
          </a:prstGeom>
          <a:solidFill>
            <a:srgbClr val="1B2B22"/>
          </a:solidFill>
          <a:ln/>
        </p:spPr>
        <p:txBody>
          <a:bodyPr wrap="square" lIns="109728" tIns="45720" rIns="109728" bIns="45720" rtlCol="0" anchor="ctr"/>
          <a:lstStyle/>
          <a:p>
            <a:pPr indent="0" marL="0">
              <a:buNone/>
            </a:pPr>
            <a:r>
              <a:rPr lang="en-US" sz="1100" dirty="0">
                <a:solidFill>
                  <a:srgbClr val="E0605A"/>
                </a:solidFill>
              </a:rPr>
              <a:t>●  </a:t>
            </a:r>
            <a:r>
              <a:rPr lang="en-US" sz="1100" dirty="0">
                <a:solidFill>
                  <a:srgbClr val="E8B92E"/>
                </a:solidFill>
              </a:rPr>
              <a:t>●  </a:t>
            </a:r>
            <a:r>
              <a:rPr lang="en-US" sz="1100" dirty="0">
                <a:solidFill>
                  <a:srgbClr val="4CAF50"/>
                </a:solidFill>
              </a:rPr>
              <a:t>●   </a:t>
            </a:r>
            <a:r>
              <a:rPr lang="en-US" sz="1100" b="1" dirty="0">
                <a:solidFill>
                  <a:srgbClr val="C9D6CC"/>
                </a:solidFill>
              </a:rPr>
              <a:t>R1  —  type the white text, then press Enter</a:t>
            </a:r>
            <a:endParaRPr lang="en-US" sz="1100" dirty="0"/>
          </a:p>
        </p:txBody>
      </p:sp>
      <p:sp>
        <p:nvSpPr>
          <p:cNvPr id="7" name="Meaning header"/>
          <p:cNvSpPr/>
          <p:nvPr/>
        </p:nvSpPr>
        <p:spPr>
          <a:xfrm>
            <a:off x="6720840" y="1664208"/>
            <a:ext cx="4922215" cy="310896"/>
          </a:xfrm>
          <a:prstGeom prst="rect">
            <a:avLst/>
          </a:prstGeom>
          <a:solidFill>
            <a:srgbClr val="E8F1EA"/>
          </a:solidFill>
          <a:ln/>
        </p:spPr>
        <p:txBody>
          <a:bodyPr wrap="square" lIns="109728" tIns="45720" rIns="109728" bIns="45720" rtlCol="0" anchor="ctr"/>
          <a:lstStyle/>
          <a:p>
            <a:pPr indent="0" marL="0">
              <a:buNone/>
            </a:pPr>
            <a:r>
              <a:rPr lang="en-US" sz="1200" b="1" dirty="0">
                <a:solidFill>
                  <a:srgbClr val="1E5631"/>
                </a:solidFill>
              </a:rPr>
              <a:t>What it does</a:t>
            </a:r>
            <a:endParaRPr lang="en-US" sz="1200" dirty="0"/>
          </a:p>
        </p:txBody>
      </p:sp>
      <p:sp>
        <p:nvSpPr>
          <p:cNvPr id="8" name="Command 01"/>
          <p:cNvSpPr/>
          <p:nvPr/>
        </p:nvSpPr>
        <p:spPr>
          <a:xfrm>
            <a:off x="548640" y="1993392"/>
            <a:ext cx="6153912" cy="54380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 </a:t>
            </a:r>
            <a:r>
              <a:rPr lang="en-US" sz="1200" b="1" dirty="0">
                <a:solidFill>
                  <a:srgbClr val="FFFFFF"/>
                </a:solidFill>
                <a:latin typeface="Courier New" pitchFamily="34" charset="0"/>
                <a:ea typeface="Courier New" pitchFamily="34" charset="-122"/>
                <a:cs typeface="Courier New" pitchFamily="34" charset="-120"/>
              </a:rPr>
              <a:t>clock set 09:00:00 6 October 2026</a:t>
            </a:r>
            <a:endParaRPr lang="en-US" sz="1200" dirty="0"/>
          </a:p>
        </p:txBody>
      </p:sp>
      <p:sp>
        <p:nvSpPr>
          <p:cNvPr id="9" name="Reveal 01 meaning"/>
          <p:cNvSpPr/>
          <p:nvPr/>
        </p:nvSpPr>
        <p:spPr>
          <a:xfrm>
            <a:off x="6720840" y="1993392"/>
            <a:ext cx="4922215" cy="543809"/>
          </a:xfrm>
          <a:prstGeom prst="rect">
            <a:avLst/>
          </a:prstGeom>
          <a:solidFill>
            <a:srgbClr val="F2F8F3"/>
          </a:solidFill>
          <a:ln/>
        </p:spPr>
        <p:txBody>
          <a:bodyPr wrap="square" lIns="109728" tIns="45720" rIns="109728" bIns="45720" rtlCol="0" anchor="ctr"/>
          <a:lstStyle/>
          <a:p>
            <a:pPr indent="0" marL="0">
              <a:buNone/>
            </a:pPr>
            <a:r>
              <a:rPr lang="en-US" sz="1400" dirty="0">
                <a:solidFill>
                  <a:srgbClr val="2B2B2B"/>
                </a:solidFill>
              </a:rPr>
              <a:t>Set the clock by hand (privileged mode). Fine for one device; NTP keeps every device in step.</a:t>
            </a:r>
            <a:endParaRPr lang="en-US" sz="1400" dirty="0"/>
          </a:p>
        </p:txBody>
      </p:sp>
      <p:sp>
        <p:nvSpPr>
          <p:cNvPr id="10" name="Command 02"/>
          <p:cNvSpPr/>
          <p:nvPr/>
        </p:nvSpPr>
        <p:spPr>
          <a:xfrm>
            <a:off x="548640" y="2555489"/>
            <a:ext cx="6153912" cy="54380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R1(config)# </a:t>
            </a:r>
            <a:r>
              <a:rPr lang="en-US" sz="1200" b="1" dirty="0">
                <a:solidFill>
                  <a:srgbClr val="FFFFFF"/>
                </a:solidFill>
                <a:latin typeface="Courier New" pitchFamily="34" charset="0"/>
                <a:ea typeface="Courier New" pitchFamily="34" charset="-122"/>
                <a:cs typeface="Courier New" pitchFamily="34" charset="-120"/>
              </a:rPr>
              <a:t>ntp server 192.168.50.10</a:t>
            </a:r>
            <a:endParaRPr lang="en-US" sz="1200" dirty="0"/>
          </a:p>
        </p:txBody>
      </p:sp>
      <p:sp>
        <p:nvSpPr>
          <p:cNvPr id="11" name="Reveal 02 meaning"/>
          <p:cNvSpPr/>
          <p:nvPr/>
        </p:nvSpPr>
        <p:spPr>
          <a:xfrm>
            <a:off x="6720840" y="2555489"/>
            <a:ext cx="4922215" cy="543809"/>
          </a:xfrm>
          <a:prstGeom prst="rect">
            <a:avLst/>
          </a:prstGeom>
          <a:solidFill>
            <a:srgbClr val="FFFFFF"/>
          </a:solidFill>
          <a:ln/>
        </p:spPr>
        <p:txBody>
          <a:bodyPr wrap="square" lIns="109728" tIns="45720" rIns="109728" bIns="45720" rtlCol="0" anchor="ctr"/>
          <a:lstStyle/>
          <a:p>
            <a:pPr indent="0" marL="0">
              <a:buNone/>
            </a:pPr>
            <a:r>
              <a:rPr lang="en-US" sz="1400" dirty="0">
                <a:solidFill>
                  <a:srgbClr val="2B2B2B"/>
                </a:solidFill>
              </a:rPr>
              <a:t>Take the time from the NTP server (SRV1), so the logs of all devices line up.</a:t>
            </a:r>
            <a:endParaRPr lang="en-US" sz="1400" dirty="0"/>
          </a:p>
        </p:txBody>
      </p:sp>
      <p:sp>
        <p:nvSpPr>
          <p:cNvPr id="12" name="Command 03"/>
          <p:cNvSpPr/>
          <p:nvPr/>
        </p:nvSpPr>
        <p:spPr>
          <a:xfrm>
            <a:off x="548640" y="3117586"/>
            <a:ext cx="6153912" cy="326768"/>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R1(config)# </a:t>
            </a:r>
            <a:r>
              <a:rPr lang="en-US" sz="1200" b="1" dirty="0">
                <a:solidFill>
                  <a:srgbClr val="FFFFFF"/>
                </a:solidFill>
                <a:latin typeface="Courier New" pitchFamily="34" charset="0"/>
                <a:ea typeface="Courier New" pitchFamily="34" charset="-122"/>
                <a:cs typeface="Courier New" pitchFamily="34" charset="-120"/>
              </a:rPr>
              <a:t>service timestamps log datetime msec</a:t>
            </a:r>
            <a:endParaRPr lang="en-US" sz="1200" dirty="0"/>
          </a:p>
        </p:txBody>
      </p:sp>
      <p:sp>
        <p:nvSpPr>
          <p:cNvPr id="13" name="Reveal 03 meaning"/>
          <p:cNvSpPr/>
          <p:nvPr/>
        </p:nvSpPr>
        <p:spPr>
          <a:xfrm>
            <a:off x="6720840" y="3117586"/>
            <a:ext cx="4922215" cy="326768"/>
          </a:xfrm>
          <a:prstGeom prst="rect">
            <a:avLst/>
          </a:prstGeom>
          <a:solidFill>
            <a:srgbClr val="F2F8F3"/>
          </a:solidFill>
          <a:ln/>
        </p:spPr>
        <p:txBody>
          <a:bodyPr wrap="square" lIns="109728" tIns="45720" rIns="109728" bIns="45720" rtlCol="0" anchor="ctr"/>
          <a:lstStyle/>
          <a:p>
            <a:pPr indent="0" marL="0">
              <a:buNone/>
            </a:pPr>
            <a:r>
              <a:rPr lang="en-US" sz="1400" dirty="0">
                <a:solidFill>
                  <a:srgbClr val="2B2B2B"/>
                </a:solidFill>
              </a:rPr>
              <a:t>Stamp every log message with the date and time.</a:t>
            </a:r>
            <a:endParaRPr lang="en-US" sz="1400" dirty="0"/>
          </a:p>
        </p:txBody>
      </p:sp>
      <p:sp>
        <p:nvSpPr>
          <p:cNvPr id="14" name="Command 04"/>
          <p:cNvSpPr/>
          <p:nvPr/>
        </p:nvSpPr>
        <p:spPr>
          <a:xfrm>
            <a:off x="548640" y="3462642"/>
            <a:ext cx="6153912" cy="326768"/>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R1(config)# </a:t>
            </a:r>
            <a:r>
              <a:rPr lang="en-US" sz="1200" b="1" dirty="0">
                <a:solidFill>
                  <a:srgbClr val="FFFFFF"/>
                </a:solidFill>
                <a:latin typeface="Courier New" pitchFamily="34" charset="0"/>
                <a:ea typeface="Courier New" pitchFamily="34" charset="-122"/>
                <a:cs typeface="Courier New" pitchFamily="34" charset="-120"/>
              </a:rPr>
              <a:t>logging host 192.168.50.10</a:t>
            </a:r>
            <a:endParaRPr lang="en-US" sz="1200" dirty="0"/>
          </a:p>
        </p:txBody>
      </p:sp>
      <p:sp>
        <p:nvSpPr>
          <p:cNvPr id="15" name="Reveal 04 meaning"/>
          <p:cNvSpPr/>
          <p:nvPr/>
        </p:nvSpPr>
        <p:spPr>
          <a:xfrm>
            <a:off x="6720840" y="3462642"/>
            <a:ext cx="4922215" cy="326768"/>
          </a:xfrm>
          <a:prstGeom prst="rect">
            <a:avLst/>
          </a:prstGeom>
          <a:solidFill>
            <a:srgbClr val="FFFFFF"/>
          </a:solidFill>
          <a:ln/>
        </p:spPr>
        <p:txBody>
          <a:bodyPr wrap="square" lIns="109728" tIns="45720" rIns="109728" bIns="45720" rtlCol="0" anchor="ctr"/>
          <a:lstStyle/>
          <a:p>
            <a:pPr indent="0" marL="0">
              <a:buNone/>
            </a:pPr>
            <a:r>
              <a:rPr lang="en-US" sz="1400" dirty="0">
                <a:solidFill>
                  <a:srgbClr val="2B2B2B"/>
                </a:solidFill>
              </a:rPr>
              <a:t>Copy every log message to the Syslog service on SRV1.</a:t>
            </a:r>
            <a:endParaRPr lang="en-US" sz="1400" dirty="0"/>
          </a:p>
        </p:txBody>
      </p:sp>
      <p:sp>
        <p:nvSpPr>
          <p:cNvPr id="16" name="Command 05"/>
          <p:cNvSpPr/>
          <p:nvPr/>
        </p:nvSpPr>
        <p:spPr>
          <a:xfrm>
            <a:off x="548640" y="3807699"/>
            <a:ext cx="6153912" cy="54380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R1(config)# </a:t>
            </a:r>
            <a:r>
              <a:rPr lang="en-US" sz="1200" b="1" dirty="0">
                <a:solidFill>
                  <a:srgbClr val="FFFFFF"/>
                </a:solidFill>
                <a:latin typeface="Courier New" pitchFamily="34" charset="0"/>
                <a:ea typeface="Courier New" pitchFamily="34" charset="-122"/>
                <a:cs typeface="Courier New" pitchFamily="34" charset="-120"/>
              </a:rPr>
              <a:t>logging trap debugging</a:t>
            </a:r>
            <a:endParaRPr lang="en-US" sz="1200" dirty="0"/>
          </a:p>
        </p:txBody>
      </p:sp>
      <p:sp>
        <p:nvSpPr>
          <p:cNvPr id="17" name="Reveal 05 meaning"/>
          <p:cNvSpPr/>
          <p:nvPr/>
        </p:nvSpPr>
        <p:spPr>
          <a:xfrm>
            <a:off x="6720840" y="3807699"/>
            <a:ext cx="4922215" cy="543809"/>
          </a:xfrm>
          <a:prstGeom prst="rect">
            <a:avLst/>
          </a:prstGeom>
          <a:solidFill>
            <a:srgbClr val="F2F8F3"/>
          </a:solidFill>
          <a:ln/>
        </p:spPr>
        <p:txBody>
          <a:bodyPr wrap="square" lIns="109728" tIns="45720" rIns="109728" bIns="45720" rtlCol="0" anchor="ctr"/>
          <a:lstStyle/>
          <a:p>
            <a:pPr indent="0" marL="0">
              <a:buNone/>
            </a:pPr>
            <a:r>
              <a:rPr lang="en-US" sz="1400" dirty="0">
                <a:solidFill>
                  <a:srgbClr val="2B2B2B"/>
                </a:solidFill>
              </a:rPr>
              <a:t>Send all severity levels (0–7) — fine in a lab. Real networks usually send </a:t>
            </a:r>
            <a:r>
              <a:rPr lang="en-US" sz="1300" b="1" dirty="0">
                <a:solidFill>
                  <a:srgbClr val="1E5631"/>
                </a:solidFill>
                <a:latin typeface="Courier New" pitchFamily="34" charset="0"/>
                <a:ea typeface="Courier New" pitchFamily="34" charset="-122"/>
                <a:cs typeface="Courier New" pitchFamily="34" charset="-120"/>
              </a:rPr>
              <a:t>informational</a:t>
            </a:r>
            <a:r>
              <a:rPr lang="en-US" sz="1400" dirty="0">
                <a:solidFill>
                  <a:srgbClr val="2B2B2B"/>
                </a:solidFill>
              </a:rPr>
              <a:t> (6).</a:t>
            </a:r>
            <a:endParaRPr lang="en-US" sz="1400" dirty="0"/>
          </a:p>
        </p:txBody>
      </p:sp>
      <p:sp>
        <p:nvSpPr>
          <p:cNvPr id="18" name="Reveal 99 check box"/>
          <p:cNvSpPr/>
          <p:nvPr/>
        </p:nvSpPr>
        <p:spPr>
          <a:xfrm>
            <a:off x="548640" y="5504688"/>
            <a:ext cx="5410048" cy="749808"/>
          </a:xfrm>
          <a:prstGeom prst="roundRect">
            <a:avLst>
              <a:gd name="adj" fmla="val 9756"/>
            </a:avLst>
          </a:prstGeom>
          <a:solidFill>
            <a:srgbClr val="E8F1EA"/>
          </a:solidFill>
          <a:ln w="12700">
            <a:solidFill>
              <a:srgbClr val="B7C9BA"/>
            </a:solidFill>
            <a:prstDash val="solid"/>
          </a:ln>
        </p:spPr>
      </p:sp>
      <p:pic>
        <p:nvPicPr>
          <p:cNvPr id="19" name="Reveal 99 check icon" descr="Check it:">    </p:cNvPr>
          <p:cNvPicPr>
            <a:picLocks noChangeAspect="1"/>
          </p:cNvPicPr>
          <p:nvPr/>
        </p:nvPicPr>
        <p:blipFill>
          <a:blip r:embed="rId3"/>
          <a:stretch>
            <a:fillRect/>
          </a:stretch>
        </p:blipFill>
        <p:spPr>
          <a:xfrm>
            <a:off x="694944" y="5733288"/>
            <a:ext cx="292608" cy="292608"/>
          </a:xfrm>
          <a:prstGeom prst="rect">
            <a:avLst/>
          </a:prstGeom>
        </p:spPr>
      </p:pic>
      <p:sp>
        <p:nvSpPr>
          <p:cNvPr id="20" name="Reveal 99 check text"/>
          <p:cNvSpPr txBox="1"/>
          <p:nvPr/>
        </p:nvSpPr>
        <p:spPr>
          <a:xfrm>
            <a:off x="1097280" y="5541264"/>
            <a:ext cx="4751680" cy="676656"/>
          </a:xfrm>
          <a:prstGeom prst="rect">
            <a:avLst/>
          </a:prstGeom>
          <a:noFill/>
          <a:ln/>
        </p:spPr>
        <p:txBody>
          <a:bodyPr wrap="square" lIns="0" tIns="0" rIns="0" bIns="0" rtlCol="0" anchor="ctr"/>
          <a:lstStyle/>
          <a:p>
            <a:pPr indent="0" marL="0">
              <a:buNone/>
            </a:pPr>
            <a:r>
              <a:rPr lang="en-US" sz="1400" b="1" dirty="0">
                <a:solidFill>
                  <a:srgbClr val="1E5631"/>
                </a:solidFill>
              </a:rPr>
              <a:t>Check it:  </a:t>
            </a:r>
            <a:r>
              <a:rPr lang="en-US" sz="1300" b="1" dirty="0">
                <a:solidFill>
                  <a:srgbClr val="1E5631"/>
                </a:solidFill>
                <a:latin typeface="Courier New" pitchFamily="34" charset="0"/>
                <a:ea typeface="Courier New" pitchFamily="34" charset="-122"/>
                <a:cs typeface="Courier New" pitchFamily="34" charset="-120"/>
              </a:rPr>
              <a:t>show ntp status</a:t>
            </a:r>
            <a:r>
              <a:rPr lang="en-US" sz="1400" dirty="0">
                <a:solidFill>
                  <a:srgbClr val="2B2B2B"/>
                </a:solidFill>
              </a:rPr>
              <a:t> → “Clock is synchronized”. SRV1 › Services › SYSLOG lists R1’s messages.</a:t>
            </a:r>
            <a:endParaRPr lang="en-US" sz="1400" dirty="0"/>
          </a:p>
        </p:txBody>
      </p:sp>
      <p:sp>
        <p:nvSpPr>
          <p:cNvPr id="21" name="Reveal 99 watch box"/>
          <p:cNvSpPr/>
          <p:nvPr/>
        </p:nvSpPr>
        <p:spPr>
          <a:xfrm>
            <a:off x="6233008" y="5504688"/>
            <a:ext cx="5410048" cy="749808"/>
          </a:xfrm>
          <a:prstGeom prst="roundRect">
            <a:avLst>
              <a:gd name="adj" fmla="val 9756"/>
            </a:avLst>
          </a:prstGeom>
          <a:solidFill>
            <a:srgbClr val="FBEAEA"/>
          </a:solidFill>
          <a:ln w="12700">
            <a:solidFill>
              <a:srgbClr val="E9B8B5"/>
            </a:solidFill>
            <a:prstDash val="solid"/>
          </a:ln>
        </p:spPr>
      </p:sp>
      <p:pic>
        <p:nvPicPr>
          <p:cNvPr id="22" name="Reveal 99 watch icon" descr="Watch out:">    </p:cNvPr>
          <p:cNvPicPr>
            <a:picLocks noChangeAspect="1"/>
          </p:cNvPicPr>
          <p:nvPr/>
        </p:nvPicPr>
        <p:blipFill>
          <a:blip r:embed="rId4"/>
          <a:stretch>
            <a:fillRect/>
          </a:stretch>
        </p:blipFill>
        <p:spPr>
          <a:xfrm>
            <a:off x="6379312" y="5733288"/>
            <a:ext cx="292608" cy="292608"/>
          </a:xfrm>
          <a:prstGeom prst="rect">
            <a:avLst/>
          </a:prstGeom>
        </p:spPr>
      </p:pic>
      <p:sp>
        <p:nvSpPr>
          <p:cNvPr id="23" name="Reveal 99 watch text"/>
          <p:cNvSpPr txBox="1"/>
          <p:nvPr/>
        </p:nvSpPr>
        <p:spPr>
          <a:xfrm>
            <a:off x="6781648" y="5541264"/>
            <a:ext cx="4751680" cy="676656"/>
          </a:xfrm>
          <a:prstGeom prst="rect">
            <a:avLst/>
          </a:prstGeom>
          <a:noFill/>
          <a:ln/>
        </p:spPr>
        <p:txBody>
          <a:bodyPr wrap="square" lIns="0" tIns="0" rIns="0" bIns="0" rtlCol="0" anchor="ctr"/>
          <a:lstStyle/>
          <a:p>
            <a:pPr indent="0" marL="0">
              <a:buNone/>
            </a:pPr>
            <a:r>
              <a:rPr lang="en-US" sz="1400" b="1" dirty="0">
                <a:solidFill>
                  <a:srgbClr val="8B1A1A"/>
                </a:solidFill>
              </a:rPr>
              <a:t>Watch out:  </a:t>
            </a:r>
            <a:r>
              <a:rPr lang="en-US" sz="1400" dirty="0">
                <a:solidFill>
                  <a:srgbClr val="2B2B2B"/>
                </a:solidFill>
              </a:rPr>
              <a:t>Switch the services on first: SRV1 › Services › NTP and SYSLOG must both be On.</a:t>
            </a:r>
            <a:endParaRPr lang="en-US" sz="1400" dirty="0"/>
          </a:p>
        </p:txBody>
      </p:sp>
      <p:sp>
        <p:nvSpPr>
          <p:cNvPr id="25" name="Slide Number Placeholder 0"/>
          <p:cNvSpPr>
            <a:spLocks noGrp="1"/>
          </p:cNvSpPr>
          <p:nvPr>
            <p:ph type="sldNum" sz="quarter" idx="4294967295"/>
          </p:nvPr>
        </p:nvSpPr>
        <p:spPr>
          <a:xfrm>
            <a:off x="10698480" y="6464808"/>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r"/>
            <a:fld id="{F7021451-1387-4CA6-816F-3879F97B5CBC}" type="slidenum">
              <a:rPr b="0" lang="en-US"/>
              <a:t>75</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4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0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400"/>
                                        <p:tgtEl>
                                          <p:spTgt spid="1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400"/>
                                        <p:tgtEl>
                                          <p:spTgt spid="1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fade">
                                      <p:cBhvr>
                                        <p:cTn id="38" dur="400"/>
                                        <p:tgtEl>
                                          <p:spTgt spid="20"/>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fade">
                                      <p:cBhvr>
                                        <p:cTn id="41" dur="400"/>
                                        <p:tgtEl>
                                          <p:spTgt spid="21"/>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fade">
                                      <p:cBhvr>
                                        <p:cTn id="44" dur="400"/>
                                        <p:tgtEl>
                                          <p:spTgt spid="22"/>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3" grpId="0" animBg="1"/>
      <p:bldP spid="15" grpId="0" animBg="1"/>
      <p:bldP spid="17" grpId="0" animBg="1"/>
      <p:bldP spid="18" grpId="0" animBg="1"/>
      <p:bldP spid="20" grpId="0" animBg="1"/>
      <p:bldP spid="21" grpId="0" animBg="1"/>
      <p:bldP spid="23"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1"/>
          <p:cNvSpPr/>
          <p:nvPr>
            <p:ph idx="102" type="body" hasCustomPrompt="1"/>
          </p:nvPr>
        </p:nvSpPr>
        <p:spPr>
          <a:xfrm>
            <a:off x="548640" y="274320"/>
            <a:ext cx="9966960" cy="256032"/>
          </a:xfrm>
          <a:prstGeom prst="rect">
            <a:avLst/>
          </a:prstGeom>
          <a:noFill/>
          <a:ln/>
        </p:spPr>
        <p:txBody>
          <a:bodyPr wrap="square" lIns="0" tIns="0" rIns="0" bIns="0" rtlCol="0" anchor="ctr"/>
          <a:lstStyle/>
          <a:p>
            <a:pPr algn="l" indent="0" marL="0">
              <a:buNone/>
            </a:pPr>
            <a:r>
              <a:rPr lang="en-US" sz="1100" b="1" spc="100" kern="0" dirty="0">
                <a:solidFill>
                  <a:schemeClr val="accent2"/>
                </a:solidFill>
              </a:rPr>
              <a:t>10  •  MANAGEMENT &amp; IPV6  •  LAB 9</a:t>
            </a:r>
            <a:endParaRPr lang="en-US" sz="1100" dirty="0"/>
          </a:p>
        </p:txBody>
      </p:sp>
      <p:sp>
        <p:nvSpPr>
          <p:cNvPr id="3" name="Text 1"/>
          <p:cNvSpPr/>
          <p:nvPr>
            <p:ph idx="103" type="title" hasCustomPrompt="1"/>
          </p:nvPr>
        </p:nvSpPr>
        <p:spPr>
          <a:xfrm>
            <a:off x="548640" y="548640"/>
            <a:ext cx="10149840" cy="548640"/>
          </a:xfrm>
          <a:prstGeom prst="rect">
            <a:avLst/>
          </a:prstGeom>
          <a:noFill/>
          <a:ln/>
        </p:spPr>
        <p:txBody>
          <a:bodyPr wrap="square" lIns="0" tIns="0" rIns="0" bIns="0" rtlCol="0" anchor="ctr"/>
          <a:lstStyle/>
          <a:p>
            <a:pPr algn="l" indent="0" marL="0">
              <a:buNone/>
            </a:pPr>
            <a:r>
              <a:rPr lang="en-US" sz="2600" b="1" dirty="0">
                <a:solidFill>
                  <a:schemeClr val="accent1"/>
                </a:solidFill>
              </a:rPr>
              <a:t>How to discover neighbours and allow monitoring</a:t>
            </a:r>
            <a:endParaRPr lang="en-US" sz="2600" dirty="0"/>
          </a:p>
        </p:txBody>
      </p:sp>
      <p:pic>
        <p:nvPicPr>
          <p:cNvPr id="4" name="Home button" descr="Home: back to the workbook menu">
            <a:hlinkClick r:id="rId2" tooltip="Back to the workbook menu" action="ppaction://hlinksldjump"/>
          </p:cNvPr>
          <p:cNvPicPr>
            <a:picLocks noChangeAspect="1"/>
          </p:cNvPicPr>
          <p:nvPr/>
        </p:nvPicPr>
        <p:blipFill>
          <a:blip r:embed="rId1"/>
          <a:stretch>
            <a:fillRect/>
          </a:stretch>
        </p:blipFill>
        <p:spPr>
          <a:xfrm>
            <a:off x="11365992" y="6336792"/>
            <a:ext cx="365760" cy="365760"/>
          </a:xfrm>
          <a:prstGeom prst="rect">
            <a:avLst/>
          </a:prstGeom>
        </p:spPr>
      </p:pic>
      <p:sp>
        <p:nvSpPr>
          <p:cNvPr id="5" name="Goal"/>
          <p:cNvSpPr txBox="1"/>
          <p:nvPr/>
        </p:nvSpPr>
        <p:spPr>
          <a:xfrm>
            <a:off x="548640" y="1161288"/>
            <a:ext cx="11094415" cy="384048"/>
          </a:xfrm>
          <a:prstGeom prst="rect">
            <a:avLst/>
          </a:prstGeom>
          <a:noFill/>
          <a:ln/>
        </p:spPr>
        <p:txBody>
          <a:bodyPr wrap="square" lIns="0" tIns="0" rIns="0" bIns="0" rtlCol="0" anchor="ctr"/>
          <a:lstStyle/>
          <a:p>
            <a:pPr indent="0" marL="0">
              <a:buNone/>
            </a:pPr>
            <a:r>
              <a:rPr lang="en-US" sz="1400" b="1" dirty="0">
                <a:solidFill>
                  <a:srgbClr val="2B7043"/>
                </a:solidFill>
              </a:rPr>
              <a:t>Goal:  </a:t>
            </a:r>
            <a:r>
              <a:rPr lang="en-US" sz="1400" dirty="0">
                <a:solidFill>
                  <a:srgbClr val="2B2B2B"/>
                </a:solidFill>
              </a:rPr>
              <a:t>CDP and LLDP show who is connected where; SNMP lets a monitoring tool read each device’s status.</a:t>
            </a:r>
            <a:endParaRPr lang="en-US" sz="1400" dirty="0"/>
          </a:p>
        </p:txBody>
      </p:sp>
      <p:sp>
        <p:nvSpPr>
          <p:cNvPr id="6" name="Command header"/>
          <p:cNvSpPr/>
          <p:nvPr/>
        </p:nvSpPr>
        <p:spPr>
          <a:xfrm>
            <a:off x="548640" y="1664208"/>
            <a:ext cx="6153912" cy="310896"/>
          </a:xfrm>
          <a:prstGeom prst="rect">
            <a:avLst/>
          </a:prstGeom>
          <a:solidFill>
            <a:srgbClr val="1B2B22"/>
          </a:solidFill>
          <a:ln/>
        </p:spPr>
        <p:txBody>
          <a:bodyPr wrap="square" lIns="109728" tIns="45720" rIns="109728" bIns="45720" rtlCol="0" anchor="ctr"/>
          <a:lstStyle/>
          <a:p>
            <a:pPr indent="0" marL="0">
              <a:buNone/>
            </a:pPr>
            <a:r>
              <a:rPr lang="en-US" sz="1100" dirty="0">
                <a:solidFill>
                  <a:srgbClr val="E0605A"/>
                </a:solidFill>
              </a:rPr>
              <a:t>●  </a:t>
            </a:r>
            <a:r>
              <a:rPr lang="en-US" sz="1100" dirty="0">
                <a:solidFill>
                  <a:srgbClr val="E8B92E"/>
                </a:solidFill>
              </a:rPr>
              <a:t>●  </a:t>
            </a:r>
            <a:r>
              <a:rPr lang="en-US" sz="1100" dirty="0">
                <a:solidFill>
                  <a:srgbClr val="4CAF50"/>
                </a:solidFill>
              </a:rPr>
              <a:t>●   </a:t>
            </a:r>
            <a:r>
              <a:rPr lang="en-US" sz="1100" b="1" dirty="0">
                <a:solidFill>
                  <a:srgbClr val="C9D6CC"/>
                </a:solidFill>
              </a:rPr>
              <a:t>R1  —  type the white text, then press Enter</a:t>
            </a:r>
            <a:endParaRPr lang="en-US" sz="1100" dirty="0"/>
          </a:p>
        </p:txBody>
      </p:sp>
      <p:sp>
        <p:nvSpPr>
          <p:cNvPr id="7" name="Meaning header"/>
          <p:cNvSpPr/>
          <p:nvPr/>
        </p:nvSpPr>
        <p:spPr>
          <a:xfrm>
            <a:off x="6720840" y="1664208"/>
            <a:ext cx="4922215" cy="310896"/>
          </a:xfrm>
          <a:prstGeom prst="rect">
            <a:avLst/>
          </a:prstGeom>
          <a:solidFill>
            <a:srgbClr val="E8F1EA"/>
          </a:solidFill>
          <a:ln/>
        </p:spPr>
        <p:txBody>
          <a:bodyPr wrap="square" lIns="109728" tIns="45720" rIns="109728" bIns="45720" rtlCol="0" anchor="ctr"/>
          <a:lstStyle/>
          <a:p>
            <a:pPr indent="0" marL="0">
              <a:buNone/>
            </a:pPr>
            <a:r>
              <a:rPr lang="en-US" sz="1200" b="1" dirty="0">
                <a:solidFill>
                  <a:srgbClr val="1E5631"/>
                </a:solidFill>
              </a:rPr>
              <a:t>What it does</a:t>
            </a:r>
            <a:endParaRPr lang="en-US" sz="1200" dirty="0"/>
          </a:p>
        </p:txBody>
      </p:sp>
      <p:sp>
        <p:nvSpPr>
          <p:cNvPr id="8" name="Command 01"/>
          <p:cNvSpPr/>
          <p:nvPr/>
        </p:nvSpPr>
        <p:spPr>
          <a:xfrm>
            <a:off x="548640" y="1993392"/>
            <a:ext cx="6153912" cy="54380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 </a:t>
            </a:r>
            <a:r>
              <a:rPr lang="en-US" sz="1200" b="1" dirty="0">
                <a:solidFill>
                  <a:srgbClr val="FFFFFF"/>
                </a:solidFill>
                <a:latin typeface="Courier New" pitchFamily="34" charset="0"/>
                <a:ea typeface="Courier New" pitchFamily="34" charset="-122"/>
                <a:cs typeface="Courier New" pitchFamily="34" charset="-120"/>
              </a:rPr>
              <a:t>show cdp neighbors</a:t>
            </a:r>
            <a:endParaRPr lang="en-US" sz="1200" dirty="0"/>
          </a:p>
        </p:txBody>
      </p:sp>
      <p:sp>
        <p:nvSpPr>
          <p:cNvPr id="9" name="Reveal 01 meaning"/>
          <p:cNvSpPr/>
          <p:nvPr/>
        </p:nvSpPr>
        <p:spPr>
          <a:xfrm>
            <a:off x="6720840" y="1993392"/>
            <a:ext cx="4922215" cy="543809"/>
          </a:xfrm>
          <a:prstGeom prst="rect">
            <a:avLst/>
          </a:prstGeom>
          <a:solidFill>
            <a:srgbClr val="F2F8F3"/>
          </a:solidFill>
          <a:ln/>
        </p:spPr>
        <p:txBody>
          <a:bodyPr wrap="square" lIns="109728" tIns="45720" rIns="109728" bIns="45720" rtlCol="0" anchor="ctr"/>
          <a:lstStyle/>
          <a:p>
            <a:pPr indent="0" marL="0">
              <a:buNone/>
            </a:pPr>
            <a:r>
              <a:rPr lang="en-US" sz="1400" dirty="0">
                <a:solidFill>
                  <a:srgbClr val="2B2B2B"/>
                </a:solidFill>
              </a:rPr>
              <a:t>Lists the Cisco devices plugged into R1: name, model, and the local and remote ports that join them.</a:t>
            </a:r>
            <a:endParaRPr lang="en-US" sz="1400" dirty="0"/>
          </a:p>
        </p:txBody>
      </p:sp>
      <p:sp>
        <p:nvSpPr>
          <p:cNvPr id="10" name="Command 02"/>
          <p:cNvSpPr/>
          <p:nvPr/>
        </p:nvSpPr>
        <p:spPr>
          <a:xfrm>
            <a:off x="548640" y="2555489"/>
            <a:ext cx="6153912" cy="54380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 </a:t>
            </a:r>
            <a:r>
              <a:rPr lang="en-US" sz="1200" b="1" dirty="0">
                <a:solidFill>
                  <a:srgbClr val="FFFFFF"/>
                </a:solidFill>
                <a:latin typeface="Courier New" pitchFamily="34" charset="0"/>
                <a:ea typeface="Courier New" pitchFamily="34" charset="-122"/>
                <a:cs typeface="Courier New" pitchFamily="34" charset="-120"/>
              </a:rPr>
              <a:t>show cdp neighbors detail</a:t>
            </a:r>
            <a:endParaRPr lang="en-US" sz="1200" dirty="0"/>
          </a:p>
        </p:txBody>
      </p:sp>
      <p:sp>
        <p:nvSpPr>
          <p:cNvPr id="11" name="Reveal 02 meaning"/>
          <p:cNvSpPr/>
          <p:nvPr/>
        </p:nvSpPr>
        <p:spPr>
          <a:xfrm>
            <a:off x="6720840" y="2555489"/>
            <a:ext cx="4922215" cy="543809"/>
          </a:xfrm>
          <a:prstGeom prst="rect">
            <a:avLst/>
          </a:prstGeom>
          <a:solidFill>
            <a:srgbClr val="FFFFFF"/>
          </a:solidFill>
          <a:ln/>
        </p:spPr>
        <p:txBody>
          <a:bodyPr wrap="square" lIns="109728" tIns="45720" rIns="109728" bIns="45720" rtlCol="0" anchor="ctr"/>
          <a:lstStyle/>
          <a:p>
            <a:pPr indent="0" marL="0">
              <a:buNone/>
            </a:pPr>
            <a:r>
              <a:rPr lang="en-US" sz="1400" dirty="0">
                <a:solidFill>
                  <a:srgbClr val="2B2B2B"/>
                </a:solidFill>
              </a:rPr>
              <a:t>Adds each neighbour’s IP address and IOS version — ideal for mapping a network you don’t know.</a:t>
            </a:r>
            <a:endParaRPr lang="en-US" sz="1400" dirty="0"/>
          </a:p>
        </p:txBody>
      </p:sp>
      <p:sp>
        <p:nvSpPr>
          <p:cNvPr id="12" name="Command 03"/>
          <p:cNvSpPr/>
          <p:nvPr/>
        </p:nvSpPr>
        <p:spPr>
          <a:xfrm>
            <a:off x="548640" y="3117586"/>
            <a:ext cx="6153912" cy="54380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R1(config)# </a:t>
            </a:r>
            <a:r>
              <a:rPr lang="en-US" sz="1200" b="1" dirty="0">
                <a:solidFill>
                  <a:srgbClr val="FFFFFF"/>
                </a:solidFill>
                <a:latin typeface="Courier New" pitchFamily="34" charset="0"/>
                <a:ea typeface="Courier New" pitchFamily="34" charset="-122"/>
                <a:cs typeface="Courier New" pitchFamily="34" charset="-120"/>
              </a:rPr>
              <a:t>lldp run</a:t>
            </a:r>
            <a:endParaRPr lang="en-US" sz="1200" dirty="0"/>
          </a:p>
          <a:p>
            <a:pPr indent="0" marL="0">
              <a:buNone/>
            </a:pPr>
            <a:r>
              <a:rPr lang="en-US" sz="1200" dirty="0">
                <a:solidFill>
                  <a:srgbClr val="8FC9A0"/>
                </a:solidFill>
                <a:latin typeface="Courier New" pitchFamily="34" charset="0"/>
                <a:ea typeface="Courier New" pitchFamily="34" charset="-122"/>
                <a:cs typeface="Courier New" pitchFamily="34" charset="-120"/>
              </a:rPr>
              <a:t>R1# </a:t>
            </a:r>
            <a:r>
              <a:rPr lang="en-US" sz="1200" b="1" dirty="0">
                <a:solidFill>
                  <a:srgbClr val="FFFFFF"/>
                </a:solidFill>
                <a:latin typeface="Courier New" pitchFamily="34" charset="0"/>
                <a:ea typeface="Courier New" pitchFamily="34" charset="-122"/>
                <a:cs typeface="Courier New" pitchFamily="34" charset="-120"/>
              </a:rPr>
              <a:t>show lldp neighbors</a:t>
            </a:r>
            <a:endParaRPr lang="en-US" sz="1200" dirty="0"/>
          </a:p>
        </p:txBody>
      </p:sp>
      <p:sp>
        <p:nvSpPr>
          <p:cNvPr id="13" name="Reveal 03 meaning"/>
          <p:cNvSpPr/>
          <p:nvPr/>
        </p:nvSpPr>
        <p:spPr>
          <a:xfrm>
            <a:off x="6720840" y="3117586"/>
            <a:ext cx="4922215" cy="543809"/>
          </a:xfrm>
          <a:prstGeom prst="rect">
            <a:avLst/>
          </a:prstGeom>
          <a:solidFill>
            <a:srgbClr val="F2F8F3"/>
          </a:solidFill>
          <a:ln/>
        </p:spPr>
        <p:txBody>
          <a:bodyPr wrap="square" lIns="109728" tIns="45720" rIns="109728" bIns="45720" rtlCol="0" anchor="ctr"/>
          <a:lstStyle/>
          <a:p>
            <a:pPr indent="0" marL="0">
              <a:buNone/>
            </a:pPr>
            <a:r>
              <a:rPr lang="en-US" sz="1400" dirty="0">
                <a:solidFill>
                  <a:srgbClr val="2B2B2B"/>
                </a:solidFill>
              </a:rPr>
              <a:t>LLDP is the open-standard version of CDP (works with other vendors). It is off by default.</a:t>
            </a:r>
            <a:endParaRPr lang="en-US" sz="1400" dirty="0"/>
          </a:p>
        </p:txBody>
      </p:sp>
      <p:sp>
        <p:nvSpPr>
          <p:cNvPr id="14" name="Command 04"/>
          <p:cNvSpPr/>
          <p:nvPr/>
        </p:nvSpPr>
        <p:spPr>
          <a:xfrm>
            <a:off x="548640" y="3679683"/>
            <a:ext cx="6153912" cy="54380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R1(config)# </a:t>
            </a:r>
            <a:r>
              <a:rPr lang="en-US" sz="1200" b="1" dirty="0">
                <a:solidFill>
                  <a:srgbClr val="FFFFFF"/>
                </a:solidFill>
                <a:latin typeface="Courier New" pitchFamily="34" charset="0"/>
                <a:ea typeface="Courier New" pitchFamily="34" charset="-122"/>
                <a:cs typeface="Courier New" pitchFamily="34" charset="-120"/>
              </a:rPr>
              <a:t>snmp-server community KNP-RO ro</a:t>
            </a:r>
            <a:endParaRPr lang="en-US" sz="1200" dirty="0"/>
          </a:p>
        </p:txBody>
      </p:sp>
      <p:sp>
        <p:nvSpPr>
          <p:cNvPr id="15" name="Reveal 04 meaning"/>
          <p:cNvSpPr/>
          <p:nvPr/>
        </p:nvSpPr>
        <p:spPr>
          <a:xfrm>
            <a:off x="6720840" y="3679683"/>
            <a:ext cx="4922215" cy="543809"/>
          </a:xfrm>
          <a:prstGeom prst="rect">
            <a:avLst/>
          </a:prstGeom>
          <a:solidFill>
            <a:srgbClr val="FFFFFF"/>
          </a:solidFill>
          <a:ln/>
        </p:spPr>
        <p:txBody>
          <a:bodyPr wrap="square" lIns="109728" tIns="45720" rIns="109728" bIns="45720" rtlCol="0" anchor="ctr"/>
          <a:lstStyle/>
          <a:p>
            <a:pPr indent="0" marL="0">
              <a:buNone/>
            </a:pPr>
            <a:r>
              <a:rPr lang="en-US" sz="1400" dirty="0">
                <a:solidFill>
                  <a:srgbClr val="2B2B2B"/>
                </a:solidFill>
              </a:rPr>
              <a:t>Monitoring tools that know the community “KNP-RO” may read R1’s information. </a:t>
            </a:r>
            <a:r>
              <a:rPr lang="en-US" sz="1300" b="1" dirty="0">
                <a:solidFill>
                  <a:srgbClr val="1E5631"/>
                </a:solidFill>
                <a:latin typeface="Courier New" pitchFamily="34" charset="0"/>
                <a:ea typeface="Courier New" pitchFamily="34" charset="-122"/>
                <a:cs typeface="Courier New" pitchFamily="34" charset="-120"/>
              </a:rPr>
              <a:t>ro</a:t>
            </a:r>
            <a:r>
              <a:rPr lang="en-US" sz="1400" dirty="0">
                <a:solidFill>
                  <a:srgbClr val="2B2B2B"/>
                </a:solidFill>
              </a:rPr>
              <a:t> = read-only.</a:t>
            </a:r>
            <a:endParaRPr lang="en-US" sz="1400" dirty="0"/>
          </a:p>
        </p:txBody>
      </p:sp>
      <p:sp>
        <p:nvSpPr>
          <p:cNvPr id="16" name="Command 05"/>
          <p:cNvSpPr/>
          <p:nvPr/>
        </p:nvSpPr>
        <p:spPr>
          <a:xfrm>
            <a:off x="548640" y="4241780"/>
            <a:ext cx="6153912" cy="54380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R1(config)# </a:t>
            </a:r>
            <a:r>
              <a:rPr lang="en-US" sz="1200" b="1" dirty="0">
                <a:solidFill>
                  <a:srgbClr val="FFFFFF"/>
                </a:solidFill>
                <a:latin typeface="Courier New" pitchFamily="34" charset="0"/>
                <a:ea typeface="Courier New" pitchFamily="34" charset="-122"/>
                <a:cs typeface="Courier New" pitchFamily="34" charset="-120"/>
              </a:rPr>
              <a:t>snmp-server location KNP-ICT-MDF-Rack1</a:t>
            </a:r>
            <a:endParaRPr lang="en-US" sz="1200" dirty="0"/>
          </a:p>
          <a:p>
            <a:pPr indent="0" marL="0">
              <a:buNone/>
            </a:pPr>
            <a:r>
              <a:rPr lang="en-US" sz="1200" dirty="0">
                <a:solidFill>
                  <a:srgbClr val="8FC9A0"/>
                </a:solidFill>
                <a:latin typeface="Courier New" pitchFamily="34" charset="0"/>
                <a:ea typeface="Courier New" pitchFamily="34" charset="-122"/>
                <a:cs typeface="Courier New" pitchFamily="34" charset="-120"/>
              </a:rPr>
              <a:t>R1(config)# </a:t>
            </a:r>
            <a:r>
              <a:rPr lang="en-US" sz="1200" b="1" dirty="0">
                <a:solidFill>
                  <a:srgbClr val="FFFFFF"/>
                </a:solidFill>
                <a:latin typeface="Courier New" pitchFamily="34" charset="0"/>
                <a:ea typeface="Courier New" pitchFamily="34" charset="-122"/>
                <a:cs typeface="Courier New" pitchFamily="34" charset="-120"/>
              </a:rPr>
              <a:t>snmp-server contact ict@knp.ac.ke</a:t>
            </a:r>
            <a:endParaRPr lang="en-US" sz="1200" dirty="0"/>
          </a:p>
        </p:txBody>
      </p:sp>
      <p:sp>
        <p:nvSpPr>
          <p:cNvPr id="17" name="Reveal 05 meaning"/>
          <p:cNvSpPr/>
          <p:nvPr/>
        </p:nvSpPr>
        <p:spPr>
          <a:xfrm>
            <a:off x="6720840" y="4241780"/>
            <a:ext cx="4922215" cy="543809"/>
          </a:xfrm>
          <a:prstGeom prst="rect">
            <a:avLst/>
          </a:prstGeom>
          <a:solidFill>
            <a:srgbClr val="F2F8F3"/>
          </a:solidFill>
          <a:ln/>
        </p:spPr>
        <p:txBody>
          <a:bodyPr wrap="square" lIns="109728" tIns="45720" rIns="109728" bIns="45720" rtlCol="0" anchor="ctr"/>
          <a:lstStyle/>
          <a:p>
            <a:pPr indent="0" marL="0">
              <a:buNone/>
            </a:pPr>
            <a:r>
              <a:rPr lang="en-US" sz="1400" dirty="0">
                <a:solidFill>
                  <a:srgbClr val="2B2B2B"/>
                </a:solidFill>
              </a:rPr>
              <a:t>Where the device is and who looks after it — shown on monitoring dashboards.</a:t>
            </a:r>
            <a:endParaRPr lang="en-US" sz="1400" dirty="0"/>
          </a:p>
        </p:txBody>
      </p:sp>
      <p:sp>
        <p:nvSpPr>
          <p:cNvPr id="18" name="Reveal 99 check box"/>
          <p:cNvSpPr/>
          <p:nvPr/>
        </p:nvSpPr>
        <p:spPr>
          <a:xfrm>
            <a:off x="548640" y="5504688"/>
            <a:ext cx="5410048" cy="749808"/>
          </a:xfrm>
          <a:prstGeom prst="roundRect">
            <a:avLst>
              <a:gd name="adj" fmla="val 9756"/>
            </a:avLst>
          </a:prstGeom>
          <a:solidFill>
            <a:srgbClr val="E8F1EA"/>
          </a:solidFill>
          <a:ln w="12700">
            <a:solidFill>
              <a:srgbClr val="B7C9BA"/>
            </a:solidFill>
            <a:prstDash val="solid"/>
          </a:ln>
        </p:spPr>
      </p:sp>
      <p:pic>
        <p:nvPicPr>
          <p:cNvPr id="19" name="Reveal 99 check icon" descr="Check it:">    </p:cNvPr>
          <p:cNvPicPr>
            <a:picLocks noChangeAspect="1"/>
          </p:cNvPicPr>
          <p:nvPr/>
        </p:nvPicPr>
        <p:blipFill>
          <a:blip r:embed="rId3"/>
          <a:stretch>
            <a:fillRect/>
          </a:stretch>
        </p:blipFill>
        <p:spPr>
          <a:xfrm>
            <a:off x="694944" y="5733288"/>
            <a:ext cx="292608" cy="292608"/>
          </a:xfrm>
          <a:prstGeom prst="rect">
            <a:avLst/>
          </a:prstGeom>
        </p:spPr>
      </p:pic>
      <p:sp>
        <p:nvSpPr>
          <p:cNvPr id="20" name="Reveal 99 check text"/>
          <p:cNvSpPr txBox="1"/>
          <p:nvPr/>
        </p:nvSpPr>
        <p:spPr>
          <a:xfrm>
            <a:off x="1097280" y="5541264"/>
            <a:ext cx="4751680" cy="676656"/>
          </a:xfrm>
          <a:prstGeom prst="rect">
            <a:avLst/>
          </a:prstGeom>
          <a:noFill/>
          <a:ln/>
        </p:spPr>
        <p:txBody>
          <a:bodyPr wrap="square" lIns="0" tIns="0" rIns="0" bIns="0" rtlCol="0" anchor="ctr"/>
          <a:lstStyle/>
          <a:p>
            <a:pPr indent="0" marL="0">
              <a:buNone/>
            </a:pPr>
            <a:r>
              <a:rPr lang="en-US" sz="1400" b="1" dirty="0">
                <a:solidFill>
                  <a:srgbClr val="1E5631"/>
                </a:solidFill>
              </a:rPr>
              <a:t>Check it:  </a:t>
            </a:r>
            <a:r>
              <a:rPr lang="en-US" sz="1400" dirty="0">
                <a:solidFill>
                  <a:srgbClr val="2B2B2B"/>
                </a:solidFill>
              </a:rPr>
              <a:t>PC › Desktop › MIB Browser: Advanced… (R1’s address, read community KNP-RO), then Get a value.</a:t>
            </a:r>
            <a:endParaRPr lang="en-US" sz="1400" dirty="0"/>
          </a:p>
        </p:txBody>
      </p:sp>
      <p:sp>
        <p:nvSpPr>
          <p:cNvPr id="21" name="Reveal 99 watch box"/>
          <p:cNvSpPr/>
          <p:nvPr/>
        </p:nvSpPr>
        <p:spPr>
          <a:xfrm>
            <a:off x="6233008" y="5504688"/>
            <a:ext cx="5410048" cy="749808"/>
          </a:xfrm>
          <a:prstGeom prst="roundRect">
            <a:avLst>
              <a:gd name="adj" fmla="val 9756"/>
            </a:avLst>
          </a:prstGeom>
          <a:solidFill>
            <a:srgbClr val="FBEAEA"/>
          </a:solidFill>
          <a:ln w="12700">
            <a:solidFill>
              <a:srgbClr val="E9B8B5"/>
            </a:solidFill>
            <a:prstDash val="solid"/>
          </a:ln>
        </p:spPr>
      </p:sp>
      <p:pic>
        <p:nvPicPr>
          <p:cNvPr id="22" name="Reveal 99 watch icon" descr="Watch out:">    </p:cNvPr>
          <p:cNvPicPr>
            <a:picLocks noChangeAspect="1"/>
          </p:cNvPicPr>
          <p:nvPr/>
        </p:nvPicPr>
        <p:blipFill>
          <a:blip r:embed="rId4"/>
          <a:stretch>
            <a:fillRect/>
          </a:stretch>
        </p:blipFill>
        <p:spPr>
          <a:xfrm>
            <a:off x="6379312" y="5733288"/>
            <a:ext cx="292608" cy="292608"/>
          </a:xfrm>
          <a:prstGeom prst="rect">
            <a:avLst/>
          </a:prstGeom>
        </p:spPr>
      </p:pic>
      <p:sp>
        <p:nvSpPr>
          <p:cNvPr id="23" name="Reveal 99 watch text"/>
          <p:cNvSpPr txBox="1"/>
          <p:nvPr/>
        </p:nvSpPr>
        <p:spPr>
          <a:xfrm>
            <a:off x="6781648" y="5541264"/>
            <a:ext cx="4751680" cy="676656"/>
          </a:xfrm>
          <a:prstGeom prst="rect">
            <a:avLst/>
          </a:prstGeom>
          <a:noFill/>
          <a:ln/>
        </p:spPr>
        <p:txBody>
          <a:bodyPr wrap="square" lIns="0" tIns="0" rIns="0" bIns="0" rtlCol="0" anchor="ctr"/>
          <a:lstStyle/>
          <a:p>
            <a:pPr indent="0" marL="0">
              <a:buNone/>
            </a:pPr>
            <a:r>
              <a:rPr lang="en-US" sz="1400" b="1" dirty="0">
                <a:solidFill>
                  <a:srgbClr val="8B1A1A"/>
                </a:solidFill>
              </a:rPr>
              <a:t>Watch out:  </a:t>
            </a:r>
            <a:r>
              <a:rPr lang="en-US" sz="1400" dirty="0">
                <a:solidFill>
                  <a:srgbClr val="2B2B2B"/>
                </a:solidFill>
              </a:rPr>
              <a:t>CDP and LLDP reveal device details: switch them off on ports facing the Internet (</a:t>
            </a:r>
            <a:r>
              <a:rPr lang="en-US" sz="1300" b="1" dirty="0">
                <a:solidFill>
                  <a:srgbClr val="1E5631"/>
                </a:solidFill>
                <a:latin typeface="Courier New" pitchFamily="34" charset="0"/>
                <a:ea typeface="Courier New" pitchFamily="34" charset="-122"/>
                <a:cs typeface="Courier New" pitchFamily="34" charset="-120"/>
              </a:rPr>
              <a:t>no cdp enable</a:t>
            </a:r>
            <a:r>
              <a:rPr lang="en-US" sz="1400" dirty="0">
                <a:solidFill>
                  <a:srgbClr val="2B2B2B"/>
                </a:solidFill>
              </a:rPr>
              <a:t>).</a:t>
            </a:r>
            <a:endParaRPr lang="en-US" sz="1400" dirty="0"/>
          </a:p>
        </p:txBody>
      </p:sp>
      <p:sp>
        <p:nvSpPr>
          <p:cNvPr id="25" name="Slide Number Placeholder 0"/>
          <p:cNvSpPr>
            <a:spLocks noGrp="1"/>
          </p:cNvSpPr>
          <p:nvPr>
            <p:ph type="sldNum" sz="quarter" idx="4294967295"/>
          </p:nvPr>
        </p:nvSpPr>
        <p:spPr>
          <a:xfrm>
            <a:off x="10698480" y="6464808"/>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r"/>
            <a:fld id="{F7021451-1387-4CA6-816F-3879F97B5CBC}" type="slidenum">
              <a:rPr b="0" lang="en-US"/>
              <a:t>76</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4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0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400"/>
                                        <p:tgtEl>
                                          <p:spTgt spid="1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400"/>
                                        <p:tgtEl>
                                          <p:spTgt spid="1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fade">
                                      <p:cBhvr>
                                        <p:cTn id="38" dur="400"/>
                                        <p:tgtEl>
                                          <p:spTgt spid="20"/>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fade">
                                      <p:cBhvr>
                                        <p:cTn id="41" dur="400"/>
                                        <p:tgtEl>
                                          <p:spTgt spid="21"/>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fade">
                                      <p:cBhvr>
                                        <p:cTn id="44" dur="400"/>
                                        <p:tgtEl>
                                          <p:spTgt spid="22"/>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3" grpId="0" animBg="1"/>
      <p:bldP spid="15" grpId="0" animBg="1"/>
      <p:bldP spid="17" grpId="0" animBg="1"/>
      <p:bldP spid="18" grpId="0" animBg="1"/>
      <p:bldP spid="20" grpId="0" animBg="1"/>
      <p:bldP spid="21" grpId="0" animBg="1"/>
      <p:bldP spid="23"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1"/>
          <p:cNvSpPr/>
          <p:nvPr>
            <p:ph idx="102" type="body" hasCustomPrompt="1"/>
          </p:nvPr>
        </p:nvSpPr>
        <p:spPr>
          <a:xfrm>
            <a:off x="548640" y="274320"/>
            <a:ext cx="9966960" cy="256032"/>
          </a:xfrm>
          <a:prstGeom prst="rect">
            <a:avLst/>
          </a:prstGeom>
          <a:noFill/>
          <a:ln/>
        </p:spPr>
        <p:txBody>
          <a:bodyPr wrap="square" lIns="0" tIns="0" rIns="0" bIns="0" rtlCol="0" anchor="ctr"/>
          <a:lstStyle/>
          <a:p>
            <a:pPr algn="l" indent="0" marL="0">
              <a:buNone/>
            </a:pPr>
            <a:r>
              <a:rPr lang="en-US" sz="1100" b="1" spc="100" kern="0" dirty="0">
                <a:solidFill>
                  <a:schemeClr val="accent2"/>
                </a:solidFill>
              </a:rPr>
              <a:t>10  •  MANAGEMENT &amp; IPV6  •  LAB 9</a:t>
            </a:r>
            <a:endParaRPr lang="en-US" sz="1100" dirty="0"/>
          </a:p>
        </p:txBody>
      </p:sp>
      <p:sp>
        <p:nvSpPr>
          <p:cNvPr id="3" name="Text 1"/>
          <p:cNvSpPr/>
          <p:nvPr>
            <p:ph idx="103" type="title" hasCustomPrompt="1"/>
          </p:nvPr>
        </p:nvSpPr>
        <p:spPr>
          <a:xfrm>
            <a:off x="548640" y="548640"/>
            <a:ext cx="10149840" cy="548640"/>
          </a:xfrm>
          <a:prstGeom prst="rect">
            <a:avLst/>
          </a:prstGeom>
          <a:noFill/>
          <a:ln/>
        </p:spPr>
        <p:txBody>
          <a:bodyPr wrap="square" lIns="0" tIns="0" rIns="0" bIns="0" rtlCol="0" anchor="ctr"/>
          <a:lstStyle/>
          <a:p>
            <a:pPr algn="l" indent="0" marL="0">
              <a:buNone/>
            </a:pPr>
            <a:r>
              <a:rPr lang="en-US" sz="2600" b="1" dirty="0">
                <a:solidFill>
                  <a:schemeClr val="accent1"/>
                </a:solidFill>
              </a:rPr>
              <a:t>How to back up and restore a configuration with TFTP</a:t>
            </a:r>
            <a:endParaRPr lang="en-US" sz="2600" dirty="0"/>
          </a:p>
        </p:txBody>
      </p:sp>
      <p:pic>
        <p:nvPicPr>
          <p:cNvPr id="4" name="Home button" descr="Home: back to the workbook menu">
            <a:hlinkClick r:id="rId2" tooltip="Back to the workbook menu" action="ppaction://hlinksldjump"/>
          </p:cNvPr>
          <p:cNvPicPr>
            <a:picLocks noChangeAspect="1"/>
          </p:cNvPicPr>
          <p:nvPr/>
        </p:nvPicPr>
        <p:blipFill>
          <a:blip r:embed="rId1"/>
          <a:stretch>
            <a:fillRect/>
          </a:stretch>
        </p:blipFill>
        <p:spPr>
          <a:xfrm>
            <a:off x="11365992" y="6336792"/>
            <a:ext cx="365760" cy="365760"/>
          </a:xfrm>
          <a:prstGeom prst="rect">
            <a:avLst/>
          </a:prstGeom>
        </p:spPr>
      </p:pic>
      <p:sp>
        <p:nvSpPr>
          <p:cNvPr id="5" name="Goal"/>
          <p:cNvSpPr txBox="1"/>
          <p:nvPr/>
        </p:nvSpPr>
        <p:spPr>
          <a:xfrm>
            <a:off x="548640" y="1161288"/>
            <a:ext cx="11094415" cy="384048"/>
          </a:xfrm>
          <a:prstGeom prst="rect">
            <a:avLst/>
          </a:prstGeom>
          <a:noFill/>
          <a:ln/>
        </p:spPr>
        <p:txBody>
          <a:bodyPr wrap="square" lIns="0" tIns="0" rIns="0" bIns="0" rtlCol="0" anchor="ctr"/>
          <a:lstStyle/>
          <a:p>
            <a:pPr indent="0" marL="0">
              <a:buNone/>
            </a:pPr>
            <a:r>
              <a:rPr lang="en-US" sz="1400" b="1" dirty="0">
                <a:solidFill>
                  <a:srgbClr val="2B7043"/>
                </a:solidFill>
              </a:rPr>
              <a:t>Goal:  </a:t>
            </a:r>
            <a:r>
              <a:rPr lang="en-US" sz="1400" dirty="0">
                <a:solidFill>
                  <a:srgbClr val="2B2B2B"/>
                </a:solidFill>
              </a:rPr>
              <a:t>Keep a copy of every configuration on a server, so a replaced or broken router is restored in minutes.</a:t>
            </a:r>
            <a:endParaRPr lang="en-US" sz="1400" dirty="0"/>
          </a:p>
        </p:txBody>
      </p:sp>
      <p:sp>
        <p:nvSpPr>
          <p:cNvPr id="6" name="Terminal window"/>
          <p:cNvSpPr/>
          <p:nvPr/>
        </p:nvSpPr>
        <p:spPr>
          <a:xfrm>
            <a:off x="548640" y="1664208"/>
            <a:ext cx="6355080" cy="3749040"/>
          </a:xfrm>
          <a:prstGeom prst="roundRect">
            <a:avLst>
              <a:gd name="adj" fmla="val 1951"/>
            </a:avLst>
          </a:prstGeom>
          <a:solidFill>
            <a:srgbClr val="1B2B22"/>
          </a:solidFill>
          <a:ln w="6350">
            <a:solidFill>
              <a:srgbClr val="1B2B22"/>
            </a:solidFill>
            <a:prstDash val="solid"/>
          </a:ln>
        </p:spPr>
      </p:sp>
      <p:sp>
        <p:nvSpPr>
          <p:cNvPr id="7" name="Shape 4"/>
          <p:cNvSpPr/>
          <p:nvPr/>
        </p:nvSpPr>
        <p:spPr>
          <a:xfrm>
            <a:off x="713232" y="1783080"/>
            <a:ext cx="109728" cy="109728"/>
          </a:xfrm>
          <a:prstGeom prst="ellipse">
            <a:avLst/>
          </a:prstGeom>
          <a:solidFill>
            <a:srgbClr val="E0605A"/>
          </a:solidFill>
          <a:ln/>
        </p:spPr>
      </p:sp>
      <p:sp>
        <p:nvSpPr>
          <p:cNvPr id="8" name="Shape 5"/>
          <p:cNvSpPr/>
          <p:nvPr/>
        </p:nvSpPr>
        <p:spPr>
          <a:xfrm>
            <a:off x="896112" y="1783080"/>
            <a:ext cx="109728" cy="109728"/>
          </a:xfrm>
          <a:prstGeom prst="ellipse">
            <a:avLst/>
          </a:prstGeom>
          <a:solidFill>
            <a:srgbClr val="E8B92E"/>
          </a:solidFill>
          <a:ln/>
        </p:spPr>
      </p:sp>
      <p:sp>
        <p:nvSpPr>
          <p:cNvPr id="9" name="Shape 6"/>
          <p:cNvSpPr/>
          <p:nvPr/>
        </p:nvSpPr>
        <p:spPr>
          <a:xfrm>
            <a:off x="1078992" y="1783080"/>
            <a:ext cx="109728" cy="109728"/>
          </a:xfrm>
          <a:prstGeom prst="ellipse">
            <a:avLst/>
          </a:prstGeom>
          <a:solidFill>
            <a:srgbClr val="4CAF50"/>
          </a:solidFill>
          <a:ln/>
        </p:spPr>
      </p:sp>
      <p:sp>
        <p:nvSpPr>
          <p:cNvPr id="10" name="Text 7"/>
          <p:cNvSpPr txBox="1"/>
          <p:nvPr/>
        </p:nvSpPr>
        <p:spPr>
          <a:xfrm>
            <a:off x="1325880" y="1709928"/>
            <a:ext cx="5440680" cy="256032"/>
          </a:xfrm>
          <a:prstGeom prst="rect">
            <a:avLst/>
          </a:prstGeom>
          <a:noFill/>
          <a:ln/>
        </p:spPr>
        <p:txBody>
          <a:bodyPr wrap="square" lIns="0" tIns="0" rIns="0" bIns="0" rtlCol="0" anchor="ctr"/>
          <a:lstStyle/>
          <a:p>
            <a:pPr indent="0" marL="0">
              <a:buNone/>
            </a:pPr>
            <a:r>
              <a:rPr lang="en-US" sz="1100" b="1" dirty="0">
                <a:solidFill>
                  <a:srgbClr val="C9D6CC"/>
                </a:solidFill>
              </a:rPr>
              <a:t>R1  ›  CLI  (sample)</a:t>
            </a:r>
            <a:endParaRPr lang="en-US" sz="1100" dirty="0"/>
          </a:p>
        </p:txBody>
      </p:sp>
      <p:sp>
        <p:nvSpPr>
          <p:cNvPr id="11" name="Terminal text"/>
          <p:cNvSpPr txBox="1"/>
          <p:nvPr/>
        </p:nvSpPr>
        <p:spPr>
          <a:xfrm>
            <a:off x="731520" y="2048256"/>
            <a:ext cx="6035040" cy="3273552"/>
          </a:xfrm>
          <a:prstGeom prst="rect">
            <a:avLst/>
          </a:prstGeom>
          <a:noFill/>
          <a:ln/>
        </p:spPr>
        <p:txBody>
          <a:bodyPr wrap="square" lIns="0" tIns="0" rIns="0" bIns="0" rtlCol="0" anchor="t"/>
          <a:lstStyle/>
          <a:p>
            <a:pPr indent="0" marL="0">
              <a:lnSpc>
                <a:spcPct val="100000"/>
              </a:lnSpc>
              <a:buNone/>
            </a:pPr>
            <a:r>
              <a:rPr lang="en-US" sz="1100" dirty="0">
                <a:solidFill>
                  <a:srgbClr val="8FC9A0"/>
                </a:solidFill>
                <a:latin typeface="Courier New" pitchFamily="34" charset="0"/>
                <a:ea typeface="Courier New" pitchFamily="34" charset="-122"/>
                <a:cs typeface="Courier New" pitchFamily="34" charset="-120"/>
              </a:rPr>
              <a:t>R1# </a:t>
            </a:r>
            <a:r>
              <a:rPr lang="en-US" sz="1100" b="1" dirty="0">
                <a:solidFill>
                  <a:srgbClr val="FFFFFF"/>
                </a:solidFill>
                <a:latin typeface="Courier New" pitchFamily="34" charset="0"/>
                <a:ea typeface="Courier New" pitchFamily="34" charset="-122"/>
                <a:cs typeface="Courier New" pitchFamily="34" charset="-120"/>
              </a:rPr>
              <a:t>copy running-config tftp:</a:t>
            </a:r>
            <a:endParaRPr lang="en-US" sz="1100" dirty="0"/>
          </a:p>
          <a:p>
            <a:pPr indent="0" marL="0">
              <a:lnSpc>
                <a:spcPct val="100000"/>
              </a:lnSpc>
              <a:buNone/>
            </a:pPr>
            <a:r>
              <a:rPr lang="en-US" sz="1100" dirty="0">
                <a:solidFill>
                  <a:srgbClr val="D5E2D8"/>
                </a:solidFill>
                <a:latin typeface="Courier New" pitchFamily="34" charset="0"/>
                <a:ea typeface="Courier New" pitchFamily="34" charset="-122"/>
                <a:cs typeface="Courier New" pitchFamily="34" charset="-120"/>
              </a:rPr>
              <a:t>Address or name of remote host []? </a:t>
            </a:r>
            <a:r>
              <a:rPr lang="en-US" sz="1100" b="1" dirty="0">
                <a:solidFill>
                  <a:srgbClr val="E8B92E"/>
                </a:solidFill>
                <a:latin typeface="Courier New" pitchFamily="34" charset="0"/>
                <a:ea typeface="Courier New" pitchFamily="34" charset="-122"/>
                <a:cs typeface="Courier New" pitchFamily="34" charset="-120"/>
              </a:rPr>
              <a:t>192.168.50.10</a:t>
            </a:r>
            <a:endParaRPr lang="en-US" sz="1100" dirty="0"/>
          </a:p>
          <a:p>
            <a:pPr indent="0" marL="0">
              <a:lnSpc>
                <a:spcPct val="100000"/>
              </a:lnSpc>
              <a:buNone/>
            </a:pPr>
            <a:r>
              <a:rPr lang="en-US" sz="1100" dirty="0">
                <a:solidFill>
                  <a:srgbClr val="D5E2D8"/>
                </a:solidFill>
                <a:latin typeface="Courier New" pitchFamily="34" charset="0"/>
                <a:ea typeface="Courier New" pitchFamily="34" charset="-122"/>
                <a:cs typeface="Courier New" pitchFamily="34" charset="-120"/>
              </a:rPr>
              <a:t>Destination filename [R1-confg]? </a:t>
            </a:r>
            <a:r>
              <a:rPr lang="en-US" sz="1100" b="1" dirty="0">
                <a:solidFill>
                  <a:srgbClr val="E8B92E"/>
                </a:solidFill>
                <a:latin typeface="Courier New" pitchFamily="34" charset="0"/>
                <a:ea typeface="Courier New" pitchFamily="34" charset="-122"/>
                <a:cs typeface="Courier New" pitchFamily="34" charset="-120"/>
              </a:rPr>
              <a:t>R1-2026-10-06.cfg</a:t>
            </a:r>
            <a:endParaRPr lang="en-US" sz="1100" dirty="0"/>
          </a:p>
          <a:p>
            <a:pPr indent="0" marL="0">
              <a:lnSpc>
                <a:spcPct val="100000"/>
              </a:lnSpc>
              <a:buNone/>
            </a:pPr>
            <a:r>
              <a:rPr lang="en-US" sz="1100" dirty="0">
                <a:solidFill>
                  <a:srgbClr val="D5E2D8"/>
                </a:solidFill>
                <a:latin typeface="Courier New" pitchFamily="34" charset="0"/>
                <a:ea typeface="Courier New" pitchFamily="34" charset="-122"/>
                <a:cs typeface="Courier New" pitchFamily="34" charset="-120"/>
              </a:rPr>
              <a:t>Writing running-config...!!</a:t>
            </a:r>
            <a:endParaRPr lang="en-US" sz="1100" dirty="0"/>
          </a:p>
          <a:p>
            <a:pPr indent="0" marL="0">
              <a:lnSpc>
                <a:spcPct val="100000"/>
              </a:lnSpc>
              <a:buNone/>
            </a:pPr>
            <a:r>
              <a:rPr lang="en-US" sz="1100" dirty="0">
                <a:solidFill>
                  <a:srgbClr val="D5E2D8"/>
                </a:solidFill>
                <a:latin typeface="Courier New" pitchFamily="34" charset="0"/>
                <a:ea typeface="Courier New" pitchFamily="34" charset="-122"/>
                <a:cs typeface="Courier New" pitchFamily="34" charset="-120"/>
              </a:rPr>
              <a:t>[OK - 1052 bytes]</a:t>
            </a:r>
            <a:endParaRPr lang="en-US" sz="1100" dirty="0"/>
          </a:p>
          <a:p>
            <a:pPr indent="0" marL="0">
              <a:lnSpc>
                <a:spcPct val="100000"/>
              </a:lnSpc>
              <a:buNone/>
            </a:pPr>
            <a:r>
              <a:rPr lang="en-US" sz="1100" dirty="0">
                <a:solidFill>
                  <a:srgbClr val="D5E2D8"/>
                </a:solidFill>
                <a:latin typeface="Courier New" pitchFamily="34" charset="0"/>
                <a:ea typeface="Courier New" pitchFamily="34" charset="-122"/>
                <a:cs typeface="Courier New" pitchFamily="34" charset="-120"/>
              </a:rPr>
              <a:t> </a:t>
            </a:r>
            <a:endParaRPr lang="en-US" sz="1100" dirty="0"/>
          </a:p>
          <a:p>
            <a:pPr indent="0" marL="0">
              <a:lnSpc>
                <a:spcPct val="100000"/>
              </a:lnSpc>
              <a:buNone/>
            </a:pPr>
            <a:r>
              <a:rPr lang="en-US" sz="1100" dirty="0">
                <a:solidFill>
                  <a:srgbClr val="8FC9A0"/>
                </a:solidFill>
                <a:latin typeface="Courier New" pitchFamily="34" charset="0"/>
                <a:ea typeface="Courier New" pitchFamily="34" charset="-122"/>
                <a:cs typeface="Courier New" pitchFamily="34" charset="-120"/>
              </a:rPr>
              <a:t>R1# </a:t>
            </a:r>
            <a:r>
              <a:rPr lang="en-US" sz="1100" b="1" dirty="0">
                <a:solidFill>
                  <a:srgbClr val="FFFFFF"/>
                </a:solidFill>
                <a:latin typeface="Courier New" pitchFamily="34" charset="0"/>
                <a:ea typeface="Courier New" pitchFamily="34" charset="-122"/>
                <a:cs typeface="Courier New" pitchFamily="34" charset="-120"/>
              </a:rPr>
              <a:t>copy tftp: running-config</a:t>
            </a:r>
            <a:endParaRPr lang="en-US" sz="1100" dirty="0"/>
          </a:p>
          <a:p>
            <a:pPr indent="0" marL="0">
              <a:lnSpc>
                <a:spcPct val="100000"/>
              </a:lnSpc>
              <a:buNone/>
            </a:pPr>
            <a:r>
              <a:rPr lang="en-US" sz="1100" dirty="0">
                <a:solidFill>
                  <a:srgbClr val="D5E2D8"/>
                </a:solidFill>
                <a:latin typeface="Courier New" pitchFamily="34" charset="0"/>
                <a:ea typeface="Courier New" pitchFamily="34" charset="-122"/>
                <a:cs typeface="Courier New" pitchFamily="34" charset="-120"/>
              </a:rPr>
              <a:t>Address or name of remote host []? 192.168.50.10</a:t>
            </a:r>
            <a:endParaRPr lang="en-US" sz="1100" dirty="0"/>
          </a:p>
          <a:p>
            <a:pPr indent="0" marL="0">
              <a:lnSpc>
                <a:spcPct val="100000"/>
              </a:lnSpc>
              <a:buNone/>
            </a:pPr>
            <a:r>
              <a:rPr lang="en-US" sz="1100" dirty="0">
                <a:solidFill>
                  <a:srgbClr val="D5E2D8"/>
                </a:solidFill>
                <a:latin typeface="Courier New" pitchFamily="34" charset="0"/>
                <a:ea typeface="Courier New" pitchFamily="34" charset="-122"/>
                <a:cs typeface="Courier New" pitchFamily="34" charset="-120"/>
              </a:rPr>
              <a:t>Source filename []? R1-2026-10-06.cfg</a:t>
            </a:r>
            <a:endParaRPr lang="en-US" sz="1100" dirty="0"/>
          </a:p>
          <a:p>
            <a:pPr indent="0" marL="0">
              <a:lnSpc>
                <a:spcPct val="100000"/>
              </a:lnSpc>
              <a:buNone/>
            </a:pPr>
            <a:r>
              <a:rPr lang="en-US" sz="1100" dirty="0">
                <a:solidFill>
                  <a:srgbClr val="D5E2D8"/>
                </a:solidFill>
                <a:latin typeface="Courier New" pitchFamily="34" charset="0"/>
                <a:ea typeface="Courier New" pitchFamily="34" charset="-122"/>
                <a:cs typeface="Courier New" pitchFamily="34" charset="-120"/>
              </a:rPr>
              <a:t>Destination filename [running-config]?</a:t>
            </a:r>
            <a:endParaRPr lang="en-US" sz="1100" dirty="0"/>
          </a:p>
          <a:p>
            <a:pPr indent="0" marL="0">
              <a:lnSpc>
                <a:spcPct val="100000"/>
              </a:lnSpc>
              <a:buNone/>
            </a:pPr>
            <a:r>
              <a:rPr lang="en-US" sz="1100" i="1" dirty="0">
                <a:solidFill>
                  <a:srgbClr val="9FB3A6"/>
                </a:solidFill>
                <a:latin typeface="Courier New" pitchFamily="34" charset="0"/>
                <a:ea typeface="Courier New" pitchFamily="34" charset="-122"/>
                <a:cs typeface="Courier New" pitchFamily="34" charset="-120"/>
              </a:rPr>
              <a:t>! press Enter to accept</a:t>
            </a:r>
            <a:endParaRPr lang="en-US" sz="1100" dirty="0"/>
          </a:p>
        </p:txBody>
      </p:sp>
      <p:sp>
        <p:nvSpPr>
          <p:cNvPr id="12" name="Shape 9"/>
          <p:cNvSpPr/>
          <p:nvPr/>
        </p:nvSpPr>
        <p:spPr>
          <a:xfrm>
            <a:off x="7178040" y="1709928"/>
            <a:ext cx="329184" cy="329184"/>
          </a:xfrm>
          <a:prstGeom prst="ellipse">
            <a:avLst/>
          </a:prstGeom>
          <a:solidFill>
            <a:srgbClr val="1E5631"/>
          </a:solidFill>
          <a:ln/>
        </p:spPr>
      </p:sp>
      <p:sp>
        <p:nvSpPr>
          <p:cNvPr id="13" name="Text 10"/>
          <p:cNvSpPr txBox="1"/>
          <p:nvPr/>
        </p:nvSpPr>
        <p:spPr>
          <a:xfrm>
            <a:off x="7178040" y="170992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4" name="Text 11"/>
          <p:cNvSpPr txBox="1"/>
          <p:nvPr/>
        </p:nvSpPr>
        <p:spPr>
          <a:xfrm>
            <a:off x="7653528" y="1691640"/>
            <a:ext cx="3986784" cy="488696"/>
          </a:xfrm>
          <a:prstGeom prst="rect">
            <a:avLst/>
          </a:prstGeom>
          <a:noFill/>
          <a:ln/>
        </p:spPr>
        <p:txBody>
          <a:bodyPr wrap="square" lIns="0" tIns="0" rIns="0" bIns="0" rtlCol="0" anchor="t"/>
          <a:lstStyle/>
          <a:p>
            <a:pPr indent="0" marL="0">
              <a:buNone/>
            </a:pPr>
            <a:r>
              <a:rPr lang="en-US" sz="1400" b="1" dirty="0">
                <a:solidFill>
                  <a:srgbClr val="1E5631"/>
                </a:solidFill>
              </a:rPr>
              <a:t>Prepare the server</a:t>
            </a:r>
            <a:endParaRPr lang="en-US" sz="1400" dirty="0"/>
          </a:p>
          <a:p>
            <a:pPr indent="0" marL="0">
              <a:buNone/>
            </a:pPr>
            <a:r>
              <a:rPr lang="en-US" sz="1400" dirty="0">
                <a:solidFill>
                  <a:srgbClr val="2B2B2B"/>
                </a:solidFill>
              </a:rPr>
              <a:t>SRV1 › Services › TFTP → On.</a:t>
            </a:r>
            <a:endParaRPr lang="en-US" sz="1400" dirty="0"/>
          </a:p>
        </p:txBody>
      </p:sp>
      <p:sp>
        <p:nvSpPr>
          <p:cNvPr id="15" name="Shape 12"/>
          <p:cNvSpPr/>
          <p:nvPr/>
        </p:nvSpPr>
        <p:spPr>
          <a:xfrm>
            <a:off x="7178040" y="2308352"/>
            <a:ext cx="329184" cy="329184"/>
          </a:xfrm>
          <a:prstGeom prst="ellipse">
            <a:avLst/>
          </a:prstGeom>
          <a:solidFill>
            <a:srgbClr val="1E5631"/>
          </a:solidFill>
          <a:ln/>
        </p:spPr>
      </p:sp>
      <p:sp>
        <p:nvSpPr>
          <p:cNvPr id="16" name="Text 13"/>
          <p:cNvSpPr txBox="1"/>
          <p:nvPr/>
        </p:nvSpPr>
        <p:spPr>
          <a:xfrm>
            <a:off x="7178040" y="230835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7" name="Text 14"/>
          <p:cNvSpPr txBox="1"/>
          <p:nvPr/>
        </p:nvSpPr>
        <p:spPr>
          <a:xfrm>
            <a:off x="7653528" y="2290064"/>
            <a:ext cx="3986784" cy="705612"/>
          </a:xfrm>
          <a:prstGeom prst="rect">
            <a:avLst/>
          </a:prstGeom>
          <a:noFill/>
          <a:ln/>
        </p:spPr>
        <p:txBody>
          <a:bodyPr wrap="square" lIns="0" tIns="0" rIns="0" bIns="0" rtlCol="0" anchor="t"/>
          <a:lstStyle/>
          <a:p>
            <a:pPr indent="0" marL="0">
              <a:buNone/>
            </a:pPr>
            <a:r>
              <a:rPr lang="en-US" sz="1400" b="1" dirty="0">
                <a:solidFill>
                  <a:srgbClr val="1E5631"/>
                </a:solidFill>
              </a:rPr>
              <a:t>Back up</a:t>
            </a:r>
            <a:endParaRPr lang="en-US" sz="1400" dirty="0"/>
          </a:p>
          <a:p>
            <a:pPr indent="0" marL="0">
              <a:buNone/>
            </a:pPr>
            <a:r>
              <a:rPr lang="en-US" sz="1300" b="1" dirty="0">
                <a:solidFill>
                  <a:srgbClr val="1E5631"/>
                </a:solidFill>
                <a:latin typeface="Courier New" pitchFamily="34" charset="0"/>
                <a:ea typeface="Courier New" pitchFamily="34" charset="-122"/>
                <a:cs typeface="Courier New" pitchFamily="34" charset="-120"/>
              </a:rPr>
              <a:t>copy running-config tftp:</a:t>
            </a:r>
            <a:r>
              <a:rPr lang="en-US" sz="1400" dirty="0">
                <a:solidFill>
                  <a:srgbClr val="2B2B2B"/>
                </a:solidFill>
              </a:rPr>
              <a:t> → server address → a file name with device and date.</a:t>
            </a:r>
            <a:endParaRPr lang="en-US" sz="1400" dirty="0"/>
          </a:p>
        </p:txBody>
      </p:sp>
      <p:sp>
        <p:nvSpPr>
          <p:cNvPr id="18" name="Shape 15"/>
          <p:cNvSpPr/>
          <p:nvPr/>
        </p:nvSpPr>
        <p:spPr>
          <a:xfrm>
            <a:off x="7178040" y="3123692"/>
            <a:ext cx="329184" cy="329184"/>
          </a:xfrm>
          <a:prstGeom prst="ellipse">
            <a:avLst/>
          </a:prstGeom>
          <a:solidFill>
            <a:srgbClr val="1E5631"/>
          </a:solidFill>
          <a:ln/>
        </p:spPr>
      </p:sp>
      <p:sp>
        <p:nvSpPr>
          <p:cNvPr id="19" name="Text 16"/>
          <p:cNvSpPr txBox="1"/>
          <p:nvPr/>
        </p:nvSpPr>
        <p:spPr>
          <a:xfrm>
            <a:off x="7178040" y="312369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20" name="Text 17"/>
          <p:cNvSpPr txBox="1"/>
          <p:nvPr/>
        </p:nvSpPr>
        <p:spPr>
          <a:xfrm>
            <a:off x="7653528" y="3105404"/>
            <a:ext cx="3986784" cy="488696"/>
          </a:xfrm>
          <a:prstGeom prst="rect">
            <a:avLst/>
          </a:prstGeom>
          <a:noFill/>
          <a:ln/>
        </p:spPr>
        <p:txBody>
          <a:bodyPr wrap="square" lIns="0" tIns="0" rIns="0" bIns="0" rtlCol="0" anchor="t"/>
          <a:lstStyle/>
          <a:p>
            <a:pPr indent="0" marL="0">
              <a:buNone/>
            </a:pPr>
            <a:r>
              <a:rPr lang="en-US" sz="1400" b="1" dirty="0">
                <a:solidFill>
                  <a:srgbClr val="1E5631"/>
                </a:solidFill>
              </a:rPr>
              <a:t>Check</a:t>
            </a:r>
            <a:endParaRPr lang="en-US" sz="1400" dirty="0"/>
          </a:p>
          <a:p>
            <a:pPr indent="0" marL="0">
              <a:buNone/>
            </a:pPr>
            <a:r>
              <a:rPr lang="en-US" sz="1400" dirty="0">
                <a:solidFill>
                  <a:srgbClr val="2B2B2B"/>
                </a:solidFill>
              </a:rPr>
              <a:t>The file appears in SRV1’s TFTP file list.</a:t>
            </a:r>
            <a:endParaRPr lang="en-US" sz="1400" dirty="0"/>
          </a:p>
        </p:txBody>
      </p:sp>
      <p:sp>
        <p:nvSpPr>
          <p:cNvPr id="21" name="Shape 18"/>
          <p:cNvSpPr/>
          <p:nvPr/>
        </p:nvSpPr>
        <p:spPr>
          <a:xfrm>
            <a:off x="7178040" y="3722116"/>
            <a:ext cx="329184" cy="329184"/>
          </a:xfrm>
          <a:prstGeom prst="ellipse">
            <a:avLst/>
          </a:prstGeom>
          <a:solidFill>
            <a:srgbClr val="1E5631"/>
          </a:solidFill>
          <a:ln/>
        </p:spPr>
      </p:sp>
      <p:sp>
        <p:nvSpPr>
          <p:cNvPr id="22" name="Text 19"/>
          <p:cNvSpPr txBox="1"/>
          <p:nvPr/>
        </p:nvSpPr>
        <p:spPr>
          <a:xfrm>
            <a:off x="7178040" y="372211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3" name="Text 20"/>
          <p:cNvSpPr txBox="1"/>
          <p:nvPr/>
        </p:nvSpPr>
        <p:spPr>
          <a:xfrm>
            <a:off x="7653528" y="3703828"/>
            <a:ext cx="3986784" cy="705612"/>
          </a:xfrm>
          <a:prstGeom prst="rect">
            <a:avLst/>
          </a:prstGeom>
          <a:noFill/>
          <a:ln/>
        </p:spPr>
        <p:txBody>
          <a:bodyPr wrap="square" lIns="0" tIns="0" rIns="0" bIns="0" rtlCol="0" anchor="t"/>
          <a:lstStyle/>
          <a:p>
            <a:pPr indent="0" marL="0">
              <a:buNone/>
            </a:pPr>
            <a:r>
              <a:rPr lang="en-US" sz="1400" b="1" dirty="0">
                <a:solidFill>
                  <a:srgbClr val="1E5631"/>
                </a:solidFill>
              </a:rPr>
              <a:t>Restore</a:t>
            </a:r>
            <a:endParaRPr lang="en-US" sz="1400" dirty="0"/>
          </a:p>
          <a:p>
            <a:pPr indent="0" marL="0">
              <a:buNone/>
            </a:pPr>
            <a:r>
              <a:rPr lang="en-US" sz="1300" b="1" dirty="0">
                <a:solidFill>
                  <a:srgbClr val="1E5631"/>
                </a:solidFill>
                <a:latin typeface="Courier New" pitchFamily="34" charset="0"/>
                <a:ea typeface="Courier New" pitchFamily="34" charset="-122"/>
                <a:cs typeface="Courier New" pitchFamily="34" charset="-120"/>
              </a:rPr>
              <a:t>copy tftp: running-config</a:t>
            </a:r>
            <a:r>
              <a:rPr lang="en-US" sz="1400" dirty="0">
                <a:solidFill>
                  <a:srgbClr val="2B2B2B"/>
                </a:solidFill>
              </a:rPr>
              <a:t> when a router is replaced or a change goes wrong.</a:t>
            </a:r>
            <a:endParaRPr lang="en-US" sz="1400" dirty="0"/>
          </a:p>
        </p:txBody>
      </p:sp>
      <p:sp>
        <p:nvSpPr>
          <p:cNvPr id="24" name="watch box"/>
          <p:cNvSpPr/>
          <p:nvPr/>
        </p:nvSpPr>
        <p:spPr>
          <a:xfrm>
            <a:off x="548640" y="5504688"/>
            <a:ext cx="11094415" cy="749808"/>
          </a:xfrm>
          <a:prstGeom prst="roundRect">
            <a:avLst>
              <a:gd name="adj" fmla="val 9756"/>
            </a:avLst>
          </a:prstGeom>
          <a:solidFill>
            <a:srgbClr val="FBEAEA"/>
          </a:solidFill>
          <a:ln w="12700">
            <a:solidFill>
              <a:srgbClr val="E9B8B5"/>
            </a:solidFill>
            <a:prstDash val="solid"/>
          </a:ln>
        </p:spPr>
      </p:sp>
      <p:pic>
        <p:nvPicPr>
          <p:cNvPr id="25" name="watch icon" descr="Watch out:">    </p:cNvPr>
          <p:cNvPicPr>
            <a:picLocks noChangeAspect="1"/>
          </p:cNvPicPr>
          <p:nvPr/>
        </p:nvPicPr>
        <p:blipFill>
          <a:blip r:embed="rId3"/>
          <a:stretch>
            <a:fillRect/>
          </a:stretch>
        </p:blipFill>
        <p:spPr>
          <a:xfrm>
            <a:off x="694944" y="5733288"/>
            <a:ext cx="292608" cy="292608"/>
          </a:xfrm>
          <a:prstGeom prst="rect">
            <a:avLst/>
          </a:prstGeom>
        </p:spPr>
      </p:pic>
      <p:sp>
        <p:nvSpPr>
          <p:cNvPr id="26" name="watch text"/>
          <p:cNvSpPr txBox="1"/>
          <p:nvPr/>
        </p:nvSpPr>
        <p:spPr>
          <a:xfrm>
            <a:off x="1097280" y="5541264"/>
            <a:ext cx="10436047" cy="676656"/>
          </a:xfrm>
          <a:prstGeom prst="rect">
            <a:avLst/>
          </a:prstGeom>
          <a:noFill/>
          <a:ln/>
        </p:spPr>
        <p:txBody>
          <a:bodyPr wrap="square" lIns="0" tIns="0" rIns="0" bIns="0" rtlCol="0" anchor="ctr"/>
          <a:lstStyle/>
          <a:p>
            <a:pPr indent="0" marL="0">
              <a:buNone/>
            </a:pPr>
            <a:r>
              <a:rPr lang="en-US" sz="1400" b="1" dirty="0">
                <a:solidFill>
                  <a:srgbClr val="8B1A1A"/>
                </a:solidFill>
              </a:rPr>
              <a:t>Watch out:  </a:t>
            </a:r>
            <a:r>
              <a:rPr lang="en-US" sz="1400" dirty="0">
                <a:solidFill>
                  <a:srgbClr val="2B2B2B"/>
                </a:solidFill>
              </a:rPr>
              <a:t>TFTP has no password and no encryption — real networks use SCP or SFTP. Back up after every change.</a:t>
            </a:r>
            <a:endParaRPr lang="en-US" sz="1400" dirty="0"/>
          </a:p>
        </p:txBody>
      </p:sp>
      <p:sp>
        <p:nvSpPr>
          <p:cNvPr id="27" name="Slide Number Placeholder 0"/>
          <p:cNvSpPr>
            <a:spLocks noGrp="1"/>
          </p:cNvSpPr>
          <p:nvPr>
            <p:ph type="sldNum" sz="quarter" idx="4294967295"/>
          </p:nvPr>
        </p:nvSpPr>
        <p:spPr>
          <a:xfrm>
            <a:off x="10698480" y="6464808"/>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1"/>
          <p:cNvSpPr/>
          <p:nvPr>
            <p:ph idx="102" type="body" hasCustomPrompt="1"/>
          </p:nvPr>
        </p:nvSpPr>
        <p:spPr>
          <a:xfrm>
            <a:off x="548640" y="274320"/>
            <a:ext cx="9966960" cy="256032"/>
          </a:xfrm>
          <a:prstGeom prst="rect">
            <a:avLst/>
          </a:prstGeom>
          <a:noFill/>
          <a:ln/>
        </p:spPr>
        <p:txBody>
          <a:bodyPr wrap="square" lIns="0" tIns="0" rIns="0" bIns="0" rtlCol="0" anchor="ctr"/>
          <a:lstStyle/>
          <a:p>
            <a:pPr algn="l" indent="0" marL="0">
              <a:buNone/>
            </a:pPr>
            <a:r>
              <a:rPr lang="en-US" sz="1100" b="1" spc="100" kern="0" dirty="0">
                <a:solidFill>
                  <a:schemeClr val="accent2"/>
                </a:solidFill>
              </a:rPr>
              <a:t>10  •  MANAGEMENT &amp; IPV6  •  LAB 10</a:t>
            </a:r>
            <a:endParaRPr lang="en-US" sz="1100" dirty="0"/>
          </a:p>
        </p:txBody>
      </p:sp>
      <p:sp>
        <p:nvSpPr>
          <p:cNvPr id="3" name="Text 1"/>
          <p:cNvSpPr/>
          <p:nvPr>
            <p:ph idx="103" type="title" hasCustomPrompt="1"/>
          </p:nvPr>
        </p:nvSpPr>
        <p:spPr>
          <a:xfrm>
            <a:off x="548640" y="548640"/>
            <a:ext cx="10149840" cy="548640"/>
          </a:xfrm>
          <a:prstGeom prst="rect">
            <a:avLst/>
          </a:prstGeom>
          <a:noFill/>
          <a:ln/>
        </p:spPr>
        <p:txBody>
          <a:bodyPr wrap="square" lIns="0" tIns="0" rIns="0" bIns="0" rtlCol="0" anchor="ctr"/>
          <a:lstStyle/>
          <a:p>
            <a:pPr algn="l" indent="0" marL="0">
              <a:buNone/>
            </a:pPr>
            <a:r>
              <a:rPr lang="en-US" sz="2600" b="1" dirty="0">
                <a:solidFill>
                  <a:schemeClr val="accent1"/>
                </a:solidFill>
              </a:rPr>
              <a:t>How to configure basic IPv6 on a router (1 of 2)</a:t>
            </a:r>
            <a:endParaRPr lang="en-US" sz="2600" dirty="0"/>
          </a:p>
        </p:txBody>
      </p:sp>
      <p:pic>
        <p:nvPicPr>
          <p:cNvPr id="4" name="Home button" descr="Home: back to the workbook menu">
            <a:hlinkClick r:id="rId2" tooltip="Back to the workbook menu" action="ppaction://hlinksldjump"/>
          </p:cNvPr>
          <p:cNvPicPr>
            <a:picLocks noChangeAspect="1"/>
          </p:cNvPicPr>
          <p:nvPr/>
        </p:nvPicPr>
        <p:blipFill>
          <a:blip r:embed="rId1"/>
          <a:stretch>
            <a:fillRect/>
          </a:stretch>
        </p:blipFill>
        <p:spPr>
          <a:xfrm>
            <a:off x="11365992" y="6336792"/>
            <a:ext cx="365760" cy="365760"/>
          </a:xfrm>
          <a:prstGeom prst="rect">
            <a:avLst/>
          </a:prstGeom>
        </p:spPr>
      </p:pic>
      <p:sp>
        <p:nvSpPr>
          <p:cNvPr id="5" name="Goal"/>
          <p:cNvSpPr txBox="1"/>
          <p:nvPr/>
        </p:nvSpPr>
        <p:spPr>
          <a:xfrm>
            <a:off x="548640" y="1161288"/>
            <a:ext cx="11094415" cy="384048"/>
          </a:xfrm>
          <a:prstGeom prst="rect">
            <a:avLst/>
          </a:prstGeom>
          <a:noFill/>
          <a:ln/>
        </p:spPr>
        <p:txBody>
          <a:bodyPr wrap="square" lIns="0" tIns="0" rIns="0" bIns="0" rtlCol="0" anchor="ctr"/>
          <a:lstStyle/>
          <a:p>
            <a:pPr indent="0" marL="0">
              <a:buNone/>
            </a:pPr>
            <a:r>
              <a:rPr lang="en-US" sz="1400" b="1" dirty="0">
                <a:solidFill>
                  <a:srgbClr val="2B7043"/>
                </a:solidFill>
              </a:rPr>
              <a:t>Goal:  </a:t>
            </a:r>
            <a:r>
              <a:rPr lang="en-US" sz="1400" dirty="0">
                <a:solidFill>
                  <a:srgbClr val="2B2B2B"/>
                </a:solidFill>
              </a:rPr>
              <a:t>Give R1’s ports IPv6 addresses and turn on IPv6 routing, so PCs can configure themselves (SLAAC).</a:t>
            </a:r>
            <a:endParaRPr lang="en-US" sz="1400" dirty="0"/>
          </a:p>
        </p:txBody>
      </p:sp>
      <p:sp>
        <p:nvSpPr>
          <p:cNvPr id="6" name="Command header"/>
          <p:cNvSpPr/>
          <p:nvPr/>
        </p:nvSpPr>
        <p:spPr>
          <a:xfrm>
            <a:off x="548640" y="1664208"/>
            <a:ext cx="6153912" cy="310896"/>
          </a:xfrm>
          <a:prstGeom prst="rect">
            <a:avLst/>
          </a:prstGeom>
          <a:solidFill>
            <a:srgbClr val="1B2B22"/>
          </a:solidFill>
          <a:ln/>
        </p:spPr>
        <p:txBody>
          <a:bodyPr wrap="square" lIns="109728" tIns="45720" rIns="109728" bIns="45720" rtlCol="0" anchor="ctr"/>
          <a:lstStyle/>
          <a:p>
            <a:pPr indent="0" marL="0">
              <a:buNone/>
            </a:pPr>
            <a:r>
              <a:rPr lang="en-US" sz="1100" dirty="0">
                <a:solidFill>
                  <a:srgbClr val="E0605A"/>
                </a:solidFill>
              </a:rPr>
              <a:t>●  </a:t>
            </a:r>
            <a:r>
              <a:rPr lang="en-US" sz="1100" dirty="0">
                <a:solidFill>
                  <a:srgbClr val="E8B92E"/>
                </a:solidFill>
              </a:rPr>
              <a:t>●  </a:t>
            </a:r>
            <a:r>
              <a:rPr lang="en-US" sz="1100" dirty="0">
                <a:solidFill>
                  <a:srgbClr val="4CAF50"/>
                </a:solidFill>
              </a:rPr>
              <a:t>●   </a:t>
            </a:r>
            <a:r>
              <a:rPr lang="en-US" sz="1100" b="1" dirty="0">
                <a:solidFill>
                  <a:srgbClr val="C9D6CC"/>
                </a:solidFill>
              </a:rPr>
              <a:t>R1  —  type the white text, then press Enter</a:t>
            </a:r>
            <a:endParaRPr lang="en-US" sz="1100" dirty="0"/>
          </a:p>
        </p:txBody>
      </p:sp>
      <p:sp>
        <p:nvSpPr>
          <p:cNvPr id="7" name="Meaning header"/>
          <p:cNvSpPr/>
          <p:nvPr/>
        </p:nvSpPr>
        <p:spPr>
          <a:xfrm>
            <a:off x="6720840" y="1664208"/>
            <a:ext cx="4922215" cy="310896"/>
          </a:xfrm>
          <a:prstGeom prst="rect">
            <a:avLst/>
          </a:prstGeom>
          <a:solidFill>
            <a:srgbClr val="E8F1EA"/>
          </a:solidFill>
          <a:ln/>
        </p:spPr>
        <p:txBody>
          <a:bodyPr wrap="square" lIns="109728" tIns="45720" rIns="109728" bIns="45720" rtlCol="0" anchor="ctr"/>
          <a:lstStyle/>
          <a:p>
            <a:pPr indent="0" marL="0">
              <a:buNone/>
            </a:pPr>
            <a:r>
              <a:rPr lang="en-US" sz="1200" b="1" dirty="0">
                <a:solidFill>
                  <a:srgbClr val="1E5631"/>
                </a:solidFill>
              </a:rPr>
              <a:t>What it does</a:t>
            </a:r>
            <a:endParaRPr lang="en-US" sz="1200" dirty="0"/>
          </a:p>
        </p:txBody>
      </p:sp>
      <p:sp>
        <p:nvSpPr>
          <p:cNvPr id="8" name="Command 01"/>
          <p:cNvSpPr/>
          <p:nvPr/>
        </p:nvSpPr>
        <p:spPr>
          <a:xfrm>
            <a:off x="548640" y="1993392"/>
            <a:ext cx="6153912" cy="54380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R1(config)# </a:t>
            </a:r>
            <a:r>
              <a:rPr lang="en-US" sz="1200" b="1" dirty="0">
                <a:solidFill>
                  <a:srgbClr val="FFFFFF"/>
                </a:solidFill>
                <a:latin typeface="Courier New" pitchFamily="34" charset="0"/>
                <a:ea typeface="Courier New" pitchFamily="34" charset="-122"/>
                <a:cs typeface="Courier New" pitchFamily="34" charset="-120"/>
              </a:rPr>
              <a:t>ipv6 unicast-routing</a:t>
            </a:r>
            <a:endParaRPr lang="en-US" sz="1200" dirty="0"/>
          </a:p>
        </p:txBody>
      </p:sp>
      <p:sp>
        <p:nvSpPr>
          <p:cNvPr id="9" name="Reveal 01 meaning"/>
          <p:cNvSpPr/>
          <p:nvPr/>
        </p:nvSpPr>
        <p:spPr>
          <a:xfrm>
            <a:off x="6720840" y="1993392"/>
            <a:ext cx="4922215" cy="543809"/>
          </a:xfrm>
          <a:prstGeom prst="rect">
            <a:avLst/>
          </a:prstGeom>
          <a:solidFill>
            <a:srgbClr val="F2F8F3"/>
          </a:solidFill>
          <a:ln/>
        </p:spPr>
        <p:txBody>
          <a:bodyPr wrap="square" lIns="109728" tIns="45720" rIns="109728" bIns="45720" rtlCol="0" anchor="ctr"/>
          <a:lstStyle/>
          <a:p>
            <a:pPr indent="0" marL="0">
              <a:buNone/>
            </a:pPr>
            <a:r>
              <a:rPr lang="en-US" sz="1400" dirty="0">
                <a:solidFill>
                  <a:srgbClr val="2B2B2B"/>
                </a:solidFill>
              </a:rPr>
              <a:t>Turn on IPv6 routing (off by default). Without it R1 won’t forward IPv6 or advertise its prefixes, so SLAAC fails.</a:t>
            </a:r>
            <a:endParaRPr lang="en-US" sz="1400" dirty="0"/>
          </a:p>
        </p:txBody>
      </p:sp>
      <p:sp>
        <p:nvSpPr>
          <p:cNvPr id="10" name="Command 02"/>
          <p:cNvSpPr/>
          <p:nvPr/>
        </p:nvSpPr>
        <p:spPr>
          <a:xfrm>
            <a:off x="548640" y="2555489"/>
            <a:ext cx="6153912" cy="326768"/>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R1(config)# </a:t>
            </a:r>
            <a:r>
              <a:rPr lang="en-US" sz="1200" b="1" dirty="0">
                <a:solidFill>
                  <a:srgbClr val="FFFFFF"/>
                </a:solidFill>
                <a:latin typeface="Courier New" pitchFamily="34" charset="0"/>
                <a:ea typeface="Courier New" pitchFamily="34" charset="-122"/>
                <a:cs typeface="Courier New" pitchFamily="34" charset="-120"/>
              </a:rPr>
              <a:t>interface g0/0/0</a:t>
            </a:r>
            <a:endParaRPr lang="en-US" sz="1200" dirty="0"/>
          </a:p>
        </p:txBody>
      </p:sp>
      <p:sp>
        <p:nvSpPr>
          <p:cNvPr id="11" name="Reveal 02 meaning"/>
          <p:cNvSpPr/>
          <p:nvPr/>
        </p:nvSpPr>
        <p:spPr>
          <a:xfrm>
            <a:off x="6720840" y="2555489"/>
            <a:ext cx="4922215" cy="326768"/>
          </a:xfrm>
          <a:prstGeom prst="rect">
            <a:avLst/>
          </a:prstGeom>
          <a:solidFill>
            <a:srgbClr val="FFFFFF"/>
          </a:solidFill>
          <a:ln/>
        </p:spPr>
        <p:txBody>
          <a:bodyPr wrap="square" lIns="109728" tIns="45720" rIns="109728" bIns="45720" rtlCol="0" anchor="ctr"/>
          <a:lstStyle/>
          <a:p>
            <a:pPr indent="0" marL="0">
              <a:buNone/>
            </a:pPr>
            <a:r>
              <a:rPr lang="en-US" sz="1400" dirty="0">
                <a:solidFill>
                  <a:srgbClr val="2B2B2B"/>
                </a:solidFill>
              </a:rPr>
              <a:t>The LAN port.</a:t>
            </a:r>
            <a:endParaRPr lang="en-US" sz="1400" dirty="0"/>
          </a:p>
        </p:txBody>
      </p:sp>
      <p:sp>
        <p:nvSpPr>
          <p:cNvPr id="12" name="Command 03"/>
          <p:cNvSpPr/>
          <p:nvPr/>
        </p:nvSpPr>
        <p:spPr>
          <a:xfrm>
            <a:off x="548640" y="2900545"/>
            <a:ext cx="6153912" cy="54380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R1(config-if)# </a:t>
            </a:r>
            <a:r>
              <a:rPr lang="en-US" sz="1200" b="1" dirty="0">
                <a:solidFill>
                  <a:srgbClr val="FFFFFF"/>
                </a:solidFill>
                <a:latin typeface="Courier New" pitchFamily="34" charset="0"/>
                <a:ea typeface="Courier New" pitchFamily="34" charset="-122"/>
                <a:cs typeface="Courier New" pitchFamily="34" charset="-120"/>
              </a:rPr>
              <a:t>ipv6 address 2001:db8:acad:1::1/64</a:t>
            </a:r>
            <a:endParaRPr lang="en-US" sz="1200" dirty="0"/>
          </a:p>
        </p:txBody>
      </p:sp>
      <p:sp>
        <p:nvSpPr>
          <p:cNvPr id="13" name="Reveal 03 meaning"/>
          <p:cNvSpPr/>
          <p:nvPr/>
        </p:nvSpPr>
        <p:spPr>
          <a:xfrm>
            <a:off x="6720840" y="2900545"/>
            <a:ext cx="4922215" cy="543809"/>
          </a:xfrm>
          <a:prstGeom prst="rect">
            <a:avLst/>
          </a:prstGeom>
          <a:solidFill>
            <a:srgbClr val="F2F8F3"/>
          </a:solidFill>
          <a:ln/>
        </p:spPr>
        <p:txBody>
          <a:bodyPr wrap="square" lIns="109728" tIns="45720" rIns="109728" bIns="45720" rtlCol="0" anchor="ctr"/>
          <a:lstStyle/>
          <a:p>
            <a:pPr indent="0" marL="0">
              <a:buNone/>
            </a:pPr>
            <a:r>
              <a:rPr lang="en-US" sz="1400" dirty="0">
                <a:solidFill>
                  <a:srgbClr val="2B2B2B"/>
                </a:solidFill>
              </a:rPr>
              <a:t>A global unicast address. /64 is the standard prefix for every LAN — SLAAC needs 64 host bits.</a:t>
            </a:r>
            <a:endParaRPr lang="en-US" sz="1400" dirty="0"/>
          </a:p>
        </p:txBody>
      </p:sp>
      <p:sp>
        <p:nvSpPr>
          <p:cNvPr id="14" name="Command 04"/>
          <p:cNvSpPr/>
          <p:nvPr/>
        </p:nvSpPr>
        <p:spPr>
          <a:xfrm>
            <a:off x="548640" y="3462642"/>
            <a:ext cx="6153912" cy="54380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R1(config-if)# </a:t>
            </a:r>
            <a:r>
              <a:rPr lang="en-US" sz="1200" b="1" dirty="0">
                <a:solidFill>
                  <a:srgbClr val="FFFFFF"/>
                </a:solidFill>
                <a:latin typeface="Courier New" pitchFamily="34" charset="0"/>
                <a:ea typeface="Courier New" pitchFamily="34" charset="-122"/>
                <a:cs typeface="Courier New" pitchFamily="34" charset="-120"/>
              </a:rPr>
              <a:t>ipv6 address fe80::1 link-local</a:t>
            </a:r>
            <a:endParaRPr lang="en-US" sz="1200" dirty="0"/>
          </a:p>
        </p:txBody>
      </p:sp>
      <p:sp>
        <p:nvSpPr>
          <p:cNvPr id="15" name="Reveal 04 meaning"/>
          <p:cNvSpPr/>
          <p:nvPr/>
        </p:nvSpPr>
        <p:spPr>
          <a:xfrm>
            <a:off x="6720840" y="3462642"/>
            <a:ext cx="4922215" cy="543809"/>
          </a:xfrm>
          <a:prstGeom prst="rect">
            <a:avLst/>
          </a:prstGeom>
          <a:solidFill>
            <a:srgbClr val="FFFFFF"/>
          </a:solidFill>
          <a:ln/>
        </p:spPr>
        <p:txBody>
          <a:bodyPr wrap="square" lIns="109728" tIns="45720" rIns="109728" bIns="45720" rtlCol="0" anchor="ctr"/>
          <a:lstStyle/>
          <a:p>
            <a:pPr indent="0" marL="0">
              <a:buNone/>
            </a:pPr>
            <a:r>
              <a:rPr lang="en-US" sz="1400" dirty="0">
                <a:solidFill>
                  <a:srgbClr val="2B2B2B"/>
                </a:solidFill>
              </a:rPr>
              <a:t>A short, easy link-local address. PCs use it as their default gateway.</a:t>
            </a:r>
            <a:endParaRPr lang="en-US" sz="1400" dirty="0"/>
          </a:p>
        </p:txBody>
      </p:sp>
      <p:sp>
        <p:nvSpPr>
          <p:cNvPr id="16" name="Command 05"/>
          <p:cNvSpPr/>
          <p:nvPr/>
        </p:nvSpPr>
        <p:spPr>
          <a:xfrm>
            <a:off x="548640" y="4024739"/>
            <a:ext cx="6153912" cy="326768"/>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R1(config-if)# </a:t>
            </a:r>
            <a:r>
              <a:rPr lang="en-US" sz="1200" b="1" dirty="0">
                <a:solidFill>
                  <a:srgbClr val="FFFFFF"/>
                </a:solidFill>
                <a:latin typeface="Courier New" pitchFamily="34" charset="0"/>
                <a:ea typeface="Courier New" pitchFamily="34" charset="-122"/>
                <a:cs typeface="Courier New" pitchFamily="34" charset="-120"/>
              </a:rPr>
              <a:t>no shutdown</a:t>
            </a:r>
            <a:endParaRPr lang="en-US" sz="1200" dirty="0"/>
          </a:p>
        </p:txBody>
      </p:sp>
      <p:sp>
        <p:nvSpPr>
          <p:cNvPr id="17" name="Reveal 05 meaning"/>
          <p:cNvSpPr/>
          <p:nvPr/>
        </p:nvSpPr>
        <p:spPr>
          <a:xfrm>
            <a:off x="6720840" y="4024739"/>
            <a:ext cx="4922215" cy="326768"/>
          </a:xfrm>
          <a:prstGeom prst="rect">
            <a:avLst/>
          </a:prstGeom>
          <a:solidFill>
            <a:srgbClr val="F2F8F3"/>
          </a:solidFill>
          <a:ln/>
        </p:spPr>
        <p:txBody>
          <a:bodyPr wrap="square" lIns="109728" tIns="45720" rIns="109728" bIns="45720" rtlCol="0" anchor="ctr"/>
          <a:lstStyle/>
          <a:p>
            <a:pPr indent="0" marL="0">
              <a:buNone/>
            </a:pPr>
            <a:r>
              <a:rPr lang="en-US" sz="1400" dirty="0">
                <a:solidFill>
                  <a:srgbClr val="2B2B2B"/>
                </a:solidFill>
              </a:rPr>
              <a:t>Switch the port on (if it is not on already).</a:t>
            </a:r>
            <a:endParaRPr lang="en-US" sz="1400" dirty="0"/>
          </a:p>
        </p:txBody>
      </p:sp>
      <p:sp>
        <p:nvSpPr>
          <p:cNvPr id="18" name="Command 06"/>
          <p:cNvSpPr/>
          <p:nvPr/>
        </p:nvSpPr>
        <p:spPr>
          <a:xfrm>
            <a:off x="548640" y="4369796"/>
            <a:ext cx="6153912" cy="800283"/>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R1(config-if)# </a:t>
            </a:r>
            <a:r>
              <a:rPr lang="en-US" sz="1200" b="1" dirty="0">
                <a:solidFill>
                  <a:srgbClr val="FFFFFF"/>
                </a:solidFill>
                <a:latin typeface="Courier New" pitchFamily="34" charset="0"/>
                <a:ea typeface="Courier New" pitchFamily="34" charset="-122"/>
                <a:cs typeface="Courier New" pitchFamily="34" charset="-120"/>
              </a:rPr>
              <a:t>interface g0/0/1</a:t>
            </a:r>
            <a:endParaRPr lang="en-US" sz="1200" dirty="0"/>
          </a:p>
          <a:p>
            <a:pPr indent="0" marL="0">
              <a:buNone/>
            </a:pPr>
            <a:r>
              <a:rPr lang="en-US" sz="1200" dirty="0">
                <a:solidFill>
                  <a:srgbClr val="8FC9A0"/>
                </a:solidFill>
                <a:latin typeface="Courier New" pitchFamily="34" charset="0"/>
                <a:ea typeface="Courier New" pitchFamily="34" charset="-122"/>
                <a:cs typeface="Courier New" pitchFamily="34" charset="-120"/>
              </a:rPr>
              <a:t>R1(config-if)# </a:t>
            </a:r>
            <a:r>
              <a:rPr lang="en-US" sz="1200" b="1" dirty="0">
                <a:solidFill>
                  <a:srgbClr val="FFFFFF"/>
                </a:solidFill>
                <a:latin typeface="Courier New" pitchFamily="34" charset="0"/>
                <a:ea typeface="Courier New" pitchFamily="34" charset="-122"/>
                <a:cs typeface="Courier New" pitchFamily="34" charset="-120"/>
              </a:rPr>
              <a:t>ipv6 address 2001:db8:acad:12::1/64</a:t>
            </a:r>
            <a:endParaRPr lang="en-US" sz="1200" dirty="0"/>
          </a:p>
          <a:p>
            <a:pPr indent="0" marL="0">
              <a:buNone/>
            </a:pPr>
            <a:r>
              <a:rPr lang="en-US" sz="1200" dirty="0">
                <a:solidFill>
                  <a:srgbClr val="8FC9A0"/>
                </a:solidFill>
                <a:latin typeface="Courier New" pitchFamily="34" charset="0"/>
                <a:ea typeface="Courier New" pitchFamily="34" charset="-122"/>
                <a:cs typeface="Courier New" pitchFamily="34" charset="-120"/>
              </a:rPr>
              <a:t>R1(config-if)# </a:t>
            </a:r>
            <a:r>
              <a:rPr lang="en-US" sz="1200" b="1" dirty="0">
                <a:solidFill>
                  <a:srgbClr val="FFFFFF"/>
                </a:solidFill>
                <a:latin typeface="Courier New" pitchFamily="34" charset="0"/>
                <a:ea typeface="Courier New" pitchFamily="34" charset="-122"/>
                <a:cs typeface="Courier New" pitchFamily="34" charset="-120"/>
              </a:rPr>
              <a:t>ipv6 address fe80::1 link-local</a:t>
            </a:r>
            <a:endParaRPr lang="en-US" sz="1200" dirty="0"/>
          </a:p>
          <a:p>
            <a:pPr indent="0" marL="0">
              <a:buNone/>
            </a:pPr>
            <a:r>
              <a:rPr lang="en-US" sz="1200" dirty="0">
                <a:solidFill>
                  <a:srgbClr val="8FC9A0"/>
                </a:solidFill>
                <a:latin typeface="Courier New" pitchFamily="34" charset="0"/>
                <a:ea typeface="Courier New" pitchFamily="34" charset="-122"/>
                <a:cs typeface="Courier New" pitchFamily="34" charset="-120"/>
              </a:rPr>
              <a:t>R1(config-if)# </a:t>
            </a:r>
            <a:r>
              <a:rPr lang="en-US" sz="1200" b="1" dirty="0">
                <a:solidFill>
                  <a:srgbClr val="FFFFFF"/>
                </a:solidFill>
                <a:latin typeface="Courier New" pitchFamily="34" charset="0"/>
                <a:ea typeface="Courier New" pitchFamily="34" charset="-122"/>
                <a:cs typeface="Courier New" pitchFamily="34" charset="-120"/>
              </a:rPr>
              <a:t>no shutdown</a:t>
            </a:r>
            <a:endParaRPr lang="en-US" sz="1200" dirty="0"/>
          </a:p>
        </p:txBody>
      </p:sp>
      <p:sp>
        <p:nvSpPr>
          <p:cNvPr id="19" name="Reveal 06 meaning"/>
          <p:cNvSpPr/>
          <p:nvPr/>
        </p:nvSpPr>
        <p:spPr>
          <a:xfrm>
            <a:off x="6720840" y="4369796"/>
            <a:ext cx="4922215" cy="800283"/>
          </a:xfrm>
          <a:prstGeom prst="rect">
            <a:avLst/>
          </a:prstGeom>
          <a:solidFill>
            <a:srgbClr val="FFFFFF"/>
          </a:solidFill>
          <a:ln/>
        </p:spPr>
        <p:txBody>
          <a:bodyPr wrap="square" lIns="109728" tIns="45720" rIns="109728" bIns="45720" rtlCol="0" anchor="ctr"/>
          <a:lstStyle/>
          <a:p>
            <a:pPr indent="0" marL="0">
              <a:buNone/>
            </a:pPr>
            <a:r>
              <a:rPr lang="en-US" sz="1400" dirty="0">
                <a:solidFill>
                  <a:srgbClr val="2B2B2B"/>
                </a:solidFill>
              </a:rPr>
              <a:t>The same on the link to R2. (R2 uses ::2 and fe80::2; its LAN is 2001:db8:acad:2::/64.)</a:t>
            </a:r>
            <a:endParaRPr lang="en-US" sz="1400" dirty="0"/>
          </a:p>
        </p:txBody>
      </p:sp>
      <p:sp>
        <p:nvSpPr>
          <p:cNvPr id="20" name="Reveal 99 check box"/>
          <p:cNvSpPr/>
          <p:nvPr/>
        </p:nvSpPr>
        <p:spPr>
          <a:xfrm>
            <a:off x="548640" y="5504688"/>
            <a:ext cx="5410048" cy="749808"/>
          </a:xfrm>
          <a:prstGeom prst="roundRect">
            <a:avLst>
              <a:gd name="adj" fmla="val 9756"/>
            </a:avLst>
          </a:prstGeom>
          <a:solidFill>
            <a:srgbClr val="E8F1EA"/>
          </a:solidFill>
          <a:ln w="12700">
            <a:solidFill>
              <a:srgbClr val="B7C9BA"/>
            </a:solidFill>
            <a:prstDash val="solid"/>
          </a:ln>
        </p:spPr>
      </p:sp>
      <p:pic>
        <p:nvPicPr>
          <p:cNvPr id="21" name="Reveal 99 check icon" descr="Check it:">    </p:cNvPr>
          <p:cNvPicPr>
            <a:picLocks noChangeAspect="1"/>
          </p:cNvPicPr>
          <p:nvPr/>
        </p:nvPicPr>
        <p:blipFill>
          <a:blip r:embed="rId3"/>
          <a:stretch>
            <a:fillRect/>
          </a:stretch>
        </p:blipFill>
        <p:spPr>
          <a:xfrm>
            <a:off x="694944" y="5733288"/>
            <a:ext cx="292608" cy="292608"/>
          </a:xfrm>
          <a:prstGeom prst="rect">
            <a:avLst/>
          </a:prstGeom>
        </p:spPr>
      </p:pic>
      <p:sp>
        <p:nvSpPr>
          <p:cNvPr id="22" name="Reveal 99 check text"/>
          <p:cNvSpPr txBox="1"/>
          <p:nvPr/>
        </p:nvSpPr>
        <p:spPr>
          <a:xfrm>
            <a:off x="1097280" y="5541264"/>
            <a:ext cx="4751680" cy="676656"/>
          </a:xfrm>
          <a:prstGeom prst="rect">
            <a:avLst/>
          </a:prstGeom>
          <a:noFill/>
          <a:ln/>
        </p:spPr>
        <p:txBody>
          <a:bodyPr wrap="square" lIns="0" tIns="0" rIns="0" bIns="0" rtlCol="0" anchor="ctr"/>
          <a:lstStyle/>
          <a:p>
            <a:pPr indent="0" marL="0">
              <a:buNone/>
            </a:pPr>
            <a:r>
              <a:rPr lang="en-US" sz="1400" b="1" dirty="0">
                <a:solidFill>
                  <a:srgbClr val="1E5631"/>
                </a:solidFill>
              </a:rPr>
              <a:t>Check it:  </a:t>
            </a:r>
            <a:r>
              <a:rPr lang="en-US" sz="1300" b="1" dirty="0">
                <a:solidFill>
                  <a:srgbClr val="1E5631"/>
                </a:solidFill>
                <a:latin typeface="Courier New" pitchFamily="34" charset="0"/>
                <a:ea typeface="Courier New" pitchFamily="34" charset="-122"/>
                <a:cs typeface="Courier New" pitchFamily="34" charset="-120"/>
              </a:rPr>
              <a:t>show ipv6 interface brief</a:t>
            </a:r>
            <a:r>
              <a:rPr lang="en-US" sz="1400" dirty="0">
                <a:solidFill>
                  <a:srgbClr val="2B2B2B"/>
                </a:solidFill>
              </a:rPr>
              <a:t> → each port up/up with its FE80::1 and 2001:DB8:… addresses.</a:t>
            </a:r>
            <a:endParaRPr lang="en-US" sz="1400" dirty="0"/>
          </a:p>
        </p:txBody>
      </p:sp>
      <p:sp>
        <p:nvSpPr>
          <p:cNvPr id="23" name="Reveal 99 watch box"/>
          <p:cNvSpPr/>
          <p:nvPr/>
        </p:nvSpPr>
        <p:spPr>
          <a:xfrm>
            <a:off x="6233008" y="5504688"/>
            <a:ext cx="5410048" cy="749808"/>
          </a:xfrm>
          <a:prstGeom prst="roundRect">
            <a:avLst>
              <a:gd name="adj" fmla="val 9756"/>
            </a:avLst>
          </a:prstGeom>
          <a:solidFill>
            <a:srgbClr val="FBEAEA"/>
          </a:solidFill>
          <a:ln w="12700">
            <a:solidFill>
              <a:srgbClr val="E9B8B5"/>
            </a:solidFill>
            <a:prstDash val="solid"/>
          </a:ln>
        </p:spPr>
      </p:sp>
      <p:pic>
        <p:nvPicPr>
          <p:cNvPr id="24" name="Reveal 99 watch icon" descr="Watch out:">    </p:cNvPr>
          <p:cNvPicPr>
            <a:picLocks noChangeAspect="1"/>
          </p:cNvPicPr>
          <p:nvPr/>
        </p:nvPicPr>
        <p:blipFill>
          <a:blip r:embed="rId4"/>
          <a:stretch>
            <a:fillRect/>
          </a:stretch>
        </p:blipFill>
        <p:spPr>
          <a:xfrm>
            <a:off x="6379312" y="5733288"/>
            <a:ext cx="292608" cy="292608"/>
          </a:xfrm>
          <a:prstGeom prst="rect">
            <a:avLst/>
          </a:prstGeom>
        </p:spPr>
      </p:pic>
      <p:sp>
        <p:nvSpPr>
          <p:cNvPr id="25" name="Reveal 99 watch text"/>
          <p:cNvSpPr txBox="1"/>
          <p:nvPr/>
        </p:nvSpPr>
        <p:spPr>
          <a:xfrm>
            <a:off x="6781648" y="5541264"/>
            <a:ext cx="4751680" cy="676656"/>
          </a:xfrm>
          <a:prstGeom prst="rect">
            <a:avLst/>
          </a:prstGeom>
          <a:noFill/>
          <a:ln/>
        </p:spPr>
        <p:txBody>
          <a:bodyPr wrap="square" lIns="0" tIns="0" rIns="0" bIns="0" rtlCol="0" anchor="ctr"/>
          <a:lstStyle/>
          <a:p>
            <a:pPr indent="0" marL="0">
              <a:buNone/>
            </a:pPr>
            <a:r>
              <a:rPr lang="en-US" sz="1400" b="1" dirty="0">
                <a:solidFill>
                  <a:srgbClr val="8B1A1A"/>
                </a:solidFill>
              </a:rPr>
              <a:t>Watch out:  </a:t>
            </a:r>
            <a:r>
              <a:rPr lang="en-US" sz="1400" dirty="0">
                <a:solidFill>
                  <a:srgbClr val="2B2B2B"/>
                </a:solidFill>
              </a:rPr>
              <a:t>Type the colons carefully: </a:t>
            </a:r>
            <a:r>
              <a:rPr lang="en-US" sz="1300" b="1" dirty="0">
                <a:solidFill>
                  <a:srgbClr val="1E5631"/>
                </a:solidFill>
                <a:latin typeface="Courier New" pitchFamily="34" charset="0"/>
                <a:ea typeface="Courier New" pitchFamily="34" charset="-122"/>
                <a:cs typeface="Courier New" pitchFamily="34" charset="-120"/>
              </a:rPr>
              <a:t>::</a:t>
            </a:r>
            <a:r>
              <a:rPr lang="en-US" sz="1400" dirty="0">
                <a:solidFill>
                  <a:srgbClr val="2B2B2B"/>
                </a:solidFill>
              </a:rPr>
              <a:t> may appear only once in an address.</a:t>
            </a:r>
            <a:endParaRPr lang="en-US" sz="1400" dirty="0"/>
          </a:p>
        </p:txBody>
      </p:sp>
      <p:sp>
        <p:nvSpPr>
          <p:cNvPr id="26" name="Slide Number Placeholder 0"/>
          <p:cNvSpPr>
            <a:spLocks noGrp="1"/>
          </p:cNvSpPr>
          <p:nvPr>
            <p:ph type="sldNum" sz="quarter" idx="4294967295"/>
          </p:nvPr>
        </p:nvSpPr>
        <p:spPr>
          <a:xfrm>
            <a:off x="10698480" y="6464808"/>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r"/>
            <a:fld id="{F7021451-1387-4CA6-816F-3879F97B5CBC}" type="slidenum">
              <a:rPr b="0" lang="en-US"/>
              <a:t>78</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4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0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400"/>
                                        <p:tgtEl>
                                          <p:spTgt spid="1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00"/>
                                        <p:tgtEl>
                                          <p:spTgt spid="20"/>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00"/>
                                        <p:tgtEl>
                                          <p:spTgt spid="21"/>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2"/>
                                        </p:tgtEl>
                                        <p:attrNameLst>
                                          <p:attrName>style.visibility</p:attrName>
                                        </p:attrNameLst>
                                      </p:cBhvr>
                                      <p:to>
                                        <p:strVal val="visible"/>
                                      </p:to>
                                    </p:set>
                                    <p:animEffect transition="in" filter="fade">
                                      <p:cBhvr>
                                        <p:cTn id="43" dur="400"/>
                                        <p:tgtEl>
                                          <p:spTgt spid="22"/>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3"/>
                                        </p:tgtEl>
                                        <p:attrNameLst>
                                          <p:attrName>style.visibility</p:attrName>
                                        </p:attrNameLst>
                                      </p:cBhvr>
                                      <p:to>
                                        <p:strVal val="visible"/>
                                      </p:to>
                                    </p:set>
                                    <p:animEffect transition="in" filter="fade">
                                      <p:cBhvr>
                                        <p:cTn id="46" dur="400"/>
                                        <p:tgtEl>
                                          <p:spTgt spid="23"/>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4"/>
                                        </p:tgtEl>
                                        <p:attrNameLst>
                                          <p:attrName>style.visibility</p:attrName>
                                        </p:attrNameLst>
                                      </p:cBhvr>
                                      <p:to>
                                        <p:strVal val="visible"/>
                                      </p:to>
                                    </p:set>
                                    <p:animEffect transition="in" filter="fade">
                                      <p:cBhvr>
                                        <p:cTn id="49" dur="400"/>
                                        <p:tgtEl>
                                          <p:spTgt spid="24"/>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fade">
                                      <p:cBhvr>
                                        <p:cTn id="52"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3" grpId="0" animBg="1"/>
      <p:bldP spid="15" grpId="0" animBg="1"/>
      <p:bldP spid="17" grpId="0" animBg="1"/>
      <p:bldP spid="19" grpId="0" animBg="1"/>
      <p:bldP spid="20" grpId="0" animBg="1"/>
      <p:bldP spid="22" grpId="0" animBg="1"/>
      <p:bldP spid="23" grpId="0" animBg="1"/>
      <p:bldP spid="25"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1"/>
          <p:cNvSpPr/>
          <p:nvPr>
            <p:ph idx="102" type="body" hasCustomPrompt="1"/>
          </p:nvPr>
        </p:nvSpPr>
        <p:spPr>
          <a:xfrm>
            <a:off x="548640" y="274320"/>
            <a:ext cx="9966960" cy="256032"/>
          </a:xfrm>
          <a:prstGeom prst="rect">
            <a:avLst/>
          </a:prstGeom>
          <a:noFill/>
          <a:ln/>
        </p:spPr>
        <p:txBody>
          <a:bodyPr wrap="square" lIns="0" tIns="0" rIns="0" bIns="0" rtlCol="0" anchor="ctr"/>
          <a:lstStyle/>
          <a:p>
            <a:pPr algn="l" indent="0" marL="0">
              <a:buNone/>
            </a:pPr>
            <a:r>
              <a:rPr lang="en-US" sz="1100" b="1" spc="100" kern="0" dirty="0">
                <a:solidFill>
                  <a:schemeClr val="accent2"/>
                </a:solidFill>
              </a:rPr>
              <a:t>10  •  MANAGEMENT &amp; IPV6  •  LAB 10</a:t>
            </a:r>
            <a:endParaRPr lang="en-US" sz="1100" dirty="0"/>
          </a:p>
        </p:txBody>
      </p:sp>
      <p:sp>
        <p:nvSpPr>
          <p:cNvPr id="3" name="Text 1"/>
          <p:cNvSpPr/>
          <p:nvPr>
            <p:ph idx="103" type="title" hasCustomPrompt="1"/>
          </p:nvPr>
        </p:nvSpPr>
        <p:spPr>
          <a:xfrm>
            <a:off x="548640" y="548640"/>
            <a:ext cx="10149840" cy="548640"/>
          </a:xfrm>
          <a:prstGeom prst="rect">
            <a:avLst/>
          </a:prstGeom>
          <a:noFill/>
          <a:ln/>
        </p:spPr>
        <p:txBody>
          <a:bodyPr wrap="square" lIns="0" tIns="0" rIns="0" bIns="0" rtlCol="0" anchor="ctr"/>
          <a:lstStyle/>
          <a:p>
            <a:pPr algn="l" indent="0" marL="0">
              <a:buNone/>
            </a:pPr>
            <a:r>
              <a:rPr lang="en-US" sz="2600" b="1" dirty="0">
                <a:solidFill>
                  <a:schemeClr val="accent1"/>
                </a:solidFill>
              </a:rPr>
              <a:t>How to configure basic IPv6 on a router (2 of 2)</a:t>
            </a:r>
            <a:endParaRPr lang="en-US" sz="2600" dirty="0"/>
          </a:p>
        </p:txBody>
      </p:sp>
      <p:pic>
        <p:nvPicPr>
          <p:cNvPr id="4" name="Home button" descr="Home: back to the workbook menu">
            <a:hlinkClick r:id="rId2" tooltip="Back to the workbook menu" action="ppaction://hlinksldjump"/>
          </p:cNvPr>
          <p:cNvPicPr>
            <a:picLocks noChangeAspect="1"/>
          </p:cNvPicPr>
          <p:nvPr/>
        </p:nvPicPr>
        <p:blipFill>
          <a:blip r:embed="rId1"/>
          <a:stretch>
            <a:fillRect/>
          </a:stretch>
        </p:blipFill>
        <p:spPr>
          <a:xfrm>
            <a:off x="11365992" y="6336792"/>
            <a:ext cx="365760" cy="365760"/>
          </a:xfrm>
          <a:prstGeom prst="rect">
            <a:avLst/>
          </a:prstGeom>
        </p:spPr>
      </p:pic>
      <p:sp>
        <p:nvSpPr>
          <p:cNvPr id="5" name="Goal"/>
          <p:cNvSpPr txBox="1"/>
          <p:nvPr/>
        </p:nvSpPr>
        <p:spPr>
          <a:xfrm>
            <a:off x="548640" y="1161288"/>
            <a:ext cx="11094415" cy="384048"/>
          </a:xfrm>
          <a:prstGeom prst="rect">
            <a:avLst/>
          </a:prstGeom>
          <a:noFill/>
          <a:ln/>
        </p:spPr>
        <p:txBody>
          <a:bodyPr wrap="square" lIns="0" tIns="0" rIns="0" bIns="0" rtlCol="0" anchor="ctr"/>
          <a:lstStyle/>
          <a:p>
            <a:pPr indent="0" marL="0">
              <a:buNone/>
            </a:pPr>
            <a:r>
              <a:rPr lang="en-US" sz="1400" b="1" dirty="0">
                <a:solidFill>
                  <a:srgbClr val="2B7043"/>
                </a:solidFill>
              </a:rPr>
              <a:t>Goal:  </a:t>
            </a:r>
            <a:r>
              <a:rPr lang="en-US" sz="1400" dirty="0">
                <a:solidFill>
                  <a:srgbClr val="2B2B2B"/>
                </a:solidFill>
              </a:rPr>
              <a:t>Add routes between the IPv6 LANs, let the PCs configure themselves, and test end to end.</a:t>
            </a:r>
            <a:endParaRPr lang="en-US" sz="1400" dirty="0"/>
          </a:p>
        </p:txBody>
      </p:sp>
      <p:sp>
        <p:nvSpPr>
          <p:cNvPr id="6" name="Command header"/>
          <p:cNvSpPr/>
          <p:nvPr/>
        </p:nvSpPr>
        <p:spPr>
          <a:xfrm>
            <a:off x="548640" y="1664208"/>
            <a:ext cx="6153912" cy="310896"/>
          </a:xfrm>
          <a:prstGeom prst="rect">
            <a:avLst/>
          </a:prstGeom>
          <a:solidFill>
            <a:srgbClr val="1B2B22"/>
          </a:solidFill>
          <a:ln/>
        </p:spPr>
        <p:txBody>
          <a:bodyPr wrap="square" lIns="109728" tIns="45720" rIns="109728" bIns="45720" rtlCol="0" anchor="ctr"/>
          <a:lstStyle/>
          <a:p>
            <a:pPr indent="0" marL="0">
              <a:buNone/>
            </a:pPr>
            <a:r>
              <a:rPr lang="en-US" sz="1100" dirty="0">
                <a:solidFill>
                  <a:srgbClr val="E0605A"/>
                </a:solidFill>
              </a:rPr>
              <a:t>●  </a:t>
            </a:r>
            <a:r>
              <a:rPr lang="en-US" sz="1100" dirty="0">
                <a:solidFill>
                  <a:srgbClr val="E8B92E"/>
                </a:solidFill>
              </a:rPr>
              <a:t>●  </a:t>
            </a:r>
            <a:r>
              <a:rPr lang="en-US" sz="1100" dirty="0">
                <a:solidFill>
                  <a:srgbClr val="4CAF50"/>
                </a:solidFill>
              </a:rPr>
              <a:t>●   </a:t>
            </a:r>
            <a:r>
              <a:rPr lang="en-US" sz="1100" b="1" dirty="0">
                <a:solidFill>
                  <a:srgbClr val="C9D6CC"/>
                </a:solidFill>
              </a:rPr>
              <a:t>R1 / R2 / PC1  —  type the white text, then press Enter</a:t>
            </a:r>
            <a:endParaRPr lang="en-US" sz="1100" dirty="0"/>
          </a:p>
        </p:txBody>
      </p:sp>
      <p:sp>
        <p:nvSpPr>
          <p:cNvPr id="7" name="Meaning header"/>
          <p:cNvSpPr/>
          <p:nvPr/>
        </p:nvSpPr>
        <p:spPr>
          <a:xfrm>
            <a:off x="6720840" y="1664208"/>
            <a:ext cx="4922215" cy="310896"/>
          </a:xfrm>
          <a:prstGeom prst="rect">
            <a:avLst/>
          </a:prstGeom>
          <a:solidFill>
            <a:srgbClr val="E8F1EA"/>
          </a:solidFill>
          <a:ln/>
        </p:spPr>
        <p:txBody>
          <a:bodyPr wrap="square" lIns="109728" tIns="45720" rIns="109728" bIns="45720" rtlCol="0" anchor="ctr"/>
          <a:lstStyle/>
          <a:p>
            <a:pPr indent="0" marL="0">
              <a:buNone/>
            </a:pPr>
            <a:r>
              <a:rPr lang="en-US" sz="1200" b="1" dirty="0">
                <a:solidFill>
                  <a:srgbClr val="1E5631"/>
                </a:solidFill>
              </a:rPr>
              <a:t>What it does</a:t>
            </a:r>
            <a:endParaRPr lang="en-US" sz="1200" dirty="0"/>
          </a:p>
        </p:txBody>
      </p:sp>
      <p:sp>
        <p:nvSpPr>
          <p:cNvPr id="8" name="Command 01"/>
          <p:cNvSpPr/>
          <p:nvPr/>
        </p:nvSpPr>
        <p:spPr>
          <a:xfrm>
            <a:off x="548640" y="1993392"/>
            <a:ext cx="6153912" cy="54380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R1(config)# </a:t>
            </a:r>
            <a:r>
              <a:rPr lang="en-US" sz="1200" b="1" dirty="0">
                <a:solidFill>
                  <a:srgbClr val="FFFFFF"/>
                </a:solidFill>
                <a:latin typeface="Courier New" pitchFamily="34" charset="0"/>
                <a:ea typeface="Courier New" pitchFamily="34" charset="-122"/>
                <a:cs typeface="Courier New" pitchFamily="34" charset="-120"/>
              </a:rPr>
              <a:t>ipv6 route 2001:db8:acad:2::/64 2001:db8:acad:12::2</a:t>
            </a:r>
            <a:endParaRPr lang="en-US" sz="1200" dirty="0"/>
          </a:p>
        </p:txBody>
      </p:sp>
      <p:sp>
        <p:nvSpPr>
          <p:cNvPr id="9" name="Reveal 01 meaning"/>
          <p:cNvSpPr/>
          <p:nvPr/>
        </p:nvSpPr>
        <p:spPr>
          <a:xfrm>
            <a:off x="6720840" y="1993392"/>
            <a:ext cx="4922215" cy="543809"/>
          </a:xfrm>
          <a:prstGeom prst="rect">
            <a:avLst/>
          </a:prstGeom>
          <a:solidFill>
            <a:srgbClr val="F2F8F3"/>
          </a:solidFill>
          <a:ln/>
        </p:spPr>
        <p:txBody>
          <a:bodyPr wrap="square" lIns="109728" tIns="45720" rIns="109728" bIns="45720" rtlCol="0" anchor="ctr"/>
          <a:lstStyle/>
          <a:p>
            <a:pPr indent="0" marL="0">
              <a:buNone/>
            </a:pPr>
            <a:r>
              <a:rPr lang="en-US" sz="1400" dirty="0">
                <a:solidFill>
                  <a:srgbClr val="2B2B2B"/>
                </a:solidFill>
              </a:rPr>
              <a:t>A static IPv6 route to R2’s LAN via R2’s address on the shared link — like IPv4, with a prefix length.</a:t>
            </a:r>
            <a:endParaRPr lang="en-US" sz="1400" dirty="0"/>
          </a:p>
        </p:txBody>
      </p:sp>
      <p:sp>
        <p:nvSpPr>
          <p:cNvPr id="10" name="Command 02"/>
          <p:cNvSpPr/>
          <p:nvPr/>
        </p:nvSpPr>
        <p:spPr>
          <a:xfrm>
            <a:off x="548640" y="2555489"/>
            <a:ext cx="6153912" cy="326768"/>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R2(config)# </a:t>
            </a:r>
            <a:r>
              <a:rPr lang="en-US" sz="1200" b="1" dirty="0">
                <a:solidFill>
                  <a:srgbClr val="FFFFFF"/>
                </a:solidFill>
                <a:latin typeface="Courier New" pitchFamily="34" charset="0"/>
                <a:ea typeface="Courier New" pitchFamily="34" charset="-122"/>
                <a:cs typeface="Courier New" pitchFamily="34" charset="-120"/>
              </a:rPr>
              <a:t>ipv6 route ::/0 2001:db8:acad:12::1</a:t>
            </a:r>
            <a:endParaRPr lang="en-US" sz="1200" dirty="0"/>
          </a:p>
        </p:txBody>
      </p:sp>
      <p:sp>
        <p:nvSpPr>
          <p:cNvPr id="11" name="Reveal 02 meaning"/>
          <p:cNvSpPr/>
          <p:nvPr/>
        </p:nvSpPr>
        <p:spPr>
          <a:xfrm>
            <a:off x="6720840" y="2555489"/>
            <a:ext cx="4922215" cy="326768"/>
          </a:xfrm>
          <a:prstGeom prst="rect">
            <a:avLst/>
          </a:prstGeom>
          <a:solidFill>
            <a:srgbClr val="FFFFFF"/>
          </a:solidFill>
          <a:ln/>
        </p:spPr>
        <p:txBody>
          <a:bodyPr wrap="square" lIns="109728" tIns="45720" rIns="109728" bIns="45720" rtlCol="0" anchor="ctr"/>
          <a:lstStyle/>
          <a:p>
            <a:pPr indent="0" marL="0">
              <a:buNone/>
            </a:pPr>
            <a:r>
              <a:rPr lang="en-US" sz="1400" dirty="0">
                <a:solidFill>
                  <a:srgbClr val="2B2B2B"/>
                </a:solidFill>
              </a:rPr>
              <a:t>An IPv6 default route on R2 (</a:t>
            </a:r>
            <a:r>
              <a:rPr lang="en-US" sz="1300" b="1" dirty="0">
                <a:solidFill>
                  <a:srgbClr val="1E5631"/>
                </a:solidFill>
                <a:latin typeface="Courier New" pitchFamily="34" charset="0"/>
                <a:ea typeface="Courier New" pitchFamily="34" charset="-122"/>
                <a:cs typeface="Courier New" pitchFamily="34" charset="-120"/>
              </a:rPr>
              <a:t>::/0</a:t>
            </a:r>
            <a:r>
              <a:rPr lang="en-US" sz="1400" dirty="0">
                <a:solidFill>
                  <a:srgbClr val="2B2B2B"/>
                </a:solidFill>
              </a:rPr>
              <a:t> = every address), back to R1.</a:t>
            </a:r>
            <a:endParaRPr lang="en-US" sz="1400" dirty="0"/>
          </a:p>
        </p:txBody>
      </p:sp>
      <p:sp>
        <p:nvSpPr>
          <p:cNvPr id="12" name="Command 03"/>
          <p:cNvSpPr/>
          <p:nvPr/>
        </p:nvSpPr>
        <p:spPr>
          <a:xfrm>
            <a:off x="548640" y="2900545"/>
            <a:ext cx="6153912" cy="543809"/>
          </a:xfrm>
          <a:prstGeom prst="rect">
            <a:avLst/>
          </a:prstGeom>
          <a:solidFill>
            <a:srgbClr val="1B2B22"/>
          </a:solidFill>
          <a:ln/>
        </p:spPr>
        <p:txBody>
          <a:bodyPr wrap="square" lIns="109728" tIns="45720" rIns="109728" bIns="45720" rtlCol="0" anchor="ctr"/>
          <a:lstStyle/>
          <a:p>
            <a:pPr indent="0" marL="0">
              <a:buNone/>
            </a:pPr>
            <a:r>
              <a:rPr lang="en-US" sz="1200" i="1" dirty="0">
                <a:solidFill>
                  <a:srgbClr val="9FB3A6"/>
                </a:solidFill>
                <a:latin typeface="Courier New" pitchFamily="34" charset="0"/>
                <a:ea typeface="Courier New" pitchFamily="34" charset="-122"/>
                <a:cs typeface="Courier New" pitchFamily="34" charset="-120"/>
              </a:rPr>
              <a:t>! PC1: IP Configuration › IPv6 › Automatic</a:t>
            </a:r>
            <a:endParaRPr lang="en-US" sz="1200" dirty="0"/>
          </a:p>
        </p:txBody>
      </p:sp>
      <p:sp>
        <p:nvSpPr>
          <p:cNvPr id="13" name="Reveal 03 meaning"/>
          <p:cNvSpPr/>
          <p:nvPr/>
        </p:nvSpPr>
        <p:spPr>
          <a:xfrm>
            <a:off x="6720840" y="2900545"/>
            <a:ext cx="4922215" cy="543809"/>
          </a:xfrm>
          <a:prstGeom prst="rect">
            <a:avLst/>
          </a:prstGeom>
          <a:solidFill>
            <a:srgbClr val="F2F8F3"/>
          </a:solidFill>
          <a:ln/>
        </p:spPr>
        <p:txBody>
          <a:bodyPr wrap="square" lIns="109728" tIns="45720" rIns="109728" bIns="45720" rtlCol="0" anchor="ctr"/>
          <a:lstStyle/>
          <a:p>
            <a:pPr indent="0" marL="0">
              <a:buNone/>
            </a:pPr>
            <a:r>
              <a:rPr lang="en-US" sz="1400" dirty="0">
                <a:solidFill>
                  <a:srgbClr val="2B2B2B"/>
                </a:solidFill>
              </a:rPr>
              <a:t>The PC builds its own address from R1’s /64 prefix (SLAAC) and uses fe80::1 as its gateway.</a:t>
            </a:r>
            <a:endParaRPr lang="en-US" sz="1400" dirty="0"/>
          </a:p>
        </p:txBody>
      </p:sp>
      <p:sp>
        <p:nvSpPr>
          <p:cNvPr id="14" name="Command 04"/>
          <p:cNvSpPr/>
          <p:nvPr/>
        </p:nvSpPr>
        <p:spPr>
          <a:xfrm>
            <a:off x="548640" y="3462642"/>
            <a:ext cx="6153912" cy="326768"/>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R1# </a:t>
            </a:r>
            <a:r>
              <a:rPr lang="en-US" sz="1200" b="1" dirty="0">
                <a:solidFill>
                  <a:srgbClr val="FFFFFF"/>
                </a:solidFill>
                <a:latin typeface="Courier New" pitchFamily="34" charset="0"/>
                <a:ea typeface="Courier New" pitchFamily="34" charset="-122"/>
                <a:cs typeface="Courier New" pitchFamily="34" charset="-120"/>
              </a:rPr>
              <a:t>show ipv6 route</a:t>
            </a:r>
            <a:endParaRPr lang="en-US" sz="1200" dirty="0"/>
          </a:p>
        </p:txBody>
      </p:sp>
      <p:sp>
        <p:nvSpPr>
          <p:cNvPr id="15" name="Reveal 04 meaning"/>
          <p:cNvSpPr/>
          <p:nvPr/>
        </p:nvSpPr>
        <p:spPr>
          <a:xfrm>
            <a:off x="6720840" y="3462642"/>
            <a:ext cx="4922215" cy="326768"/>
          </a:xfrm>
          <a:prstGeom prst="rect">
            <a:avLst/>
          </a:prstGeom>
          <a:solidFill>
            <a:srgbClr val="FFFFFF"/>
          </a:solidFill>
          <a:ln/>
        </p:spPr>
        <p:txBody>
          <a:bodyPr wrap="square" lIns="109728" tIns="45720" rIns="109728" bIns="45720" rtlCol="0" anchor="ctr"/>
          <a:lstStyle/>
          <a:p>
            <a:pPr indent="0" marL="0">
              <a:buNone/>
            </a:pPr>
            <a:r>
              <a:rPr lang="en-US" sz="1400" dirty="0">
                <a:solidFill>
                  <a:srgbClr val="2B2B2B"/>
                </a:solidFill>
              </a:rPr>
              <a:t>C, L and S routes for IPv6 — read it just like the IPv4 table.</a:t>
            </a:r>
            <a:endParaRPr lang="en-US" sz="1400" dirty="0"/>
          </a:p>
        </p:txBody>
      </p:sp>
      <p:sp>
        <p:nvSpPr>
          <p:cNvPr id="16" name="Command 05"/>
          <p:cNvSpPr/>
          <p:nvPr/>
        </p:nvSpPr>
        <p:spPr>
          <a:xfrm>
            <a:off x="548640" y="3807699"/>
            <a:ext cx="6153912" cy="543809"/>
          </a:xfrm>
          <a:prstGeom prst="rect">
            <a:avLst/>
          </a:prstGeom>
          <a:solidFill>
            <a:srgbClr val="1B2B22"/>
          </a:solidFill>
          <a:ln/>
        </p:spPr>
        <p:txBody>
          <a:bodyPr wrap="square" lIns="109728" tIns="45720" rIns="109728" bIns="45720" rtlCol="0" anchor="ctr"/>
          <a:lstStyle/>
          <a:p>
            <a:pPr indent="0" marL="0">
              <a:buNone/>
            </a:pPr>
            <a:r>
              <a:rPr lang="en-US" sz="1200" dirty="0">
                <a:solidFill>
                  <a:srgbClr val="8FC9A0"/>
                </a:solidFill>
                <a:latin typeface="Courier New" pitchFamily="34" charset="0"/>
                <a:ea typeface="Courier New" pitchFamily="34" charset="-122"/>
                <a:cs typeface="Courier New" pitchFamily="34" charset="-120"/>
              </a:rPr>
              <a:t>C:\&gt; </a:t>
            </a:r>
            <a:r>
              <a:rPr lang="en-US" sz="1200" b="1" dirty="0">
                <a:solidFill>
                  <a:srgbClr val="FFFFFF"/>
                </a:solidFill>
                <a:latin typeface="Courier New" pitchFamily="34" charset="0"/>
                <a:ea typeface="Courier New" pitchFamily="34" charset="-122"/>
                <a:cs typeface="Courier New" pitchFamily="34" charset="-120"/>
              </a:rPr>
              <a:t>ping 2001:db8:acad:2::10</a:t>
            </a:r>
            <a:endParaRPr lang="en-US" sz="1200" dirty="0"/>
          </a:p>
        </p:txBody>
      </p:sp>
      <p:sp>
        <p:nvSpPr>
          <p:cNvPr id="17" name="Reveal 05 meaning"/>
          <p:cNvSpPr/>
          <p:nvPr/>
        </p:nvSpPr>
        <p:spPr>
          <a:xfrm>
            <a:off x="6720840" y="3807699"/>
            <a:ext cx="4922215" cy="543809"/>
          </a:xfrm>
          <a:prstGeom prst="rect">
            <a:avLst/>
          </a:prstGeom>
          <a:solidFill>
            <a:srgbClr val="F2F8F3"/>
          </a:solidFill>
          <a:ln/>
        </p:spPr>
        <p:txBody>
          <a:bodyPr wrap="square" lIns="109728" tIns="45720" rIns="109728" bIns="45720" rtlCol="0" anchor="ctr"/>
          <a:lstStyle/>
          <a:p>
            <a:pPr indent="0" marL="0">
              <a:buNone/>
            </a:pPr>
            <a:r>
              <a:rPr lang="en-US" sz="1400" dirty="0">
                <a:solidFill>
                  <a:srgbClr val="2B2B2B"/>
                </a:solidFill>
              </a:rPr>
              <a:t>From PC1, ping PC2 (static 2001:db8:acad:2::10/64, gateway fe80::2).</a:t>
            </a:r>
            <a:endParaRPr lang="en-US" sz="1400" dirty="0"/>
          </a:p>
        </p:txBody>
      </p:sp>
      <p:sp>
        <p:nvSpPr>
          <p:cNvPr id="18" name="Reveal 99 check box"/>
          <p:cNvSpPr/>
          <p:nvPr/>
        </p:nvSpPr>
        <p:spPr>
          <a:xfrm>
            <a:off x="548640" y="5504688"/>
            <a:ext cx="5410048" cy="749808"/>
          </a:xfrm>
          <a:prstGeom prst="roundRect">
            <a:avLst>
              <a:gd name="adj" fmla="val 9756"/>
            </a:avLst>
          </a:prstGeom>
          <a:solidFill>
            <a:srgbClr val="E8F1EA"/>
          </a:solidFill>
          <a:ln w="12700">
            <a:solidFill>
              <a:srgbClr val="B7C9BA"/>
            </a:solidFill>
            <a:prstDash val="solid"/>
          </a:ln>
        </p:spPr>
      </p:sp>
      <p:pic>
        <p:nvPicPr>
          <p:cNvPr id="19" name="Reveal 99 check icon" descr="Check it:">    </p:cNvPr>
          <p:cNvPicPr>
            <a:picLocks noChangeAspect="1"/>
          </p:cNvPicPr>
          <p:nvPr/>
        </p:nvPicPr>
        <p:blipFill>
          <a:blip r:embed="rId3"/>
          <a:stretch>
            <a:fillRect/>
          </a:stretch>
        </p:blipFill>
        <p:spPr>
          <a:xfrm>
            <a:off x="694944" y="5733288"/>
            <a:ext cx="292608" cy="292608"/>
          </a:xfrm>
          <a:prstGeom prst="rect">
            <a:avLst/>
          </a:prstGeom>
        </p:spPr>
      </p:pic>
      <p:sp>
        <p:nvSpPr>
          <p:cNvPr id="20" name="Reveal 99 check text"/>
          <p:cNvSpPr txBox="1"/>
          <p:nvPr/>
        </p:nvSpPr>
        <p:spPr>
          <a:xfrm>
            <a:off x="1097280" y="5541264"/>
            <a:ext cx="4751680" cy="676656"/>
          </a:xfrm>
          <a:prstGeom prst="rect">
            <a:avLst/>
          </a:prstGeom>
          <a:noFill/>
          <a:ln/>
        </p:spPr>
        <p:txBody>
          <a:bodyPr wrap="square" lIns="0" tIns="0" rIns="0" bIns="0" rtlCol="0" anchor="ctr"/>
          <a:lstStyle/>
          <a:p>
            <a:pPr indent="0" marL="0">
              <a:buNone/>
            </a:pPr>
            <a:r>
              <a:rPr lang="en-US" sz="1400" b="1" dirty="0">
                <a:solidFill>
                  <a:srgbClr val="1E5631"/>
                </a:solidFill>
              </a:rPr>
              <a:t>Check it:  </a:t>
            </a:r>
            <a:r>
              <a:rPr lang="en-US" sz="1300" b="1" dirty="0">
                <a:solidFill>
                  <a:srgbClr val="1E5631"/>
                </a:solidFill>
                <a:latin typeface="Courier New" pitchFamily="34" charset="0"/>
                <a:ea typeface="Courier New" pitchFamily="34" charset="-122"/>
                <a:cs typeface="Courier New" pitchFamily="34" charset="-120"/>
              </a:rPr>
              <a:t>tracert 2001:db8:acad:2::10</a:t>
            </a:r>
            <a:r>
              <a:rPr lang="en-US" sz="1400" dirty="0">
                <a:solidFill>
                  <a:srgbClr val="2B2B2B"/>
                </a:solidFill>
              </a:rPr>
              <a:t> from PC1 passes R1 and then R2.</a:t>
            </a:r>
            <a:endParaRPr lang="en-US" sz="1400" dirty="0"/>
          </a:p>
        </p:txBody>
      </p:sp>
      <p:sp>
        <p:nvSpPr>
          <p:cNvPr id="21" name="Reveal 99 watch box"/>
          <p:cNvSpPr/>
          <p:nvPr/>
        </p:nvSpPr>
        <p:spPr>
          <a:xfrm>
            <a:off x="6233008" y="5504688"/>
            <a:ext cx="5410048" cy="749808"/>
          </a:xfrm>
          <a:prstGeom prst="roundRect">
            <a:avLst>
              <a:gd name="adj" fmla="val 9756"/>
            </a:avLst>
          </a:prstGeom>
          <a:solidFill>
            <a:srgbClr val="FBEAEA"/>
          </a:solidFill>
          <a:ln w="12700">
            <a:solidFill>
              <a:srgbClr val="E9B8B5"/>
            </a:solidFill>
            <a:prstDash val="solid"/>
          </a:ln>
        </p:spPr>
      </p:sp>
      <p:pic>
        <p:nvPicPr>
          <p:cNvPr id="22" name="Reveal 99 watch icon" descr="Watch out:">    </p:cNvPr>
          <p:cNvPicPr>
            <a:picLocks noChangeAspect="1"/>
          </p:cNvPicPr>
          <p:nvPr/>
        </p:nvPicPr>
        <p:blipFill>
          <a:blip r:embed="rId4"/>
          <a:stretch>
            <a:fillRect/>
          </a:stretch>
        </p:blipFill>
        <p:spPr>
          <a:xfrm>
            <a:off x="6379312" y="5733288"/>
            <a:ext cx="292608" cy="292608"/>
          </a:xfrm>
          <a:prstGeom prst="rect">
            <a:avLst/>
          </a:prstGeom>
        </p:spPr>
      </p:pic>
      <p:sp>
        <p:nvSpPr>
          <p:cNvPr id="23" name="Reveal 99 watch text"/>
          <p:cNvSpPr txBox="1"/>
          <p:nvPr/>
        </p:nvSpPr>
        <p:spPr>
          <a:xfrm>
            <a:off x="6781648" y="5541264"/>
            <a:ext cx="4751680" cy="676656"/>
          </a:xfrm>
          <a:prstGeom prst="rect">
            <a:avLst/>
          </a:prstGeom>
          <a:noFill/>
          <a:ln/>
        </p:spPr>
        <p:txBody>
          <a:bodyPr wrap="square" lIns="0" tIns="0" rIns="0" bIns="0" rtlCol="0" anchor="ctr"/>
          <a:lstStyle/>
          <a:p>
            <a:pPr indent="0" marL="0">
              <a:buNone/>
            </a:pPr>
            <a:r>
              <a:rPr lang="en-US" sz="1400" b="1" dirty="0">
                <a:solidFill>
                  <a:srgbClr val="8B1A1A"/>
                </a:solidFill>
              </a:rPr>
              <a:t>Watch out:  </a:t>
            </a:r>
            <a:r>
              <a:rPr lang="en-US" sz="1400" dirty="0">
                <a:solidFill>
                  <a:srgbClr val="2B2B2B"/>
                </a:solidFill>
              </a:rPr>
              <a:t>SLAAC fails without </a:t>
            </a:r>
            <a:r>
              <a:rPr lang="en-US" sz="1300" b="1" dirty="0">
                <a:solidFill>
                  <a:srgbClr val="1E5631"/>
                </a:solidFill>
                <a:latin typeface="Courier New" pitchFamily="34" charset="0"/>
                <a:ea typeface="Courier New" pitchFamily="34" charset="-122"/>
                <a:cs typeface="Courier New" pitchFamily="34" charset="-120"/>
              </a:rPr>
              <a:t>ipv6 unicast-routing</a:t>
            </a:r>
            <a:r>
              <a:rPr lang="en-US" sz="1400" dirty="0">
                <a:solidFill>
                  <a:srgbClr val="2B2B2B"/>
                </a:solidFill>
              </a:rPr>
              <a:t> — R1 never sends the Router Advertisements PCs need.</a:t>
            </a:r>
            <a:endParaRPr lang="en-US" sz="1400" dirty="0"/>
          </a:p>
        </p:txBody>
      </p:sp>
      <p:sp>
        <p:nvSpPr>
          <p:cNvPr id="25" name="Slide Number Placeholder 0"/>
          <p:cNvSpPr>
            <a:spLocks noGrp="1"/>
          </p:cNvSpPr>
          <p:nvPr>
            <p:ph type="sldNum" sz="quarter" idx="4294967295"/>
          </p:nvPr>
        </p:nvSpPr>
        <p:spPr>
          <a:xfrm>
            <a:off x="10698480" y="6464808"/>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r"/>
            <a:fld id="{F7021451-1387-4CA6-816F-3879F97B5CBC}" type="slidenum">
              <a:rPr b="0" lang="en-US"/>
              <a:t>79</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4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0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400"/>
                                        <p:tgtEl>
                                          <p:spTgt spid="1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400"/>
                                        <p:tgtEl>
                                          <p:spTgt spid="1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fade">
                                      <p:cBhvr>
                                        <p:cTn id="38" dur="400"/>
                                        <p:tgtEl>
                                          <p:spTgt spid="20"/>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fade">
                                      <p:cBhvr>
                                        <p:cTn id="41" dur="400"/>
                                        <p:tgtEl>
                                          <p:spTgt spid="21"/>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fade">
                                      <p:cBhvr>
                                        <p:cTn id="44" dur="400"/>
                                        <p:tgtEl>
                                          <p:spTgt spid="22"/>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3" grpId="0" animBg="1"/>
      <p:bldP spid="15" grpId="0" animBg="1"/>
      <p:bldP spid="17" grpId="0" animBg="1"/>
      <p:bldP spid="18" grpId="0" animBg="1"/>
      <p:bldP spid="20" grpId="0" animBg="1"/>
      <p:bldP spid="21" grpId="0" animBg="1"/>
      <p:bldP spid="23"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1"/>
          <p:cNvSpPr/>
          <p:nvPr>
            <p:ph idx="101" type="body" hasCustomPrompt="1"/>
          </p:nvPr>
        </p:nvSpPr>
        <p:spPr>
          <a:xfrm>
            <a:off x="548640" y="685800"/>
            <a:ext cx="3200400" cy="1143000"/>
          </a:xfrm>
          <a:prstGeom prst="rect">
            <a:avLst/>
          </a:prstGeom>
          <a:noFill/>
          <a:ln/>
        </p:spPr>
        <p:txBody>
          <a:bodyPr wrap="square" lIns="0" tIns="0" rIns="0" bIns="0" rtlCol="0" anchor="b"/>
          <a:lstStyle/>
          <a:p>
            <a:pPr algn="l" indent="0" marL="0">
              <a:buNone/>
            </a:pPr>
            <a:r>
              <a:rPr lang="en-US" sz="7200" b="1" dirty="0">
                <a:solidFill>
                  <a:schemeClr val="accent3"/>
                </a:solidFill>
                <a:latin typeface="Cambria" pitchFamily="34" charset="0"/>
                <a:ea typeface="Cambria" pitchFamily="34" charset="-122"/>
                <a:cs typeface="Cambria" pitchFamily="34" charset="-120"/>
              </a:rPr>
              <a:t>11</a:t>
            </a:r>
            <a:endParaRPr lang="en-US" sz="7200" dirty="0"/>
          </a:p>
        </p:txBody>
      </p:sp>
      <p:sp>
        <p:nvSpPr>
          <p:cNvPr id="3" name="Text 1"/>
          <p:cNvSpPr/>
          <p:nvPr>
            <p:ph idx="102" type="title" hasCustomPrompt="1"/>
          </p:nvPr>
        </p:nvSpPr>
        <p:spPr>
          <a:xfrm>
            <a:off x="548640" y="2011680"/>
            <a:ext cx="6492240" cy="1600200"/>
          </a:xfrm>
          <a:prstGeom prst="rect">
            <a:avLst/>
          </a:prstGeom>
          <a:noFill/>
          <a:ln/>
        </p:spPr>
        <p:txBody>
          <a:bodyPr wrap="square" lIns="0" tIns="0" rIns="0" bIns="0" rtlCol="0" anchor="t"/>
          <a:lstStyle/>
          <a:p>
            <a:pPr algn="l" indent="0" marL="0">
              <a:buNone/>
            </a:pPr>
            <a:r>
              <a:rPr lang="en-US" sz="3400" b="1" dirty="0">
                <a:solidFill>
                  <a:srgbClr val="FFFFFF"/>
                </a:solidFill>
              </a:rPr>
              <a:t>How to test and troubleshoot your network</a:t>
            </a:r>
            <a:endParaRPr lang="en-US" sz="3400" dirty="0"/>
          </a:p>
        </p:txBody>
      </p:sp>
      <p:sp>
        <p:nvSpPr>
          <p:cNvPr id="4" name="Text 1"/>
          <p:cNvSpPr/>
          <p:nvPr>
            <p:ph idx="103" type="body" hasCustomPrompt="1"/>
          </p:nvPr>
        </p:nvSpPr>
        <p:spPr>
          <a:xfrm>
            <a:off x="548640" y="3703320"/>
            <a:ext cx="6309360" cy="1188720"/>
          </a:xfrm>
          <a:prstGeom prst="rect">
            <a:avLst/>
          </a:prstGeom>
          <a:noFill/>
          <a:ln/>
        </p:spPr>
        <p:txBody>
          <a:bodyPr wrap="square" lIns="0" tIns="0" rIns="0" bIns="0" rtlCol="0" anchor="t"/>
          <a:lstStyle/>
          <a:p>
            <a:pPr algn="l" indent="0" marL="0">
              <a:buNone/>
            </a:pPr>
            <a:r>
              <a:rPr lang="en-US" sz="1600" dirty="0">
                <a:solidFill>
                  <a:srgbClr val="CFE3D4"/>
                </a:solidFill>
              </a:rPr>
              <a:t>A calm, systematic method finds any fault: climb the ping ladder, ask the right show command, fix one thing, re-test, and log it.</a:t>
            </a:r>
            <a:endParaRPr lang="en-US" sz="1600" dirty="0"/>
          </a:p>
        </p:txBody>
      </p:sp>
      <p:sp>
        <p:nvSpPr>
          <p:cNvPr id="5" name="Shape 3"/>
          <p:cNvSpPr/>
          <p:nvPr/>
        </p:nvSpPr>
        <p:spPr>
          <a:xfrm>
            <a:off x="7452360" y="2104708"/>
            <a:ext cx="4187952" cy="2648585"/>
          </a:xfrm>
          <a:prstGeom prst="roundRect">
            <a:avLst>
              <a:gd name="adj" fmla="val 3452"/>
            </a:avLst>
          </a:prstGeom>
          <a:solidFill>
            <a:srgbClr val="1B2B22">
              <a:alpha val="75000"/>
            </a:srgbClr>
          </a:solidFill>
          <a:ln w="12700">
            <a:solidFill>
              <a:srgbClr val="24663A"/>
            </a:solidFill>
            <a:prstDash val="solid"/>
          </a:ln>
        </p:spPr>
      </p:sp>
      <p:sp>
        <p:nvSpPr>
          <p:cNvPr id="6" name="Text 4"/>
          <p:cNvSpPr txBox="1"/>
          <p:nvPr/>
        </p:nvSpPr>
        <p:spPr>
          <a:xfrm>
            <a:off x="7726680" y="2360740"/>
            <a:ext cx="3639312" cy="320040"/>
          </a:xfrm>
          <a:prstGeom prst="rect">
            <a:avLst/>
          </a:prstGeom>
          <a:noFill/>
          <a:ln/>
        </p:spPr>
        <p:txBody>
          <a:bodyPr wrap="square" lIns="0" tIns="0" rIns="0" bIns="0" rtlCol="0" anchor="ctr"/>
          <a:lstStyle/>
          <a:p>
            <a:pPr indent="0" marL="0">
              <a:buNone/>
            </a:pPr>
            <a:r>
              <a:rPr lang="en-US" sz="1500" b="1" dirty="0">
                <a:solidFill>
                  <a:srgbClr val="E8B92E"/>
                </a:solidFill>
              </a:rPr>
              <a:t>In this part, learn how to:</a:t>
            </a:r>
            <a:endParaRPr lang="en-US" sz="1500" dirty="0"/>
          </a:p>
        </p:txBody>
      </p:sp>
      <p:sp>
        <p:nvSpPr>
          <p:cNvPr id="7" name="Text 5"/>
          <p:cNvSpPr txBox="1"/>
          <p:nvPr/>
        </p:nvSpPr>
        <p:spPr>
          <a:xfrm>
            <a:off x="7726680" y="2836228"/>
            <a:ext cx="3730752" cy="1734185"/>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FFFFFF"/>
                </a:solidFill>
              </a:rPr>
              <a:t>climb the ping ladder</a:t>
            </a:r>
            <a:endParaRPr lang="en-US" sz="1500" dirty="0"/>
          </a:p>
          <a:p>
            <a:pPr marL="203200" indent="-203200">
              <a:spcAft>
                <a:spcPts val="800"/>
              </a:spcAft>
              <a:buSzPct val="100000"/>
              <a:buChar char="•"/>
            </a:pPr>
            <a:r>
              <a:rPr lang="en-US" sz="1500" dirty="0">
                <a:solidFill>
                  <a:srgbClr val="FFFFFF"/>
                </a:solidFill>
              </a:rPr>
              <a:t>choose the right show command</a:t>
            </a:r>
            <a:endParaRPr lang="en-US" sz="1500" dirty="0"/>
          </a:p>
          <a:p>
            <a:pPr marL="203200" indent="-203200">
              <a:spcAft>
                <a:spcPts val="800"/>
              </a:spcAft>
              <a:buSzPct val="100000"/>
              <a:buChar char="•"/>
            </a:pPr>
            <a:r>
              <a:rPr lang="en-US" sz="1500" dirty="0">
                <a:solidFill>
                  <a:srgbClr val="FFFFFF"/>
                </a:solidFill>
              </a:rPr>
              <a:t>fix the most common Packet Tracer mistakes</a:t>
            </a:r>
            <a:endParaRPr lang="en-US" sz="1500" dirty="0"/>
          </a:p>
          <a:p>
            <a:pPr marL="203200" indent="-203200">
              <a:spcAft>
                <a:spcPts val="800"/>
              </a:spcAft>
              <a:buSzPct val="100000"/>
              <a:buChar char="•"/>
            </a:pPr>
            <a:r>
              <a:rPr lang="en-US" sz="1500" dirty="0">
                <a:solidFill>
                  <a:srgbClr val="FFFFFF"/>
                </a:solidFill>
              </a:rPr>
              <a:t>keep a troubleshooting log</a:t>
            </a:r>
            <a:endParaRPr lang="en-US" sz="1500" dirty="0"/>
          </a:p>
        </p:txBody>
      </p:sp>
      <p:sp>
        <p:nvSpPr>
          <p:cNvPr id="8" name="Shape 6"/>
          <p:cNvSpPr/>
          <p:nvPr/>
        </p:nvSpPr>
        <p:spPr>
          <a:xfrm>
            <a:off x="548640" y="5989320"/>
            <a:ext cx="914400" cy="566928"/>
          </a:xfrm>
          <a:prstGeom prst="roundRect">
            <a:avLst>
              <a:gd name="adj" fmla="val 9677"/>
            </a:avLst>
          </a:prstGeom>
          <a:solidFill>
            <a:srgbClr val="FFFFFF"/>
          </a:solidFill>
          <a:ln/>
        </p:spPr>
      </p:sp>
      <p:pic>
        <p:nvPicPr>
          <p:cNvPr id="9" name="Image 0" descr="Kabete National Polytechnic logo">    </p:cNvPr>
          <p:cNvPicPr>
            <a:picLocks noChangeAspect="1"/>
          </p:cNvPicPr>
          <p:nvPr/>
        </p:nvPicPr>
        <p:blipFill>
          <a:blip r:embed="rId1"/>
          <a:stretch>
            <a:fillRect/>
          </a:stretch>
        </p:blipFill>
        <p:spPr>
          <a:xfrm>
            <a:off x="594360" y="6022175"/>
            <a:ext cx="822960" cy="501218"/>
          </a:xfrm>
          <a:prstGeom prst="rect">
            <a:avLst/>
          </a:prstGeom>
        </p:spPr>
      </p:pic>
      <p:pic>
        <p:nvPicPr>
          <p:cNvPr id="10" name="Home button" descr="Home: back to the workbook menu">
            <a:hlinkClick r:id="rId3" tooltip="Back to the workbook menu" action="ppaction://hlinksldjump"/>
          </p:cNvPr>
          <p:cNvPicPr>
            <a:picLocks noChangeAspect="1"/>
          </p:cNvPicPr>
          <p:nvPr/>
        </p:nvPicPr>
        <p:blipFill>
          <a:blip r:embed="rId2"/>
          <a:stretch>
            <a:fillRect/>
          </a:stretch>
        </p:blipFill>
        <p:spPr>
          <a:xfrm>
            <a:off x="11365992" y="6336792"/>
            <a:ext cx="365760" cy="365760"/>
          </a:xfrm>
          <a:prstGeom prst="rect">
            <a:avLst/>
          </a:prstGeom>
        </p:spPr>
      </p:pic>
      <p:sp>
        <p:nvSpPr>
          <p:cNvPr id="25" name="Slide Number Placeholder 0"/>
          <p:cNvSpPr>
            <a:spLocks noGrp="1"/>
          </p:cNvSpPr>
          <p:nvPr>
            <p:ph type="sldNum" sz="quarter" idx="4294967295"/>
          </p:nvPr>
        </p:nvSpPr>
        <p:spPr>
          <a:xfrm>
            <a:off x="10698480" y="6464808"/>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CFE3D4"/>
                </a:solidFill>
              </a:defRPr>
            </a:lvl1pPr>
          </a:lstStyle>
          <a:p>
            <a:pPr algn="r"/>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1"/>
          <p:cNvSpPr/>
          <p:nvPr>
            <p:ph idx="102" type="body" hasCustomPrompt="1"/>
          </p:nvPr>
        </p:nvSpPr>
        <p:spPr>
          <a:xfrm>
            <a:off x="548640" y="274320"/>
            <a:ext cx="9966960" cy="256032"/>
          </a:xfrm>
          <a:prstGeom prst="rect">
            <a:avLst/>
          </a:prstGeom>
          <a:noFill/>
          <a:ln/>
        </p:spPr>
        <p:txBody>
          <a:bodyPr wrap="square" lIns="0" tIns="0" rIns="0" bIns="0" rtlCol="0" anchor="ctr"/>
          <a:lstStyle/>
          <a:p>
            <a:pPr algn="l" indent="0" marL="0">
              <a:buNone/>
            </a:pPr>
            <a:r>
              <a:rPr lang="en-US" sz="1100" b="1" spc="100" kern="0" dirty="0">
                <a:solidFill>
                  <a:schemeClr val="accent2"/>
                </a:solidFill>
              </a:rPr>
              <a:t>11  •  TROUBLESHOOTING</a:t>
            </a:r>
            <a:endParaRPr lang="en-US" sz="1100" dirty="0"/>
          </a:p>
        </p:txBody>
      </p:sp>
      <p:sp>
        <p:nvSpPr>
          <p:cNvPr id="3" name="Text 1"/>
          <p:cNvSpPr/>
          <p:nvPr>
            <p:ph idx="103" type="title" hasCustomPrompt="1"/>
          </p:nvPr>
        </p:nvSpPr>
        <p:spPr>
          <a:xfrm>
            <a:off x="548640" y="548640"/>
            <a:ext cx="10149840" cy="548640"/>
          </a:xfrm>
          <a:prstGeom prst="rect">
            <a:avLst/>
          </a:prstGeom>
          <a:noFill/>
          <a:ln/>
        </p:spPr>
        <p:txBody>
          <a:bodyPr wrap="square" lIns="0" tIns="0" rIns="0" bIns="0" rtlCol="0" anchor="ctr"/>
          <a:lstStyle/>
          <a:p>
            <a:pPr algn="l" indent="0" marL="0">
              <a:buNone/>
            </a:pPr>
            <a:r>
              <a:rPr lang="en-US" sz="2600" b="1" dirty="0">
                <a:solidFill>
                  <a:schemeClr val="accent1"/>
                </a:solidFill>
              </a:rPr>
              <a:t>How to troubleshoot step by step: the ping ladder</a:t>
            </a:r>
            <a:endParaRPr lang="en-US" sz="2600" dirty="0"/>
          </a:p>
        </p:txBody>
      </p:sp>
      <p:pic>
        <p:nvPicPr>
          <p:cNvPr id="4" name="Home button" descr="Home: back to the workbook menu">
            <a:hlinkClick r:id="rId2" tooltip="Back to the workbook menu" action="ppaction://hlinksldjump"/>
          </p:cNvPr>
          <p:cNvPicPr>
            <a:picLocks noChangeAspect="1"/>
          </p:cNvPicPr>
          <p:nvPr/>
        </p:nvPicPr>
        <p:blipFill>
          <a:blip r:embed="rId1"/>
          <a:stretch>
            <a:fillRect/>
          </a:stretch>
        </p:blipFill>
        <p:spPr>
          <a:xfrm>
            <a:off x="11365992" y="6336792"/>
            <a:ext cx="365760" cy="365760"/>
          </a:xfrm>
          <a:prstGeom prst="rect">
            <a:avLst/>
          </a:prstGeom>
        </p:spPr>
      </p:pic>
      <p:sp>
        <p:nvSpPr>
          <p:cNvPr id="5" name="Goal"/>
          <p:cNvSpPr txBox="1"/>
          <p:nvPr/>
        </p:nvSpPr>
        <p:spPr>
          <a:xfrm>
            <a:off x="548640" y="1161288"/>
            <a:ext cx="11094415" cy="384048"/>
          </a:xfrm>
          <a:prstGeom prst="rect">
            <a:avLst/>
          </a:prstGeom>
          <a:noFill/>
          <a:ln/>
        </p:spPr>
        <p:txBody>
          <a:bodyPr wrap="square" lIns="0" tIns="0" rIns="0" bIns="0" rtlCol="0" anchor="ctr"/>
          <a:lstStyle/>
          <a:p>
            <a:pPr indent="0" marL="0">
              <a:buNone/>
            </a:pPr>
            <a:r>
              <a:rPr lang="en-US" sz="1400" b="1" dirty="0">
                <a:solidFill>
                  <a:srgbClr val="2B7043"/>
                </a:solidFill>
              </a:rPr>
              <a:t>Goal:  </a:t>
            </a:r>
            <a:r>
              <a:rPr lang="en-US" sz="1400" dirty="0">
                <a:solidFill>
                  <a:srgbClr val="2B2B2B"/>
                </a:solidFill>
              </a:rPr>
              <a:t>Climb from the PC itself to the far network. The first step that fails tells you where the fault is.</a:t>
            </a:r>
            <a:endParaRPr lang="en-US" sz="1400" dirty="0"/>
          </a:p>
        </p:txBody>
      </p:sp>
      <p:sp>
        <p:nvSpPr>
          <p:cNvPr id="6" name="Shape 3"/>
          <p:cNvSpPr/>
          <p:nvPr/>
        </p:nvSpPr>
        <p:spPr>
          <a:xfrm>
            <a:off x="1097280" y="5074920"/>
            <a:ext cx="5806440" cy="658368"/>
          </a:xfrm>
          <a:prstGeom prst="roundRect">
            <a:avLst>
              <a:gd name="adj" fmla="val 11111"/>
            </a:avLst>
          </a:prstGeom>
          <a:solidFill>
            <a:srgbClr val="F2F8F3"/>
          </a:solidFill>
          <a:ln w="12700">
            <a:solidFill>
              <a:srgbClr val="B7C9BA"/>
            </a:solidFill>
            <a:prstDash val="solid"/>
          </a:ln>
        </p:spPr>
      </p:sp>
      <p:sp>
        <p:nvSpPr>
          <p:cNvPr id="7" name="Shape 4"/>
          <p:cNvSpPr/>
          <p:nvPr/>
        </p:nvSpPr>
        <p:spPr>
          <a:xfrm>
            <a:off x="1234440" y="5230368"/>
            <a:ext cx="347472" cy="347472"/>
          </a:xfrm>
          <a:prstGeom prst="ellipse">
            <a:avLst/>
          </a:prstGeom>
          <a:solidFill>
            <a:srgbClr val="1E5631"/>
          </a:solidFill>
          <a:ln/>
        </p:spPr>
      </p:sp>
      <p:sp>
        <p:nvSpPr>
          <p:cNvPr id="8" name="Text 5"/>
          <p:cNvSpPr txBox="1"/>
          <p:nvPr/>
        </p:nvSpPr>
        <p:spPr>
          <a:xfrm>
            <a:off x="1234440" y="523036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9" name="Text 6"/>
          <p:cNvSpPr txBox="1"/>
          <p:nvPr/>
        </p:nvSpPr>
        <p:spPr>
          <a:xfrm>
            <a:off x="1737360" y="5111496"/>
            <a:ext cx="5029200" cy="585216"/>
          </a:xfrm>
          <a:prstGeom prst="rect">
            <a:avLst/>
          </a:prstGeom>
          <a:noFill/>
          <a:ln/>
        </p:spPr>
        <p:txBody>
          <a:bodyPr wrap="square" lIns="0" tIns="0" rIns="0" bIns="0" rtlCol="0" anchor="ctr"/>
          <a:lstStyle/>
          <a:p>
            <a:pPr indent="0" marL="0">
              <a:buNone/>
            </a:pPr>
            <a:r>
              <a:rPr lang="en-US" sz="1300" b="1" dirty="0">
                <a:solidFill>
                  <a:srgbClr val="1E5631"/>
                </a:solidFill>
                <a:latin typeface="Courier New" pitchFamily="34" charset="0"/>
                <a:ea typeface="Courier New" pitchFamily="34" charset="-122"/>
                <a:cs typeface="Courier New" pitchFamily="34" charset="-120"/>
              </a:rPr>
              <a:t>ping 127.0.0.1</a:t>
            </a:r>
            <a:endParaRPr lang="en-US" sz="1300" dirty="0"/>
          </a:p>
          <a:p>
            <a:pPr indent="0" marL="0">
              <a:buNone/>
            </a:pPr>
            <a:r>
              <a:rPr lang="en-US" sz="1300" dirty="0">
                <a:solidFill>
                  <a:srgbClr val="2B2B2B"/>
                </a:solidFill>
              </a:rPr>
              <a:t>the PC’s own network software works</a:t>
            </a:r>
            <a:endParaRPr lang="en-US" sz="1300" dirty="0"/>
          </a:p>
        </p:txBody>
      </p:sp>
      <p:sp>
        <p:nvSpPr>
          <p:cNvPr id="10" name="Shape 7"/>
          <p:cNvSpPr/>
          <p:nvPr/>
        </p:nvSpPr>
        <p:spPr>
          <a:xfrm>
            <a:off x="1097280" y="4270248"/>
            <a:ext cx="5806440" cy="658368"/>
          </a:xfrm>
          <a:prstGeom prst="roundRect">
            <a:avLst>
              <a:gd name="adj" fmla="val 11111"/>
            </a:avLst>
          </a:prstGeom>
          <a:solidFill>
            <a:srgbClr val="E8F1EA"/>
          </a:solidFill>
          <a:ln w="12700">
            <a:solidFill>
              <a:srgbClr val="B7C9BA"/>
            </a:solidFill>
            <a:prstDash val="solid"/>
          </a:ln>
        </p:spPr>
      </p:sp>
      <p:sp>
        <p:nvSpPr>
          <p:cNvPr id="11" name="Shape 8"/>
          <p:cNvSpPr/>
          <p:nvPr/>
        </p:nvSpPr>
        <p:spPr>
          <a:xfrm>
            <a:off x="1234440" y="4425696"/>
            <a:ext cx="347472" cy="347472"/>
          </a:xfrm>
          <a:prstGeom prst="ellipse">
            <a:avLst/>
          </a:prstGeom>
          <a:solidFill>
            <a:srgbClr val="1E5631"/>
          </a:solidFill>
          <a:ln/>
        </p:spPr>
      </p:sp>
      <p:sp>
        <p:nvSpPr>
          <p:cNvPr id="12" name="Text 9"/>
          <p:cNvSpPr txBox="1"/>
          <p:nvPr/>
        </p:nvSpPr>
        <p:spPr>
          <a:xfrm>
            <a:off x="1234440" y="4425696"/>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3" name="Text 10"/>
          <p:cNvSpPr txBox="1"/>
          <p:nvPr/>
        </p:nvSpPr>
        <p:spPr>
          <a:xfrm>
            <a:off x="1737360" y="4306824"/>
            <a:ext cx="5029200" cy="585216"/>
          </a:xfrm>
          <a:prstGeom prst="rect">
            <a:avLst/>
          </a:prstGeom>
          <a:noFill/>
          <a:ln/>
        </p:spPr>
        <p:txBody>
          <a:bodyPr wrap="square" lIns="0" tIns="0" rIns="0" bIns="0" rtlCol="0" anchor="ctr"/>
          <a:lstStyle/>
          <a:p>
            <a:pPr indent="0" marL="0">
              <a:buNone/>
            </a:pPr>
            <a:r>
              <a:rPr lang="en-US" sz="1300" b="1" dirty="0">
                <a:solidFill>
                  <a:srgbClr val="1E5631"/>
                </a:solidFill>
                <a:latin typeface="Courier New" pitchFamily="34" charset="0"/>
                <a:ea typeface="Courier New" pitchFamily="34" charset="-122"/>
                <a:cs typeface="Courier New" pitchFamily="34" charset="-120"/>
              </a:rPr>
              <a:t>ping 192.168.10.21</a:t>
            </a:r>
            <a:endParaRPr lang="en-US" sz="1300" dirty="0"/>
          </a:p>
          <a:p>
            <a:pPr indent="0" marL="0">
              <a:buNone/>
            </a:pPr>
            <a:r>
              <a:rPr lang="en-US" sz="1300" dirty="0">
                <a:solidFill>
                  <a:srgbClr val="2B2B2B"/>
                </a:solidFill>
              </a:rPr>
              <a:t>its own address: the network card is set up</a:t>
            </a:r>
            <a:endParaRPr lang="en-US" sz="1300" dirty="0"/>
          </a:p>
        </p:txBody>
      </p:sp>
      <p:sp>
        <p:nvSpPr>
          <p:cNvPr id="14" name="Shape 11"/>
          <p:cNvSpPr/>
          <p:nvPr/>
        </p:nvSpPr>
        <p:spPr>
          <a:xfrm>
            <a:off x="1097280" y="3465576"/>
            <a:ext cx="5806440" cy="658368"/>
          </a:xfrm>
          <a:prstGeom prst="roundRect">
            <a:avLst>
              <a:gd name="adj" fmla="val 11111"/>
            </a:avLst>
          </a:prstGeom>
          <a:solidFill>
            <a:srgbClr val="F2F8F3"/>
          </a:solidFill>
          <a:ln w="12700">
            <a:solidFill>
              <a:srgbClr val="B7C9BA"/>
            </a:solidFill>
            <a:prstDash val="solid"/>
          </a:ln>
        </p:spPr>
      </p:sp>
      <p:sp>
        <p:nvSpPr>
          <p:cNvPr id="15" name="Shape 12"/>
          <p:cNvSpPr/>
          <p:nvPr/>
        </p:nvSpPr>
        <p:spPr>
          <a:xfrm>
            <a:off x="1234440" y="3621024"/>
            <a:ext cx="347472" cy="347472"/>
          </a:xfrm>
          <a:prstGeom prst="ellipse">
            <a:avLst/>
          </a:prstGeom>
          <a:solidFill>
            <a:srgbClr val="1E5631"/>
          </a:solidFill>
          <a:ln/>
        </p:spPr>
      </p:sp>
      <p:sp>
        <p:nvSpPr>
          <p:cNvPr id="16" name="Text 13"/>
          <p:cNvSpPr txBox="1"/>
          <p:nvPr/>
        </p:nvSpPr>
        <p:spPr>
          <a:xfrm>
            <a:off x="1234440" y="3621024"/>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7" name="Text 14"/>
          <p:cNvSpPr txBox="1"/>
          <p:nvPr/>
        </p:nvSpPr>
        <p:spPr>
          <a:xfrm>
            <a:off x="1737360" y="3502152"/>
            <a:ext cx="5029200" cy="585216"/>
          </a:xfrm>
          <a:prstGeom prst="rect">
            <a:avLst/>
          </a:prstGeom>
          <a:noFill/>
          <a:ln/>
        </p:spPr>
        <p:txBody>
          <a:bodyPr wrap="square" lIns="0" tIns="0" rIns="0" bIns="0" rtlCol="0" anchor="ctr"/>
          <a:lstStyle/>
          <a:p>
            <a:pPr indent="0" marL="0">
              <a:buNone/>
            </a:pPr>
            <a:r>
              <a:rPr lang="en-US" sz="1300" b="1" dirty="0">
                <a:solidFill>
                  <a:srgbClr val="1E5631"/>
                </a:solidFill>
                <a:latin typeface="Courier New" pitchFamily="34" charset="0"/>
                <a:ea typeface="Courier New" pitchFamily="34" charset="-122"/>
                <a:cs typeface="Courier New" pitchFamily="34" charset="-120"/>
              </a:rPr>
              <a:t>ping 192.168.10.1</a:t>
            </a:r>
            <a:endParaRPr lang="en-US" sz="1300" dirty="0"/>
          </a:p>
          <a:p>
            <a:pPr indent="0" marL="0">
              <a:buNone/>
            </a:pPr>
            <a:r>
              <a:rPr lang="en-US" sz="1300" dirty="0">
                <a:solidFill>
                  <a:srgbClr val="2B2B2B"/>
                </a:solidFill>
              </a:rPr>
              <a:t>the gateway: cable, switch port, VLAN and router port work</a:t>
            </a:r>
            <a:endParaRPr lang="en-US" sz="1300" dirty="0"/>
          </a:p>
        </p:txBody>
      </p:sp>
      <p:sp>
        <p:nvSpPr>
          <p:cNvPr id="18" name="Shape 15"/>
          <p:cNvSpPr/>
          <p:nvPr/>
        </p:nvSpPr>
        <p:spPr>
          <a:xfrm>
            <a:off x="1097280" y="2660904"/>
            <a:ext cx="5806440" cy="658368"/>
          </a:xfrm>
          <a:prstGeom prst="roundRect">
            <a:avLst>
              <a:gd name="adj" fmla="val 11111"/>
            </a:avLst>
          </a:prstGeom>
          <a:solidFill>
            <a:srgbClr val="E8F1EA"/>
          </a:solidFill>
          <a:ln w="12700">
            <a:solidFill>
              <a:srgbClr val="B7C9BA"/>
            </a:solidFill>
            <a:prstDash val="solid"/>
          </a:ln>
        </p:spPr>
      </p:sp>
      <p:sp>
        <p:nvSpPr>
          <p:cNvPr id="19" name="Shape 16"/>
          <p:cNvSpPr/>
          <p:nvPr/>
        </p:nvSpPr>
        <p:spPr>
          <a:xfrm>
            <a:off x="1234440" y="2816352"/>
            <a:ext cx="347472" cy="347472"/>
          </a:xfrm>
          <a:prstGeom prst="ellipse">
            <a:avLst/>
          </a:prstGeom>
          <a:solidFill>
            <a:srgbClr val="1E5631"/>
          </a:solidFill>
          <a:ln/>
        </p:spPr>
      </p:sp>
      <p:sp>
        <p:nvSpPr>
          <p:cNvPr id="20" name="Text 17"/>
          <p:cNvSpPr txBox="1"/>
          <p:nvPr/>
        </p:nvSpPr>
        <p:spPr>
          <a:xfrm>
            <a:off x="1234440" y="281635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1" name="Text 18"/>
          <p:cNvSpPr txBox="1"/>
          <p:nvPr/>
        </p:nvSpPr>
        <p:spPr>
          <a:xfrm>
            <a:off x="1737360" y="2697480"/>
            <a:ext cx="5029200" cy="585216"/>
          </a:xfrm>
          <a:prstGeom prst="rect">
            <a:avLst/>
          </a:prstGeom>
          <a:noFill/>
          <a:ln/>
        </p:spPr>
        <p:txBody>
          <a:bodyPr wrap="square" lIns="0" tIns="0" rIns="0" bIns="0" rtlCol="0" anchor="ctr"/>
          <a:lstStyle/>
          <a:p>
            <a:pPr indent="0" marL="0">
              <a:buNone/>
            </a:pPr>
            <a:r>
              <a:rPr lang="en-US" sz="1300" b="1" dirty="0">
                <a:solidFill>
                  <a:srgbClr val="1E5631"/>
                </a:solidFill>
                <a:latin typeface="Courier New" pitchFamily="34" charset="0"/>
                <a:ea typeface="Courier New" pitchFamily="34" charset="-122"/>
                <a:cs typeface="Courier New" pitchFamily="34" charset="-120"/>
              </a:rPr>
              <a:t>ping 172.16.2.10</a:t>
            </a:r>
            <a:endParaRPr lang="en-US" sz="1300" dirty="0"/>
          </a:p>
          <a:p>
            <a:pPr indent="0" marL="0">
              <a:buNone/>
            </a:pPr>
            <a:r>
              <a:rPr lang="en-US" sz="1300" dirty="0">
                <a:solidFill>
                  <a:srgbClr val="2B2B2B"/>
                </a:solidFill>
              </a:rPr>
              <a:t>a remote PC: routing works there and back</a:t>
            </a:r>
            <a:endParaRPr lang="en-US" sz="1300" dirty="0"/>
          </a:p>
        </p:txBody>
      </p:sp>
      <p:sp>
        <p:nvSpPr>
          <p:cNvPr id="22" name="Shape 19"/>
          <p:cNvSpPr/>
          <p:nvPr/>
        </p:nvSpPr>
        <p:spPr>
          <a:xfrm>
            <a:off x="1097280" y="1856232"/>
            <a:ext cx="5806440" cy="658368"/>
          </a:xfrm>
          <a:prstGeom prst="roundRect">
            <a:avLst>
              <a:gd name="adj" fmla="val 11111"/>
            </a:avLst>
          </a:prstGeom>
          <a:solidFill>
            <a:srgbClr val="F2F8F3"/>
          </a:solidFill>
          <a:ln w="12700">
            <a:solidFill>
              <a:srgbClr val="B7C9BA"/>
            </a:solidFill>
            <a:prstDash val="solid"/>
          </a:ln>
        </p:spPr>
      </p:sp>
      <p:sp>
        <p:nvSpPr>
          <p:cNvPr id="23" name="Shape 20"/>
          <p:cNvSpPr/>
          <p:nvPr/>
        </p:nvSpPr>
        <p:spPr>
          <a:xfrm>
            <a:off x="1234440" y="2011680"/>
            <a:ext cx="347472" cy="347472"/>
          </a:xfrm>
          <a:prstGeom prst="ellipse">
            <a:avLst/>
          </a:prstGeom>
          <a:solidFill>
            <a:srgbClr val="1E5631"/>
          </a:solidFill>
          <a:ln/>
        </p:spPr>
      </p:sp>
      <p:sp>
        <p:nvSpPr>
          <p:cNvPr id="24" name="Text 21"/>
          <p:cNvSpPr txBox="1"/>
          <p:nvPr/>
        </p:nvSpPr>
        <p:spPr>
          <a:xfrm>
            <a:off x="1234440" y="201168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25" name="Text 22"/>
          <p:cNvSpPr txBox="1"/>
          <p:nvPr/>
        </p:nvSpPr>
        <p:spPr>
          <a:xfrm>
            <a:off x="1737360" y="1892808"/>
            <a:ext cx="5029200" cy="585216"/>
          </a:xfrm>
          <a:prstGeom prst="rect">
            <a:avLst/>
          </a:prstGeom>
          <a:noFill/>
          <a:ln/>
        </p:spPr>
        <p:txBody>
          <a:bodyPr wrap="square" lIns="0" tIns="0" rIns="0" bIns="0" rtlCol="0" anchor="ctr"/>
          <a:lstStyle/>
          <a:p>
            <a:pPr indent="0" marL="0">
              <a:buNone/>
            </a:pPr>
            <a:r>
              <a:rPr lang="en-US" sz="1300" b="1" dirty="0">
                <a:solidFill>
                  <a:srgbClr val="1E5631"/>
                </a:solidFill>
                <a:latin typeface="Courier New" pitchFamily="34" charset="0"/>
                <a:ea typeface="Courier New" pitchFamily="34" charset="-122"/>
                <a:cs typeface="Courier New" pitchFamily="34" charset="-120"/>
              </a:rPr>
              <a:t>ping www.knp.local</a:t>
            </a:r>
            <a:endParaRPr lang="en-US" sz="1300" dirty="0"/>
          </a:p>
          <a:p>
            <a:pPr indent="0" marL="0">
              <a:buNone/>
            </a:pPr>
            <a:r>
              <a:rPr lang="en-US" sz="1300" dirty="0">
                <a:solidFill>
                  <a:srgbClr val="2B2B2B"/>
                </a:solidFill>
              </a:rPr>
              <a:t>by name: DNS works</a:t>
            </a:r>
            <a:endParaRPr lang="en-US" sz="1300" dirty="0"/>
          </a:p>
        </p:txBody>
      </p:sp>
      <p:sp>
        <p:nvSpPr>
          <p:cNvPr id="26" name="Shape 23"/>
          <p:cNvSpPr/>
          <p:nvPr/>
        </p:nvSpPr>
        <p:spPr>
          <a:xfrm flipV="1">
            <a:off x="731520" y="1783080"/>
            <a:ext cx="914" cy="3886200"/>
          </a:xfrm>
          <a:prstGeom prst="line">
            <a:avLst/>
          </a:prstGeom>
          <a:noFill/>
          <a:ln w="38100">
            <a:solidFill>
              <a:srgbClr val="2B7043"/>
            </a:solidFill>
            <a:prstDash val="solid"/>
            <a:tailEnd type="triangle"/>
          </a:ln>
        </p:spPr>
      </p:sp>
      <p:sp>
        <p:nvSpPr>
          <p:cNvPr id="27" name="Text 24"/>
          <p:cNvSpPr txBox="1"/>
          <p:nvPr/>
        </p:nvSpPr>
        <p:spPr>
          <a:xfrm>
            <a:off x="320040" y="3429000"/>
            <a:ext cx="365760" cy="822960"/>
          </a:xfrm>
          <a:prstGeom prst="rect">
            <a:avLst/>
          </a:prstGeom>
          <a:noFill/>
          <a:ln/>
        </p:spPr>
        <p:txBody>
          <a:bodyPr wrap="square" lIns="0" tIns="0" rIns="0" bIns="0" rtlCol="0" anchor="ctr" vert="vert270"/>
          <a:lstStyle/>
          <a:p>
            <a:pPr algn="ctr" indent="0" marL="0">
              <a:buNone/>
            </a:pPr>
            <a:r>
              <a:rPr lang="en-US" sz="1200" b="1" dirty="0">
                <a:solidFill>
                  <a:srgbClr val="2B7043"/>
                </a:solidFill>
              </a:rPr>
              <a:t>climb</a:t>
            </a:r>
            <a:endParaRPr lang="en-US" sz="1200" dirty="0"/>
          </a:p>
        </p:txBody>
      </p:sp>
      <p:sp>
        <p:nvSpPr>
          <p:cNvPr id="28" name="Card"/>
          <p:cNvSpPr/>
          <p:nvPr/>
        </p:nvSpPr>
        <p:spPr>
          <a:xfrm>
            <a:off x="7269480" y="1691640"/>
            <a:ext cx="4370832" cy="1005840"/>
          </a:xfrm>
          <a:prstGeom prst="roundRect">
            <a:avLst>
              <a:gd name="adj" fmla="val 7273"/>
            </a:avLst>
          </a:prstGeom>
          <a:solidFill>
            <a:srgbClr val="FBEAEA"/>
          </a:solidFill>
          <a:ln w="12700">
            <a:solidFill>
              <a:srgbClr val="E9B8B5"/>
            </a:solidFill>
            <a:prstDash val="solid"/>
          </a:ln>
        </p:spPr>
      </p:sp>
      <p:sp>
        <p:nvSpPr>
          <p:cNvPr id="29" name="Text 26"/>
          <p:cNvSpPr txBox="1"/>
          <p:nvPr/>
        </p:nvSpPr>
        <p:spPr>
          <a:xfrm>
            <a:off x="7415784" y="1794053"/>
            <a:ext cx="4078224" cy="801014"/>
          </a:xfrm>
          <a:prstGeom prst="rect">
            <a:avLst/>
          </a:prstGeom>
          <a:noFill/>
          <a:ln/>
        </p:spPr>
        <p:txBody>
          <a:bodyPr wrap="square" lIns="0" tIns="0" rIns="0" bIns="0" rtlCol="0" anchor="t"/>
          <a:lstStyle/>
          <a:p>
            <a:pPr indent="0" marL="0">
              <a:buNone/>
            </a:pPr>
            <a:r>
              <a:rPr lang="en-US" sz="1400" b="1" dirty="0">
                <a:solidFill>
                  <a:srgbClr val="8B1A1A"/>
                </a:solidFill>
              </a:rPr>
              <a:t>Stop at the first step that fails</a:t>
            </a:r>
            <a:endParaRPr lang="en-US" sz="1400" dirty="0"/>
          </a:p>
          <a:p>
            <a:pPr indent="0" marL="0">
              <a:buNone/>
            </a:pPr>
            <a:r>
              <a:rPr lang="en-US" sz="1400" dirty="0">
                <a:solidFill>
                  <a:srgbClr val="2B2B2B"/>
                </a:solidFill>
              </a:rPr>
              <a:t>The fault is between that step and the one below it.</a:t>
            </a:r>
            <a:endParaRPr lang="en-US" sz="1400" dirty="0"/>
          </a:p>
        </p:txBody>
      </p:sp>
      <p:sp>
        <p:nvSpPr>
          <p:cNvPr id="30" name="Card"/>
          <p:cNvSpPr/>
          <p:nvPr/>
        </p:nvSpPr>
        <p:spPr>
          <a:xfrm>
            <a:off x="7269480" y="2834640"/>
            <a:ext cx="4370832" cy="2514600"/>
          </a:xfrm>
          <a:prstGeom prst="roundRect">
            <a:avLst>
              <a:gd name="adj" fmla="val 2909"/>
            </a:avLst>
          </a:prstGeom>
          <a:solidFill>
            <a:srgbClr val="F2F8F3"/>
          </a:solidFill>
          <a:ln w="12700">
            <a:solidFill>
              <a:srgbClr val="B7C9BA"/>
            </a:solidFill>
            <a:prstDash val="solid"/>
          </a:ln>
        </p:spPr>
      </p:sp>
      <p:sp>
        <p:nvSpPr>
          <p:cNvPr id="31" name="Text 28"/>
          <p:cNvSpPr txBox="1"/>
          <p:nvPr/>
        </p:nvSpPr>
        <p:spPr>
          <a:xfrm>
            <a:off x="7415784" y="2937053"/>
            <a:ext cx="4078224" cy="2309774"/>
          </a:xfrm>
          <a:prstGeom prst="rect">
            <a:avLst/>
          </a:prstGeom>
          <a:noFill/>
          <a:ln/>
        </p:spPr>
        <p:txBody>
          <a:bodyPr wrap="square" lIns="0" tIns="0" rIns="0" bIns="0" rtlCol="0" anchor="t"/>
          <a:lstStyle/>
          <a:p>
            <a:pPr indent="0" marL="0">
              <a:buNone/>
            </a:pPr>
            <a:r>
              <a:rPr lang="en-US" sz="1400" b="1" dirty="0">
                <a:solidFill>
                  <a:srgbClr val="1E5631"/>
                </a:solidFill>
              </a:rPr>
              <a:t>Then follow the method</a:t>
            </a:r>
            <a:endParaRPr lang="en-US" sz="1400" dirty="0"/>
          </a:p>
          <a:p>
            <a:pPr marL="228600" indent="-228600">
              <a:spcAft>
                <a:spcPts val="400"/>
              </a:spcAft>
              <a:buSzPct val="100000"/>
              <a:buFont typeface="+mj-lt"/>
              <a:buAutoNum type="arabicPeriod" startAt="1"/>
            </a:pPr>
            <a:r>
              <a:rPr lang="en-US" sz="1400" dirty="0">
                <a:solidFill>
                  <a:srgbClr val="2B2B2B"/>
                </a:solidFill>
              </a:rPr>
              <a:t>Symptom: what exactly fails?</a:t>
            </a:r>
            <a:endParaRPr lang="en-US" sz="1400" dirty="0"/>
          </a:p>
          <a:p>
            <a:pPr marL="228600" indent="-228600">
              <a:spcAft>
                <a:spcPts val="400"/>
              </a:spcAft>
              <a:buSzPct val="100000"/>
              <a:buFont typeface="+mj-lt"/>
              <a:buAutoNum type="arabicPeriod" startAt="1"/>
            </a:pPr>
            <a:r>
              <a:rPr lang="en-US" sz="1400" dirty="0">
                <a:solidFill>
                  <a:srgbClr val="2B2B2B"/>
                </a:solidFill>
              </a:rPr>
              <a:t>Theory: what could cause it?</a:t>
            </a:r>
            <a:endParaRPr lang="en-US" sz="1400" dirty="0"/>
          </a:p>
          <a:p>
            <a:pPr marL="228600" indent="-228600">
              <a:spcAft>
                <a:spcPts val="400"/>
              </a:spcAft>
              <a:buSzPct val="100000"/>
              <a:buFont typeface="+mj-lt"/>
              <a:buAutoNum type="arabicPeriod" startAt="1"/>
            </a:pPr>
            <a:r>
              <a:rPr lang="en-US" sz="1400" dirty="0">
                <a:solidFill>
                  <a:srgbClr val="2B2B2B"/>
                </a:solidFill>
              </a:rPr>
              <a:t>Test it with a show command</a:t>
            </a:r>
            <a:endParaRPr lang="en-US" sz="1400" dirty="0"/>
          </a:p>
          <a:p>
            <a:pPr marL="228600" indent="-228600">
              <a:spcAft>
                <a:spcPts val="400"/>
              </a:spcAft>
              <a:buSzPct val="100000"/>
              <a:buFont typeface="+mj-lt"/>
              <a:buAutoNum type="arabicPeriod" startAt="1"/>
            </a:pPr>
            <a:r>
              <a:rPr lang="en-US" sz="1400" dirty="0">
                <a:solidFill>
                  <a:srgbClr val="2B2B2B"/>
                </a:solidFill>
              </a:rPr>
              <a:t>Fix one thing only</a:t>
            </a:r>
            <a:endParaRPr lang="en-US" sz="1400" dirty="0"/>
          </a:p>
          <a:p>
            <a:pPr marL="228600" indent="-228600">
              <a:spcAft>
                <a:spcPts val="400"/>
              </a:spcAft>
              <a:buSzPct val="100000"/>
              <a:buFont typeface="+mj-lt"/>
              <a:buAutoNum type="arabicPeriod" startAt="1"/>
            </a:pPr>
            <a:r>
              <a:rPr lang="en-US" sz="1400" dirty="0">
                <a:solidFill>
                  <a:srgbClr val="2B2B2B"/>
                </a:solidFill>
              </a:rPr>
              <a:t>Re-test, then log it</a:t>
            </a:r>
            <a:endParaRPr lang="en-US" sz="1400" dirty="0"/>
          </a:p>
        </p:txBody>
      </p:sp>
      <p:sp>
        <p:nvSpPr>
          <p:cNvPr id="32" name="Text 29"/>
          <p:cNvSpPr txBox="1"/>
          <p:nvPr/>
        </p:nvSpPr>
        <p:spPr>
          <a:xfrm>
            <a:off x="7269480" y="5486400"/>
            <a:ext cx="4370832" cy="502920"/>
          </a:xfrm>
          <a:prstGeom prst="rect">
            <a:avLst/>
          </a:prstGeom>
          <a:noFill/>
          <a:ln/>
        </p:spPr>
        <p:txBody>
          <a:bodyPr wrap="square" lIns="0" tIns="0" rIns="0" bIns="0" rtlCol="0" anchor="ctr"/>
          <a:lstStyle/>
          <a:p>
            <a:pPr indent="0" marL="0">
              <a:buNone/>
            </a:pPr>
            <a:r>
              <a:rPr lang="en-US" sz="1200" b="1" dirty="0">
                <a:solidFill>
                  <a:srgbClr val="1E5631"/>
                </a:solidFill>
                <a:latin typeface="Courier New" pitchFamily="34" charset="0"/>
                <a:ea typeface="Courier New" pitchFamily="34" charset="-122"/>
                <a:cs typeface="Courier New" pitchFamily="34" charset="-120"/>
              </a:rPr>
              <a:t>tracert</a:t>
            </a:r>
            <a:r>
              <a:rPr lang="en-US" sz="1300" dirty="0">
                <a:solidFill>
                  <a:srgbClr val="6B6B6B"/>
                </a:solidFill>
              </a:rPr>
              <a:t> shows the last router that answered — the fault is just after it.</a:t>
            </a:r>
            <a:endParaRPr lang="en-US" sz="1200" dirty="0"/>
          </a:p>
        </p:txBody>
      </p:sp>
      <p:sp>
        <p:nvSpPr>
          <p:cNvPr id="33" name="Slide Number Placeholder 0"/>
          <p:cNvSpPr>
            <a:spLocks noGrp="1"/>
          </p:cNvSpPr>
          <p:nvPr>
            <p:ph type="sldNum" sz="quarter" idx="4294967295"/>
          </p:nvPr>
        </p:nvSpPr>
        <p:spPr>
          <a:xfrm>
            <a:off x="10698480" y="6464808"/>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r"/>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1"/>
          <p:cNvSpPr/>
          <p:nvPr>
            <p:ph idx="102" type="body" hasCustomPrompt="1"/>
          </p:nvPr>
        </p:nvSpPr>
        <p:spPr>
          <a:xfrm>
            <a:off x="548640" y="274320"/>
            <a:ext cx="9966960" cy="256032"/>
          </a:xfrm>
          <a:prstGeom prst="rect">
            <a:avLst/>
          </a:prstGeom>
          <a:noFill/>
          <a:ln/>
        </p:spPr>
        <p:txBody>
          <a:bodyPr wrap="square" lIns="0" tIns="0" rIns="0" bIns="0" rtlCol="0" anchor="ctr"/>
          <a:lstStyle/>
          <a:p>
            <a:pPr algn="l" indent="0" marL="0">
              <a:buNone/>
            </a:pPr>
            <a:r>
              <a:rPr lang="en-US" sz="1100" b="1" spc="100" kern="0" dirty="0">
                <a:solidFill>
                  <a:schemeClr val="accent2"/>
                </a:solidFill>
              </a:rPr>
              <a:t>11  •  TROUBLESHOOTING</a:t>
            </a:r>
            <a:endParaRPr lang="en-US" sz="1100" dirty="0"/>
          </a:p>
        </p:txBody>
      </p:sp>
      <p:sp>
        <p:nvSpPr>
          <p:cNvPr id="3" name="Text 1"/>
          <p:cNvSpPr/>
          <p:nvPr>
            <p:ph idx="103" type="title" hasCustomPrompt="1"/>
          </p:nvPr>
        </p:nvSpPr>
        <p:spPr>
          <a:xfrm>
            <a:off x="548640" y="548640"/>
            <a:ext cx="10149840" cy="548640"/>
          </a:xfrm>
          <a:prstGeom prst="rect">
            <a:avLst/>
          </a:prstGeom>
          <a:noFill/>
          <a:ln/>
        </p:spPr>
        <p:txBody>
          <a:bodyPr wrap="square" lIns="0" tIns="0" rIns="0" bIns="0" rtlCol="0" anchor="ctr"/>
          <a:lstStyle/>
          <a:p>
            <a:pPr algn="l" indent="0" marL="0">
              <a:buNone/>
            </a:pPr>
            <a:r>
              <a:rPr lang="en-US" sz="2600" b="1" dirty="0">
                <a:solidFill>
                  <a:schemeClr val="accent1"/>
                </a:solidFill>
              </a:rPr>
              <a:t>How to choose the right show command</a:t>
            </a:r>
            <a:endParaRPr lang="en-US" sz="2600" dirty="0"/>
          </a:p>
        </p:txBody>
      </p:sp>
      <p:pic>
        <p:nvPicPr>
          <p:cNvPr id="4" name="Home button" descr="Home: back to the workbook menu">
            <a:hlinkClick r:id="rId2" tooltip="Back to the workbook menu" action="ppaction://hlinksldjump"/>
          </p:cNvPr>
          <p:cNvPicPr>
            <a:picLocks noChangeAspect="1"/>
          </p:cNvPicPr>
          <p:nvPr/>
        </p:nvPicPr>
        <p:blipFill>
          <a:blip r:embed="rId1"/>
          <a:stretch>
            <a:fillRect/>
          </a:stretch>
        </p:blipFill>
        <p:spPr>
          <a:xfrm>
            <a:off x="11365992" y="6336792"/>
            <a:ext cx="365760" cy="365760"/>
          </a:xfrm>
          <a:prstGeom prst="rect">
            <a:avLst/>
          </a:prstGeom>
        </p:spPr>
      </p:pic>
      <p:sp>
        <p:nvSpPr>
          <p:cNvPr id="5" name="Goal"/>
          <p:cNvSpPr txBox="1"/>
          <p:nvPr/>
        </p:nvSpPr>
        <p:spPr>
          <a:xfrm>
            <a:off x="548640" y="1161288"/>
            <a:ext cx="11094415" cy="384048"/>
          </a:xfrm>
          <a:prstGeom prst="rect">
            <a:avLst/>
          </a:prstGeom>
          <a:noFill/>
          <a:ln/>
        </p:spPr>
        <p:txBody>
          <a:bodyPr wrap="square" lIns="0" tIns="0" rIns="0" bIns="0" rtlCol="0" anchor="ctr"/>
          <a:lstStyle/>
          <a:p>
            <a:pPr indent="0" marL="0">
              <a:buNone/>
            </a:pPr>
            <a:r>
              <a:rPr lang="en-US" sz="1400" b="1" dirty="0">
                <a:solidFill>
                  <a:srgbClr val="2B7043"/>
                </a:solidFill>
              </a:rPr>
              <a:t>Goal:  </a:t>
            </a:r>
            <a:r>
              <a:rPr lang="en-US" sz="1400" dirty="0">
                <a:solidFill>
                  <a:srgbClr val="2B2B2B"/>
                </a:solidFill>
              </a:rPr>
              <a:t>Each question has one command that answers it. Learn this table and you can diagnose almost anything.</a:t>
            </a:r>
            <a:endParaRPr lang="en-US" sz="1400" dirty="0"/>
          </a:p>
        </p:txBody>
      </p:sp>
      <p:graphicFrame>
        <p:nvGraphicFramePr>
          <p:cNvPr id="83" name="show commands"/>
          <p:cNvGraphicFramePr>
            <a:graphicFrameLocks noGrp="1"/>
          </p:cNvGraphicFramePr>
          <p:nvPr>
            <p:extLst>
              <p:ext uri="{D42A27DB-BD31-4B8C-83A1-F6EECF244321}">
                <p14:modId xmlns:p14="http://schemas.microsoft.com/office/powerpoint/2010/main" val="1579011935"/>
              </p:ext>
            </p:extLst>
          </p:nvPr>
        </p:nvGraphicFramePr>
        <p:xfrm>
          <a:off x="548640" y="1691640"/>
          <a:ext cx="11091672" cy="914400"/>
        </p:xfrm>
        <a:graphic>
          <a:graphicData uri="http://schemas.openxmlformats.org/drawingml/2006/table">
            <a:tbl>
              <a:tblPr/>
              <a:tblGrid>
                <a:gridCol w="3611880"/>
                <a:gridCol w="3657600"/>
                <a:gridCol w="3822192"/>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Question</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1E563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Command</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1E563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Look for</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1E5631"/>
                    </a:solidFill>
                  </a:tcPr>
                </a:tc>
              </a:tr>
              <a:tr h="0">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Are my ports up and addressed?</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100" b="1" dirty="0">
                          <a:solidFill>
                            <a:srgbClr val="1E5631"/>
                          </a:solidFill>
                          <a:latin typeface="Courier New" pitchFamily="34" charset="0"/>
                          <a:ea typeface="Courier New" pitchFamily="34" charset="-122"/>
                          <a:cs typeface="Courier New" pitchFamily="34" charset="-120"/>
                        </a:rPr>
                        <a:t>show ip interface brief</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up / up and the right IP</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r>
              <a:tr h="0">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What is configured?</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c>
                  <a:txBody>
                    <a:bodyPr/>
                    <a:lstStyle/>
                    <a:p>
                      <a:pPr indent="0" marL="0">
                        <a:buNone/>
                      </a:pPr>
                      <a:r>
                        <a:rPr lang="en-US" sz="1100" b="1" dirty="0">
                          <a:solidFill>
                            <a:srgbClr val="1E5631"/>
                          </a:solidFill>
                          <a:latin typeface="Courier New" pitchFamily="34" charset="0"/>
                          <a:ea typeface="Courier New" pitchFamily="34" charset="-122"/>
                          <a:cs typeface="Courier New" pitchFamily="34" charset="-120"/>
                        </a:rPr>
                        <a:t>show running-config</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typos, a missing </a:t>
                      </a:r>
                      <a:r>
                        <a:rPr lang="en-US" sz="1100" b="1" dirty="0">
                          <a:solidFill>
                            <a:srgbClr val="1E5631"/>
                          </a:solidFill>
                          <a:latin typeface="Courier New" pitchFamily="34" charset="0"/>
                          <a:ea typeface="Courier New" pitchFamily="34" charset="-122"/>
                          <a:cs typeface="Courier New" pitchFamily="34" charset="-120"/>
                        </a:rPr>
                        <a:t>no shutdown</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Which port is in which VLAN?</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100" b="1" dirty="0">
                          <a:solidFill>
                            <a:srgbClr val="1E5631"/>
                          </a:solidFill>
                          <a:latin typeface="Courier New" pitchFamily="34" charset="0"/>
                          <a:ea typeface="Courier New" pitchFamily="34" charset="-122"/>
                          <a:cs typeface="Courier New" pitchFamily="34" charset="-120"/>
                        </a:rPr>
                        <a:t>show vlan brief</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ports beside the right VLAN</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r>
              <a:tr h="0">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Are the trunks working?</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c>
                  <a:txBody>
                    <a:bodyPr/>
                    <a:lstStyle/>
                    <a:p>
                      <a:pPr indent="0" marL="0">
                        <a:buNone/>
                      </a:pPr>
                      <a:r>
                        <a:rPr lang="en-US" sz="1100" b="1" dirty="0">
                          <a:solidFill>
                            <a:srgbClr val="1E5631"/>
                          </a:solidFill>
                          <a:latin typeface="Courier New" pitchFamily="34" charset="0"/>
                          <a:ea typeface="Courier New" pitchFamily="34" charset="-122"/>
                          <a:cs typeface="Courier New" pitchFamily="34" charset="-120"/>
                        </a:rPr>
                        <a:t>show interfaces trunk</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trunking, native VLAN, allowed VLANs</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Which device is plugged in where?</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100" b="1" dirty="0">
                          <a:solidFill>
                            <a:srgbClr val="1E5631"/>
                          </a:solidFill>
                          <a:latin typeface="Courier New" pitchFamily="34" charset="0"/>
                          <a:ea typeface="Courier New" pitchFamily="34" charset="-122"/>
                          <a:cs typeface="Courier New" pitchFamily="34" charset="-120"/>
                        </a:rPr>
                        <a:t>show cdp neighbors</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device, local port, remote port</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r>
              <a:tr h="0">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Where did the switch learn a MAC?</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c>
                  <a:txBody>
                    <a:bodyPr/>
                    <a:lstStyle/>
                    <a:p>
                      <a:pPr indent="0" marL="0">
                        <a:buNone/>
                      </a:pPr>
                      <a:r>
                        <a:rPr lang="en-US" sz="1100" b="1" dirty="0">
                          <a:solidFill>
                            <a:srgbClr val="1E5631"/>
                          </a:solidFill>
                          <a:latin typeface="Courier New" pitchFamily="34" charset="0"/>
                          <a:ea typeface="Courier New" pitchFamily="34" charset="-122"/>
                          <a:cs typeface="Courier New" pitchFamily="34" charset="-120"/>
                        </a:rPr>
                        <a:t>show mac address-table</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the MAC on the expected port</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Does the router know the way?</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100" b="1" dirty="0">
                          <a:solidFill>
                            <a:srgbClr val="1E5631"/>
                          </a:solidFill>
                          <a:latin typeface="Courier New" pitchFamily="34" charset="0"/>
                          <a:ea typeface="Courier New" pitchFamily="34" charset="-122"/>
                          <a:cs typeface="Courier New" pitchFamily="34" charset="-120"/>
                        </a:rPr>
                        <a:t>show ip route</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a C, S, O, R or D route</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r>
              <a:tr h="0">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Did DHCP lease addresses?</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c>
                  <a:txBody>
                    <a:bodyPr/>
                    <a:lstStyle/>
                    <a:p>
                      <a:pPr indent="0" marL="0">
                        <a:buNone/>
                      </a:pPr>
                      <a:r>
                        <a:rPr lang="en-US" sz="1100" b="1" dirty="0">
                          <a:solidFill>
                            <a:srgbClr val="1E5631"/>
                          </a:solidFill>
                          <a:latin typeface="Courier New" pitchFamily="34" charset="0"/>
                          <a:ea typeface="Courier New" pitchFamily="34" charset="-122"/>
                          <a:cs typeface="Courier New" pitchFamily="34" charset="-120"/>
                        </a:rPr>
                        <a:t>show ip dhcp binding</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one line per PC</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Are OSPF neighbours up?</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100" b="1" dirty="0">
                          <a:solidFill>
                            <a:srgbClr val="1E5631"/>
                          </a:solidFill>
                          <a:latin typeface="Courier New" pitchFamily="34" charset="0"/>
                          <a:ea typeface="Courier New" pitchFamily="34" charset="-122"/>
                          <a:cs typeface="Courier New" pitchFamily="34" charset="-120"/>
                        </a:rPr>
                        <a:t>show ip ospf neighbor</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FULL state</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r>
              <a:tr h="0">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Is the ACL matching?</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c>
                  <a:txBody>
                    <a:bodyPr/>
                    <a:lstStyle/>
                    <a:p>
                      <a:pPr indent="0" marL="0">
                        <a:buNone/>
                      </a:pPr>
                      <a:r>
                        <a:rPr lang="en-US" sz="1100" b="1" dirty="0">
                          <a:solidFill>
                            <a:srgbClr val="1E5631"/>
                          </a:solidFill>
                          <a:latin typeface="Courier New" pitchFamily="34" charset="0"/>
                          <a:ea typeface="Courier New" pitchFamily="34" charset="-122"/>
                          <a:cs typeface="Courier New" pitchFamily="34" charset="-120"/>
                        </a:rPr>
                        <a:t>show access-lists</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match counts going up</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Is NAT translating?</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100" b="1" dirty="0">
                          <a:solidFill>
                            <a:srgbClr val="1E5631"/>
                          </a:solidFill>
                          <a:latin typeface="Courier New" pitchFamily="34" charset="0"/>
                          <a:ea typeface="Courier New" pitchFamily="34" charset="-122"/>
                          <a:cs typeface="Courier New" pitchFamily="34" charset="-120"/>
                        </a:rPr>
                        <a:t>show ip nat translations</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inside local ↔ inside global</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r>
              <a:tr h="0">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Is port security blocking?</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c>
                  <a:txBody>
                    <a:bodyPr/>
                    <a:lstStyle/>
                    <a:p>
                      <a:pPr indent="0" marL="0">
                        <a:buNone/>
                      </a:pPr>
                      <a:r>
                        <a:rPr lang="en-US" sz="1100" b="1" dirty="0">
                          <a:solidFill>
                            <a:srgbClr val="1E5631"/>
                          </a:solidFill>
                          <a:latin typeface="Courier New" pitchFamily="34" charset="0"/>
                          <a:ea typeface="Courier New" pitchFamily="34" charset="-122"/>
                          <a:cs typeface="Courier New" pitchFamily="34" charset="-120"/>
                        </a:rPr>
                        <a:t>show port-security interface fa0/1</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Secure-up or Secure-shutdown</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0698480" y="6464808"/>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r"/>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1"/>
          <p:cNvSpPr/>
          <p:nvPr>
            <p:ph idx="102" type="body" hasCustomPrompt="1"/>
          </p:nvPr>
        </p:nvSpPr>
        <p:spPr>
          <a:xfrm>
            <a:off x="548640" y="274320"/>
            <a:ext cx="9966960" cy="256032"/>
          </a:xfrm>
          <a:prstGeom prst="rect">
            <a:avLst/>
          </a:prstGeom>
          <a:noFill/>
          <a:ln/>
        </p:spPr>
        <p:txBody>
          <a:bodyPr wrap="square" lIns="0" tIns="0" rIns="0" bIns="0" rtlCol="0" anchor="ctr"/>
          <a:lstStyle/>
          <a:p>
            <a:pPr algn="l" indent="0" marL="0">
              <a:buNone/>
            </a:pPr>
            <a:r>
              <a:rPr lang="en-US" sz="1100" b="1" spc="100" kern="0" dirty="0">
                <a:solidFill>
                  <a:schemeClr val="accent2"/>
                </a:solidFill>
              </a:rPr>
              <a:t>11  •  TROUBLESHOOTING</a:t>
            </a:r>
            <a:endParaRPr lang="en-US" sz="1100" dirty="0"/>
          </a:p>
        </p:txBody>
      </p:sp>
      <p:sp>
        <p:nvSpPr>
          <p:cNvPr id="3" name="Text 1"/>
          <p:cNvSpPr/>
          <p:nvPr>
            <p:ph idx="103" type="title" hasCustomPrompt="1"/>
          </p:nvPr>
        </p:nvSpPr>
        <p:spPr>
          <a:xfrm>
            <a:off x="548640" y="548640"/>
            <a:ext cx="10149840" cy="548640"/>
          </a:xfrm>
          <a:prstGeom prst="rect">
            <a:avLst/>
          </a:prstGeom>
          <a:noFill/>
          <a:ln/>
        </p:spPr>
        <p:txBody>
          <a:bodyPr wrap="square" lIns="0" tIns="0" rIns="0" bIns="0" rtlCol="0" anchor="ctr"/>
          <a:lstStyle/>
          <a:p>
            <a:pPr algn="l" indent="0" marL="0">
              <a:buNone/>
            </a:pPr>
            <a:r>
              <a:rPr lang="en-US" sz="2600" b="1" dirty="0">
                <a:solidFill>
                  <a:schemeClr val="accent1"/>
                </a:solidFill>
              </a:rPr>
              <a:t>How to fix the most common Packet Tracer mistakes (1 of 2)</a:t>
            </a:r>
            <a:endParaRPr lang="en-US" sz="2600" dirty="0"/>
          </a:p>
        </p:txBody>
      </p:sp>
      <p:pic>
        <p:nvPicPr>
          <p:cNvPr id="4" name="Home button" descr="Home: back to the workbook menu">
            <a:hlinkClick r:id="rId2" tooltip="Back to the workbook menu" action="ppaction://hlinksldjump"/>
          </p:cNvPr>
          <p:cNvPicPr>
            <a:picLocks noChangeAspect="1"/>
          </p:cNvPicPr>
          <p:nvPr/>
        </p:nvPicPr>
        <p:blipFill>
          <a:blip r:embed="rId1"/>
          <a:stretch>
            <a:fillRect/>
          </a:stretch>
        </p:blipFill>
        <p:spPr>
          <a:xfrm>
            <a:off x="11365992" y="6336792"/>
            <a:ext cx="365760" cy="365760"/>
          </a:xfrm>
          <a:prstGeom prst="rect">
            <a:avLst/>
          </a:prstGeom>
        </p:spPr>
      </p:pic>
      <p:sp>
        <p:nvSpPr>
          <p:cNvPr id="5" name="Goal"/>
          <p:cNvSpPr txBox="1"/>
          <p:nvPr/>
        </p:nvSpPr>
        <p:spPr>
          <a:xfrm>
            <a:off x="548640" y="1161288"/>
            <a:ext cx="11094415" cy="384048"/>
          </a:xfrm>
          <a:prstGeom prst="rect">
            <a:avLst/>
          </a:prstGeom>
          <a:noFill/>
          <a:ln/>
        </p:spPr>
        <p:txBody>
          <a:bodyPr wrap="square" lIns="0" tIns="0" rIns="0" bIns="0" rtlCol="0" anchor="ctr"/>
          <a:lstStyle/>
          <a:p>
            <a:pPr indent="0" marL="0">
              <a:buNone/>
            </a:pPr>
            <a:r>
              <a:rPr lang="en-US" sz="1400" b="1" dirty="0">
                <a:solidFill>
                  <a:srgbClr val="2B7043"/>
                </a:solidFill>
              </a:rPr>
              <a:t>Goal:  </a:t>
            </a:r>
            <a:r>
              <a:rPr lang="en-US" sz="1400" dirty="0">
                <a:solidFill>
                  <a:srgbClr val="2B2B2B"/>
                </a:solidFill>
              </a:rPr>
              <a:t>These faults cause most “it doesn’t work” moments in class. Check them first.</a:t>
            </a:r>
            <a:endParaRPr lang="en-US" sz="1400" dirty="0"/>
          </a:p>
        </p:txBody>
      </p:sp>
      <p:graphicFrame>
        <p:nvGraphicFramePr>
          <p:cNvPr id="84" name="mistakes 1"/>
          <p:cNvGraphicFramePr>
            <a:graphicFrameLocks noGrp="1"/>
          </p:cNvGraphicFramePr>
          <p:nvPr>
            <p:extLst>
              <p:ext uri="{D42A27DB-BD31-4B8C-83A1-F6EECF244321}">
                <p14:modId xmlns:p14="http://schemas.microsoft.com/office/powerpoint/2010/main" val="1579011935"/>
              </p:ext>
            </p:extLst>
          </p:nvPr>
        </p:nvGraphicFramePr>
        <p:xfrm>
          <a:off x="548640" y="1691640"/>
          <a:ext cx="11091672" cy="914400"/>
        </p:xfrm>
        <a:graphic>
          <a:graphicData uri="http://schemas.openxmlformats.org/drawingml/2006/table">
            <a:tbl>
              <a:tblPr/>
              <a:tblGrid>
                <a:gridCol w="3017520"/>
                <a:gridCol w="3246120"/>
                <a:gridCol w="4828032"/>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Symptom</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1E563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Likely cause</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1E563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Fix</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1E5631"/>
                    </a:solidFill>
                  </a:tcPr>
                </a:tc>
              </a:tr>
              <a:tr h="0">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Red link light on a router port</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The port was never switched on</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200" b="1" dirty="0">
                          <a:solidFill>
                            <a:srgbClr val="1E5631"/>
                          </a:solidFill>
                          <a:latin typeface="Courier New" pitchFamily="34" charset="0"/>
                          <a:ea typeface="Courier New" pitchFamily="34" charset="-122"/>
                          <a:cs typeface="Courier New" pitchFamily="34" charset="-120"/>
                        </a:rPr>
                        <a:t>no shutdown</a:t>
                      </a:r>
                      <a:r>
                        <a:rPr lang="en-US" sz="1300" dirty="0">
                          <a:solidFill>
                            <a:srgbClr val="2B2B2B"/>
                          </a:solidFill>
                          <a:latin typeface="Calibri" pitchFamily="34" charset="0"/>
                          <a:ea typeface="Calibri" pitchFamily="34" charset="-122"/>
                          <a:cs typeface="Calibri" pitchFamily="34" charset="-120"/>
                        </a:rPr>
                        <a:t> on that interface</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r>
              <a:tr h="0">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Red link light, port is on</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Wrong cable type</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Straight-through between different devices; cross-over between the same kind</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Amber light on a switch port</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Spanning Tree is still starting the port</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Wait about 30 s, or click Fast Forward Time</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r>
              <a:tr h="0">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 Invalid input detected</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A typo, or the wrong mode</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Read the prompt; use </a:t>
                      </a:r>
                      <a:r>
                        <a:rPr lang="en-US" sz="1200" b="1" dirty="0">
                          <a:solidFill>
                            <a:srgbClr val="1E5631"/>
                          </a:solidFill>
                          <a:latin typeface="Courier New" pitchFamily="34" charset="0"/>
                          <a:ea typeface="Courier New" pitchFamily="34" charset="-122"/>
                          <a:cs typeface="Courier New" pitchFamily="34" charset="-120"/>
                        </a:rPr>
                        <a:t>?</a:t>
                      </a:r>
                      <a:r>
                        <a:rPr lang="en-US" sz="1300" dirty="0">
                          <a:solidFill>
                            <a:srgbClr val="2B2B2B"/>
                          </a:solidFill>
                          <a:latin typeface="Calibri" pitchFamily="34" charset="0"/>
                          <a:ea typeface="Calibri" pitchFamily="34" charset="-122"/>
                          <a:cs typeface="Calibri" pitchFamily="34" charset="-120"/>
                        </a:rPr>
                        <a:t> to see what is allowed</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PC cannot ping its own gateway</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Wrong IP/mask/gateway, or port in the wrong VLAN</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200" b="1" dirty="0">
                          <a:solidFill>
                            <a:srgbClr val="1E5631"/>
                          </a:solidFill>
                          <a:latin typeface="Courier New" pitchFamily="34" charset="0"/>
                          <a:ea typeface="Courier New" pitchFamily="34" charset="-122"/>
                          <a:cs typeface="Courier New" pitchFamily="34" charset="-120"/>
                        </a:rPr>
                        <a:t>ipconfig</a:t>
                      </a:r>
                      <a:r>
                        <a:rPr lang="en-US" sz="1300" dirty="0">
                          <a:solidFill>
                            <a:srgbClr val="2B2B2B"/>
                          </a:solidFill>
                          <a:latin typeface="Calibri" pitchFamily="34" charset="0"/>
                          <a:ea typeface="Calibri" pitchFamily="34" charset="-122"/>
                          <a:cs typeface="Calibri" pitchFamily="34" charset="-120"/>
                        </a:rPr>
                        <a:t> on the PC; </a:t>
                      </a:r>
                      <a:r>
                        <a:rPr lang="en-US" sz="1200" b="1" dirty="0">
                          <a:solidFill>
                            <a:srgbClr val="1E5631"/>
                          </a:solidFill>
                          <a:latin typeface="Courier New" pitchFamily="34" charset="0"/>
                          <a:ea typeface="Courier New" pitchFamily="34" charset="-122"/>
                          <a:cs typeface="Courier New" pitchFamily="34" charset="-120"/>
                        </a:rPr>
                        <a:t>show vlan brief</a:t>
                      </a:r>
                      <a:r>
                        <a:rPr lang="en-US" sz="1300" dirty="0">
                          <a:solidFill>
                            <a:srgbClr val="2B2B2B"/>
                          </a:solidFill>
                          <a:latin typeface="Calibri" pitchFamily="34" charset="0"/>
                          <a:ea typeface="Calibri" pitchFamily="34" charset="-122"/>
                          <a:cs typeface="Calibri" pitchFamily="34" charset="-120"/>
                        </a:rPr>
                        <a:t> on the switch</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r>
              <a:tr h="0">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PCs in different VLANs cannot ping</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Trunk, sub-interface or gateway problem</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c>
                  <a:txBody>
                    <a:bodyPr/>
                    <a:lstStyle/>
                    <a:p>
                      <a:pPr indent="0" marL="0">
                        <a:buNone/>
                      </a:pPr>
                      <a:r>
                        <a:rPr lang="en-US" sz="1200" b="1" dirty="0">
                          <a:solidFill>
                            <a:srgbClr val="1E5631"/>
                          </a:solidFill>
                          <a:latin typeface="Courier New" pitchFamily="34" charset="0"/>
                          <a:ea typeface="Courier New" pitchFamily="34" charset="-122"/>
                          <a:cs typeface="Courier New" pitchFamily="34" charset="-120"/>
                        </a:rPr>
                        <a:t>show interfaces trunk</a:t>
                      </a:r>
                      <a:r>
                        <a:rPr lang="en-US" sz="1300" dirty="0">
                          <a:solidFill>
                            <a:srgbClr val="2B2B2B"/>
                          </a:solidFill>
                          <a:latin typeface="Calibri" pitchFamily="34" charset="0"/>
                          <a:ea typeface="Calibri" pitchFamily="34" charset="-122"/>
                          <a:cs typeface="Calibri" pitchFamily="34" charset="-120"/>
                        </a:rPr>
                        <a:t>; check </a:t>
                      </a:r>
                      <a:r>
                        <a:rPr lang="en-US" sz="1200" b="1" dirty="0">
                          <a:solidFill>
                            <a:srgbClr val="1E5631"/>
                          </a:solidFill>
                          <a:latin typeface="Courier New" pitchFamily="34" charset="0"/>
                          <a:ea typeface="Courier New" pitchFamily="34" charset="-122"/>
                          <a:cs typeface="Courier New" pitchFamily="34" charset="-120"/>
                        </a:rPr>
                        <a:t>encapsulation dot1Q</a:t>
                      </a:r>
                      <a:r>
                        <a:rPr lang="en-US" sz="1300" dirty="0">
                          <a:solidFill>
                            <a:srgbClr val="2B2B2B"/>
                          </a:solidFill>
                          <a:latin typeface="Calibri" pitchFamily="34" charset="0"/>
                          <a:ea typeface="Calibri" pitchFamily="34" charset="-122"/>
                          <a:cs typeface="Calibri" pitchFamily="34" charset="-120"/>
                        </a:rPr>
                        <a:t> and each PC’s gateway</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r>
            </a:tbl>
          </a:graphicData>
        </a:graphic>
      </p:graphicFrame>
      <p:sp>
        <p:nvSpPr>
          <p:cNvPr id="7" name="tip box"/>
          <p:cNvSpPr/>
          <p:nvPr/>
        </p:nvSpPr>
        <p:spPr>
          <a:xfrm>
            <a:off x="548640" y="5504688"/>
            <a:ext cx="11094415" cy="749808"/>
          </a:xfrm>
          <a:prstGeom prst="roundRect">
            <a:avLst>
              <a:gd name="adj" fmla="val 9756"/>
            </a:avLst>
          </a:prstGeom>
          <a:solidFill>
            <a:srgbClr val="E6EEF8"/>
          </a:solidFill>
          <a:ln w="12700">
            <a:solidFill>
              <a:srgbClr val="B8C9E0"/>
            </a:solidFill>
            <a:prstDash val="solid"/>
          </a:ln>
        </p:spPr>
      </p:sp>
      <p:pic>
        <p:nvPicPr>
          <p:cNvPr id="8" name="tip icon" descr="Tip:">    </p:cNvPr>
          <p:cNvPicPr>
            <a:picLocks noChangeAspect="1"/>
          </p:cNvPicPr>
          <p:nvPr/>
        </p:nvPicPr>
        <p:blipFill>
          <a:blip r:embed="rId3"/>
          <a:stretch>
            <a:fillRect/>
          </a:stretch>
        </p:blipFill>
        <p:spPr>
          <a:xfrm>
            <a:off x="694944" y="5733288"/>
            <a:ext cx="292608" cy="292608"/>
          </a:xfrm>
          <a:prstGeom prst="rect">
            <a:avLst/>
          </a:prstGeom>
        </p:spPr>
      </p:pic>
      <p:sp>
        <p:nvSpPr>
          <p:cNvPr id="9" name="tip text"/>
          <p:cNvSpPr txBox="1"/>
          <p:nvPr/>
        </p:nvSpPr>
        <p:spPr>
          <a:xfrm>
            <a:off x="1097280" y="5541264"/>
            <a:ext cx="10436047" cy="676656"/>
          </a:xfrm>
          <a:prstGeom prst="rect">
            <a:avLst/>
          </a:prstGeom>
          <a:noFill/>
          <a:ln/>
        </p:spPr>
        <p:txBody>
          <a:bodyPr wrap="square" lIns="0" tIns="0" rIns="0" bIns="0" rtlCol="0" anchor="ctr"/>
          <a:lstStyle/>
          <a:p>
            <a:pPr indent="0" marL="0">
              <a:buNone/>
            </a:pPr>
            <a:r>
              <a:rPr lang="en-US" sz="1400" b="1" dirty="0">
                <a:solidFill>
                  <a:srgbClr val="1F4E8C"/>
                </a:solidFill>
              </a:rPr>
              <a:t>Tip:  </a:t>
            </a:r>
            <a:r>
              <a:rPr lang="en-US" sz="1400" dirty="0">
                <a:solidFill>
                  <a:srgbClr val="2B2B2B"/>
                </a:solidFill>
              </a:rPr>
              <a:t>Fix one thing at a time and re-test — otherwise you won’t know which change fixed it.</a:t>
            </a:r>
            <a:endParaRPr lang="en-US" sz="1400" dirty="0"/>
          </a:p>
        </p:txBody>
      </p:sp>
      <p:sp>
        <p:nvSpPr>
          <p:cNvPr id="25" name="Slide Number Placeholder 0"/>
          <p:cNvSpPr>
            <a:spLocks noGrp="1"/>
          </p:cNvSpPr>
          <p:nvPr>
            <p:ph type="sldNum" sz="quarter" idx="4294967295"/>
          </p:nvPr>
        </p:nvSpPr>
        <p:spPr>
          <a:xfrm>
            <a:off x="10698480" y="6464808"/>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r"/>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1"/>
          <p:cNvSpPr/>
          <p:nvPr>
            <p:ph idx="102" type="body" hasCustomPrompt="1"/>
          </p:nvPr>
        </p:nvSpPr>
        <p:spPr>
          <a:xfrm>
            <a:off x="548640" y="274320"/>
            <a:ext cx="9966960" cy="256032"/>
          </a:xfrm>
          <a:prstGeom prst="rect">
            <a:avLst/>
          </a:prstGeom>
          <a:noFill/>
          <a:ln/>
        </p:spPr>
        <p:txBody>
          <a:bodyPr wrap="square" lIns="0" tIns="0" rIns="0" bIns="0" rtlCol="0" anchor="ctr"/>
          <a:lstStyle/>
          <a:p>
            <a:pPr algn="l" indent="0" marL="0">
              <a:buNone/>
            </a:pPr>
            <a:r>
              <a:rPr lang="en-US" sz="1100" b="1" spc="100" kern="0" dirty="0">
                <a:solidFill>
                  <a:schemeClr val="accent2"/>
                </a:solidFill>
              </a:rPr>
              <a:t>11  •  TROUBLESHOOTING</a:t>
            </a:r>
            <a:endParaRPr lang="en-US" sz="1100" dirty="0"/>
          </a:p>
        </p:txBody>
      </p:sp>
      <p:sp>
        <p:nvSpPr>
          <p:cNvPr id="3" name="Text 1"/>
          <p:cNvSpPr/>
          <p:nvPr>
            <p:ph idx="103" type="title" hasCustomPrompt="1"/>
          </p:nvPr>
        </p:nvSpPr>
        <p:spPr>
          <a:xfrm>
            <a:off x="548640" y="548640"/>
            <a:ext cx="10149840" cy="548640"/>
          </a:xfrm>
          <a:prstGeom prst="rect">
            <a:avLst/>
          </a:prstGeom>
          <a:noFill/>
          <a:ln/>
        </p:spPr>
        <p:txBody>
          <a:bodyPr wrap="square" lIns="0" tIns="0" rIns="0" bIns="0" rtlCol="0" anchor="ctr"/>
          <a:lstStyle/>
          <a:p>
            <a:pPr algn="l" indent="0" marL="0">
              <a:buNone/>
            </a:pPr>
            <a:r>
              <a:rPr lang="en-US" sz="2600" b="1" dirty="0">
                <a:solidFill>
                  <a:schemeClr val="accent1"/>
                </a:solidFill>
              </a:rPr>
              <a:t>How to fix the most common Packet Tracer mistakes (2 of 2)</a:t>
            </a:r>
            <a:endParaRPr lang="en-US" sz="2600" dirty="0"/>
          </a:p>
        </p:txBody>
      </p:sp>
      <p:pic>
        <p:nvPicPr>
          <p:cNvPr id="4" name="Home button" descr="Home: back to the workbook menu">
            <a:hlinkClick r:id="rId2" tooltip="Back to the workbook menu" action="ppaction://hlinksldjump"/>
          </p:cNvPr>
          <p:cNvPicPr>
            <a:picLocks noChangeAspect="1"/>
          </p:cNvPicPr>
          <p:nvPr/>
        </p:nvPicPr>
        <p:blipFill>
          <a:blip r:embed="rId1"/>
          <a:stretch>
            <a:fillRect/>
          </a:stretch>
        </p:blipFill>
        <p:spPr>
          <a:xfrm>
            <a:off x="11365992" y="6336792"/>
            <a:ext cx="365760" cy="365760"/>
          </a:xfrm>
          <a:prstGeom prst="rect">
            <a:avLst/>
          </a:prstGeom>
        </p:spPr>
      </p:pic>
      <p:sp>
        <p:nvSpPr>
          <p:cNvPr id="5" name="Goal"/>
          <p:cNvSpPr txBox="1"/>
          <p:nvPr/>
        </p:nvSpPr>
        <p:spPr>
          <a:xfrm>
            <a:off x="548640" y="1161288"/>
            <a:ext cx="11094415" cy="384048"/>
          </a:xfrm>
          <a:prstGeom prst="rect">
            <a:avLst/>
          </a:prstGeom>
          <a:noFill/>
          <a:ln/>
        </p:spPr>
        <p:txBody>
          <a:bodyPr wrap="square" lIns="0" tIns="0" rIns="0" bIns="0" rtlCol="0" anchor="ctr"/>
          <a:lstStyle/>
          <a:p>
            <a:pPr indent="0" marL="0">
              <a:buNone/>
            </a:pPr>
            <a:r>
              <a:rPr lang="en-US" sz="1400" b="1" dirty="0">
                <a:solidFill>
                  <a:srgbClr val="2B7043"/>
                </a:solidFill>
              </a:rPr>
              <a:t>Goal:  </a:t>
            </a:r>
            <a:r>
              <a:rPr lang="en-US" sz="1400" dirty="0">
                <a:solidFill>
                  <a:srgbClr val="2B2B2B"/>
                </a:solidFill>
              </a:rPr>
              <a:t>More faults to rule out — from DHCP and routing to saving and hardware.</a:t>
            </a:r>
            <a:endParaRPr lang="en-US" sz="1400" dirty="0"/>
          </a:p>
        </p:txBody>
      </p:sp>
      <p:graphicFrame>
        <p:nvGraphicFramePr>
          <p:cNvPr id="85" name="mistakes 2"/>
          <p:cNvGraphicFramePr>
            <a:graphicFrameLocks noGrp="1"/>
          </p:cNvGraphicFramePr>
          <p:nvPr>
            <p:extLst>
              <p:ext uri="{D42A27DB-BD31-4B8C-83A1-F6EECF244321}">
                <p14:modId xmlns:p14="http://schemas.microsoft.com/office/powerpoint/2010/main" val="1579011935"/>
              </p:ext>
            </p:extLst>
          </p:nvPr>
        </p:nvGraphicFramePr>
        <p:xfrm>
          <a:off x="548640" y="1691640"/>
          <a:ext cx="11091672" cy="914400"/>
        </p:xfrm>
        <a:graphic>
          <a:graphicData uri="http://schemas.openxmlformats.org/drawingml/2006/table">
            <a:tbl>
              <a:tblPr/>
              <a:tblGrid>
                <a:gridCol w="3017520"/>
                <a:gridCol w="3246120"/>
                <a:gridCol w="4828032"/>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Symptom</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1E563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Likely cause</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1E563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Fix</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1E5631"/>
                    </a:solidFill>
                  </a:tcPr>
                </a:tc>
              </a:tr>
              <a:tr h="0">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PC address is 169.254.x.x</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No DHCP reply</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See “How to fix common DHCP problems” (part 06)</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r>
              <a:tr h="0">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Remote network unreachable</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A route is missing — often the return route</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c>
                  <a:txBody>
                    <a:bodyPr/>
                    <a:lstStyle/>
                    <a:p>
                      <a:pPr indent="0" marL="0">
                        <a:buNone/>
                      </a:pPr>
                      <a:r>
                        <a:rPr lang="en-US" sz="1200" b="1" dirty="0">
                          <a:solidFill>
                            <a:srgbClr val="1E5631"/>
                          </a:solidFill>
                          <a:latin typeface="Courier New" pitchFamily="34" charset="0"/>
                          <a:ea typeface="Courier New" pitchFamily="34" charset="-122"/>
                          <a:cs typeface="Courier New" pitchFamily="34" charset="-120"/>
                        </a:rPr>
                        <a:t>show ip route</a:t>
                      </a:r>
                      <a:r>
                        <a:rPr lang="en-US" sz="1300" dirty="0">
                          <a:solidFill>
                            <a:srgbClr val="2B2B2B"/>
                          </a:solidFill>
                          <a:latin typeface="Calibri" pitchFamily="34" charset="0"/>
                          <a:ea typeface="Calibri" pitchFamily="34" charset="-122"/>
                          <a:cs typeface="Calibri" pitchFamily="34" charset="-120"/>
                        </a:rPr>
                        <a:t> on every router along the path</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Configuration gone after a reload</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It was never saved</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200" b="1" dirty="0">
                          <a:solidFill>
                            <a:srgbClr val="1E5631"/>
                          </a:solidFill>
                          <a:latin typeface="Courier New" pitchFamily="34" charset="0"/>
                          <a:ea typeface="Courier New" pitchFamily="34" charset="-122"/>
                          <a:cs typeface="Courier New" pitchFamily="34" charset="-120"/>
                        </a:rPr>
                        <a:t>copy running-config startup-config</a:t>
                      </a:r>
                      <a:r>
                        <a:rPr lang="en-US" sz="1300" dirty="0">
                          <a:solidFill>
                            <a:srgbClr val="2B2B2B"/>
                          </a:solidFill>
                          <a:latin typeface="Calibri" pitchFamily="34" charset="0"/>
                          <a:ea typeface="Calibri" pitchFamily="34" charset="-122"/>
                          <a:cs typeface="Calibri" pitchFamily="34" charset="-120"/>
                        </a:rPr>
                        <a:t> after every working step</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r>
              <a:tr h="0">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SSH connection refused</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No RSA keys or domain name, or </a:t>
                      </a:r>
                      <a:r>
                        <a:rPr lang="en-US" sz="1200" b="1" dirty="0">
                          <a:solidFill>
                            <a:srgbClr val="1E5631"/>
                          </a:solidFill>
                          <a:latin typeface="Courier New" pitchFamily="34" charset="0"/>
                          <a:ea typeface="Courier New" pitchFamily="34" charset="-122"/>
                          <a:cs typeface="Courier New" pitchFamily="34" charset="-120"/>
                        </a:rPr>
                        <a:t>login</a:t>
                      </a:r>
                      <a:r>
                        <a:rPr lang="en-US" sz="1300" dirty="0">
                          <a:solidFill>
                            <a:srgbClr val="2B2B2B"/>
                          </a:solidFill>
                          <a:latin typeface="Calibri" pitchFamily="34" charset="0"/>
                          <a:ea typeface="Calibri" pitchFamily="34" charset="-122"/>
                          <a:cs typeface="Calibri" pitchFamily="34" charset="-120"/>
                        </a:rPr>
                        <a:t> instead of </a:t>
                      </a:r>
                      <a:r>
                        <a:rPr lang="en-US" sz="1200" b="1" dirty="0">
                          <a:solidFill>
                            <a:srgbClr val="1E5631"/>
                          </a:solidFill>
                          <a:latin typeface="Courier New" pitchFamily="34" charset="0"/>
                          <a:ea typeface="Courier New" pitchFamily="34" charset="-122"/>
                          <a:cs typeface="Courier New" pitchFamily="34" charset="-120"/>
                        </a:rPr>
                        <a:t>login local</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c>
                  <a:txBody>
                    <a:bodyPr/>
                    <a:lstStyle/>
                    <a:p>
                      <a:pPr indent="0" marL="0">
                        <a:buNone/>
                      </a:pPr>
                      <a:r>
                        <a:rPr lang="en-US" sz="1200" b="1" dirty="0">
                          <a:solidFill>
                            <a:srgbClr val="1E5631"/>
                          </a:solidFill>
                          <a:latin typeface="Courier New" pitchFamily="34" charset="0"/>
                          <a:ea typeface="Courier New" pitchFamily="34" charset="-122"/>
                          <a:cs typeface="Courier New" pitchFamily="34" charset="-120"/>
                        </a:rPr>
                        <a:t>show ip ssh</a:t>
                      </a:r>
                      <a:r>
                        <a:rPr lang="en-US" sz="1300" dirty="0">
                          <a:solidFill>
                            <a:srgbClr val="2B2B2B"/>
                          </a:solidFill>
                          <a:latin typeface="Calibri" pitchFamily="34" charset="0"/>
                          <a:ea typeface="Calibri" pitchFamily="34" charset="-122"/>
                          <a:cs typeface="Calibri" pitchFamily="34" charset="-120"/>
                        </a:rPr>
                        <a:t>; check the VTY lines</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G0/0/2 missing on a 4331</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The SFP slot is empty</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Power off, insert a GLC-T module, power on</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r>
              <a:tr h="0">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The first ping loses one reply</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ARP is finding the MAC address</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Normal — ping again</a:t>
                      </a:r>
                      <a:endParaRPr lang="en-US" sz="13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r>
            </a:tbl>
          </a:graphicData>
        </a:graphic>
      </p:graphicFrame>
      <p:sp>
        <p:nvSpPr>
          <p:cNvPr id="7" name="tip box"/>
          <p:cNvSpPr/>
          <p:nvPr/>
        </p:nvSpPr>
        <p:spPr>
          <a:xfrm>
            <a:off x="548640" y="5504688"/>
            <a:ext cx="11094415" cy="749808"/>
          </a:xfrm>
          <a:prstGeom prst="roundRect">
            <a:avLst>
              <a:gd name="adj" fmla="val 9756"/>
            </a:avLst>
          </a:prstGeom>
          <a:solidFill>
            <a:srgbClr val="E6EEF8"/>
          </a:solidFill>
          <a:ln w="12700">
            <a:solidFill>
              <a:srgbClr val="B8C9E0"/>
            </a:solidFill>
            <a:prstDash val="solid"/>
          </a:ln>
        </p:spPr>
      </p:sp>
      <p:pic>
        <p:nvPicPr>
          <p:cNvPr id="8" name="tip icon" descr="Tip:">    </p:cNvPr>
          <p:cNvPicPr>
            <a:picLocks noChangeAspect="1"/>
          </p:cNvPicPr>
          <p:nvPr/>
        </p:nvPicPr>
        <p:blipFill>
          <a:blip r:embed="rId3"/>
          <a:stretch>
            <a:fillRect/>
          </a:stretch>
        </p:blipFill>
        <p:spPr>
          <a:xfrm>
            <a:off x="694944" y="5733288"/>
            <a:ext cx="292608" cy="292608"/>
          </a:xfrm>
          <a:prstGeom prst="rect">
            <a:avLst/>
          </a:prstGeom>
        </p:spPr>
      </p:pic>
      <p:sp>
        <p:nvSpPr>
          <p:cNvPr id="9" name="tip text"/>
          <p:cNvSpPr txBox="1"/>
          <p:nvPr/>
        </p:nvSpPr>
        <p:spPr>
          <a:xfrm>
            <a:off x="1097280" y="5541264"/>
            <a:ext cx="10436047" cy="676656"/>
          </a:xfrm>
          <a:prstGeom prst="rect">
            <a:avLst/>
          </a:prstGeom>
          <a:noFill/>
          <a:ln/>
        </p:spPr>
        <p:txBody>
          <a:bodyPr wrap="square" lIns="0" tIns="0" rIns="0" bIns="0" rtlCol="0" anchor="ctr"/>
          <a:lstStyle/>
          <a:p>
            <a:pPr indent="0" marL="0">
              <a:buNone/>
            </a:pPr>
            <a:r>
              <a:rPr lang="en-US" sz="1400" b="1" dirty="0">
                <a:solidFill>
                  <a:srgbClr val="1F4E8C"/>
                </a:solidFill>
              </a:rPr>
              <a:t>Tip:  </a:t>
            </a:r>
            <a:r>
              <a:rPr lang="en-US" sz="1400" dirty="0">
                <a:solidFill>
                  <a:srgbClr val="2B2B2B"/>
                </a:solidFill>
              </a:rPr>
              <a:t>Still stuck? Compare </a:t>
            </a:r>
            <a:r>
              <a:rPr lang="en-US" sz="1300" b="1" dirty="0">
                <a:solidFill>
                  <a:srgbClr val="1E5631"/>
                </a:solidFill>
                <a:latin typeface="Courier New" pitchFamily="34" charset="0"/>
                <a:ea typeface="Courier New" pitchFamily="34" charset="-122"/>
                <a:cs typeface="Courier New" pitchFamily="34" charset="-120"/>
              </a:rPr>
              <a:t>show running-config</a:t>
            </a:r>
            <a:r>
              <a:rPr lang="en-US" sz="1400" dirty="0">
                <a:solidFill>
                  <a:srgbClr val="2B2B2B"/>
                </a:solidFill>
              </a:rPr>
              <a:t> line by line with the slide for that skill.</a:t>
            </a:r>
            <a:endParaRPr lang="en-US" sz="1400" dirty="0"/>
          </a:p>
        </p:txBody>
      </p:sp>
      <p:sp>
        <p:nvSpPr>
          <p:cNvPr id="25" name="Slide Number Placeholder 0"/>
          <p:cNvSpPr>
            <a:spLocks noGrp="1"/>
          </p:cNvSpPr>
          <p:nvPr>
            <p:ph type="sldNum" sz="quarter" idx="4294967295"/>
          </p:nvPr>
        </p:nvSpPr>
        <p:spPr>
          <a:xfrm>
            <a:off x="10698480" y="6464808"/>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r"/>
            <a:fld id="{F7021451-1387-4CA6-816F-3879F97B5CBC}" type="slidenum">
              <a:rPr b="0" lang="en-US"/>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1"/>
          <p:cNvSpPr/>
          <p:nvPr>
            <p:ph idx="102" type="body" hasCustomPrompt="1"/>
          </p:nvPr>
        </p:nvSpPr>
        <p:spPr>
          <a:xfrm>
            <a:off x="548640" y="274320"/>
            <a:ext cx="9966960" cy="256032"/>
          </a:xfrm>
          <a:prstGeom prst="rect">
            <a:avLst/>
          </a:prstGeom>
          <a:noFill/>
          <a:ln/>
        </p:spPr>
        <p:txBody>
          <a:bodyPr wrap="square" lIns="0" tIns="0" rIns="0" bIns="0" rtlCol="0" anchor="ctr"/>
          <a:lstStyle/>
          <a:p>
            <a:pPr algn="l" indent="0" marL="0">
              <a:buNone/>
            </a:pPr>
            <a:r>
              <a:rPr lang="en-US" sz="1100" b="1" spc="100" kern="0" dirty="0">
                <a:solidFill>
                  <a:schemeClr val="accent2"/>
                </a:solidFill>
              </a:rPr>
              <a:t>11  •  TROUBLESHOOTING</a:t>
            </a:r>
            <a:endParaRPr lang="en-US" sz="1100" dirty="0"/>
          </a:p>
        </p:txBody>
      </p:sp>
      <p:sp>
        <p:nvSpPr>
          <p:cNvPr id="3" name="Text 1"/>
          <p:cNvSpPr/>
          <p:nvPr>
            <p:ph idx="103" type="title" hasCustomPrompt="1"/>
          </p:nvPr>
        </p:nvSpPr>
        <p:spPr>
          <a:xfrm>
            <a:off x="548640" y="548640"/>
            <a:ext cx="10149840" cy="548640"/>
          </a:xfrm>
          <a:prstGeom prst="rect">
            <a:avLst/>
          </a:prstGeom>
          <a:noFill/>
          <a:ln/>
        </p:spPr>
        <p:txBody>
          <a:bodyPr wrap="square" lIns="0" tIns="0" rIns="0" bIns="0" rtlCol="0" anchor="ctr"/>
          <a:lstStyle/>
          <a:p>
            <a:pPr algn="l" indent="0" marL="0">
              <a:buNone/>
            </a:pPr>
            <a:r>
              <a:rPr lang="en-US" sz="2600" b="1" dirty="0">
                <a:solidFill>
                  <a:schemeClr val="accent1"/>
                </a:solidFill>
              </a:rPr>
              <a:t>How to keep a troubleshooting log</a:t>
            </a:r>
            <a:endParaRPr lang="en-US" sz="2600" dirty="0"/>
          </a:p>
        </p:txBody>
      </p:sp>
      <p:pic>
        <p:nvPicPr>
          <p:cNvPr id="4" name="Home button" descr="Home: back to the workbook menu">
            <a:hlinkClick r:id="rId2" tooltip="Back to the workbook menu" action="ppaction://hlinksldjump"/>
          </p:cNvPr>
          <p:cNvPicPr>
            <a:picLocks noChangeAspect="1"/>
          </p:cNvPicPr>
          <p:nvPr/>
        </p:nvPicPr>
        <p:blipFill>
          <a:blip r:embed="rId1"/>
          <a:stretch>
            <a:fillRect/>
          </a:stretch>
        </p:blipFill>
        <p:spPr>
          <a:xfrm>
            <a:off x="11365992" y="6336792"/>
            <a:ext cx="365760" cy="365760"/>
          </a:xfrm>
          <a:prstGeom prst="rect">
            <a:avLst/>
          </a:prstGeom>
        </p:spPr>
      </p:pic>
      <p:sp>
        <p:nvSpPr>
          <p:cNvPr id="5" name="Goal"/>
          <p:cNvSpPr txBox="1"/>
          <p:nvPr/>
        </p:nvSpPr>
        <p:spPr>
          <a:xfrm>
            <a:off x="548640" y="1161288"/>
            <a:ext cx="11094415" cy="384048"/>
          </a:xfrm>
          <a:prstGeom prst="rect">
            <a:avLst/>
          </a:prstGeom>
          <a:noFill/>
          <a:ln/>
        </p:spPr>
        <p:txBody>
          <a:bodyPr wrap="square" lIns="0" tIns="0" rIns="0" bIns="0" rtlCol="0" anchor="ctr"/>
          <a:lstStyle/>
          <a:p>
            <a:pPr indent="0" marL="0">
              <a:buNone/>
            </a:pPr>
            <a:r>
              <a:rPr lang="en-US" sz="1400" b="1" dirty="0">
                <a:solidFill>
                  <a:srgbClr val="2B7043"/>
                </a:solidFill>
              </a:rPr>
              <a:t>Goal:  </a:t>
            </a:r>
            <a:r>
              <a:rPr lang="en-US" sz="1400" dirty="0">
                <a:solidFill>
                  <a:srgbClr val="2B2B2B"/>
                </a:solidFill>
              </a:rPr>
              <a:t>Write down every fault as you go. The log is assessment evidence and stops you fixing the same thing twice.</a:t>
            </a:r>
            <a:endParaRPr lang="en-US" sz="1400" dirty="0"/>
          </a:p>
        </p:txBody>
      </p:sp>
      <p:graphicFrame>
        <p:nvGraphicFramePr>
          <p:cNvPr id="86" name="log"/>
          <p:cNvGraphicFramePr>
            <a:graphicFrameLocks noGrp="1"/>
          </p:cNvGraphicFramePr>
          <p:nvPr>
            <p:extLst>
              <p:ext uri="{D42A27DB-BD31-4B8C-83A1-F6EECF244321}">
                <p14:modId xmlns:p14="http://schemas.microsoft.com/office/powerpoint/2010/main" val="1579011935"/>
              </p:ext>
            </p:extLst>
          </p:nvPr>
        </p:nvGraphicFramePr>
        <p:xfrm>
          <a:off x="548640" y="1691640"/>
          <a:ext cx="11091672" cy="914400"/>
        </p:xfrm>
        <a:graphic>
          <a:graphicData uri="http://schemas.openxmlformats.org/drawingml/2006/table">
            <a:tbl>
              <a:tblPr/>
              <a:tblGrid>
                <a:gridCol w="502920"/>
                <a:gridCol w="2286000"/>
                <a:gridCol w="2148840"/>
                <a:gridCol w="2240280"/>
                <a:gridCol w="2587752"/>
                <a:gridCol w="1325880"/>
              </a:tblGrid>
              <a:tr h="34747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1E563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Test / symptom</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1E563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Command used</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1E563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Root cause</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1E563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Fix applied</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1E563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Re-test</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1E5631"/>
                    </a:solidFill>
                  </a:tcPr>
                </a:tc>
              </a:tr>
              <a:tr h="566928">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PC3 cannot ping PC6</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100" b="1" dirty="0">
                          <a:solidFill>
                            <a:srgbClr val="1E5631"/>
                          </a:solidFill>
                          <a:latin typeface="Courier New" pitchFamily="34" charset="0"/>
                          <a:ea typeface="Courier New" pitchFamily="34" charset="-122"/>
                          <a:cs typeface="Courier New" pitchFamily="34" charset="-120"/>
                        </a:rPr>
                        <a:t>show interfaces trunk</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VLAN 30 not allowed on the trunk</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100" b="1" dirty="0">
                          <a:solidFill>
                            <a:srgbClr val="1E5631"/>
                          </a:solidFill>
                          <a:latin typeface="Courier New" pitchFamily="34" charset="0"/>
                          <a:ea typeface="Courier New" pitchFamily="34" charset="-122"/>
                          <a:cs typeface="Courier New" pitchFamily="34" charset="-120"/>
                        </a:rPr>
                        <a:t>switchport trunk allowed vlan add 30</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pPr indent="0" marL="0">
                        <a:buNone/>
                      </a:pPr>
                      <a:r>
                        <a:rPr lang="en-US" sz="1200" b="1" dirty="0">
                          <a:solidFill>
                            <a:srgbClr val="2B7043"/>
                          </a:solidFill>
                          <a:latin typeface="Calibri" pitchFamily="34" charset="0"/>
                          <a:ea typeface="Calibri" pitchFamily="34" charset="-122"/>
                          <a:cs typeface="Calibri" pitchFamily="34" charset="-120"/>
                        </a:rPr>
                        <a:t>PASS</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r>
              <a:tr h="502920">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c>
                  <a:txBody>
                    <a:bodyPr/>
                    <a:lstStyle/>
                    <a:p>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c>
                  <a:txBody>
                    <a:bodyPr/>
                    <a:lstStyle/>
                    <a:p>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c>
                  <a:txBody>
                    <a:bodyPr/>
                    <a:lstStyle/>
                    <a:p>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c>
                  <a:txBody>
                    <a:bodyPr/>
                    <a:lstStyle/>
                    <a:p>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c>
                  <a:txBody>
                    <a:bodyPr/>
                    <a:lstStyle/>
                    <a:p>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r>
              <a:tr h="502920">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r>
              <a:tr h="502920">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c>
                  <a:txBody>
                    <a:bodyPr/>
                    <a:lstStyle/>
                    <a:p>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c>
                  <a:txBody>
                    <a:bodyPr/>
                    <a:lstStyle/>
                    <a:p>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c>
                  <a:txBody>
                    <a:bodyPr/>
                    <a:lstStyle/>
                    <a:p>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c>
                  <a:txBody>
                    <a:bodyPr/>
                    <a:lstStyle/>
                    <a:p>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c>
                  <a:txBody>
                    <a:bodyPr/>
                    <a:lstStyle/>
                    <a:p>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FFFFF"/>
                    </a:solidFill>
                  </a:tcPr>
                </a:tc>
              </a:tr>
              <a:tr h="502920">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c>
                  <a:txBody>
                    <a:bodyPr/>
                    <a:lstStyle/>
                    <a:p>
                      <a:endParaRPr/>
                    </a:p>
                  </a:txBody>
                  <a:tcPr marL="91440" marR="91440" marT="45720" marB="45720" anchor="ctr">
                    <a:lnL w="12700" cap="flat" cmpd="sng" algn="ctr">
                      <a:solidFill>
                        <a:srgbClr val="B7C9BA"/>
                      </a:solidFill>
                      <a:prstDash val="solid"/>
                      <a:round/>
                      <a:headEnd type="none" w="med" len="med"/>
                      <a:tailEnd type="none" w="med" len="med"/>
                    </a:lnL>
                    <a:lnR w="12700" cap="flat" cmpd="sng" algn="ctr">
                      <a:solidFill>
                        <a:srgbClr val="B7C9BA"/>
                      </a:solidFill>
                      <a:prstDash val="solid"/>
                      <a:round/>
                      <a:headEnd type="none" w="med" len="med"/>
                      <a:tailEnd type="none" w="med" len="med"/>
                    </a:lnR>
                    <a:lnT w="12700" cap="flat" cmpd="sng" algn="ctr">
                      <a:solidFill>
                        <a:srgbClr val="B7C9BA"/>
                      </a:solidFill>
                      <a:prstDash val="solid"/>
                      <a:round/>
                      <a:headEnd type="none" w="med" len="med"/>
                      <a:tailEnd type="none" w="med" len="med"/>
                    </a:lnT>
                    <a:lnB w="12700" cap="flat" cmpd="sng" algn="ctr">
                      <a:solidFill>
                        <a:srgbClr val="B7C9BA"/>
                      </a:solidFill>
                      <a:prstDash val="solid"/>
                      <a:round/>
                      <a:headEnd type="none" w="med" len="med"/>
                      <a:tailEnd type="none" w="med" len="med"/>
                    </a:lnB>
                    <a:solidFill>
                      <a:srgbClr val="F2F8F3"/>
                    </a:solidFill>
                  </a:tcPr>
                </a:tc>
              </a:tr>
            </a:tbl>
          </a:graphicData>
        </a:graphic>
      </p:graphicFrame>
      <p:sp>
        <p:nvSpPr>
          <p:cNvPr id="7" name="watch box"/>
          <p:cNvSpPr/>
          <p:nvPr/>
        </p:nvSpPr>
        <p:spPr>
          <a:xfrm>
            <a:off x="548640" y="5504688"/>
            <a:ext cx="5410048" cy="749808"/>
          </a:xfrm>
          <a:prstGeom prst="roundRect">
            <a:avLst>
              <a:gd name="adj" fmla="val 9756"/>
            </a:avLst>
          </a:prstGeom>
          <a:solidFill>
            <a:srgbClr val="FBEAEA"/>
          </a:solidFill>
          <a:ln w="12700">
            <a:solidFill>
              <a:srgbClr val="E9B8B5"/>
            </a:solidFill>
            <a:prstDash val="solid"/>
          </a:ln>
        </p:spPr>
      </p:sp>
      <p:pic>
        <p:nvPicPr>
          <p:cNvPr id="8" name="watch icon" descr="Watch out:">    </p:cNvPr>
          <p:cNvPicPr>
            <a:picLocks noChangeAspect="1"/>
          </p:cNvPicPr>
          <p:nvPr/>
        </p:nvPicPr>
        <p:blipFill>
          <a:blip r:embed="rId3"/>
          <a:stretch>
            <a:fillRect/>
          </a:stretch>
        </p:blipFill>
        <p:spPr>
          <a:xfrm>
            <a:off x="694944" y="5733288"/>
            <a:ext cx="292608" cy="292608"/>
          </a:xfrm>
          <a:prstGeom prst="rect">
            <a:avLst/>
          </a:prstGeom>
        </p:spPr>
      </p:pic>
      <p:sp>
        <p:nvSpPr>
          <p:cNvPr id="9" name="watch text"/>
          <p:cNvSpPr txBox="1"/>
          <p:nvPr/>
        </p:nvSpPr>
        <p:spPr>
          <a:xfrm>
            <a:off x="1097280" y="5541264"/>
            <a:ext cx="4751680" cy="676656"/>
          </a:xfrm>
          <a:prstGeom prst="rect">
            <a:avLst/>
          </a:prstGeom>
          <a:noFill/>
          <a:ln/>
        </p:spPr>
        <p:txBody>
          <a:bodyPr wrap="square" lIns="0" tIns="0" rIns="0" bIns="0" rtlCol="0" anchor="ctr"/>
          <a:lstStyle/>
          <a:p>
            <a:pPr indent="0" marL="0">
              <a:buNone/>
            </a:pPr>
            <a:r>
              <a:rPr lang="en-US" sz="1400" b="1" dirty="0">
                <a:solidFill>
                  <a:srgbClr val="8B1A1A"/>
                </a:solidFill>
              </a:rPr>
              <a:t>Watch out:  </a:t>
            </a:r>
            <a:r>
              <a:rPr lang="en-US" sz="1400" dirty="0">
                <a:solidFill>
                  <a:srgbClr val="2B2B2B"/>
                </a:solidFill>
              </a:rPr>
              <a:t>Change one thing at a time, and re-test after each change.</a:t>
            </a:r>
            <a:endParaRPr lang="en-US" sz="1400" dirty="0"/>
          </a:p>
        </p:txBody>
      </p:sp>
      <p:sp>
        <p:nvSpPr>
          <p:cNvPr id="10" name="tip box"/>
          <p:cNvSpPr/>
          <p:nvPr/>
        </p:nvSpPr>
        <p:spPr>
          <a:xfrm>
            <a:off x="6233008" y="5504688"/>
            <a:ext cx="5410048" cy="749808"/>
          </a:xfrm>
          <a:prstGeom prst="roundRect">
            <a:avLst>
              <a:gd name="adj" fmla="val 9756"/>
            </a:avLst>
          </a:prstGeom>
          <a:solidFill>
            <a:srgbClr val="E6EEF8"/>
          </a:solidFill>
          <a:ln w="12700">
            <a:solidFill>
              <a:srgbClr val="B8C9E0"/>
            </a:solidFill>
            <a:prstDash val="solid"/>
          </a:ln>
        </p:spPr>
      </p:sp>
      <p:pic>
        <p:nvPicPr>
          <p:cNvPr id="11" name="tip icon" descr="Tip:">    </p:cNvPr>
          <p:cNvPicPr>
            <a:picLocks noChangeAspect="1"/>
          </p:cNvPicPr>
          <p:nvPr/>
        </p:nvPicPr>
        <p:blipFill>
          <a:blip r:embed="rId4"/>
          <a:stretch>
            <a:fillRect/>
          </a:stretch>
        </p:blipFill>
        <p:spPr>
          <a:xfrm>
            <a:off x="6379312" y="5733288"/>
            <a:ext cx="292608" cy="292608"/>
          </a:xfrm>
          <a:prstGeom prst="rect">
            <a:avLst/>
          </a:prstGeom>
        </p:spPr>
      </p:pic>
      <p:sp>
        <p:nvSpPr>
          <p:cNvPr id="12" name="tip text"/>
          <p:cNvSpPr txBox="1"/>
          <p:nvPr/>
        </p:nvSpPr>
        <p:spPr>
          <a:xfrm>
            <a:off x="6781648" y="5541264"/>
            <a:ext cx="4751680" cy="676656"/>
          </a:xfrm>
          <a:prstGeom prst="rect">
            <a:avLst/>
          </a:prstGeom>
          <a:noFill/>
          <a:ln/>
        </p:spPr>
        <p:txBody>
          <a:bodyPr wrap="square" lIns="0" tIns="0" rIns="0" bIns="0" rtlCol="0" anchor="ctr"/>
          <a:lstStyle/>
          <a:p>
            <a:pPr indent="0" marL="0">
              <a:buNone/>
            </a:pPr>
            <a:r>
              <a:rPr lang="en-US" sz="1400" b="1" dirty="0">
                <a:solidFill>
                  <a:srgbClr val="1F4E8C"/>
                </a:solidFill>
              </a:rPr>
              <a:t>Tip:  </a:t>
            </a:r>
            <a:r>
              <a:rPr lang="en-US" sz="1400" dirty="0">
                <a:solidFill>
                  <a:srgbClr val="2B2B2B"/>
                </a:solidFill>
              </a:rPr>
              <a:t>Lab 8 scoring: 2 points for each fault fixed and logged; minus 1 for any new fault you create.</a:t>
            </a:r>
            <a:endParaRPr lang="en-US" sz="1400" dirty="0"/>
          </a:p>
        </p:txBody>
      </p:sp>
      <p:sp>
        <p:nvSpPr>
          <p:cNvPr id="25" name="Slide Number Placeholder 0"/>
          <p:cNvSpPr>
            <a:spLocks noGrp="1"/>
          </p:cNvSpPr>
          <p:nvPr>
            <p:ph type="sldNum" sz="quarter" idx="4294967295"/>
          </p:nvPr>
        </p:nvSpPr>
        <p:spPr>
          <a:xfrm>
            <a:off x="10698480" y="6464808"/>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r"/>
            <a:fld id="{F7021451-1387-4CA6-816F-3879F97B5CBC}" type="slidenum">
              <a:rPr b="0" lang="en-US"/>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1"/>
          <p:cNvSpPr/>
          <p:nvPr>
            <p:ph idx="101" type="body" hasCustomPrompt="1"/>
          </p:nvPr>
        </p:nvSpPr>
        <p:spPr>
          <a:xfrm>
            <a:off x="548640" y="685800"/>
            <a:ext cx="3200400" cy="1143000"/>
          </a:xfrm>
          <a:prstGeom prst="rect">
            <a:avLst/>
          </a:prstGeom>
          <a:noFill/>
          <a:ln/>
        </p:spPr>
        <p:txBody>
          <a:bodyPr wrap="square" lIns="0" tIns="0" rIns="0" bIns="0" rtlCol="0" anchor="b"/>
          <a:lstStyle/>
          <a:p>
            <a:pPr algn="l" indent="0" marL="0">
              <a:buNone/>
            </a:pPr>
            <a:r>
              <a:rPr lang="en-US" sz="7200" b="1" dirty="0">
                <a:solidFill>
                  <a:schemeClr val="accent3"/>
                </a:solidFill>
                <a:latin typeface="Cambria" pitchFamily="34" charset="0"/>
                <a:ea typeface="Cambria" pitchFamily="34" charset="-122"/>
                <a:cs typeface="Cambria" pitchFamily="34" charset="-120"/>
              </a:rPr>
              <a:t>12</a:t>
            </a:r>
            <a:endParaRPr lang="en-US" sz="7200" dirty="0"/>
          </a:p>
        </p:txBody>
      </p:sp>
      <p:sp>
        <p:nvSpPr>
          <p:cNvPr id="3" name="Text 1"/>
          <p:cNvSpPr/>
          <p:nvPr>
            <p:ph idx="102" type="title" hasCustomPrompt="1"/>
          </p:nvPr>
        </p:nvSpPr>
        <p:spPr>
          <a:xfrm>
            <a:off x="548640" y="2011680"/>
            <a:ext cx="6492240" cy="1600200"/>
          </a:xfrm>
          <a:prstGeom prst="rect">
            <a:avLst/>
          </a:prstGeom>
          <a:noFill/>
          <a:ln/>
        </p:spPr>
        <p:txBody>
          <a:bodyPr wrap="square" lIns="0" tIns="0" rIns="0" bIns="0" rtlCol="0" anchor="t"/>
          <a:lstStyle/>
          <a:p>
            <a:pPr algn="l" indent="0" marL="0">
              <a:buNone/>
            </a:pPr>
            <a:r>
              <a:rPr lang="en-US" sz="3400" b="1" dirty="0">
                <a:solidFill>
                  <a:srgbClr val="FFFFFF"/>
                </a:solidFill>
              </a:rPr>
              <a:t>How to practise and revise on your own</a:t>
            </a:r>
            <a:endParaRPr lang="en-US" sz="3400" dirty="0"/>
          </a:p>
        </p:txBody>
      </p:sp>
      <p:sp>
        <p:nvSpPr>
          <p:cNvPr id="4" name="Text 1"/>
          <p:cNvSpPr/>
          <p:nvPr>
            <p:ph idx="103" type="body" hasCustomPrompt="1"/>
          </p:nvPr>
        </p:nvSpPr>
        <p:spPr>
          <a:xfrm>
            <a:off x="548640" y="3703320"/>
            <a:ext cx="6309360" cy="1188720"/>
          </a:xfrm>
          <a:prstGeom prst="rect">
            <a:avLst/>
          </a:prstGeom>
          <a:noFill/>
          <a:ln/>
        </p:spPr>
        <p:txBody>
          <a:bodyPr wrap="square" lIns="0" tIns="0" rIns="0" bIns="0" rtlCol="0" anchor="t"/>
          <a:lstStyle/>
          <a:p>
            <a:pPr algn="l" indent="0" marL="0">
              <a:buNone/>
            </a:pPr>
            <a:r>
              <a:rPr lang="en-US" sz="1600" dirty="0">
                <a:solidFill>
                  <a:srgbClr val="CFE3D4"/>
                </a:solidFill>
              </a:rPr>
              <a:t>Two challenge labs that combine everything, a checklist to judge your own competence, and one-page command cards for revision.</a:t>
            </a:r>
            <a:endParaRPr lang="en-US" sz="1600" dirty="0"/>
          </a:p>
        </p:txBody>
      </p:sp>
      <p:sp>
        <p:nvSpPr>
          <p:cNvPr id="5" name="Shape 3"/>
          <p:cNvSpPr/>
          <p:nvPr/>
        </p:nvSpPr>
        <p:spPr>
          <a:xfrm>
            <a:off x="7452360" y="1747520"/>
            <a:ext cx="4187952" cy="3362960"/>
          </a:xfrm>
          <a:prstGeom prst="roundRect">
            <a:avLst>
              <a:gd name="adj" fmla="val 2719"/>
            </a:avLst>
          </a:prstGeom>
          <a:solidFill>
            <a:srgbClr val="1B2B22">
              <a:alpha val="75000"/>
            </a:srgbClr>
          </a:solidFill>
          <a:ln w="12700">
            <a:solidFill>
              <a:srgbClr val="24663A"/>
            </a:solidFill>
            <a:prstDash val="solid"/>
          </a:ln>
        </p:spPr>
      </p:sp>
      <p:sp>
        <p:nvSpPr>
          <p:cNvPr id="6" name="Text 4"/>
          <p:cNvSpPr txBox="1"/>
          <p:nvPr/>
        </p:nvSpPr>
        <p:spPr>
          <a:xfrm>
            <a:off x="7726680" y="2003552"/>
            <a:ext cx="3639312" cy="320040"/>
          </a:xfrm>
          <a:prstGeom prst="rect">
            <a:avLst/>
          </a:prstGeom>
          <a:noFill/>
          <a:ln/>
        </p:spPr>
        <p:txBody>
          <a:bodyPr wrap="square" lIns="0" tIns="0" rIns="0" bIns="0" rtlCol="0" anchor="ctr"/>
          <a:lstStyle/>
          <a:p>
            <a:pPr indent="0" marL="0">
              <a:buNone/>
            </a:pPr>
            <a:r>
              <a:rPr lang="en-US" sz="1500" b="1" dirty="0">
                <a:solidFill>
                  <a:srgbClr val="E8B92E"/>
                </a:solidFill>
              </a:rPr>
              <a:t>In this part, learn how to:</a:t>
            </a:r>
            <a:endParaRPr lang="en-US" sz="1500" dirty="0"/>
          </a:p>
        </p:txBody>
      </p:sp>
      <p:sp>
        <p:nvSpPr>
          <p:cNvPr id="7" name="Text 5"/>
          <p:cNvSpPr txBox="1"/>
          <p:nvPr/>
        </p:nvSpPr>
        <p:spPr>
          <a:xfrm>
            <a:off x="7726680" y="2479040"/>
            <a:ext cx="3730752" cy="244856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FFFFFF"/>
                </a:solidFill>
              </a:rPr>
              <a:t>build challenge lab A: VLANs, routing between them and DHCP</a:t>
            </a:r>
            <a:endParaRPr lang="en-US" sz="1500" dirty="0"/>
          </a:p>
          <a:p>
            <a:pPr marL="203200" indent="-203200">
              <a:spcAft>
                <a:spcPts val="800"/>
              </a:spcAft>
              <a:buSzPct val="100000"/>
              <a:buChar char="•"/>
            </a:pPr>
            <a:r>
              <a:rPr lang="en-US" sz="1500" dirty="0">
                <a:solidFill>
                  <a:srgbClr val="FFFFFF"/>
                </a:solidFill>
              </a:rPr>
              <a:t>build challenge lab B: routing, NAT and security</a:t>
            </a:r>
            <a:endParaRPr lang="en-US" sz="1500" dirty="0"/>
          </a:p>
          <a:p>
            <a:pPr marL="203200" indent="-203200">
              <a:spcAft>
                <a:spcPts val="800"/>
              </a:spcAft>
              <a:buSzPct val="100000"/>
              <a:buChar char="•"/>
            </a:pPr>
            <a:r>
              <a:rPr lang="en-US" sz="1500" dirty="0">
                <a:solidFill>
                  <a:srgbClr val="FFFFFF"/>
                </a:solidFill>
              </a:rPr>
              <a:t>check yourself against the competence list</a:t>
            </a:r>
            <a:endParaRPr lang="en-US" sz="1500" dirty="0"/>
          </a:p>
          <a:p>
            <a:pPr marL="203200" indent="-203200">
              <a:spcAft>
                <a:spcPts val="800"/>
              </a:spcAft>
              <a:buSzPct val="100000"/>
              <a:buChar char="•"/>
            </a:pPr>
            <a:r>
              <a:rPr lang="en-US" sz="1500" dirty="0">
                <a:solidFill>
                  <a:srgbClr val="FFFFFF"/>
                </a:solidFill>
              </a:rPr>
              <a:t>revise with the switch and router cards</a:t>
            </a:r>
            <a:endParaRPr lang="en-US" sz="1500" dirty="0"/>
          </a:p>
        </p:txBody>
      </p:sp>
      <p:sp>
        <p:nvSpPr>
          <p:cNvPr id="8" name="Shape 6"/>
          <p:cNvSpPr/>
          <p:nvPr/>
        </p:nvSpPr>
        <p:spPr>
          <a:xfrm>
            <a:off x="548640" y="5989320"/>
            <a:ext cx="914400" cy="566928"/>
          </a:xfrm>
          <a:prstGeom prst="roundRect">
            <a:avLst>
              <a:gd name="adj" fmla="val 9677"/>
            </a:avLst>
          </a:prstGeom>
          <a:solidFill>
            <a:srgbClr val="FFFFFF"/>
          </a:solidFill>
          <a:ln/>
        </p:spPr>
      </p:sp>
      <p:pic>
        <p:nvPicPr>
          <p:cNvPr id="9" name="Image 0" descr="Kabete National Polytechnic logo">    </p:cNvPr>
          <p:cNvPicPr>
            <a:picLocks noChangeAspect="1"/>
          </p:cNvPicPr>
          <p:nvPr/>
        </p:nvPicPr>
        <p:blipFill>
          <a:blip r:embed="rId1"/>
          <a:stretch>
            <a:fillRect/>
          </a:stretch>
        </p:blipFill>
        <p:spPr>
          <a:xfrm>
            <a:off x="594360" y="6022175"/>
            <a:ext cx="822960" cy="501218"/>
          </a:xfrm>
          <a:prstGeom prst="rect">
            <a:avLst/>
          </a:prstGeom>
        </p:spPr>
      </p:pic>
      <p:pic>
        <p:nvPicPr>
          <p:cNvPr id="10" name="Home button" descr="Home: back to the workbook menu">
            <a:hlinkClick r:id="rId3" tooltip="Back to the workbook menu" action="ppaction://hlinksldjump"/>
          </p:cNvPr>
          <p:cNvPicPr>
            <a:picLocks noChangeAspect="1"/>
          </p:cNvPicPr>
          <p:nvPr/>
        </p:nvPicPr>
        <p:blipFill>
          <a:blip r:embed="rId2"/>
          <a:stretch>
            <a:fillRect/>
          </a:stretch>
        </p:blipFill>
        <p:spPr>
          <a:xfrm>
            <a:off x="11365992" y="6336792"/>
            <a:ext cx="365760" cy="365760"/>
          </a:xfrm>
          <a:prstGeom prst="rect">
            <a:avLst/>
          </a:prstGeom>
        </p:spPr>
      </p:pic>
      <p:sp>
        <p:nvSpPr>
          <p:cNvPr id="25" name="Slide Number Placeholder 0"/>
          <p:cNvSpPr>
            <a:spLocks noGrp="1"/>
          </p:cNvSpPr>
          <p:nvPr>
            <p:ph type="sldNum" sz="quarter" idx="4294967295"/>
          </p:nvPr>
        </p:nvSpPr>
        <p:spPr>
          <a:xfrm>
            <a:off x="10698480" y="6464808"/>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CFE3D4"/>
                </a:solidFill>
              </a:defRPr>
            </a:lvl1pPr>
          </a:lstStyle>
          <a:p>
            <a:pPr algn="r"/>
            <a:fld id="{F7021451-1387-4CA6-816F-3879F97B5CBC}" type="slidenum">
              <a:rPr b="0" lang="en-US"/>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ext 1"/>
          <p:cNvSpPr/>
          <p:nvPr>
            <p:ph idx="102" type="body" hasCustomPrompt="1"/>
          </p:nvPr>
        </p:nvSpPr>
        <p:spPr>
          <a:xfrm>
            <a:off x="548640" y="274320"/>
            <a:ext cx="9966960" cy="256032"/>
          </a:xfrm>
          <a:prstGeom prst="rect">
            <a:avLst/>
          </a:prstGeom>
          <a:noFill/>
          <a:ln/>
        </p:spPr>
        <p:txBody>
          <a:bodyPr wrap="square" lIns="0" tIns="0" rIns="0" bIns="0" rtlCol="0" anchor="ctr"/>
          <a:lstStyle/>
          <a:p>
            <a:pPr algn="l" indent="0" marL="0">
              <a:buNone/>
            </a:pPr>
            <a:r>
              <a:rPr lang="en-US" sz="1100" b="1" spc="100" kern="0" dirty="0">
                <a:solidFill>
                  <a:schemeClr val="accent2"/>
                </a:solidFill>
              </a:rPr>
              <a:t>12  •  PRACTICE &amp; QUICK REFERENCE  •  CHALLENGE</a:t>
            </a:r>
            <a:endParaRPr lang="en-US" sz="1100" dirty="0"/>
          </a:p>
        </p:txBody>
      </p:sp>
      <p:sp>
        <p:nvSpPr>
          <p:cNvPr id="3" name="Text 1"/>
          <p:cNvSpPr/>
          <p:nvPr>
            <p:ph idx="103" type="title" hasCustomPrompt="1"/>
          </p:nvPr>
        </p:nvSpPr>
        <p:spPr>
          <a:xfrm>
            <a:off x="548640" y="548640"/>
            <a:ext cx="10149840" cy="548640"/>
          </a:xfrm>
          <a:prstGeom prst="rect">
            <a:avLst/>
          </a:prstGeom>
          <a:noFill/>
          <a:ln/>
        </p:spPr>
        <p:txBody>
          <a:bodyPr wrap="square" lIns="0" tIns="0" rIns="0" bIns="0" rtlCol="0" anchor="ctr"/>
          <a:lstStyle/>
          <a:p>
            <a:pPr algn="l" indent="0" marL="0">
              <a:buNone/>
            </a:pPr>
            <a:r>
              <a:rPr lang="en-US" sz="2600" b="1" dirty="0">
                <a:solidFill>
                  <a:schemeClr val="accent1"/>
                </a:solidFill>
              </a:rPr>
              <a:t>How to practise: challenge lab A — VLANs, routing and DHCP</a:t>
            </a:r>
            <a:endParaRPr lang="en-US" sz="2600" dirty="0"/>
          </a:p>
        </p:txBody>
      </p:sp>
      <p:pic>
        <p:nvPicPr>
          <p:cNvPr id="4" name="Home button" descr="Home: back to the workbook menu">
            <a:hlinkClick r:id="rId2" tooltip="Back to the workbook menu" action="ppaction://hlinksldjump"/>
          </p:cNvPr>
          <p:cNvPicPr>
            <a:picLocks noChangeAspect="1"/>
          </p:cNvPicPr>
          <p:nvPr/>
        </p:nvPicPr>
        <p:blipFill>
          <a:blip r:embed="rId1"/>
          <a:stretch>
            <a:fillRect/>
          </a:stretch>
        </p:blipFill>
        <p:spPr>
          <a:xfrm>
            <a:off x="11365992" y="6336792"/>
            <a:ext cx="365760" cy="365760"/>
          </a:xfrm>
          <a:prstGeom prst="rect">
            <a:avLst/>
          </a:prstGeom>
        </p:spPr>
      </p:pic>
      <p:sp>
        <p:nvSpPr>
          <p:cNvPr id="5" name="Goal"/>
          <p:cNvSpPr txBox="1"/>
          <p:nvPr/>
        </p:nvSpPr>
        <p:spPr>
          <a:xfrm>
            <a:off x="548640" y="1161288"/>
            <a:ext cx="11094415" cy="384048"/>
          </a:xfrm>
          <a:prstGeom prst="rect">
            <a:avLst/>
          </a:prstGeom>
          <a:noFill/>
          <a:ln/>
        </p:spPr>
        <p:txBody>
          <a:bodyPr wrap="square" lIns="0" tIns="0" rIns="0" bIns="0" rtlCol="0" anchor="ctr"/>
          <a:lstStyle/>
          <a:p>
            <a:pPr indent="0" marL="0">
              <a:buNone/>
            </a:pPr>
            <a:r>
              <a:rPr lang="en-US" sz="1400" b="1" dirty="0">
                <a:solidFill>
                  <a:srgbClr val="2B7043"/>
                </a:solidFill>
              </a:rPr>
              <a:t>Goal:  </a:t>
            </a:r>
            <a:r>
              <a:rPr lang="en-US" sz="1400" dirty="0">
                <a:solidFill>
                  <a:srgbClr val="2B2B2B"/>
                </a:solidFill>
              </a:rPr>
              <a:t>Rebuild Lab 2 without the slides. Time yourself: aim for under 90 minutes.</a:t>
            </a:r>
            <a:endParaRPr lang="en-US" sz="1400" dirty="0"/>
          </a:p>
        </p:txBody>
      </p:sp>
      <p:sp>
        <p:nvSpPr>
          <p:cNvPr id="6" name="Shape 3"/>
          <p:cNvSpPr/>
          <p:nvPr/>
        </p:nvSpPr>
        <p:spPr>
          <a:xfrm>
            <a:off x="548640" y="1691640"/>
            <a:ext cx="4572000" cy="3246120"/>
          </a:xfrm>
          <a:prstGeom prst="roundRect">
            <a:avLst>
              <a:gd name="adj" fmla="val 2254"/>
            </a:avLst>
          </a:prstGeom>
          <a:solidFill>
            <a:srgbClr val="F2F8F3"/>
          </a:solidFill>
          <a:ln w="12700">
            <a:solidFill>
              <a:srgbClr val="B7C9BA"/>
            </a:solidFill>
            <a:prstDash val="solid"/>
          </a:ln>
        </p:spPr>
      </p:sp>
      <p:sp>
        <p:nvSpPr>
          <p:cNvPr id="7" name="Shape 4"/>
          <p:cNvSpPr/>
          <p:nvPr/>
        </p:nvSpPr>
        <p:spPr>
          <a:xfrm flipH="1">
            <a:off x="1828800" y="2194560"/>
            <a:ext cx="960120" cy="1051560"/>
          </a:xfrm>
          <a:prstGeom prst="line">
            <a:avLst/>
          </a:prstGeom>
          <a:noFill/>
          <a:ln w="44450">
            <a:solidFill>
              <a:srgbClr val="1B2B22"/>
            </a:solidFill>
            <a:prstDash val="solid"/>
          </a:ln>
        </p:spPr>
      </p:sp>
      <p:sp>
        <p:nvSpPr>
          <p:cNvPr id="8" name="Shape 5"/>
          <p:cNvSpPr/>
          <p:nvPr/>
        </p:nvSpPr>
        <p:spPr>
          <a:xfrm>
            <a:off x="1828800" y="3246120"/>
            <a:ext cx="1920240" cy="914"/>
          </a:xfrm>
          <a:prstGeom prst="line">
            <a:avLst/>
          </a:prstGeom>
          <a:noFill/>
          <a:ln w="44450">
            <a:solidFill>
              <a:srgbClr val="1B2B22"/>
            </a:solidFill>
            <a:prstDash val="solid"/>
          </a:ln>
        </p:spPr>
      </p:sp>
      <p:sp>
        <p:nvSpPr>
          <p:cNvPr id="9" name="Shape 6"/>
          <p:cNvSpPr/>
          <p:nvPr/>
        </p:nvSpPr>
        <p:spPr>
          <a:xfrm flipH="1">
            <a:off x="1280160" y="3246120"/>
            <a:ext cx="548640" cy="960120"/>
          </a:xfrm>
          <a:prstGeom prst="line">
            <a:avLst/>
          </a:prstGeom>
          <a:noFill/>
          <a:ln w="25400">
            <a:solidFill>
              <a:srgbClr val="2F855A"/>
            </a:solidFill>
            <a:prstDash val="solid"/>
          </a:ln>
        </p:spPr>
      </p:sp>
      <p:sp>
        <p:nvSpPr>
          <p:cNvPr id="10" name="Shape 7"/>
          <p:cNvSpPr/>
          <p:nvPr/>
        </p:nvSpPr>
        <p:spPr>
          <a:xfrm>
            <a:off x="1828800" y="3246120"/>
            <a:ext cx="914" cy="960120"/>
          </a:xfrm>
          <a:prstGeom prst="line">
            <a:avLst/>
          </a:prstGeom>
          <a:noFill/>
          <a:ln w="25400">
            <a:solidFill>
              <a:srgbClr val="2B6CB0"/>
            </a:solidFill>
            <a:prstDash val="solid"/>
          </a:ln>
        </p:spPr>
      </p:sp>
      <p:sp>
        <p:nvSpPr>
          <p:cNvPr id="11" name="Shape 8"/>
          <p:cNvSpPr/>
          <p:nvPr/>
        </p:nvSpPr>
        <p:spPr>
          <a:xfrm>
            <a:off x="1828800" y="3246120"/>
            <a:ext cx="548640" cy="960120"/>
          </a:xfrm>
          <a:prstGeom prst="line">
            <a:avLst/>
          </a:prstGeom>
          <a:noFill/>
          <a:ln w="25400">
            <a:solidFill>
              <a:srgbClr val="C05621"/>
            </a:solidFill>
            <a:prstDash val="solid"/>
          </a:ln>
        </p:spPr>
      </p:sp>
      <p:sp>
        <p:nvSpPr>
          <p:cNvPr id="12" name="Shape 9"/>
          <p:cNvSpPr/>
          <p:nvPr/>
        </p:nvSpPr>
        <p:spPr>
          <a:xfrm flipH="1">
            <a:off x="3200400" y="3246120"/>
            <a:ext cx="548640" cy="960120"/>
          </a:xfrm>
          <a:prstGeom prst="line">
            <a:avLst/>
          </a:prstGeom>
          <a:noFill/>
          <a:ln w="25400">
            <a:solidFill>
              <a:srgbClr val="2F855A"/>
            </a:solidFill>
            <a:prstDash val="solid"/>
          </a:ln>
        </p:spPr>
      </p:sp>
      <p:sp>
        <p:nvSpPr>
          <p:cNvPr id="13" name="Shape 10"/>
          <p:cNvSpPr/>
          <p:nvPr/>
        </p:nvSpPr>
        <p:spPr>
          <a:xfrm>
            <a:off x="3749040" y="3246120"/>
            <a:ext cx="914" cy="960120"/>
          </a:xfrm>
          <a:prstGeom prst="line">
            <a:avLst/>
          </a:prstGeom>
          <a:noFill/>
          <a:ln w="25400">
            <a:solidFill>
              <a:srgbClr val="2B6CB0"/>
            </a:solidFill>
            <a:prstDash val="solid"/>
          </a:ln>
        </p:spPr>
      </p:sp>
      <p:sp>
        <p:nvSpPr>
          <p:cNvPr id="14" name="Shape 11"/>
          <p:cNvSpPr/>
          <p:nvPr/>
        </p:nvSpPr>
        <p:spPr>
          <a:xfrm>
            <a:off x="3749040" y="3246120"/>
            <a:ext cx="548640" cy="960120"/>
          </a:xfrm>
          <a:prstGeom prst="line">
            <a:avLst/>
          </a:prstGeom>
          <a:noFill/>
          <a:ln w="25400">
            <a:solidFill>
              <a:srgbClr val="C05621"/>
            </a:solidFill>
            <a:prstDash val="solid"/>
          </a:ln>
        </p:spPr>
      </p:sp>
      <p:pic>
        <p:nvPicPr>
          <p:cNvPr id="15" name="Image 1" descr="R1">    </p:cNvPr>
          <p:cNvPicPr>
            <a:picLocks noChangeAspect="1"/>
          </p:cNvPicPr>
          <p:nvPr/>
        </p:nvPicPr>
        <p:blipFill>
          <a:blip r:embed="rId3"/>
          <a:stretch>
            <a:fillRect/>
          </a:stretch>
        </p:blipFill>
        <p:spPr>
          <a:xfrm>
            <a:off x="2537460" y="1943100"/>
            <a:ext cx="502920" cy="502920"/>
          </a:xfrm>
          <a:prstGeom prst="rect">
            <a:avLst/>
          </a:prstGeom>
        </p:spPr>
      </p:pic>
      <p:sp>
        <p:nvSpPr>
          <p:cNvPr id="16" name="Text 12"/>
          <p:cNvSpPr txBox="1"/>
          <p:nvPr/>
        </p:nvSpPr>
        <p:spPr>
          <a:xfrm>
            <a:off x="3086100" y="1965960"/>
            <a:ext cx="1463040" cy="457200"/>
          </a:xfrm>
          <a:prstGeom prst="rect">
            <a:avLst/>
          </a:prstGeom>
          <a:noFill/>
          <a:ln/>
        </p:spPr>
        <p:txBody>
          <a:bodyPr wrap="square" lIns="0" tIns="0" rIns="0" bIns="0" rtlCol="0" anchor="t"/>
          <a:lstStyle/>
          <a:p>
            <a:pPr algn="l" indent="0" marL="0">
              <a:buNone/>
            </a:pPr>
            <a:r>
              <a:rPr lang="en-US" sz="1200" b="1" dirty="0">
                <a:solidFill>
                  <a:srgbClr val="2B2B2B"/>
                </a:solidFill>
              </a:rPr>
              <a:t>R1</a:t>
            </a:r>
            <a:endParaRPr lang="en-US" sz="1200" dirty="0"/>
          </a:p>
          <a:p>
            <a:pPr algn="l" indent="0" marL="0">
              <a:buNone/>
            </a:pPr>
            <a:r>
              <a:rPr lang="en-US" sz="1000" dirty="0">
                <a:solidFill>
                  <a:srgbClr val="6B6B6B"/>
                </a:solidFill>
              </a:rPr>
              <a:t>DHCP + gateways</a:t>
            </a:r>
            <a:endParaRPr lang="en-US" sz="1200" dirty="0"/>
          </a:p>
        </p:txBody>
      </p:sp>
      <p:pic>
        <p:nvPicPr>
          <p:cNvPr id="17" name="Image 2" descr="S1">    </p:cNvPr>
          <p:cNvPicPr>
            <a:picLocks noChangeAspect="1"/>
          </p:cNvPicPr>
          <p:nvPr/>
        </p:nvPicPr>
        <p:blipFill>
          <a:blip r:embed="rId4"/>
          <a:stretch>
            <a:fillRect/>
          </a:stretch>
        </p:blipFill>
        <p:spPr>
          <a:xfrm>
            <a:off x="1554480" y="2971800"/>
            <a:ext cx="548640" cy="548640"/>
          </a:xfrm>
          <a:prstGeom prst="rect">
            <a:avLst/>
          </a:prstGeom>
        </p:spPr>
      </p:pic>
      <p:sp>
        <p:nvSpPr>
          <p:cNvPr id="18" name="Text 13"/>
          <p:cNvSpPr txBox="1"/>
          <p:nvPr/>
        </p:nvSpPr>
        <p:spPr>
          <a:xfrm>
            <a:off x="1051560" y="3108960"/>
            <a:ext cx="457200" cy="274320"/>
          </a:xfrm>
          <a:prstGeom prst="rect">
            <a:avLst/>
          </a:prstGeom>
          <a:noFill/>
          <a:ln/>
        </p:spPr>
        <p:txBody>
          <a:bodyPr wrap="square" lIns="0" tIns="0" rIns="0" bIns="0" rtlCol="0" anchor="t"/>
          <a:lstStyle/>
          <a:p>
            <a:pPr algn="r" indent="0" marL="0">
              <a:buNone/>
            </a:pPr>
            <a:r>
              <a:rPr lang="en-US" sz="1200" b="1" dirty="0">
                <a:solidFill>
                  <a:srgbClr val="2B2B2B"/>
                </a:solidFill>
              </a:rPr>
              <a:t>S1</a:t>
            </a:r>
            <a:endParaRPr lang="en-US" sz="1200" dirty="0"/>
          </a:p>
        </p:txBody>
      </p:sp>
      <p:pic>
        <p:nvPicPr>
          <p:cNvPr id="19" name="Image 3" descr="S2">    </p:cNvPr>
          <p:cNvPicPr>
            <a:picLocks noChangeAspect="1"/>
          </p:cNvPicPr>
          <p:nvPr/>
        </p:nvPicPr>
        <p:blipFill>
          <a:blip r:embed="rId5"/>
          <a:stretch>
            <a:fillRect/>
          </a:stretch>
        </p:blipFill>
        <p:spPr>
          <a:xfrm>
            <a:off x="3474720" y="2971800"/>
            <a:ext cx="548640" cy="548640"/>
          </a:xfrm>
          <a:prstGeom prst="rect">
            <a:avLst/>
          </a:prstGeom>
        </p:spPr>
      </p:pic>
      <p:sp>
        <p:nvSpPr>
          <p:cNvPr id="20" name="Text 14"/>
          <p:cNvSpPr txBox="1"/>
          <p:nvPr/>
        </p:nvSpPr>
        <p:spPr>
          <a:xfrm>
            <a:off x="4069080" y="3108960"/>
            <a:ext cx="457200" cy="274320"/>
          </a:xfrm>
          <a:prstGeom prst="rect">
            <a:avLst/>
          </a:prstGeom>
          <a:noFill/>
          <a:ln/>
        </p:spPr>
        <p:txBody>
          <a:bodyPr wrap="square" lIns="0" tIns="0" rIns="0" bIns="0" rtlCol="0" anchor="t"/>
          <a:lstStyle/>
          <a:p>
            <a:pPr algn="l" indent="0" marL="0">
              <a:buNone/>
            </a:pPr>
            <a:r>
              <a:rPr lang="en-US" sz="1200" b="1" dirty="0">
                <a:solidFill>
                  <a:srgbClr val="2B2B2B"/>
                </a:solidFill>
              </a:rPr>
              <a:t>S2</a:t>
            </a:r>
            <a:endParaRPr lang="en-US" sz="1200" dirty="0"/>
          </a:p>
        </p:txBody>
      </p:sp>
      <p:pic>
        <p:nvPicPr>
          <p:cNvPr id="21" name="Image 4" descr="pc">    </p:cNvPr>
          <p:cNvPicPr>
            <a:picLocks noChangeAspect="1"/>
          </p:cNvPicPr>
          <p:nvPr/>
        </p:nvPicPr>
        <p:blipFill>
          <a:blip r:embed="rId6"/>
          <a:stretch>
            <a:fillRect/>
          </a:stretch>
        </p:blipFill>
        <p:spPr>
          <a:xfrm>
            <a:off x="1088136" y="4059936"/>
            <a:ext cx="384048" cy="384048"/>
          </a:xfrm>
          <a:prstGeom prst="rect">
            <a:avLst/>
          </a:prstGeom>
        </p:spPr>
      </p:pic>
      <p:pic>
        <p:nvPicPr>
          <p:cNvPr id="22" name="Image 5" descr="pc">    </p:cNvPr>
          <p:cNvPicPr>
            <a:picLocks noChangeAspect="1"/>
          </p:cNvPicPr>
          <p:nvPr/>
        </p:nvPicPr>
        <p:blipFill>
          <a:blip r:embed="rId7"/>
          <a:stretch>
            <a:fillRect/>
          </a:stretch>
        </p:blipFill>
        <p:spPr>
          <a:xfrm>
            <a:off x="1636776" y="4059936"/>
            <a:ext cx="384048" cy="384048"/>
          </a:xfrm>
          <a:prstGeom prst="rect">
            <a:avLst/>
          </a:prstGeom>
        </p:spPr>
      </p:pic>
      <p:pic>
        <p:nvPicPr>
          <p:cNvPr id="23" name="Image 6" descr="pc">    </p:cNvPr>
          <p:cNvPicPr>
            <a:picLocks noChangeAspect="1"/>
          </p:cNvPicPr>
          <p:nvPr/>
        </p:nvPicPr>
        <p:blipFill>
          <a:blip r:embed="rId8"/>
          <a:stretch>
            <a:fillRect/>
          </a:stretch>
        </p:blipFill>
        <p:spPr>
          <a:xfrm>
            <a:off x="2185416" y="4059936"/>
            <a:ext cx="384048" cy="384048"/>
          </a:xfrm>
          <a:prstGeom prst="rect">
            <a:avLst/>
          </a:prstGeom>
        </p:spPr>
      </p:pic>
      <p:pic>
        <p:nvPicPr>
          <p:cNvPr id="24" name="Image 7" descr="pc">    </p:cNvPr>
          <p:cNvPicPr>
            <a:picLocks noChangeAspect="1"/>
          </p:cNvPicPr>
          <p:nvPr/>
        </p:nvPicPr>
        <p:blipFill>
          <a:blip r:embed="rId9"/>
          <a:stretch>
            <a:fillRect/>
          </a:stretch>
        </p:blipFill>
        <p:spPr>
          <a:xfrm>
            <a:off x="3008376" y="4059936"/>
            <a:ext cx="384048" cy="384048"/>
          </a:xfrm>
          <a:prstGeom prst="rect">
            <a:avLst/>
          </a:prstGeom>
        </p:spPr>
      </p:pic>
      <p:pic>
        <p:nvPicPr>
          <p:cNvPr id="25" name="Image 8" descr="pc">    </p:cNvPr>
          <p:cNvPicPr>
            <a:picLocks noChangeAspect="1"/>
          </p:cNvPicPr>
          <p:nvPr/>
        </p:nvPicPr>
        <p:blipFill>
          <a:blip r:embed="rId10"/>
          <a:stretch>
            <a:fillRect/>
          </a:stretch>
        </p:blipFill>
        <p:spPr>
          <a:xfrm>
            <a:off x="3557016" y="4059936"/>
            <a:ext cx="384048" cy="384048"/>
          </a:xfrm>
          <a:prstGeom prst="rect">
            <a:avLst/>
          </a:prstGeom>
        </p:spPr>
      </p:pic>
      <p:pic>
        <p:nvPicPr>
          <p:cNvPr id="26" name="Image 9" descr="pc">    </p:cNvPr>
          <p:cNvPicPr>
            <a:picLocks noChangeAspect="1"/>
          </p:cNvPicPr>
          <p:nvPr/>
        </p:nvPicPr>
        <p:blipFill>
          <a:blip r:embed="rId11"/>
          <a:stretch>
            <a:fillRect/>
          </a:stretch>
        </p:blipFill>
        <p:spPr>
          <a:xfrm>
            <a:off x="4105656" y="4059936"/>
            <a:ext cx="384048" cy="384048"/>
          </a:xfrm>
          <a:prstGeom prst="rect">
            <a:avLst/>
          </a:prstGeom>
        </p:spPr>
      </p:pic>
      <p:sp>
        <p:nvSpPr>
          <p:cNvPr id="27" name="Text 15"/>
          <p:cNvSpPr txBox="1"/>
          <p:nvPr/>
        </p:nvSpPr>
        <p:spPr>
          <a:xfrm>
            <a:off x="594360" y="4572000"/>
            <a:ext cx="4480560" cy="237744"/>
          </a:xfrm>
          <a:prstGeom prst="rect">
            <a:avLst/>
          </a:prstGeom>
          <a:noFill/>
          <a:ln/>
        </p:spPr>
        <p:txBody>
          <a:bodyPr wrap="square" lIns="254" tIns="254" rIns="254" bIns="254" rtlCol="0" anchor="ctr"/>
          <a:lstStyle/>
          <a:p>
            <a:pPr algn="ctr" indent="0" marL="0">
              <a:buNone/>
            </a:pPr>
            <a:r>
              <a:rPr lang="en-US" sz="1100" dirty="0">
                <a:solidFill>
                  <a:srgbClr val="6B6B6B"/>
                </a:solidFill>
              </a:rPr>
              <a:t>VLAN 10 / 20 / 30 PCs on both switches;  VLAN 99 = management</a:t>
            </a:r>
            <a:endParaRPr lang="en-US" sz="1100" dirty="0"/>
          </a:p>
        </p:txBody>
      </p:sp>
      <p:sp>
        <p:nvSpPr>
          <p:cNvPr id="28" name="Card"/>
          <p:cNvSpPr/>
          <p:nvPr/>
        </p:nvSpPr>
        <p:spPr>
          <a:xfrm>
            <a:off x="5349240" y="1691640"/>
            <a:ext cx="6291072" cy="3246120"/>
          </a:xfrm>
          <a:prstGeom prst="roundRect">
            <a:avLst>
              <a:gd name="adj" fmla="val 2254"/>
            </a:avLst>
          </a:prstGeom>
          <a:solidFill>
            <a:srgbClr val="F2F8F3"/>
          </a:solidFill>
          <a:ln w="12700">
            <a:solidFill>
              <a:srgbClr val="B7C9BA"/>
            </a:solidFill>
            <a:prstDash val="solid"/>
          </a:ln>
        </p:spPr>
      </p:sp>
      <p:sp>
        <p:nvSpPr>
          <p:cNvPr id="29" name="Text 17"/>
          <p:cNvSpPr txBox="1"/>
          <p:nvPr/>
        </p:nvSpPr>
        <p:spPr>
          <a:xfrm>
            <a:off x="5495544" y="1794053"/>
            <a:ext cx="5998464" cy="3041294"/>
          </a:xfrm>
          <a:prstGeom prst="rect">
            <a:avLst/>
          </a:prstGeom>
          <a:noFill/>
          <a:ln/>
        </p:spPr>
        <p:txBody>
          <a:bodyPr wrap="square" lIns="0" tIns="0" rIns="0" bIns="0" rtlCol="0" anchor="t"/>
          <a:lstStyle/>
          <a:p>
            <a:pPr indent="0" marL="0">
              <a:buNone/>
            </a:pPr>
            <a:r>
              <a:rPr lang="en-US" sz="1400" b="1" dirty="0">
                <a:solidFill>
                  <a:srgbClr val="1E5631"/>
                </a:solidFill>
              </a:rPr>
              <a:t>Tasks — from a blank workspace</a:t>
            </a:r>
            <a:endParaRPr lang="en-US" sz="1300" dirty="0"/>
          </a:p>
          <a:p>
            <a:pPr marL="228600" indent="-228600">
              <a:spcAft>
                <a:spcPts val="200"/>
              </a:spcAft>
              <a:buSzPct val="100000"/>
              <a:buFont typeface="+mj-lt"/>
              <a:buAutoNum type="arabicPeriod" startAt="1"/>
            </a:pPr>
            <a:r>
              <a:rPr lang="en-US" sz="1300" dirty="0">
                <a:solidFill>
                  <a:srgbClr val="2B2B2B"/>
                </a:solidFill>
              </a:rPr>
              <a:t>Basic set-up and SSH on R1, S1 and S2; shut unused ports.</a:t>
            </a:r>
            <a:endParaRPr lang="en-US" sz="1300" dirty="0"/>
          </a:p>
          <a:p>
            <a:pPr marL="228600" indent="-228600">
              <a:spcAft>
                <a:spcPts val="200"/>
              </a:spcAft>
              <a:buSzPct val="100000"/>
              <a:buFont typeface="+mj-lt"/>
              <a:buAutoNum type="arabicPeriod" startAt="1"/>
            </a:pPr>
            <a:r>
              <a:rPr lang="en-US" sz="1300" dirty="0">
                <a:solidFill>
                  <a:srgbClr val="2B2B2B"/>
                </a:solidFill>
              </a:rPr>
              <a:t>VLANs 10 STAFF, 20 STUDENTS, 30 FINANCE, 99 MGMT on both switches.</a:t>
            </a:r>
            <a:endParaRPr lang="en-US" sz="1300" dirty="0"/>
          </a:p>
          <a:p>
            <a:pPr marL="228600" indent="-228600">
              <a:spcAft>
                <a:spcPts val="200"/>
              </a:spcAft>
              <a:buSzPct val="100000"/>
              <a:buFont typeface="+mj-lt"/>
              <a:buAutoNum type="arabicPeriod" startAt="1"/>
            </a:pPr>
            <a:r>
              <a:rPr lang="en-US" sz="1300" dirty="0">
                <a:solidFill>
                  <a:srgbClr val="2B2B2B"/>
                </a:solidFill>
              </a:rPr>
              <a:t>Access ports as in the plan; trunks with native VLAN 99.</a:t>
            </a:r>
            <a:endParaRPr lang="en-US" sz="1300" dirty="0"/>
          </a:p>
          <a:p>
            <a:pPr marL="228600" indent="-228600">
              <a:spcAft>
                <a:spcPts val="200"/>
              </a:spcAft>
              <a:buSzPct val="100000"/>
              <a:buFont typeface="+mj-lt"/>
              <a:buAutoNum type="arabicPeriod" startAt="1"/>
            </a:pPr>
            <a:r>
              <a:rPr lang="en-US" sz="1300" dirty="0">
                <a:solidFill>
                  <a:srgbClr val="2B2B2B"/>
                </a:solidFill>
              </a:rPr>
              <a:t>Router-on-a-stick on R1 G0/0/1 (.10, .20, .30, .99 native).</a:t>
            </a:r>
            <a:endParaRPr lang="en-US" sz="1300" dirty="0"/>
          </a:p>
          <a:p>
            <a:pPr marL="228600" indent="-228600">
              <a:spcAft>
                <a:spcPts val="200"/>
              </a:spcAft>
              <a:buSzPct val="100000"/>
              <a:buFont typeface="+mj-lt"/>
              <a:buAutoNum type="arabicPeriod" startAt="1"/>
            </a:pPr>
            <a:r>
              <a:rPr lang="en-US" sz="1300" dirty="0">
                <a:solidFill>
                  <a:srgbClr val="2B2B2B"/>
                </a:solidFill>
              </a:rPr>
              <a:t>DHCP pools for VLANs 10, 20, 30 (exclude .1–.20); PCs on DHCP.</a:t>
            </a:r>
            <a:endParaRPr lang="en-US" sz="1300" dirty="0"/>
          </a:p>
          <a:p>
            <a:pPr marL="228600" indent="-228600">
              <a:spcAft>
                <a:spcPts val="200"/>
              </a:spcAft>
              <a:buSzPct val="100000"/>
              <a:buFont typeface="+mj-lt"/>
              <a:buAutoNum type="arabicPeriod" startAt="1"/>
            </a:pPr>
            <a:r>
              <a:rPr lang="en-US" sz="1300" dirty="0">
                <a:solidFill>
                  <a:srgbClr val="2B2B2B"/>
                </a:solidFill>
              </a:rPr>
              <a:t>Switch management in VLAN 99; save every device.</a:t>
            </a:r>
            <a:endParaRPr lang="en-US" sz="1300" dirty="0"/>
          </a:p>
        </p:txBody>
      </p:sp>
      <p:sp>
        <p:nvSpPr>
          <p:cNvPr id="30" name="Card"/>
          <p:cNvSpPr/>
          <p:nvPr/>
        </p:nvSpPr>
        <p:spPr>
          <a:xfrm>
            <a:off x="548640" y="5074920"/>
            <a:ext cx="11091672" cy="1143000"/>
          </a:xfrm>
          <a:prstGeom prst="roundRect">
            <a:avLst>
              <a:gd name="adj" fmla="val 6400"/>
            </a:avLst>
          </a:prstGeom>
          <a:solidFill>
            <a:srgbClr val="E8F1EA"/>
          </a:solidFill>
          <a:ln w="12700">
            <a:solidFill>
              <a:srgbClr val="B7C9BA"/>
            </a:solidFill>
            <a:prstDash val="solid"/>
          </a:ln>
        </p:spPr>
      </p:sp>
      <p:sp>
        <p:nvSpPr>
          <p:cNvPr id="31" name="Text 19"/>
          <p:cNvSpPr txBox="1"/>
          <p:nvPr/>
        </p:nvSpPr>
        <p:spPr>
          <a:xfrm>
            <a:off x="694944" y="5177333"/>
            <a:ext cx="10799064" cy="938174"/>
          </a:xfrm>
          <a:prstGeom prst="rect">
            <a:avLst/>
          </a:prstGeom>
          <a:noFill/>
          <a:ln/>
        </p:spPr>
        <p:txBody>
          <a:bodyPr wrap="square" lIns="0" tIns="0" rIns="0" bIns="0" rtlCol="0" anchor="t"/>
          <a:lstStyle/>
          <a:p>
            <a:pPr indent="0" marL="0">
              <a:buNone/>
            </a:pPr>
            <a:r>
              <a:rPr lang="en-US" sz="1400" b="1" dirty="0">
                <a:solidFill>
                  <a:srgbClr val="1E5631"/>
                </a:solidFill>
              </a:rPr>
              <a:t>You are competent when…</a:t>
            </a:r>
            <a:endParaRPr lang="en-US" sz="1300" dirty="0"/>
          </a:p>
          <a:p>
            <a:pPr indent="0" marL="0">
              <a:buNone/>
            </a:pPr>
            <a:r>
              <a:rPr lang="en-US" sz="1300" dirty="0">
                <a:solidFill>
                  <a:srgbClr val="2B2B2B"/>
                </a:solidFill>
              </a:rPr>
              <a:t>every PC leases an address from its own VLAN, PCs in different VLANs ping each other, </a:t>
            </a:r>
            <a:r>
              <a:rPr lang="en-US" sz="1200" b="1" dirty="0">
                <a:solidFill>
                  <a:srgbClr val="1E5631"/>
                </a:solidFill>
                <a:latin typeface="Courier New" pitchFamily="34" charset="0"/>
                <a:ea typeface="Courier New" pitchFamily="34" charset="-122"/>
                <a:cs typeface="Courier New" pitchFamily="34" charset="-120"/>
              </a:rPr>
              <a:t>show interfaces trunk</a:t>
            </a:r>
            <a:r>
              <a:rPr lang="en-US" sz="1300" dirty="0">
                <a:solidFill>
                  <a:srgbClr val="2B2B2B"/>
                </a:solidFill>
              </a:rPr>
              <a:t> shows native VLAN 99, SSH works and Telnet fails.</a:t>
            </a:r>
            <a:endParaRPr lang="en-US" sz="1300" dirty="0"/>
          </a:p>
        </p:txBody>
      </p:sp>
      <p:sp>
        <p:nvSpPr>
          <p:cNvPr id="32" name="Slide Number Placeholder 0"/>
          <p:cNvSpPr>
            <a:spLocks noGrp="1"/>
          </p:cNvSpPr>
          <p:nvPr>
            <p:ph type="sldNum" sz="quarter" idx="4294967295"/>
          </p:nvPr>
        </p:nvSpPr>
        <p:spPr>
          <a:xfrm>
            <a:off x="10698480" y="6464808"/>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r"/>
            <a:fld id="{F7021451-1387-4CA6-816F-3879F97B5CBC}" type="slidenum">
              <a:rPr b="0" lang="en-US"/>
              <a:t>87</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Text 1"/>
          <p:cNvSpPr/>
          <p:nvPr>
            <p:ph idx="102" type="body" hasCustomPrompt="1"/>
          </p:nvPr>
        </p:nvSpPr>
        <p:spPr>
          <a:xfrm>
            <a:off x="548640" y="274320"/>
            <a:ext cx="9966960" cy="256032"/>
          </a:xfrm>
          <a:prstGeom prst="rect">
            <a:avLst/>
          </a:prstGeom>
          <a:noFill/>
          <a:ln/>
        </p:spPr>
        <p:txBody>
          <a:bodyPr wrap="square" lIns="0" tIns="0" rIns="0" bIns="0" rtlCol="0" anchor="ctr"/>
          <a:lstStyle/>
          <a:p>
            <a:pPr algn="l" indent="0" marL="0">
              <a:buNone/>
            </a:pPr>
            <a:r>
              <a:rPr lang="en-US" sz="1100" b="1" spc="100" kern="0" dirty="0">
                <a:solidFill>
                  <a:schemeClr val="accent2"/>
                </a:solidFill>
              </a:rPr>
              <a:t>12  •  PRACTICE &amp; QUICK REFERENCE  •  CHALLENGE</a:t>
            </a:r>
            <a:endParaRPr lang="en-US" sz="1100" dirty="0"/>
          </a:p>
        </p:txBody>
      </p:sp>
      <p:sp>
        <p:nvSpPr>
          <p:cNvPr id="3" name="Text 1"/>
          <p:cNvSpPr/>
          <p:nvPr>
            <p:ph idx="103" type="title" hasCustomPrompt="1"/>
          </p:nvPr>
        </p:nvSpPr>
        <p:spPr>
          <a:xfrm>
            <a:off x="548640" y="548640"/>
            <a:ext cx="10149840" cy="548640"/>
          </a:xfrm>
          <a:prstGeom prst="rect">
            <a:avLst/>
          </a:prstGeom>
          <a:noFill/>
          <a:ln/>
        </p:spPr>
        <p:txBody>
          <a:bodyPr wrap="square" lIns="0" tIns="0" rIns="0" bIns="0" rtlCol="0" anchor="ctr"/>
          <a:lstStyle/>
          <a:p>
            <a:pPr algn="l" indent="0" marL="0">
              <a:buNone/>
            </a:pPr>
            <a:r>
              <a:rPr lang="en-US" sz="2600" b="1" dirty="0">
                <a:solidFill>
                  <a:schemeClr val="accent1"/>
                </a:solidFill>
              </a:rPr>
              <a:t>How to practise: challenge lab B — routing, NAT and security</a:t>
            </a:r>
            <a:endParaRPr lang="en-US" sz="2600" dirty="0"/>
          </a:p>
        </p:txBody>
      </p:sp>
      <p:pic>
        <p:nvPicPr>
          <p:cNvPr id="4" name="Home button" descr="Home: back to the workbook menu">
            <a:hlinkClick r:id="rId2" tooltip="Back to the workbook menu" action="ppaction://hlinksldjump"/>
          </p:cNvPr>
          <p:cNvPicPr>
            <a:picLocks noChangeAspect="1"/>
          </p:cNvPicPr>
          <p:nvPr/>
        </p:nvPicPr>
        <p:blipFill>
          <a:blip r:embed="rId1"/>
          <a:stretch>
            <a:fillRect/>
          </a:stretch>
        </p:blipFill>
        <p:spPr>
          <a:xfrm>
            <a:off x="11365992" y="6336792"/>
            <a:ext cx="365760" cy="365760"/>
          </a:xfrm>
          <a:prstGeom prst="rect">
            <a:avLst/>
          </a:prstGeom>
        </p:spPr>
      </p:pic>
      <p:sp>
        <p:nvSpPr>
          <p:cNvPr id="5" name="Goal"/>
          <p:cNvSpPr txBox="1"/>
          <p:nvPr/>
        </p:nvSpPr>
        <p:spPr>
          <a:xfrm>
            <a:off x="548640" y="1161288"/>
            <a:ext cx="11094415" cy="384048"/>
          </a:xfrm>
          <a:prstGeom prst="rect">
            <a:avLst/>
          </a:prstGeom>
          <a:noFill/>
          <a:ln/>
        </p:spPr>
        <p:txBody>
          <a:bodyPr wrap="square" lIns="0" tIns="0" rIns="0" bIns="0" rtlCol="0" anchor="ctr"/>
          <a:lstStyle/>
          <a:p>
            <a:pPr indent="0" marL="0">
              <a:buNone/>
            </a:pPr>
            <a:r>
              <a:rPr lang="en-US" sz="1400" b="1" dirty="0">
                <a:solidFill>
                  <a:srgbClr val="2B7043"/>
                </a:solidFill>
              </a:rPr>
              <a:t>Goal:  </a:t>
            </a:r>
            <a:r>
              <a:rPr lang="en-US" sz="1400" dirty="0">
                <a:solidFill>
                  <a:srgbClr val="2B2B2B"/>
                </a:solidFill>
              </a:rPr>
              <a:t>Combine Lab 3 and Lab 6: OSPF inside, PAT to the ISP, and a security policy.</a:t>
            </a:r>
            <a:endParaRPr lang="en-US" sz="1400" dirty="0"/>
          </a:p>
        </p:txBody>
      </p:sp>
      <p:sp>
        <p:nvSpPr>
          <p:cNvPr id="6" name="Shape 3"/>
          <p:cNvSpPr/>
          <p:nvPr/>
        </p:nvSpPr>
        <p:spPr>
          <a:xfrm>
            <a:off x="548640" y="1691640"/>
            <a:ext cx="4572000" cy="3246120"/>
          </a:xfrm>
          <a:prstGeom prst="roundRect">
            <a:avLst>
              <a:gd name="adj" fmla="val 2254"/>
            </a:avLst>
          </a:prstGeom>
          <a:solidFill>
            <a:srgbClr val="F2F8F3"/>
          </a:solidFill>
          <a:ln w="12700">
            <a:solidFill>
              <a:srgbClr val="B7C9BA"/>
            </a:solidFill>
            <a:prstDash val="solid"/>
          </a:ln>
        </p:spPr>
      </p:sp>
      <p:sp>
        <p:nvSpPr>
          <p:cNvPr id="7" name="Shape 4"/>
          <p:cNvSpPr/>
          <p:nvPr/>
        </p:nvSpPr>
        <p:spPr>
          <a:xfrm flipH="1">
            <a:off x="1783080" y="2103120"/>
            <a:ext cx="1051560" cy="914400"/>
          </a:xfrm>
          <a:prstGeom prst="line">
            <a:avLst/>
          </a:prstGeom>
          <a:noFill/>
          <a:ln w="28575">
            <a:solidFill>
              <a:srgbClr val="3A3A3A"/>
            </a:solidFill>
            <a:prstDash val="solid"/>
          </a:ln>
        </p:spPr>
      </p:sp>
      <p:sp>
        <p:nvSpPr>
          <p:cNvPr id="8" name="Shape 5"/>
          <p:cNvSpPr/>
          <p:nvPr/>
        </p:nvSpPr>
        <p:spPr>
          <a:xfrm>
            <a:off x="1783080" y="3017520"/>
            <a:ext cx="2103120" cy="914"/>
          </a:xfrm>
          <a:prstGeom prst="line">
            <a:avLst/>
          </a:prstGeom>
          <a:noFill/>
          <a:ln w="28575">
            <a:solidFill>
              <a:srgbClr val="3A3A3A"/>
            </a:solidFill>
            <a:prstDash val="solid"/>
          </a:ln>
        </p:spPr>
      </p:sp>
      <p:sp>
        <p:nvSpPr>
          <p:cNvPr id="9" name="Shape 6"/>
          <p:cNvSpPr/>
          <p:nvPr/>
        </p:nvSpPr>
        <p:spPr>
          <a:xfrm flipH="1">
            <a:off x="2834640" y="3017520"/>
            <a:ext cx="1051560" cy="1005840"/>
          </a:xfrm>
          <a:prstGeom prst="line">
            <a:avLst/>
          </a:prstGeom>
          <a:noFill/>
          <a:ln w="28575">
            <a:solidFill>
              <a:srgbClr val="3A3A3A"/>
            </a:solidFill>
            <a:prstDash val="solid"/>
          </a:ln>
        </p:spPr>
      </p:sp>
      <p:sp>
        <p:nvSpPr>
          <p:cNvPr id="10" name="Shape 7"/>
          <p:cNvSpPr/>
          <p:nvPr/>
        </p:nvSpPr>
        <p:spPr>
          <a:xfrm>
            <a:off x="1783080" y="3017520"/>
            <a:ext cx="1051560" cy="1005840"/>
          </a:xfrm>
          <a:prstGeom prst="line">
            <a:avLst/>
          </a:prstGeom>
          <a:noFill/>
          <a:ln w="28575">
            <a:solidFill>
              <a:srgbClr val="3A3A3A"/>
            </a:solidFill>
            <a:prstDash val="solid"/>
          </a:ln>
        </p:spPr>
      </p:sp>
      <p:sp>
        <p:nvSpPr>
          <p:cNvPr id="11" name="Shape 8"/>
          <p:cNvSpPr/>
          <p:nvPr/>
        </p:nvSpPr>
        <p:spPr>
          <a:xfrm flipH="1">
            <a:off x="1005840" y="3017520"/>
            <a:ext cx="777240" cy="731520"/>
          </a:xfrm>
          <a:prstGeom prst="line">
            <a:avLst/>
          </a:prstGeom>
          <a:noFill/>
          <a:ln w="22225">
            <a:solidFill>
              <a:srgbClr val="2F855A"/>
            </a:solidFill>
            <a:prstDash val="solid"/>
          </a:ln>
        </p:spPr>
      </p:sp>
      <p:sp>
        <p:nvSpPr>
          <p:cNvPr id="12" name="Shape 9"/>
          <p:cNvSpPr/>
          <p:nvPr/>
        </p:nvSpPr>
        <p:spPr>
          <a:xfrm>
            <a:off x="3886200" y="3017520"/>
            <a:ext cx="777240" cy="731520"/>
          </a:xfrm>
          <a:prstGeom prst="line">
            <a:avLst/>
          </a:prstGeom>
          <a:noFill/>
          <a:ln w="22225">
            <a:solidFill>
              <a:srgbClr val="2F855A"/>
            </a:solidFill>
            <a:prstDash val="solid"/>
          </a:ln>
        </p:spPr>
      </p:sp>
      <p:sp>
        <p:nvSpPr>
          <p:cNvPr id="13" name="Shape 10"/>
          <p:cNvSpPr/>
          <p:nvPr/>
        </p:nvSpPr>
        <p:spPr>
          <a:xfrm>
            <a:off x="2834640" y="4023360"/>
            <a:ext cx="960120" cy="914"/>
          </a:xfrm>
          <a:prstGeom prst="line">
            <a:avLst/>
          </a:prstGeom>
          <a:noFill/>
          <a:ln w="22225">
            <a:solidFill>
              <a:srgbClr val="2F855A"/>
            </a:solidFill>
            <a:prstDash val="solid"/>
          </a:ln>
        </p:spPr>
      </p:sp>
      <p:pic>
        <p:nvPicPr>
          <p:cNvPr id="14" name="Image 1" descr="ISP">    </p:cNvPr>
          <p:cNvPicPr>
            <a:picLocks noChangeAspect="1"/>
          </p:cNvPicPr>
          <p:nvPr/>
        </p:nvPicPr>
        <p:blipFill>
          <a:blip r:embed="rId3"/>
          <a:stretch>
            <a:fillRect/>
          </a:stretch>
        </p:blipFill>
        <p:spPr>
          <a:xfrm>
            <a:off x="2606040" y="1874520"/>
            <a:ext cx="457200" cy="457200"/>
          </a:xfrm>
          <a:prstGeom prst="rect">
            <a:avLst/>
          </a:prstGeom>
        </p:spPr>
      </p:pic>
      <p:sp>
        <p:nvSpPr>
          <p:cNvPr id="15" name="Text 11"/>
          <p:cNvSpPr txBox="1"/>
          <p:nvPr/>
        </p:nvSpPr>
        <p:spPr>
          <a:xfrm>
            <a:off x="3108960" y="1965960"/>
            <a:ext cx="548640" cy="274320"/>
          </a:xfrm>
          <a:prstGeom prst="rect">
            <a:avLst/>
          </a:prstGeom>
          <a:noFill/>
          <a:ln/>
        </p:spPr>
        <p:txBody>
          <a:bodyPr wrap="square" lIns="0" tIns="0" rIns="0" bIns="0" rtlCol="0" anchor="t"/>
          <a:lstStyle/>
          <a:p>
            <a:pPr algn="l" indent="0" marL="0">
              <a:buNone/>
            </a:pPr>
            <a:r>
              <a:rPr lang="en-US" sz="1200" b="1" dirty="0">
                <a:solidFill>
                  <a:srgbClr val="2B2B2B"/>
                </a:solidFill>
              </a:rPr>
              <a:t>ISP</a:t>
            </a:r>
            <a:endParaRPr lang="en-US" sz="1200" dirty="0"/>
          </a:p>
        </p:txBody>
      </p:sp>
      <p:pic>
        <p:nvPicPr>
          <p:cNvPr id="16" name="Image 2" descr="R1">    </p:cNvPr>
          <p:cNvPicPr>
            <a:picLocks noChangeAspect="1"/>
          </p:cNvPicPr>
          <p:nvPr/>
        </p:nvPicPr>
        <p:blipFill>
          <a:blip r:embed="rId4"/>
          <a:stretch>
            <a:fillRect/>
          </a:stretch>
        </p:blipFill>
        <p:spPr>
          <a:xfrm>
            <a:off x="1531620" y="2766060"/>
            <a:ext cx="502920" cy="502920"/>
          </a:xfrm>
          <a:prstGeom prst="rect">
            <a:avLst/>
          </a:prstGeom>
        </p:spPr>
      </p:pic>
      <p:sp>
        <p:nvSpPr>
          <p:cNvPr id="17" name="Text 12"/>
          <p:cNvSpPr txBox="1"/>
          <p:nvPr/>
        </p:nvSpPr>
        <p:spPr>
          <a:xfrm>
            <a:off x="1028700" y="2880360"/>
            <a:ext cx="457200" cy="274320"/>
          </a:xfrm>
          <a:prstGeom prst="rect">
            <a:avLst/>
          </a:prstGeom>
          <a:noFill/>
          <a:ln/>
        </p:spPr>
        <p:txBody>
          <a:bodyPr wrap="square" lIns="0" tIns="0" rIns="0" bIns="0" rtlCol="0" anchor="t"/>
          <a:lstStyle/>
          <a:p>
            <a:pPr algn="r" indent="0" marL="0">
              <a:buNone/>
            </a:pPr>
            <a:r>
              <a:rPr lang="en-US" sz="1200" b="1" dirty="0">
                <a:solidFill>
                  <a:srgbClr val="2B2B2B"/>
                </a:solidFill>
              </a:rPr>
              <a:t>R1</a:t>
            </a:r>
            <a:endParaRPr lang="en-US" sz="1200" dirty="0"/>
          </a:p>
        </p:txBody>
      </p:sp>
      <p:pic>
        <p:nvPicPr>
          <p:cNvPr id="18" name="Image 3" descr="R2">    </p:cNvPr>
          <p:cNvPicPr>
            <a:picLocks noChangeAspect="1"/>
          </p:cNvPicPr>
          <p:nvPr/>
        </p:nvPicPr>
        <p:blipFill>
          <a:blip r:embed="rId5"/>
          <a:stretch>
            <a:fillRect/>
          </a:stretch>
        </p:blipFill>
        <p:spPr>
          <a:xfrm>
            <a:off x="3634740" y="2766060"/>
            <a:ext cx="502920" cy="502920"/>
          </a:xfrm>
          <a:prstGeom prst="rect">
            <a:avLst/>
          </a:prstGeom>
        </p:spPr>
      </p:pic>
      <p:sp>
        <p:nvSpPr>
          <p:cNvPr id="19" name="Text 13"/>
          <p:cNvSpPr txBox="1"/>
          <p:nvPr/>
        </p:nvSpPr>
        <p:spPr>
          <a:xfrm>
            <a:off x="4183380" y="2880360"/>
            <a:ext cx="457200" cy="274320"/>
          </a:xfrm>
          <a:prstGeom prst="rect">
            <a:avLst/>
          </a:prstGeom>
          <a:noFill/>
          <a:ln/>
        </p:spPr>
        <p:txBody>
          <a:bodyPr wrap="square" lIns="0" tIns="0" rIns="0" bIns="0" rtlCol="0" anchor="t"/>
          <a:lstStyle/>
          <a:p>
            <a:pPr algn="l" indent="0" marL="0">
              <a:buNone/>
            </a:pPr>
            <a:r>
              <a:rPr lang="en-US" sz="1200" b="1" dirty="0">
                <a:solidFill>
                  <a:srgbClr val="2B2B2B"/>
                </a:solidFill>
              </a:rPr>
              <a:t>R2</a:t>
            </a:r>
            <a:endParaRPr lang="en-US" sz="1200" dirty="0"/>
          </a:p>
        </p:txBody>
      </p:sp>
      <p:pic>
        <p:nvPicPr>
          <p:cNvPr id="20" name="Image 4" descr="R3">    </p:cNvPr>
          <p:cNvPicPr>
            <a:picLocks noChangeAspect="1"/>
          </p:cNvPicPr>
          <p:nvPr/>
        </p:nvPicPr>
        <p:blipFill>
          <a:blip r:embed="rId6"/>
          <a:stretch>
            <a:fillRect/>
          </a:stretch>
        </p:blipFill>
        <p:spPr>
          <a:xfrm>
            <a:off x="2583180" y="3771900"/>
            <a:ext cx="502920" cy="502920"/>
          </a:xfrm>
          <a:prstGeom prst="rect">
            <a:avLst/>
          </a:prstGeom>
        </p:spPr>
      </p:pic>
      <p:sp>
        <p:nvSpPr>
          <p:cNvPr id="21" name="Text 14"/>
          <p:cNvSpPr txBox="1"/>
          <p:nvPr/>
        </p:nvSpPr>
        <p:spPr>
          <a:xfrm>
            <a:off x="2080260" y="3886200"/>
            <a:ext cx="457200" cy="274320"/>
          </a:xfrm>
          <a:prstGeom prst="rect">
            <a:avLst/>
          </a:prstGeom>
          <a:noFill/>
          <a:ln/>
        </p:spPr>
        <p:txBody>
          <a:bodyPr wrap="square" lIns="0" tIns="0" rIns="0" bIns="0" rtlCol="0" anchor="t"/>
          <a:lstStyle/>
          <a:p>
            <a:pPr algn="r" indent="0" marL="0">
              <a:buNone/>
            </a:pPr>
            <a:r>
              <a:rPr lang="en-US" sz="1200" b="1" dirty="0">
                <a:solidFill>
                  <a:srgbClr val="2B2B2B"/>
                </a:solidFill>
              </a:rPr>
              <a:t>R3</a:t>
            </a:r>
            <a:endParaRPr lang="en-US" sz="1200" dirty="0"/>
          </a:p>
        </p:txBody>
      </p:sp>
      <p:pic>
        <p:nvPicPr>
          <p:cNvPr id="22" name="Image 5" descr="pc">    </p:cNvPr>
          <p:cNvPicPr>
            <a:picLocks noChangeAspect="1"/>
          </p:cNvPicPr>
          <p:nvPr/>
        </p:nvPicPr>
        <p:blipFill>
          <a:blip r:embed="rId7"/>
          <a:stretch>
            <a:fillRect/>
          </a:stretch>
        </p:blipFill>
        <p:spPr>
          <a:xfrm>
            <a:off x="813816" y="3602736"/>
            <a:ext cx="384048" cy="384048"/>
          </a:xfrm>
          <a:prstGeom prst="rect">
            <a:avLst/>
          </a:prstGeom>
        </p:spPr>
      </p:pic>
      <p:pic>
        <p:nvPicPr>
          <p:cNvPr id="23" name="Image 6" descr="pc">    </p:cNvPr>
          <p:cNvPicPr>
            <a:picLocks noChangeAspect="1"/>
          </p:cNvPicPr>
          <p:nvPr/>
        </p:nvPicPr>
        <p:blipFill>
          <a:blip r:embed="rId8"/>
          <a:stretch>
            <a:fillRect/>
          </a:stretch>
        </p:blipFill>
        <p:spPr>
          <a:xfrm>
            <a:off x="4471416" y="3602736"/>
            <a:ext cx="384048" cy="384048"/>
          </a:xfrm>
          <a:prstGeom prst="rect">
            <a:avLst/>
          </a:prstGeom>
        </p:spPr>
      </p:pic>
      <p:pic>
        <p:nvPicPr>
          <p:cNvPr id="24" name="Image 7" descr="pc">    </p:cNvPr>
          <p:cNvPicPr>
            <a:picLocks noChangeAspect="1"/>
          </p:cNvPicPr>
          <p:nvPr/>
        </p:nvPicPr>
        <p:blipFill>
          <a:blip r:embed="rId9"/>
          <a:stretch>
            <a:fillRect/>
          </a:stretch>
        </p:blipFill>
        <p:spPr>
          <a:xfrm>
            <a:off x="3648456" y="3831336"/>
            <a:ext cx="384048" cy="384048"/>
          </a:xfrm>
          <a:prstGeom prst="rect">
            <a:avLst/>
          </a:prstGeom>
        </p:spPr>
      </p:pic>
      <p:sp>
        <p:nvSpPr>
          <p:cNvPr id="25" name="Text 15"/>
          <p:cNvSpPr txBox="1"/>
          <p:nvPr/>
        </p:nvSpPr>
        <p:spPr>
          <a:xfrm>
            <a:off x="594360" y="4572000"/>
            <a:ext cx="4480560" cy="237744"/>
          </a:xfrm>
          <a:prstGeom prst="rect">
            <a:avLst/>
          </a:prstGeom>
          <a:noFill/>
          <a:ln/>
        </p:spPr>
        <p:txBody>
          <a:bodyPr wrap="square" lIns="254" tIns="254" rIns="254" bIns="254" rtlCol="0" anchor="ctr"/>
          <a:lstStyle/>
          <a:p>
            <a:pPr algn="ctr" indent="0" marL="0">
              <a:buNone/>
            </a:pPr>
            <a:r>
              <a:rPr lang="en-US" sz="1100" dirty="0">
                <a:solidFill>
                  <a:srgbClr val="6B6B6B"/>
                </a:solidFill>
              </a:rPr>
              <a:t>Lab 3 triangle + an ISP router on R1 (203.0.113.0/29)</a:t>
            </a:r>
            <a:endParaRPr lang="en-US" sz="1100" dirty="0"/>
          </a:p>
        </p:txBody>
      </p:sp>
      <p:sp>
        <p:nvSpPr>
          <p:cNvPr id="26" name="Card"/>
          <p:cNvSpPr/>
          <p:nvPr/>
        </p:nvSpPr>
        <p:spPr>
          <a:xfrm>
            <a:off x="5349240" y="1691640"/>
            <a:ext cx="6291072" cy="3246120"/>
          </a:xfrm>
          <a:prstGeom prst="roundRect">
            <a:avLst>
              <a:gd name="adj" fmla="val 2254"/>
            </a:avLst>
          </a:prstGeom>
          <a:solidFill>
            <a:srgbClr val="F2F8F3"/>
          </a:solidFill>
          <a:ln w="12700">
            <a:solidFill>
              <a:srgbClr val="B7C9BA"/>
            </a:solidFill>
            <a:prstDash val="solid"/>
          </a:ln>
        </p:spPr>
      </p:sp>
      <p:sp>
        <p:nvSpPr>
          <p:cNvPr id="27" name="Text 17"/>
          <p:cNvSpPr txBox="1"/>
          <p:nvPr/>
        </p:nvSpPr>
        <p:spPr>
          <a:xfrm>
            <a:off x="5495544" y="1794053"/>
            <a:ext cx="5998464" cy="3041294"/>
          </a:xfrm>
          <a:prstGeom prst="rect">
            <a:avLst/>
          </a:prstGeom>
          <a:noFill/>
          <a:ln/>
        </p:spPr>
        <p:txBody>
          <a:bodyPr wrap="square" lIns="0" tIns="0" rIns="0" bIns="0" rtlCol="0" anchor="t"/>
          <a:lstStyle/>
          <a:p>
            <a:pPr indent="0" marL="0">
              <a:buNone/>
            </a:pPr>
            <a:r>
              <a:rPr lang="en-US" sz="1400" b="1" dirty="0">
                <a:solidFill>
                  <a:srgbClr val="1E5631"/>
                </a:solidFill>
              </a:rPr>
              <a:t>Tasks — from a blank workspace</a:t>
            </a:r>
            <a:endParaRPr lang="en-US" sz="1300" dirty="0"/>
          </a:p>
          <a:p>
            <a:pPr marL="228600" indent="-228600">
              <a:spcAft>
                <a:spcPts val="200"/>
              </a:spcAft>
              <a:buSzPct val="100000"/>
              <a:buFont typeface="+mj-lt"/>
              <a:buAutoNum type="arabicPeriod" startAt="1"/>
            </a:pPr>
            <a:r>
              <a:rPr lang="en-US" sz="1300" dirty="0">
                <a:solidFill>
                  <a:srgbClr val="2B2B2B"/>
                </a:solidFill>
              </a:rPr>
              <a:t>Address all links (/30) and LANs; OSPF area 0 on R1, R2, R3.</a:t>
            </a:r>
            <a:endParaRPr lang="en-US" sz="1300" dirty="0"/>
          </a:p>
          <a:p>
            <a:pPr marL="228600" indent="-228600">
              <a:spcAft>
                <a:spcPts val="200"/>
              </a:spcAft>
              <a:buSzPct val="100000"/>
              <a:buFont typeface="+mj-lt"/>
              <a:buAutoNum type="arabicPeriod" startAt="1"/>
            </a:pPr>
            <a:r>
              <a:rPr lang="en-US" sz="1300" dirty="0">
                <a:solidFill>
                  <a:srgbClr val="2B2B2B"/>
                </a:solidFill>
              </a:rPr>
              <a:t>R1: default route to the ISP + </a:t>
            </a:r>
            <a:r>
              <a:rPr lang="en-US" sz="1200" b="1" dirty="0">
                <a:solidFill>
                  <a:srgbClr val="1E5631"/>
                </a:solidFill>
                <a:latin typeface="Courier New" pitchFamily="34" charset="0"/>
                <a:ea typeface="Courier New" pitchFamily="34" charset="-122"/>
                <a:cs typeface="Courier New" pitchFamily="34" charset="-120"/>
              </a:rPr>
              <a:t>default-information originate</a:t>
            </a:r>
            <a:r>
              <a:rPr lang="en-US" sz="1300" dirty="0">
                <a:solidFill>
                  <a:srgbClr val="2B2B2B"/>
                </a:solidFill>
              </a:rPr>
              <a:t>.</a:t>
            </a:r>
            <a:endParaRPr lang="en-US" sz="1300" dirty="0"/>
          </a:p>
          <a:p>
            <a:pPr marL="228600" indent="-228600">
              <a:spcAft>
                <a:spcPts val="200"/>
              </a:spcAft>
              <a:buSzPct val="100000"/>
              <a:buFont typeface="+mj-lt"/>
              <a:buAutoNum type="arabicPeriod" startAt="1"/>
            </a:pPr>
            <a:r>
              <a:rPr lang="en-US" sz="1300" dirty="0">
                <a:solidFill>
                  <a:srgbClr val="2B2B2B"/>
                </a:solidFill>
              </a:rPr>
              <a:t>PAT on R1 for all three LANs (inside: LAN and links; outside: ISP).</a:t>
            </a:r>
            <a:endParaRPr lang="en-US" sz="1300" dirty="0"/>
          </a:p>
          <a:p>
            <a:pPr marL="228600" indent="-228600">
              <a:spcAft>
                <a:spcPts val="200"/>
              </a:spcAft>
              <a:buSzPct val="100000"/>
              <a:buFont typeface="+mj-lt"/>
              <a:buAutoNum type="arabicPeriod" startAt="1"/>
            </a:pPr>
            <a:r>
              <a:rPr lang="en-US" sz="1300" dirty="0">
                <a:solidFill>
                  <a:srgbClr val="2B2B2B"/>
                </a:solidFill>
              </a:rPr>
              <a:t>ACL: LAN 3 may reach LAN 1 only by web (TCP 80).</a:t>
            </a:r>
            <a:endParaRPr lang="en-US" sz="1300" dirty="0"/>
          </a:p>
          <a:p>
            <a:pPr marL="228600" indent="-228600">
              <a:spcAft>
                <a:spcPts val="200"/>
              </a:spcAft>
              <a:buSzPct val="100000"/>
              <a:buFont typeface="+mj-lt"/>
              <a:buAutoNum type="arabicPeriod" startAt="1"/>
            </a:pPr>
            <a:r>
              <a:rPr lang="en-US" sz="1300" dirty="0">
                <a:solidFill>
                  <a:srgbClr val="2B2B2B"/>
                </a:solidFill>
              </a:rPr>
              <a:t>SSH on every router; VTY access only from one admin PC.</a:t>
            </a:r>
            <a:endParaRPr lang="en-US" sz="1300" dirty="0"/>
          </a:p>
          <a:p>
            <a:pPr marL="228600" indent="-228600">
              <a:spcAft>
                <a:spcPts val="200"/>
              </a:spcAft>
              <a:buSzPct val="100000"/>
              <a:buFont typeface="+mj-lt"/>
              <a:buAutoNum type="arabicPeriod" startAt="1"/>
            </a:pPr>
            <a:r>
              <a:rPr lang="en-US" sz="1300" dirty="0">
                <a:solidFill>
                  <a:srgbClr val="2B2B2B"/>
                </a:solidFill>
              </a:rPr>
              <a:t>Port security on the LAN 1 switch; NTP and Syslog to a server.</a:t>
            </a:r>
            <a:endParaRPr lang="en-US" sz="1300" dirty="0"/>
          </a:p>
        </p:txBody>
      </p:sp>
      <p:sp>
        <p:nvSpPr>
          <p:cNvPr id="28" name="Card"/>
          <p:cNvSpPr/>
          <p:nvPr/>
        </p:nvSpPr>
        <p:spPr>
          <a:xfrm>
            <a:off x="548640" y="5074920"/>
            <a:ext cx="11091672" cy="1143000"/>
          </a:xfrm>
          <a:prstGeom prst="roundRect">
            <a:avLst>
              <a:gd name="adj" fmla="val 6400"/>
            </a:avLst>
          </a:prstGeom>
          <a:solidFill>
            <a:srgbClr val="E8F1EA"/>
          </a:solidFill>
          <a:ln w="12700">
            <a:solidFill>
              <a:srgbClr val="B7C9BA"/>
            </a:solidFill>
            <a:prstDash val="solid"/>
          </a:ln>
        </p:spPr>
      </p:sp>
      <p:sp>
        <p:nvSpPr>
          <p:cNvPr id="29" name="Text 19"/>
          <p:cNvSpPr txBox="1"/>
          <p:nvPr/>
        </p:nvSpPr>
        <p:spPr>
          <a:xfrm>
            <a:off x="694944" y="5177333"/>
            <a:ext cx="10799064" cy="938174"/>
          </a:xfrm>
          <a:prstGeom prst="rect">
            <a:avLst/>
          </a:prstGeom>
          <a:noFill/>
          <a:ln/>
        </p:spPr>
        <p:txBody>
          <a:bodyPr wrap="square" lIns="0" tIns="0" rIns="0" bIns="0" rtlCol="0" anchor="t"/>
          <a:lstStyle/>
          <a:p>
            <a:pPr indent="0" marL="0">
              <a:buNone/>
            </a:pPr>
            <a:r>
              <a:rPr lang="en-US" sz="1400" b="1" dirty="0">
                <a:solidFill>
                  <a:srgbClr val="1E5631"/>
                </a:solidFill>
              </a:rPr>
              <a:t>You are competent when…</a:t>
            </a:r>
            <a:endParaRPr lang="en-US" sz="1300" dirty="0"/>
          </a:p>
          <a:p>
            <a:pPr indent="0" marL="0">
              <a:buNone/>
            </a:pPr>
            <a:r>
              <a:rPr lang="en-US" sz="1300" dirty="0">
                <a:solidFill>
                  <a:srgbClr val="2B2B2B"/>
                </a:solidFill>
              </a:rPr>
              <a:t>every PC reaches the ISP side, </a:t>
            </a:r>
            <a:r>
              <a:rPr lang="en-US" sz="1200" b="1" dirty="0">
                <a:solidFill>
                  <a:srgbClr val="1E5631"/>
                </a:solidFill>
                <a:latin typeface="Courier New" pitchFamily="34" charset="0"/>
                <a:ea typeface="Courier New" pitchFamily="34" charset="-122"/>
                <a:cs typeface="Courier New" pitchFamily="34" charset="-120"/>
              </a:rPr>
              <a:t>show ip nat translations</a:t>
            </a:r>
            <a:r>
              <a:rPr lang="en-US" sz="1300" dirty="0">
                <a:solidFill>
                  <a:srgbClr val="2B2B2B"/>
                </a:solidFill>
              </a:rPr>
              <a:t> shows the PCs, the ACL tests pass, OSPF neighbours are FULL, and the failover of one link is survived.</a:t>
            </a:r>
            <a:endParaRPr lang="en-US" sz="1300" dirty="0"/>
          </a:p>
        </p:txBody>
      </p:sp>
      <p:sp>
        <p:nvSpPr>
          <p:cNvPr id="30" name="Slide Number Placeholder 0"/>
          <p:cNvSpPr>
            <a:spLocks noGrp="1"/>
          </p:cNvSpPr>
          <p:nvPr>
            <p:ph type="sldNum" sz="quarter" idx="4294967295"/>
          </p:nvPr>
        </p:nvSpPr>
        <p:spPr>
          <a:xfrm>
            <a:off x="10698480" y="6464808"/>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r"/>
            <a:fld id="{F7021451-1387-4CA6-816F-3879F97B5CBC}" type="slidenum">
              <a:rPr b="0" lang="en-US"/>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ext 1"/>
          <p:cNvSpPr/>
          <p:nvPr>
            <p:ph idx="102" type="body" hasCustomPrompt="1"/>
          </p:nvPr>
        </p:nvSpPr>
        <p:spPr>
          <a:xfrm>
            <a:off x="548640" y="274320"/>
            <a:ext cx="9966960" cy="256032"/>
          </a:xfrm>
          <a:prstGeom prst="rect">
            <a:avLst/>
          </a:prstGeom>
          <a:noFill/>
          <a:ln/>
        </p:spPr>
        <p:txBody>
          <a:bodyPr wrap="square" lIns="0" tIns="0" rIns="0" bIns="0" rtlCol="0" anchor="ctr"/>
          <a:lstStyle/>
          <a:p>
            <a:pPr algn="l" indent="0" marL="0">
              <a:buNone/>
            </a:pPr>
            <a:r>
              <a:rPr lang="en-US" sz="1100" b="1" spc="100" kern="0" dirty="0">
                <a:solidFill>
                  <a:schemeClr val="accent2"/>
                </a:solidFill>
              </a:rPr>
              <a:t>12  •  PRACTICE &amp; QUICK REFERENCE</a:t>
            </a:r>
            <a:endParaRPr lang="en-US" sz="1100" dirty="0"/>
          </a:p>
        </p:txBody>
      </p:sp>
      <p:sp>
        <p:nvSpPr>
          <p:cNvPr id="3" name="Text 1"/>
          <p:cNvSpPr/>
          <p:nvPr>
            <p:ph idx="103" type="title" hasCustomPrompt="1"/>
          </p:nvPr>
        </p:nvSpPr>
        <p:spPr>
          <a:xfrm>
            <a:off x="548640" y="548640"/>
            <a:ext cx="10149840" cy="548640"/>
          </a:xfrm>
          <a:prstGeom prst="rect">
            <a:avLst/>
          </a:prstGeom>
          <a:noFill/>
          <a:ln/>
        </p:spPr>
        <p:txBody>
          <a:bodyPr wrap="square" lIns="0" tIns="0" rIns="0" bIns="0" rtlCol="0" anchor="ctr"/>
          <a:lstStyle/>
          <a:p>
            <a:pPr algn="l" indent="0" marL="0">
              <a:buNone/>
            </a:pPr>
            <a:r>
              <a:rPr lang="en-US" sz="2600" b="1" dirty="0">
                <a:solidFill>
                  <a:schemeClr val="accent1"/>
                </a:solidFill>
              </a:rPr>
              <a:t>How to check you are competent: a self-assessment list</a:t>
            </a:r>
            <a:endParaRPr lang="en-US" sz="2600" dirty="0"/>
          </a:p>
        </p:txBody>
      </p:sp>
      <p:pic>
        <p:nvPicPr>
          <p:cNvPr id="4" name="Home button" descr="Home: back to the workbook menu">
            <a:hlinkClick r:id="rId2" tooltip="Back to the workbook menu" action="ppaction://hlinksldjump"/>
          </p:cNvPr>
          <p:cNvPicPr>
            <a:picLocks noChangeAspect="1"/>
          </p:cNvPicPr>
          <p:nvPr/>
        </p:nvPicPr>
        <p:blipFill>
          <a:blip r:embed="rId1"/>
          <a:stretch>
            <a:fillRect/>
          </a:stretch>
        </p:blipFill>
        <p:spPr>
          <a:xfrm>
            <a:off x="11365992" y="6336792"/>
            <a:ext cx="365760" cy="365760"/>
          </a:xfrm>
          <a:prstGeom prst="rect">
            <a:avLst/>
          </a:prstGeom>
        </p:spPr>
      </p:pic>
      <p:sp>
        <p:nvSpPr>
          <p:cNvPr id="5" name="Goal"/>
          <p:cNvSpPr txBox="1"/>
          <p:nvPr/>
        </p:nvSpPr>
        <p:spPr>
          <a:xfrm>
            <a:off x="548640" y="1161288"/>
            <a:ext cx="11094415" cy="384048"/>
          </a:xfrm>
          <a:prstGeom prst="rect">
            <a:avLst/>
          </a:prstGeom>
          <a:noFill/>
          <a:ln/>
        </p:spPr>
        <p:txBody>
          <a:bodyPr wrap="square" lIns="0" tIns="0" rIns="0" bIns="0" rtlCol="0" anchor="ctr"/>
          <a:lstStyle/>
          <a:p>
            <a:pPr indent="0" marL="0">
              <a:buNone/>
            </a:pPr>
            <a:r>
              <a:rPr lang="en-US" sz="1400" b="1" dirty="0">
                <a:solidFill>
                  <a:srgbClr val="2B7043"/>
                </a:solidFill>
              </a:rPr>
              <a:t>Goal:  </a:t>
            </a:r>
            <a:r>
              <a:rPr lang="en-US" sz="1400" dirty="0">
                <a:solidFill>
                  <a:srgbClr val="2B2B2B"/>
                </a:solidFill>
              </a:rPr>
              <a:t>Tick each line only when you can do it without the slides — this is what the practical assessment looks for.</a:t>
            </a:r>
            <a:endParaRPr lang="en-US" sz="1400" dirty="0"/>
          </a:p>
        </p:txBody>
      </p:sp>
      <p:sp>
        <p:nvSpPr>
          <p:cNvPr id="6" name="Shape 3"/>
          <p:cNvSpPr/>
          <p:nvPr/>
        </p:nvSpPr>
        <p:spPr>
          <a:xfrm>
            <a:off x="548640" y="1719072"/>
            <a:ext cx="5422392" cy="457200"/>
          </a:xfrm>
          <a:prstGeom prst="roundRect">
            <a:avLst>
              <a:gd name="adj" fmla="val 10000"/>
            </a:avLst>
          </a:prstGeom>
          <a:solidFill>
            <a:srgbClr val="F2F8F3"/>
          </a:solidFill>
          <a:ln w="9525">
            <a:solidFill>
              <a:srgbClr val="B7C9BA"/>
            </a:solidFill>
            <a:prstDash val="solid"/>
          </a:ln>
        </p:spPr>
      </p:sp>
      <p:sp>
        <p:nvSpPr>
          <p:cNvPr id="7" name="Shape 4"/>
          <p:cNvSpPr/>
          <p:nvPr/>
        </p:nvSpPr>
        <p:spPr>
          <a:xfrm>
            <a:off x="685800" y="1828800"/>
            <a:ext cx="237744" cy="237744"/>
          </a:xfrm>
          <a:prstGeom prst="rect">
            <a:avLst/>
          </a:prstGeom>
          <a:solidFill>
            <a:srgbClr val="FFFFFF"/>
          </a:solidFill>
          <a:ln w="15875">
            <a:solidFill>
              <a:srgbClr val="1E5631"/>
            </a:solidFill>
            <a:prstDash val="solid"/>
          </a:ln>
        </p:spPr>
      </p:sp>
      <p:sp>
        <p:nvSpPr>
          <p:cNvPr id="8" name="Text 5"/>
          <p:cNvSpPr txBox="1"/>
          <p:nvPr/>
        </p:nvSpPr>
        <p:spPr>
          <a:xfrm>
            <a:off x="1051560" y="1719072"/>
            <a:ext cx="4846320" cy="457200"/>
          </a:xfrm>
          <a:prstGeom prst="rect">
            <a:avLst/>
          </a:prstGeom>
          <a:noFill/>
          <a:ln/>
        </p:spPr>
        <p:txBody>
          <a:bodyPr wrap="square" lIns="0" tIns="0" rIns="0" bIns="0" rtlCol="0" anchor="ctr"/>
          <a:lstStyle/>
          <a:p>
            <a:pPr indent="0" marL="0">
              <a:buNone/>
            </a:pPr>
            <a:r>
              <a:rPr lang="en-US" sz="1400" dirty="0">
                <a:solidFill>
                  <a:srgbClr val="2B2B2B"/>
                </a:solidFill>
              </a:rPr>
              <a:t>Choose and connect the right cables</a:t>
            </a:r>
            <a:endParaRPr lang="en-US" sz="1400" dirty="0"/>
          </a:p>
        </p:txBody>
      </p:sp>
      <p:sp>
        <p:nvSpPr>
          <p:cNvPr id="9" name="Shape 6"/>
          <p:cNvSpPr/>
          <p:nvPr/>
        </p:nvSpPr>
        <p:spPr>
          <a:xfrm>
            <a:off x="548640" y="2267712"/>
            <a:ext cx="5422392" cy="457200"/>
          </a:xfrm>
          <a:prstGeom prst="roundRect">
            <a:avLst>
              <a:gd name="adj" fmla="val 10000"/>
            </a:avLst>
          </a:prstGeom>
          <a:solidFill>
            <a:srgbClr val="FFFFFF"/>
          </a:solidFill>
          <a:ln w="9525">
            <a:solidFill>
              <a:srgbClr val="B7C9BA"/>
            </a:solidFill>
            <a:prstDash val="solid"/>
          </a:ln>
        </p:spPr>
      </p:sp>
      <p:sp>
        <p:nvSpPr>
          <p:cNvPr id="10" name="Shape 7"/>
          <p:cNvSpPr/>
          <p:nvPr/>
        </p:nvSpPr>
        <p:spPr>
          <a:xfrm>
            <a:off x="685800" y="2377440"/>
            <a:ext cx="237744" cy="237744"/>
          </a:xfrm>
          <a:prstGeom prst="rect">
            <a:avLst/>
          </a:prstGeom>
          <a:solidFill>
            <a:srgbClr val="FFFFFF"/>
          </a:solidFill>
          <a:ln w="15875">
            <a:solidFill>
              <a:srgbClr val="1E5631"/>
            </a:solidFill>
            <a:prstDash val="solid"/>
          </a:ln>
        </p:spPr>
      </p:sp>
      <p:sp>
        <p:nvSpPr>
          <p:cNvPr id="11" name="Text 8"/>
          <p:cNvSpPr txBox="1"/>
          <p:nvPr/>
        </p:nvSpPr>
        <p:spPr>
          <a:xfrm>
            <a:off x="1051560" y="2267712"/>
            <a:ext cx="4846320" cy="457200"/>
          </a:xfrm>
          <a:prstGeom prst="rect">
            <a:avLst/>
          </a:prstGeom>
          <a:noFill/>
          <a:ln/>
        </p:spPr>
        <p:txBody>
          <a:bodyPr wrap="square" lIns="0" tIns="0" rIns="0" bIns="0" rtlCol="0" anchor="ctr"/>
          <a:lstStyle/>
          <a:p>
            <a:pPr indent="0" marL="0">
              <a:buNone/>
            </a:pPr>
            <a:r>
              <a:rPr lang="en-US" sz="1400" dirty="0">
                <a:solidFill>
                  <a:srgbClr val="2B2B2B"/>
                </a:solidFill>
              </a:rPr>
              <a:t>Move between IOS modes and use </a:t>
            </a:r>
            <a:r>
              <a:rPr lang="en-US" sz="1300" b="1" dirty="0">
                <a:solidFill>
                  <a:srgbClr val="1E5631"/>
                </a:solidFill>
                <a:latin typeface="Courier New" pitchFamily="34" charset="0"/>
                <a:ea typeface="Courier New" pitchFamily="34" charset="-122"/>
                <a:cs typeface="Courier New" pitchFamily="34" charset="-120"/>
              </a:rPr>
              <a:t>?</a:t>
            </a:r>
            <a:endParaRPr lang="en-US" sz="1400" dirty="0"/>
          </a:p>
        </p:txBody>
      </p:sp>
      <p:sp>
        <p:nvSpPr>
          <p:cNvPr id="12" name="Shape 9"/>
          <p:cNvSpPr/>
          <p:nvPr/>
        </p:nvSpPr>
        <p:spPr>
          <a:xfrm>
            <a:off x="548640" y="2816352"/>
            <a:ext cx="5422392" cy="457200"/>
          </a:xfrm>
          <a:prstGeom prst="roundRect">
            <a:avLst>
              <a:gd name="adj" fmla="val 10000"/>
            </a:avLst>
          </a:prstGeom>
          <a:solidFill>
            <a:srgbClr val="F2F8F3"/>
          </a:solidFill>
          <a:ln w="9525">
            <a:solidFill>
              <a:srgbClr val="B7C9BA"/>
            </a:solidFill>
            <a:prstDash val="solid"/>
          </a:ln>
        </p:spPr>
      </p:sp>
      <p:sp>
        <p:nvSpPr>
          <p:cNvPr id="13" name="Shape 10"/>
          <p:cNvSpPr/>
          <p:nvPr/>
        </p:nvSpPr>
        <p:spPr>
          <a:xfrm>
            <a:off x="685800" y="2926080"/>
            <a:ext cx="237744" cy="237744"/>
          </a:xfrm>
          <a:prstGeom prst="rect">
            <a:avLst/>
          </a:prstGeom>
          <a:solidFill>
            <a:srgbClr val="FFFFFF"/>
          </a:solidFill>
          <a:ln w="15875">
            <a:solidFill>
              <a:srgbClr val="1E5631"/>
            </a:solidFill>
            <a:prstDash val="solid"/>
          </a:ln>
        </p:spPr>
      </p:sp>
      <p:sp>
        <p:nvSpPr>
          <p:cNvPr id="14" name="Text 11"/>
          <p:cNvSpPr txBox="1"/>
          <p:nvPr/>
        </p:nvSpPr>
        <p:spPr>
          <a:xfrm>
            <a:off x="1051560" y="2816352"/>
            <a:ext cx="4846320" cy="457200"/>
          </a:xfrm>
          <a:prstGeom prst="rect">
            <a:avLst/>
          </a:prstGeom>
          <a:noFill/>
          <a:ln/>
        </p:spPr>
        <p:txBody>
          <a:bodyPr wrap="square" lIns="0" tIns="0" rIns="0" bIns="0" rtlCol="0" anchor="ctr"/>
          <a:lstStyle/>
          <a:p>
            <a:pPr indent="0" marL="0">
              <a:buNone/>
            </a:pPr>
            <a:r>
              <a:rPr lang="en-US" sz="1400" dirty="0">
                <a:solidFill>
                  <a:srgbClr val="2B2B2B"/>
                </a:solidFill>
              </a:rPr>
              <a:t>Do the basic set-up and save it</a:t>
            </a:r>
            <a:endParaRPr lang="en-US" sz="1400" dirty="0"/>
          </a:p>
        </p:txBody>
      </p:sp>
      <p:sp>
        <p:nvSpPr>
          <p:cNvPr id="15" name="Shape 12"/>
          <p:cNvSpPr/>
          <p:nvPr/>
        </p:nvSpPr>
        <p:spPr>
          <a:xfrm>
            <a:off x="548640" y="3364992"/>
            <a:ext cx="5422392" cy="457200"/>
          </a:xfrm>
          <a:prstGeom prst="roundRect">
            <a:avLst>
              <a:gd name="adj" fmla="val 10000"/>
            </a:avLst>
          </a:prstGeom>
          <a:solidFill>
            <a:srgbClr val="FFFFFF"/>
          </a:solidFill>
          <a:ln w="9525">
            <a:solidFill>
              <a:srgbClr val="B7C9BA"/>
            </a:solidFill>
            <a:prstDash val="solid"/>
          </a:ln>
        </p:spPr>
      </p:sp>
      <p:sp>
        <p:nvSpPr>
          <p:cNvPr id="16" name="Shape 13"/>
          <p:cNvSpPr/>
          <p:nvPr/>
        </p:nvSpPr>
        <p:spPr>
          <a:xfrm>
            <a:off x="685800" y="3474720"/>
            <a:ext cx="237744" cy="237744"/>
          </a:xfrm>
          <a:prstGeom prst="rect">
            <a:avLst/>
          </a:prstGeom>
          <a:solidFill>
            <a:srgbClr val="FFFFFF"/>
          </a:solidFill>
          <a:ln w="15875">
            <a:solidFill>
              <a:srgbClr val="1E5631"/>
            </a:solidFill>
            <a:prstDash val="solid"/>
          </a:ln>
        </p:spPr>
      </p:sp>
      <p:sp>
        <p:nvSpPr>
          <p:cNvPr id="17" name="Text 14"/>
          <p:cNvSpPr txBox="1"/>
          <p:nvPr/>
        </p:nvSpPr>
        <p:spPr>
          <a:xfrm>
            <a:off x="1051560" y="3364992"/>
            <a:ext cx="4846320" cy="457200"/>
          </a:xfrm>
          <a:prstGeom prst="rect">
            <a:avLst/>
          </a:prstGeom>
          <a:noFill/>
          <a:ln/>
        </p:spPr>
        <p:txBody>
          <a:bodyPr wrap="square" lIns="0" tIns="0" rIns="0" bIns="0" rtlCol="0" anchor="ctr"/>
          <a:lstStyle/>
          <a:p>
            <a:pPr indent="0" marL="0">
              <a:buNone/>
            </a:pPr>
            <a:r>
              <a:rPr lang="en-US" sz="1400" dirty="0">
                <a:solidFill>
                  <a:srgbClr val="2B2B2B"/>
                </a:solidFill>
              </a:rPr>
              <a:t>Address router ports and a switch SVI</a:t>
            </a:r>
            <a:endParaRPr lang="en-US" sz="1400" dirty="0"/>
          </a:p>
        </p:txBody>
      </p:sp>
      <p:sp>
        <p:nvSpPr>
          <p:cNvPr id="18" name="Shape 15"/>
          <p:cNvSpPr/>
          <p:nvPr/>
        </p:nvSpPr>
        <p:spPr>
          <a:xfrm>
            <a:off x="548640" y="3913632"/>
            <a:ext cx="5422392" cy="457200"/>
          </a:xfrm>
          <a:prstGeom prst="roundRect">
            <a:avLst>
              <a:gd name="adj" fmla="val 10000"/>
            </a:avLst>
          </a:prstGeom>
          <a:solidFill>
            <a:srgbClr val="F2F8F3"/>
          </a:solidFill>
          <a:ln w="9525">
            <a:solidFill>
              <a:srgbClr val="B7C9BA"/>
            </a:solidFill>
            <a:prstDash val="solid"/>
          </a:ln>
        </p:spPr>
      </p:sp>
      <p:sp>
        <p:nvSpPr>
          <p:cNvPr id="19" name="Shape 16"/>
          <p:cNvSpPr/>
          <p:nvPr/>
        </p:nvSpPr>
        <p:spPr>
          <a:xfrm>
            <a:off x="685800" y="4023360"/>
            <a:ext cx="237744" cy="237744"/>
          </a:xfrm>
          <a:prstGeom prst="rect">
            <a:avLst/>
          </a:prstGeom>
          <a:solidFill>
            <a:srgbClr val="FFFFFF"/>
          </a:solidFill>
          <a:ln w="15875">
            <a:solidFill>
              <a:srgbClr val="1E5631"/>
            </a:solidFill>
            <a:prstDash val="solid"/>
          </a:ln>
        </p:spPr>
      </p:sp>
      <p:sp>
        <p:nvSpPr>
          <p:cNvPr id="20" name="Text 17"/>
          <p:cNvSpPr txBox="1"/>
          <p:nvPr/>
        </p:nvSpPr>
        <p:spPr>
          <a:xfrm>
            <a:off x="1051560" y="3913632"/>
            <a:ext cx="4846320" cy="457200"/>
          </a:xfrm>
          <a:prstGeom prst="rect">
            <a:avLst/>
          </a:prstGeom>
          <a:noFill/>
          <a:ln/>
        </p:spPr>
        <p:txBody>
          <a:bodyPr wrap="square" lIns="0" tIns="0" rIns="0" bIns="0" rtlCol="0" anchor="ctr"/>
          <a:lstStyle/>
          <a:p>
            <a:pPr indent="0" marL="0">
              <a:buNone/>
            </a:pPr>
            <a:r>
              <a:rPr lang="en-US" sz="1400" dirty="0">
                <a:solidFill>
                  <a:srgbClr val="2B2B2B"/>
                </a:solidFill>
              </a:rPr>
              <a:t>Set up SSH with local users</a:t>
            </a:r>
            <a:endParaRPr lang="en-US" sz="1400" dirty="0"/>
          </a:p>
        </p:txBody>
      </p:sp>
      <p:sp>
        <p:nvSpPr>
          <p:cNvPr id="21" name="Shape 18"/>
          <p:cNvSpPr/>
          <p:nvPr/>
        </p:nvSpPr>
        <p:spPr>
          <a:xfrm>
            <a:off x="548640" y="4462272"/>
            <a:ext cx="5422392" cy="457200"/>
          </a:xfrm>
          <a:prstGeom prst="roundRect">
            <a:avLst>
              <a:gd name="adj" fmla="val 10000"/>
            </a:avLst>
          </a:prstGeom>
          <a:solidFill>
            <a:srgbClr val="FFFFFF"/>
          </a:solidFill>
          <a:ln w="9525">
            <a:solidFill>
              <a:srgbClr val="B7C9BA"/>
            </a:solidFill>
            <a:prstDash val="solid"/>
          </a:ln>
        </p:spPr>
      </p:sp>
      <p:sp>
        <p:nvSpPr>
          <p:cNvPr id="22" name="Shape 19"/>
          <p:cNvSpPr/>
          <p:nvPr/>
        </p:nvSpPr>
        <p:spPr>
          <a:xfrm>
            <a:off x="685800" y="4572000"/>
            <a:ext cx="237744" cy="237744"/>
          </a:xfrm>
          <a:prstGeom prst="rect">
            <a:avLst/>
          </a:prstGeom>
          <a:solidFill>
            <a:srgbClr val="FFFFFF"/>
          </a:solidFill>
          <a:ln w="15875">
            <a:solidFill>
              <a:srgbClr val="1E5631"/>
            </a:solidFill>
            <a:prstDash val="solid"/>
          </a:ln>
        </p:spPr>
      </p:sp>
      <p:sp>
        <p:nvSpPr>
          <p:cNvPr id="23" name="Text 20"/>
          <p:cNvSpPr txBox="1"/>
          <p:nvPr/>
        </p:nvSpPr>
        <p:spPr>
          <a:xfrm>
            <a:off x="1051560" y="4462272"/>
            <a:ext cx="4846320" cy="457200"/>
          </a:xfrm>
          <a:prstGeom prst="rect">
            <a:avLst/>
          </a:prstGeom>
          <a:noFill/>
          <a:ln/>
        </p:spPr>
        <p:txBody>
          <a:bodyPr wrap="square" lIns="0" tIns="0" rIns="0" bIns="0" rtlCol="0" anchor="ctr"/>
          <a:lstStyle/>
          <a:p>
            <a:pPr indent="0" marL="0">
              <a:buNone/>
            </a:pPr>
            <a:r>
              <a:rPr lang="en-US" sz="1400" dirty="0">
                <a:solidFill>
                  <a:srgbClr val="2B2B2B"/>
                </a:solidFill>
              </a:rPr>
              <a:t>Create VLANs and access ports</a:t>
            </a:r>
            <a:endParaRPr lang="en-US" sz="1400" dirty="0"/>
          </a:p>
        </p:txBody>
      </p:sp>
      <p:sp>
        <p:nvSpPr>
          <p:cNvPr id="24" name="Shape 21"/>
          <p:cNvSpPr/>
          <p:nvPr/>
        </p:nvSpPr>
        <p:spPr>
          <a:xfrm>
            <a:off x="548640" y="5010912"/>
            <a:ext cx="5422392" cy="457200"/>
          </a:xfrm>
          <a:prstGeom prst="roundRect">
            <a:avLst>
              <a:gd name="adj" fmla="val 10000"/>
            </a:avLst>
          </a:prstGeom>
          <a:solidFill>
            <a:srgbClr val="F2F8F3"/>
          </a:solidFill>
          <a:ln w="9525">
            <a:solidFill>
              <a:srgbClr val="B7C9BA"/>
            </a:solidFill>
            <a:prstDash val="solid"/>
          </a:ln>
        </p:spPr>
      </p:sp>
      <p:sp>
        <p:nvSpPr>
          <p:cNvPr id="25" name="Shape 22"/>
          <p:cNvSpPr/>
          <p:nvPr/>
        </p:nvSpPr>
        <p:spPr>
          <a:xfrm>
            <a:off x="685800" y="5120640"/>
            <a:ext cx="237744" cy="237744"/>
          </a:xfrm>
          <a:prstGeom prst="rect">
            <a:avLst/>
          </a:prstGeom>
          <a:solidFill>
            <a:srgbClr val="FFFFFF"/>
          </a:solidFill>
          <a:ln w="15875">
            <a:solidFill>
              <a:srgbClr val="1E5631"/>
            </a:solidFill>
            <a:prstDash val="solid"/>
          </a:ln>
        </p:spPr>
      </p:sp>
      <p:sp>
        <p:nvSpPr>
          <p:cNvPr id="26" name="Text 23"/>
          <p:cNvSpPr txBox="1"/>
          <p:nvPr/>
        </p:nvSpPr>
        <p:spPr>
          <a:xfrm>
            <a:off x="1051560" y="5010912"/>
            <a:ext cx="4846320" cy="457200"/>
          </a:xfrm>
          <a:prstGeom prst="rect">
            <a:avLst/>
          </a:prstGeom>
          <a:noFill/>
          <a:ln/>
        </p:spPr>
        <p:txBody>
          <a:bodyPr wrap="square" lIns="0" tIns="0" rIns="0" bIns="0" rtlCol="0" anchor="ctr"/>
          <a:lstStyle/>
          <a:p>
            <a:pPr indent="0" marL="0">
              <a:buNone/>
            </a:pPr>
            <a:r>
              <a:rPr lang="en-US" sz="1400" dirty="0">
                <a:solidFill>
                  <a:srgbClr val="2B2B2B"/>
                </a:solidFill>
              </a:rPr>
              <a:t>Configure trunks with a native VLAN</a:t>
            </a:r>
            <a:endParaRPr lang="en-US" sz="1400" dirty="0"/>
          </a:p>
        </p:txBody>
      </p:sp>
      <p:sp>
        <p:nvSpPr>
          <p:cNvPr id="27" name="Shape 24"/>
          <p:cNvSpPr/>
          <p:nvPr/>
        </p:nvSpPr>
        <p:spPr>
          <a:xfrm>
            <a:off x="548640" y="5559552"/>
            <a:ext cx="5422392" cy="457200"/>
          </a:xfrm>
          <a:prstGeom prst="roundRect">
            <a:avLst>
              <a:gd name="adj" fmla="val 10000"/>
            </a:avLst>
          </a:prstGeom>
          <a:solidFill>
            <a:srgbClr val="FFFFFF"/>
          </a:solidFill>
          <a:ln w="9525">
            <a:solidFill>
              <a:srgbClr val="B7C9BA"/>
            </a:solidFill>
            <a:prstDash val="solid"/>
          </a:ln>
        </p:spPr>
      </p:sp>
      <p:sp>
        <p:nvSpPr>
          <p:cNvPr id="28" name="Shape 25"/>
          <p:cNvSpPr/>
          <p:nvPr/>
        </p:nvSpPr>
        <p:spPr>
          <a:xfrm>
            <a:off x="685800" y="5669280"/>
            <a:ext cx="237744" cy="237744"/>
          </a:xfrm>
          <a:prstGeom prst="rect">
            <a:avLst/>
          </a:prstGeom>
          <a:solidFill>
            <a:srgbClr val="FFFFFF"/>
          </a:solidFill>
          <a:ln w="15875">
            <a:solidFill>
              <a:srgbClr val="1E5631"/>
            </a:solidFill>
            <a:prstDash val="solid"/>
          </a:ln>
        </p:spPr>
      </p:sp>
      <p:sp>
        <p:nvSpPr>
          <p:cNvPr id="29" name="Text 26"/>
          <p:cNvSpPr txBox="1"/>
          <p:nvPr/>
        </p:nvSpPr>
        <p:spPr>
          <a:xfrm>
            <a:off x="1051560" y="5559552"/>
            <a:ext cx="4846320" cy="457200"/>
          </a:xfrm>
          <a:prstGeom prst="rect">
            <a:avLst/>
          </a:prstGeom>
          <a:noFill/>
          <a:ln/>
        </p:spPr>
        <p:txBody>
          <a:bodyPr wrap="square" lIns="0" tIns="0" rIns="0" bIns="0" rtlCol="0" anchor="ctr"/>
          <a:lstStyle/>
          <a:p>
            <a:pPr indent="0" marL="0">
              <a:buNone/>
            </a:pPr>
            <a:r>
              <a:rPr lang="en-US" sz="1400" dirty="0">
                <a:solidFill>
                  <a:srgbClr val="2B2B2B"/>
                </a:solidFill>
              </a:rPr>
              <a:t>Configure router-on-a-stick</a:t>
            </a:r>
            <a:endParaRPr lang="en-US" sz="1400" dirty="0"/>
          </a:p>
        </p:txBody>
      </p:sp>
      <p:sp>
        <p:nvSpPr>
          <p:cNvPr id="30" name="Shape 27"/>
          <p:cNvSpPr/>
          <p:nvPr/>
        </p:nvSpPr>
        <p:spPr>
          <a:xfrm>
            <a:off x="6217920" y="1719072"/>
            <a:ext cx="5422392" cy="457200"/>
          </a:xfrm>
          <a:prstGeom prst="roundRect">
            <a:avLst>
              <a:gd name="adj" fmla="val 10000"/>
            </a:avLst>
          </a:prstGeom>
          <a:solidFill>
            <a:srgbClr val="F2F8F3"/>
          </a:solidFill>
          <a:ln w="9525">
            <a:solidFill>
              <a:srgbClr val="B7C9BA"/>
            </a:solidFill>
            <a:prstDash val="solid"/>
          </a:ln>
        </p:spPr>
      </p:sp>
      <p:sp>
        <p:nvSpPr>
          <p:cNvPr id="31" name="Shape 28"/>
          <p:cNvSpPr/>
          <p:nvPr/>
        </p:nvSpPr>
        <p:spPr>
          <a:xfrm>
            <a:off x="6355080" y="1828800"/>
            <a:ext cx="237744" cy="237744"/>
          </a:xfrm>
          <a:prstGeom prst="rect">
            <a:avLst/>
          </a:prstGeom>
          <a:solidFill>
            <a:srgbClr val="FFFFFF"/>
          </a:solidFill>
          <a:ln w="15875">
            <a:solidFill>
              <a:srgbClr val="1E5631"/>
            </a:solidFill>
            <a:prstDash val="solid"/>
          </a:ln>
        </p:spPr>
      </p:sp>
      <p:sp>
        <p:nvSpPr>
          <p:cNvPr id="32" name="Text 29"/>
          <p:cNvSpPr txBox="1"/>
          <p:nvPr/>
        </p:nvSpPr>
        <p:spPr>
          <a:xfrm>
            <a:off x="6720840" y="1719072"/>
            <a:ext cx="4846320" cy="457200"/>
          </a:xfrm>
          <a:prstGeom prst="rect">
            <a:avLst/>
          </a:prstGeom>
          <a:noFill/>
          <a:ln/>
        </p:spPr>
        <p:txBody>
          <a:bodyPr wrap="square" lIns="0" tIns="0" rIns="0" bIns="0" rtlCol="0" anchor="ctr"/>
          <a:lstStyle/>
          <a:p>
            <a:pPr indent="0" marL="0">
              <a:buNone/>
            </a:pPr>
            <a:r>
              <a:rPr lang="en-US" sz="1400" dirty="0">
                <a:solidFill>
                  <a:srgbClr val="2B2B2B"/>
                </a:solidFill>
              </a:rPr>
              <a:t>Route between VLANs on a Layer 3 switch</a:t>
            </a:r>
            <a:endParaRPr lang="en-US" sz="1400" dirty="0"/>
          </a:p>
        </p:txBody>
      </p:sp>
      <p:sp>
        <p:nvSpPr>
          <p:cNvPr id="33" name="Shape 30"/>
          <p:cNvSpPr/>
          <p:nvPr/>
        </p:nvSpPr>
        <p:spPr>
          <a:xfrm>
            <a:off x="6217920" y="2267712"/>
            <a:ext cx="5422392" cy="457200"/>
          </a:xfrm>
          <a:prstGeom prst="roundRect">
            <a:avLst>
              <a:gd name="adj" fmla="val 10000"/>
            </a:avLst>
          </a:prstGeom>
          <a:solidFill>
            <a:srgbClr val="FFFFFF"/>
          </a:solidFill>
          <a:ln w="9525">
            <a:solidFill>
              <a:srgbClr val="B7C9BA"/>
            </a:solidFill>
            <a:prstDash val="solid"/>
          </a:ln>
        </p:spPr>
      </p:sp>
      <p:sp>
        <p:nvSpPr>
          <p:cNvPr id="34" name="Shape 31"/>
          <p:cNvSpPr/>
          <p:nvPr/>
        </p:nvSpPr>
        <p:spPr>
          <a:xfrm>
            <a:off x="6355080" y="2377440"/>
            <a:ext cx="237744" cy="237744"/>
          </a:xfrm>
          <a:prstGeom prst="rect">
            <a:avLst/>
          </a:prstGeom>
          <a:solidFill>
            <a:srgbClr val="FFFFFF"/>
          </a:solidFill>
          <a:ln w="15875">
            <a:solidFill>
              <a:srgbClr val="1E5631"/>
            </a:solidFill>
            <a:prstDash val="solid"/>
          </a:ln>
        </p:spPr>
      </p:sp>
      <p:sp>
        <p:nvSpPr>
          <p:cNvPr id="35" name="Text 32"/>
          <p:cNvSpPr txBox="1"/>
          <p:nvPr/>
        </p:nvSpPr>
        <p:spPr>
          <a:xfrm>
            <a:off x="6720840" y="2267712"/>
            <a:ext cx="4846320" cy="457200"/>
          </a:xfrm>
          <a:prstGeom prst="rect">
            <a:avLst/>
          </a:prstGeom>
          <a:noFill/>
          <a:ln/>
        </p:spPr>
        <p:txBody>
          <a:bodyPr wrap="square" lIns="0" tIns="0" rIns="0" bIns="0" rtlCol="0" anchor="ctr"/>
          <a:lstStyle/>
          <a:p>
            <a:pPr indent="0" marL="0">
              <a:buNone/>
            </a:pPr>
            <a:r>
              <a:rPr lang="en-US" sz="1400" dirty="0">
                <a:solidFill>
                  <a:srgbClr val="2B2B2B"/>
                </a:solidFill>
              </a:rPr>
              <a:t>Configure DHCP pools, exclusions and relay</a:t>
            </a:r>
            <a:endParaRPr lang="en-US" sz="1400" dirty="0"/>
          </a:p>
        </p:txBody>
      </p:sp>
      <p:sp>
        <p:nvSpPr>
          <p:cNvPr id="36" name="Shape 33"/>
          <p:cNvSpPr/>
          <p:nvPr/>
        </p:nvSpPr>
        <p:spPr>
          <a:xfrm>
            <a:off x="6217920" y="2816352"/>
            <a:ext cx="5422392" cy="457200"/>
          </a:xfrm>
          <a:prstGeom prst="roundRect">
            <a:avLst>
              <a:gd name="adj" fmla="val 10000"/>
            </a:avLst>
          </a:prstGeom>
          <a:solidFill>
            <a:srgbClr val="F2F8F3"/>
          </a:solidFill>
          <a:ln w="9525">
            <a:solidFill>
              <a:srgbClr val="B7C9BA"/>
            </a:solidFill>
            <a:prstDash val="solid"/>
          </a:ln>
        </p:spPr>
      </p:sp>
      <p:sp>
        <p:nvSpPr>
          <p:cNvPr id="37" name="Shape 34"/>
          <p:cNvSpPr/>
          <p:nvPr/>
        </p:nvSpPr>
        <p:spPr>
          <a:xfrm>
            <a:off x="6355080" y="2926080"/>
            <a:ext cx="237744" cy="237744"/>
          </a:xfrm>
          <a:prstGeom prst="rect">
            <a:avLst/>
          </a:prstGeom>
          <a:solidFill>
            <a:srgbClr val="FFFFFF"/>
          </a:solidFill>
          <a:ln w="15875">
            <a:solidFill>
              <a:srgbClr val="1E5631"/>
            </a:solidFill>
            <a:prstDash val="solid"/>
          </a:ln>
        </p:spPr>
      </p:sp>
      <p:sp>
        <p:nvSpPr>
          <p:cNvPr id="38" name="Text 35"/>
          <p:cNvSpPr txBox="1"/>
          <p:nvPr/>
        </p:nvSpPr>
        <p:spPr>
          <a:xfrm>
            <a:off x="6720840" y="2816352"/>
            <a:ext cx="4846320" cy="457200"/>
          </a:xfrm>
          <a:prstGeom prst="rect">
            <a:avLst/>
          </a:prstGeom>
          <a:noFill/>
          <a:ln/>
        </p:spPr>
        <p:txBody>
          <a:bodyPr wrap="square" lIns="0" tIns="0" rIns="0" bIns="0" rtlCol="0" anchor="ctr"/>
          <a:lstStyle/>
          <a:p>
            <a:pPr indent="0" marL="0">
              <a:buNone/>
            </a:pPr>
            <a:r>
              <a:rPr lang="en-US" sz="1400" dirty="0">
                <a:solidFill>
                  <a:srgbClr val="2B2B2B"/>
                </a:solidFill>
              </a:rPr>
              <a:t>Configure static, default and OSPF routes</a:t>
            </a:r>
            <a:endParaRPr lang="en-US" sz="1400" dirty="0"/>
          </a:p>
        </p:txBody>
      </p:sp>
      <p:sp>
        <p:nvSpPr>
          <p:cNvPr id="39" name="Shape 36"/>
          <p:cNvSpPr/>
          <p:nvPr/>
        </p:nvSpPr>
        <p:spPr>
          <a:xfrm>
            <a:off x="6217920" y="3364992"/>
            <a:ext cx="5422392" cy="457200"/>
          </a:xfrm>
          <a:prstGeom prst="roundRect">
            <a:avLst>
              <a:gd name="adj" fmla="val 10000"/>
            </a:avLst>
          </a:prstGeom>
          <a:solidFill>
            <a:srgbClr val="FFFFFF"/>
          </a:solidFill>
          <a:ln w="9525">
            <a:solidFill>
              <a:srgbClr val="B7C9BA"/>
            </a:solidFill>
            <a:prstDash val="solid"/>
          </a:ln>
        </p:spPr>
      </p:sp>
      <p:sp>
        <p:nvSpPr>
          <p:cNvPr id="40" name="Shape 37"/>
          <p:cNvSpPr/>
          <p:nvPr/>
        </p:nvSpPr>
        <p:spPr>
          <a:xfrm>
            <a:off x="6355080" y="3474720"/>
            <a:ext cx="237744" cy="237744"/>
          </a:xfrm>
          <a:prstGeom prst="rect">
            <a:avLst/>
          </a:prstGeom>
          <a:solidFill>
            <a:srgbClr val="FFFFFF"/>
          </a:solidFill>
          <a:ln w="15875">
            <a:solidFill>
              <a:srgbClr val="1E5631"/>
            </a:solidFill>
            <a:prstDash val="solid"/>
          </a:ln>
        </p:spPr>
      </p:sp>
      <p:sp>
        <p:nvSpPr>
          <p:cNvPr id="41" name="Text 38"/>
          <p:cNvSpPr txBox="1"/>
          <p:nvPr/>
        </p:nvSpPr>
        <p:spPr>
          <a:xfrm>
            <a:off x="6720840" y="3364992"/>
            <a:ext cx="4846320" cy="457200"/>
          </a:xfrm>
          <a:prstGeom prst="rect">
            <a:avLst/>
          </a:prstGeom>
          <a:noFill/>
          <a:ln/>
        </p:spPr>
        <p:txBody>
          <a:bodyPr wrap="square" lIns="0" tIns="0" rIns="0" bIns="0" rtlCol="0" anchor="ctr"/>
          <a:lstStyle/>
          <a:p>
            <a:pPr indent="0" marL="0">
              <a:buNone/>
            </a:pPr>
            <a:r>
              <a:rPr lang="en-US" sz="1400" dirty="0">
                <a:solidFill>
                  <a:srgbClr val="2B2B2B"/>
                </a:solidFill>
              </a:rPr>
              <a:t>Lock ports with port security</a:t>
            </a:r>
            <a:endParaRPr lang="en-US" sz="1400" dirty="0"/>
          </a:p>
        </p:txBody>
      </p:sp>
      <p:sp>
        <p:nvSpPr>
          <p:cNvPr id="42" name="Shape 39"/>
          <p:cNvSpPr/>
          <p:nvPr/>
        </p:nvSpPr>
        <p:spPr>
          <a:xfrm>
            <a:off x="6217920" y="3913632"/>
            <a:ext cx="5422392" cy="457200"/>
          </a:xfrm>
          <a:prstGeom prst="roundRect">
            <a:avLst>
              <a:gd name="adj" fmla="val 10000"/>
            </a:avLst>
          </a:prstGeom>
          <a:solidFill>
            <a:srgbClr val="F2F8F3"/>
          </a:solidFill>
          <a:ln w="9525">
            <a:solidFill>
              <a:srgbClr val="B7C9BA"/>
            </a:solidFill>
            <a:prstDash val="solid"/>
          </a:ln>
        </p:spPr>
      </p:sp>
      <p:sp>
        <p:nvSpPr>
          <p:cNvPr id="43" name="Shape 40"/>
          <p:cNvSpPr/>
          <p:nvPr/>
        </p:nvSpPr>
        <p:spPr>
          <a:xfrm>
            <a:off x="6355080" y="4023360"/>
            <a:ext cx="237744" cy="237744"/>
          </a:xfrm>
          <a:prstGeom prst="rect">
            <a:avLst/>
          </a:prstGeom>
          <a:solidFill>
            <a:srgbClr val="FFFFFF"/>
          </a:solidFill>
          <a:ln w="15875">
            <a:solidFill>
              <a:srgbClr val="1E5631"/>
            </a:solidFill>
            <a:prstDash val="solid"/>
          </a:ln>
        </p:spPr>
      </p:sp>
      <p:sp>
        <p:nvSpPr>
          <p:cNvPr id="44" name="Text 41"/>
          <p:cNvSpPr txBox="1"/>
          <p:nvPr/>
        </p:nvSpPr>
        <p:spPr>
          <a:xfrm>
            <a:off x="6720840" y="3913632"/>
            <a:ext cx="4846320" cy="457200"/>
          </a:xfrm>
          <a:prstGeom prst="rect">
            <a:avLst/>
          </a:prstGeom>
          <a:noFill/>
          <a:ln/>
        </p:spPr>
        <p:txBody>
          <a:bodyPr wrap="square" lIns="0" tIns="0" rIns="0" bIns="0" rtlCol="0" anchor="ctr"/>
          <a:lstStyle/>
          <a:p>
            <a:pPr indent="0" marL="0">
              <a:buNone/>
            </a:pPr>
            <a:r>
              <a:rPr lang="en-US" sz="1400" dirty="0">
                <a:solidFill>
                  <a:srgbClr val="2B2B2B"/>
                </a:solidFill>
              </a:rPr>
              <a:t>Write and apply standard and extended ACLs</a:t>
            </a:r>
            <a:endParaRPr lang="en-US" sz="1400" dirty="0"/>
          </a:p>
        </p:txBody>
      </p:sp>
      <p:sp>
        <p:nvSpPr>
          <p:cNvPr id="45" name="Shape 42"/>
          <p:cNvSpPr/>
          <p:nvPr/>
        </p:nvSpPr>
        <p:spPr>
          <a:xfrm>
            <a:off x="6217920" y="4462272"/>
            <a:ext cx="5422392" cy="457200"/>
          </a:xfrm>
          <a:prstGeom prst="roundRect">
            <a:avLst>
              <a:gd name="adj" fmla="val 10000"/>
            </a:avLst>
          </a:prstGeom>
          <a:solidFill>
            <a:srgbClr val="FFFFFF"/>
          </a:solidFill>
          <a:ln w="9525">
            <a:solidFill>
              <a:srgbClr val="B7C9BA"/>
            </a:solidFill>
            <a:prstDash val="solid"/>
          </a:ln>
        </p:spPr>
      </p:sp>
      <p:sp>
        <p:nvSpPr>
          <p:cNvPr id="46" name="Shape 43"/>
          <p:cNvSpPr/>
          <p:nvPr/>
        </p:nvSpPr>
        <p:spPr>
          <a:xfrm>
            <a:off x="6355080" y="4572000"/>
            <a:ext cx="237744" cy="237744"/>
          </a:xfrm>
          <a:prstGeom prst="rect">
            <a:avLst/>
          </a:prstGeom>
          <a:solidFill>
            <a:srgbClr val="FFFFFF"/>
          </a:solidFill>
          <a:ln w="15875">
            <a:solidFill>
              <a:srgbClr val="1E5631"/>
            </a:solidFill>
            <a:prstDash val="solid"/>
          </a:ln>
        </p:spPr>
      </p:sp>
      <p:sp>
        <p:nvSpPr>
          <p:cNvPr id="47" name="Text 44"/>
          <p:cNvSpPr txBox="1"/>
          <p:nvPr/>
        </p:nvSpPr>
        <p:spPr>
          <a:xfrm>
            <a:off x="6720840" y="4462272"/>
            <a:ext cx="4846320" cy="457200"/>
          </a:xfrm>
          <a:prstGeom prst="rect">
            <a:avLst/>
          </a:prstGeom>
          <a:noFill/>
          <a:ln/>
        </p:spPr>
        <p:txBody>
          <a:bodyPr wrap="square" lIns="0" tIns="0" rIns="0" bIns="0" rtlCol="0" anchor="ctr"/>
          <a:lstStyle/>
          <a:p>
            <a:pPr indent="0" marL="0">
              <a:buNone/>
            </a:pPr>
            <a:r>
              <a:rPr lang="en-US" sz="1400" dirty="0">
                <a:solidFill>
                  <a:srgbClr val="2B2B2B"/>
                </a:solidFill>
              </a:rPr>
              <a:t>Configure PAT and static NAT</a:t>
            </a:r>
            <a:endParaRPr lang="en-US" sz="1400" dirty="0"/>
          </a:p>
        </p:txBody>
      </p:sp>
      <p:sp>
        <p:nvSpPr>
          <p:cNvPr id="48" name="Shape 45"/>
          <p:cNvSpPr/>
          <p:nvPr/>
        </p:nvSpPr>
        <p:spPr>
          <a:xfrm>
            <a:off x="6217920" y="5010912"/>
            <a:ext cx="5422392" cy="457200"/>
          </a:xfrm>
          <a:prstGeom prst="roundRect">
            <a:avLst>
              <a:gd name="adj" fmla="val 10000"/>
            </a:avLst>
          </a:prstGeom>
          <a:solidFill>
            <a:srgbClr val="F2F8F3"/>
          </a:solidFill>
          <a:ln w="9525">
            <a:solidFill>
              <a:srgbClr val="B7C9BA"/>
            </a:solidFill>
            <a:prstDash val="solid"/>
          </a:ln>
        </p:spPr>
      </p:sp>
      <p:sp>
        <p:nvSpPr>
          <p:cNvPr id="49" name="Shape 46"/>
          <p:cNvSpPr/>
          <p:nvPr/>
        </p:nvSpPr>
        <p:spPr>
          <a:xfrm>
            <a:off x="6355080" y="5120640"/>
            <a:ext cx="237744" cy="237744"/>
          </a:xfrm>
          <a:prstGeom prst="rect">
            <a:avLst/>
          </a:prstGeom>
          <a:solidFill>
            <a:srgbClr val="FFFFFF"/>
          </a:solidFill>
          <a:ln w="15875">
            <a:solidFill>
              <a:srgbClr val="1E5631"/>
            </a:solidFill>
            <a:prstDash val="solid"/>
          </a:ln>
        </p:spPr>
      </p:sp>
      <p:sp>
        <p:nvSpPr>
          <p:cNvPr id="50" name="Text 47"/>
          <p:cNvSpPr txBox="1"/>
          <p:nvPr/>
        </p:nvSpPr>
        <p:spPr>
          <a:xfrm>
            <a:off x="6720840" y="5010912"/>
            <a:ext cx="4846320" cy="457200"/>
          </a:xfrm>
          <a:prstGeom prst="rect">
            <a:avLst/>
          </a:prstGeom>
          <a:noFill/>
          <a:ln/>
        </p:spPr>
        <p:txBody>
          <a:bodyPr wrap="square" lIns="0" tIns="0" rIns="0" bIns="0" rtlCol="0" anchor="ctr"/>
          <a:lstStyle/>
          <a:p>
            <a:pPr indent="0" marL="0">
              <a:buNone/>
            </a:pPr>
            <a:r>
              <a:rPr lang="en-US" sz="1400" dirty="0">
                <a:solidFill>
                  <a:srgbClr val="2B2B2B"/>
                </a:solidFill>
              </a:rPr>
              <a:t>Set the root bridge, PortFast, EtherChannel</a:t>
            </a:r>
            <a:endParaRPr lang="en-US" sz="1400" dirty="0"/>
          </a:p>
        </p:txBody>
      </p:sp>
      <p:sp>
        <p:nvSpPr>
          <p:cNvPr id="51" name="Shape 48"/>
          <p:cNvSpPr/>
          <p:nvPr/>
        </p:nvSpPr>
        <p:spPr>
          <a:xfrm>
            <a:off x="6217920" y="5559552"/>
            <a:ext cx="5422392" cy="457200"/>
          </a:xfrm>
          <a:prstGeom prst="roundRect">
            <a:avLst>
              <a:gd name="adj" fmla="val 10000"/>
            </a:avLst>
          </a:prstGeom>
          <a:solidFill>
            <a:srgbClr val="FFFFFF"/>
          </a:solidFill>
          <a:ln w="9525">
            <a:solidFill>
              <a:srgbClr val="B7C9BA"/>
            </a:solidFill>
            <a:prstDash val="solid"/>
          </a:ln>
        </p:spPr>
      </p:sp>
      <p:sp>
        <p:nvSpPr>
          <p:cNvPr id="52" name="Shape 49"/>
          <p:cNvSpPr/>
          <p:nvPr/>
        </p:nvSpPr>
        <p:spPr>
          <a:xfrm>
            <a:off x="6355080" y="5669280"/>
            <a:ext cx="237744" cy="237744"/>
          </a:xfrm>
          <a:prstGeom prst="rect">
            <a:avLst/>
          </a:prstGeom>
          <a:solidFill>
            <a:srgbClr val="FFFFFF"/>
          </a:solidFill>
          <a:ln w="15875">
            <a:solidFill>
              <a:srgbClr val="1E5631"/>
            </a:solidFill>
            <a:prstDash val="solid"/>
          </a:ln>
        </p:spPr>
      </p:sp>
      <p:sp>
        <p:nvSpPr>
          <p:cNvPr id="53" name="Text 50"/>
          <p:cNvSpPr txBox="1"/>
          <p:nvPr/>
        </p:nvSpPr>
        <p:spPr>
          <a:xfrm>
            <a:off x="6720840" y="5559552"/>
            <a:ext cx="4846320" cy="457200"/>
          </a:xfrm>
          <a:prstGeom prst="rect">
            <a:avLst/>
          </a:prstGeom>
          <a:noFill/>
          <a:ln/>
        </p:spPr>
        <p:txBody>
          <a:bodyPr wrap="square" lIns="0" tIns="0" rIns="0" bIns="0" rtlCol="0" anchor="ctr"/>
          <a:lstStyle/>
          <a:p>
            <a:pPr indent="0" marL="0">
              <a:buNone/>
            </a:pPr>
            <a:r>
              <a:rPr lang="en-US" sz="1400" dirty="0">
                <a:solidFill>
                  <a:srgbClr val="2B2B2B"/>
                </a:solidFill>
              </a:rPr>
              <a:t>Find faults with the ping ladder and show commands</a:t>
            </a:r>
            <a:endParaRPr lang="en-US" sz="1400" dirty="0"/>
          </a:p>
        </p:txBody>
      </p:sp>
      <p:sp>
        <p:nvSpPr>
          <p:cNvPr id="54" name="Slide Number Placeholder 0"/>
          <p:cNvSpPr>
            <a:spLocks noGrp="1"/>
          </p:cNvSpPr>
          <p:nvPr>
            <p:ph type="sldNum" sz="quarter" idx="4294967295"/>
          </p:nvPr>
        </p:nvSpPr>
        <p:spPr>
          <a:xfrm>
            <a:off x="10698480" y="6464808"/>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r"/>
            <a:fld id="{F7021451-1387-4CA6-816F-3879F97B5CBC}" type="slidenum">
              <a:rPr b="0" lang="en-US"/>
              <a:t>89</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ext 1"/>
          <p:cNvSpPr/>
          <p:nvPr>
            <p:ph idx="102" type="body" hasCustomPrompt="1"/>
          </p:nvPr>
        </p:nvSpPr>
        <p:spPr>
          <a:xfrm>
            <a:off x="548640" y="274320"/>
            <a:ext cx="9966960" cy="256032"/>
          </a:xfrm>
          <a:prstGeom prst="rect">
            <a:avLst/>
          </a:prstGeom>
          <a:noFill/>
          <a:ln/>
        </p:spPr>
        <p:txBody>
          <a:bodyPr wrap="square" lIns="0" tIns="0" rIns="0" bIns="0" rtlCol="0" anchor="ctr"/>
          <a:lstStyle/>
          <a:p>
            <a:pPr algn="l" indent="0" marL="0">
              <a:buNone/>
            </a:pPr>
            <a:r>
              <a:rPr lang="en-US" sz="1100" b="1" spc="100" kern="0" dirty="0">
                <a:solidFill>
                  <a:schemeClr val="accent2"/>
                </a:solidFill>
              </a:rPr>
              <a:t>12  •  PRACTICE &amp; QUICK REFERENCE</a:t>
            </a:r>
            <a:endParaRPr lang="en-US" sz="1100" dirty="0"/>
          </a:p>
        </p:txBody>
      </p:sp>
      <p:sp>
        <p:nvSpPr>
          <p:cNvPr id="3" name="Text 1"/>
          <p:cNvSpPr/>
          <p:nvPr>
            <p:ph idx="103" type="title" hasCustomPrompt="1"/>
          </p:nvPr>
        </p:nvSpPr>
        <p:spPr>
          <a:xfrm>
            <a:off x="548640" y="548640"/>
            <a:ext cx="10149840" cy="548640"/>
          </a:xfrm>
          <a:prstGeom prst="rect">
            <a:avLst/>
          </a:prstGeom>
          <a:noFill/>
          <a:ln/>
        </p:spPr>
        <p:txBody>
          <a:bodyPr wrap="square" lIns="0" tIns="0" rIns="0" bIns="0" rtlCol="0" anchor="ctr"/>
          <a:lstStyle/>
          <a:p>
            <a:pPr algn="l" indent="0" marL="0">
              <a:buNone/>
            </a:pPr>
            <a:r>
              <a:rPr lang="en-US" sz="2600" b="1" dirty="0">
                <a:solidFill>
                  <a:schemeClr val="accent1"/>
                </a:solidFill>
              </a:rPr>
              <a:t>How to remember the commands: switch quick reference</a:t>
            </a:r>
            <a:endParaRPr lang="en-US" sz="2600" dirty="0"/>
          </a:p>
        </p:txBody>
      </p:sp>
      <p:pic>
        <p:nvPicPr>
          <p:cNvPr id="4" name="Home button" descr="Home: back to the workbook menu">
            <a:hlinkClick r:id="rId2" tooltip="Back to the workbook menu" action="ppaction://hlinksldjump"/>
          </p:cNvPr>
          <p:cNvPicPr>
            <a:picLocks noChangeAspect="1"/>
          </p:cNvPicPr>
          <p:nvPr/>
        </p:nvPicPr>
        <p:blipFill>
          <a:blip r:embed="rId1"/>
          <a:stretch>
            <a:fillRect/>
          </a:stretch>
        </p:blipFill>
        <p:spPr>
          <a:xfrm>
            <a:off x="11365992" y="6336792"/>
            <a:ext cx="365760" cy="365760"/>
          </a:xfrm>
          <a:prstGeom prst="rect">
            <a:avLst/>
          </a:prstGeom>
        </p:spPr>
      </p:pic>
      <p:sp>
        <p:nvSpPr>
          <p:cNvPr id="5" name="Goal"/>
          <p:cNvSpPr txBox="1"/>
          <p:nvPr/>
        </p:nvSpPr>
        <p:spPr>
          <a:xfrm>
            <a:off x="548640" y="1161288"/>
            <a:ext cx="11094415" cy="384048"/>
          </a:xfrm>
          <a:prstGeom prst="rect">
            <a:avLst/>
          </a:prstGeom>
          <a:noFill/>
          <a:ln/>
        </p:spPr>
        <p:txBody>
          <a:bodyPr wrap="square" lIns="0" tIns="0" rIns="0" bIns="0" rtlCol="0" anchor="ctr"/>
          <a:lstStyle/>
          <a:p>
            <a:pPr indent="0" marL="0">
              <a:buNone/>
            </a:pPr>
            <a:r>
              <a:rPr lang="en-US" sz="1400" b="1" dirty="0">
                <a:solidFill>
                  <a:srgbClr val="2B7043"/>
                </a:solidFill>
              </a:rPr>
              <a:t>Goal:  </a:t>
            </a:r>
            <a:r>
              <a:rPr lang="en-US" sz="1400" dirty="0">
                <a:solidFill>
                  <a:srgbClr val="2B2B2B"/>
                </a:solidFill>
              </a:rPr>
              <a:t>One page of the switch commands used in this workbook. The prompt shows the mode; replace the example values.</a:t>
            </a:r>
            <a:endParaRPr lang="en-US" sz="1400" dirty="0"/>
          </a:p>
        </p:txBody>
      </p:sp>
      <p:sp>
        <p:nvSpPr>
          <p:cNvPr id="6" name="Shape 3"/>
          <p:cNvSpPr/>
          <p:nvPr/>
        </p:nvSpPr>
        <p:spPr>
          <a:xfrm>
            <a:off x="548640" y="1645920"/>
            <a:ext cx="5446624" cy="2249424"/>
          </a:xfrm>
          <a:prstGeom prst="roundRect">
            <a:avLst>
              <a:gd name="adj" fmla="val 3252"/>
            </a:avLst>
          </a:prstGeom>
          <a:solidFill>
            <a:srgbClr val="F2F8F3"/>
          </a:solidFill>
          <a:ln w="12700">
            <a:solidFill>
              <a:srgbClr val="B7C9BA"/>
            </a:solidFill>
            <a:prstDash val="solid"/>
          </a:ln>
        </p:spPr>
      </p:sp>
      <p:sp>
        <p:nvSpPr>
          <p:cNvPr id="7" name="Shape 4"/>
          <p:cNvSpPr/>
          <p:nvPr/>
        </p:nvSpPr>
        <p:spPr>
          <a:xfrm>
            <a:off x="548640" y="1645920"/>
            <a:ext cx="5446624" cy="411480"/>
          </a:xfrm>
          <a:prstGeom prst="roundRect">
            <a:avLst>
              <a:gd name="adj" fmla="val 17778"/>
            </a:avLst>
          </a:prstGeom>
          <a:solidFill>
            <a:srgbClr val="1E5631"/>
          </a:solidFill>
          <a:ln/>
        </p:spPr>
      </p:sp>
      <p:sp>
        <p:nvSpPr>
          <p:cNvPr id="8" name="Text 5"/>
          <p:cNvSpPr txBox="1"/>
          <p:nvPr/>
        </p:nvSpPr>
        <p:spPr>
          <a:xfrm>
            <a:off x="713232" y="1645920"/>
            <a:ext cx="5172304" cy="411480"/>
          </a:xfrm>
          <a:prstGeom prst="rect">
            <a:avLst/>
          </a:prstGeom>
          <a:noFill/>
          <a:ln/>
        </p:spPr>
        <p:txBody>
          <a:bodyPr wrap="square" lIns="0" tIns="0" rIns="0" bIns="0" rtlCol="0" anchor="ctr"/>
          <a:lstStyle/>
          <a:p>
            <a:pPr indent="0" marL="0">
              <a:buNone/>
            </a:pPr>
            <a:r>
              <a:rPr lang="en-US" sz="1400" b="1" dirty="0">
                <a:solidFill>
                  <a:srgbClr val="FFFFFF"/>
                </a:solidFill>
              </a:rPr>
              <a:t>Basic set-up</a:t>
            </a:r>
            <a:endParaRPr lang="en-US" sz="1400" dirty="0"/>
          </a:p>
        </p:txBody>
      </p:sp>
      <p:sp>
        <p:nvSpPr>
          <p:cNvPr id="9" name="Text 6"/>
          <p:cNvSpPr txBox="1"/>
          <p:nvPr/>
        </p:nvSpPr>
        <p:spPr>
          <a:xfrm>
            <a:off x="713232" y="2157984"/>
            <a:ext cx="5117440" cy="1664208"/>
          </a:xfrm>
          <a:prstGeom prst="rect">
            <a:avLst/>
          </a:prstGeom>
          <a:noFill/>
          <a:ln/>
        </p:spPr>
        <p:txBody>
          <a:bodyPr wrap="square" lIns="0" tIns="0" rIns="0" bIns="0" rtlCol="0" anchor="t"/>
          <a:lstStyle/>
          <a:p>
            <a:pPr indent="0" marL="0">
              <a:buNone/>
            </a:pPr>
            <a:r>
              <a:rPr lang="en-US" sz="1200" b="1" dirty="0">
                <a:solidFill>
                  <a:srgbClr val="1E5631"/>
                </a:solidFill>
                <a:latin typeface="Courier New" pitchFamily="34" charset="0"/>
                <a:ea typeface="Courier New" pitchFamily="34" charset="-122"/>
                <a:cs typeface="Courier New" pitchFamily="34" charset="-120"/>
              </a:rPr>
              <a:t>hostname S1</a:t>
            </a:r>
            <a:endParaRPr lang="en-US" sz="1200" dirty="0"/>
          </a:p>
          <a:p>
            <a:pPr indent="0" marL="0">
              <a:buNone/>
            </a:pPr>
            <a:r>
              <a:rPr lang="en-US" sz="1200" b="1" dirty="0">
                <a:solidFill>
                  <a:srgbClr val="1E5631"/>
                </a:solidFill>
                <a:latin typeface="Courier New" pitchFamily="34" charset="0"/>
                <a:ea typeface="Courier New" pitchFamily="34" charset="-122"/>
                <a:cs typeface="Courier New" pitchFamily="34" charset="-120"/>
              </a:rPr>
              <a:t>enable secret &lt;password&gt;</a:t>
            </a:r>
            <a:endParaRPr lang="en-US" sz="1200" dirty="0"/>
          </a:p>
          <a:p>
            <a:pPr indent="0" marL="0">
              <a:buNone/>
            </a:pPr>
            <a:r>
              <a:rPr lang="en-US" sz="1200" b="1" dirty="0">
                <a:solidFill>
                  <a:srgbClr val="1E5631"/>
                </a:solidFill>
                <a:latin typeface="Courier New" pitchFamily="34" charset="0"/>
                <a:ea typeface="Courier New" pitchFamily="34" charset="-122"/>
                <a:cs typeface="Courier New" pitchFamily="34" charset="-120"/>
              </a:rPr>
              <a:t>line console 0</a:t>
            </a:r>
            <a:endParaRPr lang="en-US" sz="1200" dirty="0"/>
          </a:p>
          <a:p>
            <a:pPr indent="0" marL="0">
              <a:buNone/>
            </a:pPr>
            <a:r>
              <a:rPr lang="en-US" sz="1200" dirty="0">
                <a:solidFill>
                  <a:srgbClr val="1E5631"/>
                </a:solidFill>
                <a:latin typeface="Courier New" pitchFamily="34" charset="0"/>
                <a:ea typeface="Courier New" pitchFamily="34" charset="-122"/>
                <a:cs typeface="Courier New" pitchFamily="34" charset="-120"/>
              </a:rPr>
              <a:t> password &lt;password&gt;</a:t>
            </a:r>
            <a:endParaRPr lang="en-US" sz="1200" dirty="0"/>
          </a:p>
          <a:p>
            <a:pPr indent="0" marL="0">
              <a:buNone/>
            </a:pPr>
            <a:r>
              <a:rPr lang="en-US" sz="1200" dirty="0">
                <a:solidFill>
                  <a:srgbClr val="1E5631"/>
                </a:solidFill>
                <a:latin typeface="Courier New" pitchFamily="34" charset="0"/>
                <a:ea typeface="Courier New" pitchFamily="34" charset="-122"/>
                <a:cs typeface="Courier New" pitchFamily="34" charset="-120"/>
              </a:rPr>
              <a:t> login</a:t>
            </a:r>
            <a:endParaRPr lang="en-US" sz="1200" dirty="0"/>
          </a:p>
          <a:p>
            <a:pPr indent="0" marL="0">
              <a:buNone/>
            </a:pPr>
            <a:r>
              <a:rPr lang="en-US" sz="1200" b="1" dirty="0">
                <a:solidFill>
                  <a:srgbClr val="1E5631"/>
                </a:solidFill>
                <a:latin typeface="Courier New" pitchFamily="34" charset="0"/>
                <a:ea typeface="Courier New" pitchFamily="34" charset="-122"/>
                <a:cs typeface="Courier New" pitchFamily="34" charset="-120"/>
              </a:rPr>
              <a:t>interface vlan 99</a:t>
            </a:r>
            <a:endParaRPr lang="en-US" sz="1200" dirty="0"/>
          </a:p>
          <a:p>
            <a:pPr indent="0" marL="0">
              <a:buNone/>
            </a:pPr>
            <a:r>
              <a:rPr lang="en-US" sz="1200" dirty="0">
                <a:solidFill>
                  <a:srgbClr val="1E5631"/>
                </a:solidFill>
                <a:latin typeface="Courier New" pitchFamily="34" charset="0"/>
                <a:ea typeface="Courier New" pitchFamily="34" charset="-122"/>
                <a:cs typeface="Courier New" pitchFamily="34" charset="-120"/>
              </a:rPr>
              <a:t> ip address &lt;ip&gt; &lt;mask&gt;</a:t>
            </a:r>
            <a:endParaRPr lang="en-US" sz="1200" dirty="0"/>
          </a:p>
          <a:p>
            <a:pPr indent="0" marL="0">
              <a:buNone/>
            </a:pPr>
            <a:r>
              <a:rPr lang="en-US" sz="1200" b="1" dirty="0">
                <a:solidFill>
                  <a:srgbClr val="1E5631"/>
                </a:solidFill>
                <a:latin typeface="Courier New" pitchFamily="34" charset="0"/>
                <a:ea typeface="Courier New" pitchFamily="34" charset="-122"/>
                <a:cs typeface="Courier New" pitchFamily="34" charset="-120"/>
              </a:rPr>
              <a:t>ip default-gateway &lt;router-ip&gt;</a:t>
            </a:r>
            <a:endParaRPr lang="en-US" sz="1200" dirty="0"/>
          </a:p>
          <a:p>
            <a:pPr indent="0" marL="0">
              <a:buNone/>
            </a:pPr>
            <a:r>
              <a:rPr lang="en-US" sz="1200" b="1" dirty="0">
                <a:solidFill>
                  <a:srgbClr val="1E5631"/>
                </a:solidFill>
                <a:latin typeface="Courier New" pitchFamily="34" charset="0"/>
                <a:ea typeface="Courier New" pitchFamily="34" charset="-122"/>
                <a:cs typeface="Courier New" pitchFamily="34" charset="-120"/>
              </a:rPr>
              <a:t>copy running-config startup-config</a:t>
            </a:r>
            <a:endParaRPr lang="en-US" sz="1200" dirty="0"/>
          </a:p>
        </p:txBody>
      </p:sp>
      <p:sp>
        <p:nvSpPr>
          <p:cNvPr id="10" name="Shape 7"/>
          <p:cNvSpPr/>
          <p:nvPr/>
        </p:nvSpPr>
        <p:spPr>
          <a:xfrm>
            <a:off x="6196432" y="1645920"/>
            <a:ext cx="5446624" cy="2249424"/>
          </a:xfrm>
          <a:prstGeom prst="roundRect">
            <a:avLst>
              <a:gd name="adj" fmla="val 3252"/>
            </a:avLst>
          </a:prstGeom>
          <a:solidFill>
            <a:srgbClr val="F2F8F3"/>
          </a:solidFill>
          <a:ln w="12700">
            <a:solidFill>
              <a:srgbClr val="B7C9BA"/>
            </a:solidFill>
            <a:prstDash val="solid"/>
          </a:ln>
        </p:spPr>
      </p:sp>
      <p:sp>
        <p:nvSpPr>
          <p:cNvPr id="11" name="Shape 8"/>
          <p:cNvSpPr/>
          <p:nvPr/>
        </p:nvSpPr>
        <p:spPr>
          <a:xfrm>
            <a:off x="6196432" y="1645920"/>
            <a:ext cx="5446624" cy="411480"/>
          </a:xfrm>
          <a:prstGeom prst="roundRect">
            <a:avLst>
              <a:gd name="adj" fmla="val 17778"/>
            </a:avLst>
          </a:prstGeom>
          <a:solidFill>
            <a:srgbClr val="1E5631"/>
          </a:solidFill>
          <a:ln/>
        </p:spPr>
      </p:sp>
      <p:sp>
        <p:nvSpPr>
          <p:cNvPr id="12" name="Text 9"/>
          <p:cNvSpPr txBox="1"/>
          <p:nvPr/>
        </p:nvSpPr>
        <p:spPr>
          <a:xfrm>
            <a:off x="6361024" y="1645920"/>
            <a:ext cx="5172304" cy="411480"/>
          </a:xfrm>
          <a:prstGeom prst="rect">
            <a:avLst/>
          </a:prstGeom>
          <a:noFill/>
          <a:ln/>
        </p:spPr>
        <p:txBody>
          <a:bodyPr wrap="square" lIns="0" tIns="0" rIns="0" bIns="0" rtlCol="0" anchor="ctr"/>
          <a:lstStyle/>
          <a:p>
            <a:pPr indent="0" marL="0">
              <a:buNone/>
            </a:pPr>
            <a:r>
              <a:rPr lang="en-US" sz="1400" b="1" dirty="0">
                <a:solidFill>
                  <a:srgbClr val="FFFFFF"/>
                </a:solidFill>
              </a:rPr>
              <a:t>VLANs and trunks</a:t>
            </a:r>
            <a:endParaRPr lang="en-US" sz="1400" dirty="0"/>
          </a:p>
        </p:txBody>
      </p:sp>
      <p:sp>
        <p:nvSpPr>
          <p:cNvPr id="13" name="Text 10"/>
          <p:cNvSpPr txBox="1"/>
          <p:nvPr/>
        </p:nvSpPr>
        <p:spPr>
          <a:xfrm>
            <a:off x="6361024" y="2157984"/>
            <a:ext cx="5117440" cy="1664208"/>
          </a:xfrm>
          <a:prstGeom prst="rect">
            <a:avLst/>
          </a:prstGeom>
          <a:noFill/>
          <a:ln/>
        </p:spPr>
        <p:txBody>
          <a:bodyPr wrap="square" lIns="0" tIns="0" rIns="0" bIns="0" rtlCol="0" anchor="t"/>
          <a:lstStyle/>
          <a:p>
            <a:pPr indent="0" marL="0">
              <a:buNone/>
            </a:pPr>
            <a:r>
              <a:rPr lang="en-US" sz="1200" b="1" dirty="0">
                <a:solidFill>
                  <a:srgbClr val="1E5631"/>
                </a:solidFill>
                <a:latin typeface="Courier New" pitchFamily="34" charset="0"/>
                <a:ea typeface="Courier New" pitchFamily="34" charset="-122"/>
                <a:cs typeface="Courier New" pitchFamily="34" charset="-120"/>
              </a:rPr>
              <a:t>vlan 10</a:t>
            </a:r>
            <a:endParaRPr lang="en-US" sz="1200" dirty="0"/>
          </a:p>
          <a:p>
            <a:pPr indent="0" marL="0">
              <a:buNone/>
            </a:pPr>
            <a:r>
              <a:rPr lang="en-US" sz="1200" dirty="0">
                <a:solidFill>
                  <a:srgbClr val="1E5631"/>
                </a:solidFill>
                <a:latin typeface="Courier New" pitchFamily="34" charset="0"/>
                <a:ea typeface="Courier New" pitchFamily="34" charset="-122"/>
                <a:cs typeface="Courier New" pitchFamily="34" charset="-120"/>
              </a:rPr>
              <a:t> name STAFF</a:t>
            </a:r>
            <a:endParaRPr lang="en-US" sz="1200" dirty="0"/>
          </a:p>
          <a:p>
            <a:pPr indent="0" marL="0">
              <a:buNone/>
            </a:pPr>
            <a:r>
              <a:rPr lang="en-US" sz="1200" b="1" dirty="0">
                <a:solidFill>
                  <a:srgbClr val="1E5631"/>
                </a:solidFill>
                <a:latin typeface="Courier New" pitchFamily="34" charset="0"/>
                <a:ea typeface="Courier New" pitchFamily="34" charset="-122"/>
                <a:cs typeface="Courier New" pitchFamily="34" charset="-120"/>
              </a:rPr>
              <a:t>interface range fa0/1 - 10</a:t>
            </a:r>
            <a:endParaRPr lang="en-US" sz="1200" dirty="0"/>
          </a:p>
          <a:p>
            <a:pPr indent="0" marL="0">
              <a:buNone/>
            </a:pPr>
            <a:r>
              <a:rPr lang="en-US" sz="1200" dirty="0">
                <a:solidFill>
                  <a:srgbClr val="1E5631"/>
                </a:solidFill>
                <a:latin typeface="Courier New" pitchFamily="34" charset="0"/>
                <a:ea typeface="Courier New" pitchFamily="34" charset="-122"/>
                <a:cs typeface="Courier New" pitchFamily="34" charset="-120"/>
              </a:rPr>
              <a:t> switchport mode access</a:t>
            </a:r>
            <a:endParaRPr lang="en-US" sz="1200" dirty="0"/>
          </a:p>
          <a:p>
            <a:pPr indent="0" marL="0">
              <a:buNone/>
            </a:pPr>
            <a:r>
              <a:rPr lang="en-US" sz="1200" dirty="0">
                <a:solidFill>
                  <a:srgbClr val="1E5631"/>
                </a:solidFill>
                <a:latin typeface="Courier New" pitchFamily="34" charset="0"/>
                <a:ea typeface="Courier New" pitchFamily="34" charset="-122"/>
                <a:cs typeface="Courier New" pitchFamily="34" charset="-120"/>
              </a:rPr>
              <a:t> switchport access vlan 10</a:t>
            </a:r>
            <a:endParaRPr lang="en-US" sz="1200" dirty="0"/>
          </a:p>
          <a:p>
            <a:pPr indent="0" marL="0">
              <a:buNone/>
            </a:pPr>
            <a:r>
              <a:rPr lang="en-US" sz="1200" b="1" dirty="0">
                <a:solidFill>
                  <a:srgbClr val="1E5631"/>
                </a:solidFill>
                <a:latin typeface="Courier New" pitchFamily="34" charset="0"/>
                <a:ea typeface="Courier New" pitchFamily="34" charset="-122"/>
                <a:cs typeface="Courier New" pitchFamily="34" charset="-120"/>
              </a:rPr>
              <a:t>interface g0/1</a:t>
            </a:r>
            <a:endParaRPr lang="en-US" sz="1200" dirty="0"/>
          </a:p>
          <a:p>
            <a:pPr indent="0" marL="0">
              <a:buNone/>
            </a:pPr>
            <a:r>
              <a:rPr lang="en-US" sz="1200" dirty="0">
                <a:solidFill>
                  <a:srgbClr val="1E5631"/>
                </a:solidFill>
                <a:latin typeface="Courier New" pitchFamily="34" charset="0"/>
                <a:ea typeface="Courier New" pitchFamily="34" charset="-122"/>
                <a:cs typeface="Courier New" pitchFamily="34" charset="-120"/>
              </a:rPr>
              <a:t> switchport mode trunk</a:t>
            </a:r>
            <a:endParaRPr lang="en-US" sz="1200" dirty="0"/>
          </a:p>
          <a:p>
            <a:pPr indent="0" marL="0">
              <a:buNone/>
            </a:pPr>
            <a:r>
              <a:rPr lang="en-US" sz="1200" dirty="0">
                <a:solidFill>
                  <a:srgbClr val="1E5631"/>
                </a:solidFill>
                <a:latin typeface="Courier New" pitchFamily="34" charset="0"/>
                <a:ea typeface="Courier New" pitchFamily="34" charset="-122"/>
                <a:cs typeface="Courier New" pitchFamily="34" charset="-120"/>
              </a:rPr>
              <a:t> switchport trunk native vlan 99</a:t>
            </a:r>
            <a:endParaRPr lang="en-US" sz="1200" dirty="0"/>
          </a:p>
          <a:p>
            <a:pPr indent="0" marL="0">
              <a:buNone/>
            </a:pPr>
            <a:r>
              <a:rPr lang="en-US" sz="1200" dirty="0">
                <a:solidFill>
                  <a:srgbClr val="1E5631"/>
                </a:solidFill>
                <a:latin typeface="Courier New" pitchFamily="34" charset="0"/>
                <a:ea typeface="Courier New" pitchFamily="34" charset="-122"/>
                <a:cs typeface="Courier New" pitchFamily="34" charset="-120"/>
              </a:rPr>
              <a:t> switchport trunk allowed vlan add 40</a:t>
            </a:r>
            <a:endParaRPr lang="en-US" sz="1200" dirty="0"/>
          </a:p>
        </p:txBody>
      </p:sp>
      <p:sp>
        <p:nvSpPr>
          <p:cNvPr id="14" name="Shape 11"/>
          <p:cNvSpPr/>
          <p:nvPr/>
        </p:nvSpPr>
        <p:spPr>
          <a:xfrm>
            <a:off x="548640" y="4096512"/>
            <a:ext cx="5446624" cy="2249424"/>
          </a:xfrm>
          <a:prstGeom prst="roundRect">
            <a:avLst>
              <a:gd name="adj" fmla="val 3252"/>
            </a:avLst>
          </a:prstGeom>
          <a:solidFill>
            <a:srgbClr val="F2F8F3"/>
          </a:solidFill>
          <a:ln w="12700">
            <a:solidFill>
              <a:srgbClr val="B7C9BA"/>
            </a:solidFill>
            <a:prstDash val="solid"/>
          </a:ln>
        </p:spPr>
      </p:sp>
      <p:sp>
        <p:nvSpPr>
          <p:cNvPr id="15" name="Shape 12"/>
          <p:cNvSpPr/>
          <p:nvPr/>
        </p:nvSpPr>
        <p:spPr>
          <a:xfrm>
            <a:off x="548640" y="4096512"/>
            <a:ext cx="5446624" cy="411480"/>
          </a:xfrm>
          <a:prstGeom prst="roundRect">
            <a:avLst>
              <a:gd name="adj" fmla="val 17778"/>
            </a:avLst>
          </a:prstGeom>
          <a:solidFill>
            <a:srgbClr val="1E5631"/>
          </a:solidFill>
          <a:ln/>
        </p:spPr>
      </p:sp>
      <p:sp>
        <p:nvSpPr>
          <p:cNvPr id="16" name="Text 13"/>
          <p:cNvSpPr txBox="1"/>
          <p:nvPr/>
        </p:nvSpPr>
        <p:spPr>
          <a:xfrm>
            <a:off x="713232" y="4096512"/>
            <a:ext cx="5172304" cy="411480"/>
          </a:xfrm>
          <a:prstGeom prst="rect">
            <a:avLst/>
          </a:prstGeom>
          <a:noFill/>
          <a:ln/>
        </p:spPr>
        <p:txBody>
          <a:bodyPr wrap="square" lIns="0" tIns="0" rIns="0" bIns="0" rtlCol="0" anchor="ctr"/>
          <a:lstStyle/>
          <a:p>
            <a:pPr indent="0" marL="0">
              <a:buNone/>
            </a:pPr>
            <a:r>
              <a:rPr lang="en-US" sz="1400" b="1" dirty="0">
                <a:solidFill>
                  <a:srgbClr val="FFFFFF"/>
                </a:solidFill>
              </a:rPr>
              <a:t>Security, STP, EtherChannel</a:t>
            </a:r>
            <a:endParaRPr lang="en-US" sz="1400" dirty="0"/>
          </a:p>
        </p:txBody>
      </p:sp>
      <p:sp>
        <p:nvSpPr>
          <p:cNvPr id="17" name="Text 14"/>
          <p:cNvSpPr txBox="1"/>
          <p:nvPr/>
        </p:nvSpPr>
        <p:spPr>
          <a:xfrm>
            <a:off x="713232" y="4608576"/>
            <a:ext cx="5117440" cy="1664208"/>
          </a:xfrm>
          <a:prstGeom prst="rect">
            <a:avLst/>
          </a:prstGeom>
          <a:noFill/>
          <a:ln/>
        </p:spPr>
        <p:txBody>
          <a:bodyPr wrap="square" lIns="0" tIns="0" rIns="0" bIns="0" rtlCol="0" anchor="t"/>
          <a:lstStyle/>
          <a:p>
            <a:pPr indent="0" marL="0">
              <a:buNone/>
            </a:pPr>
            <a:r>
              <a:rPr lang="en-US" sz="1200" b="1" dirty="0">
                <a:solidFill>
                  <a:srgbClr val="1E5631"/>
                </a:solidFill>
                <a:latin typeface="Courier New" pitchFamily="34" charset="0"/>
                <a:ea typeface="Courier New" pitchFamily="34" charset="-122"/>
                <a:cs typeface="Courier New" pitchFamily="34" charset="-120"/>
              </a:rPr>
              <a:t>switchport port-security</a:t>
            </a:r>
            <a:endParaRPr lang="en-US" sz="1200" dirty="0"/>
          </a:p>
          <a:p>
            <a:pPr indent="0" marL="0">
              <a:buNone/>
            </a:pPr>
            <a:r>
              <a:rPr lang="en-US" sz="1200" b="1" dirty="0">
                <a:solidFill>
                  <a:srgbClr val="1E5631"/>
                </a:solidFill>
                <a:latin typeface="Courier New" pitchFamily="34" charset="0"/>
                <a:ea typeface="Courier New" pitchFamily="34" charset="-122"/>
                <a:cs typeface="Courier New" pitchFamily="34" charset="-120"/>
              </a:rPr>
              <a:t>switchport port-security maximum 1</a:t>
            </a:r>
            <a:endParaRPr lang="en-US" sz="1200" dirty="0"/>
          </a:p>
          <a:p>
            <a:pPr indent="0" marL="0">
              <a:buNone/>
            </a:pPr>
            <a:r>
              <a:rPr lang="en-US" sz="1200" b="1" dirty="0">
                <a:solidFill>
                  <a:srgbClr val="1E5631"/>
                </a:solidFill>
                <a:latin typeface="Courier New" pitchFamily="34" charset="0"/>
                <a:ea typeface="Courier New" pitchFamily="34" charset="-122"/>
                <a:cs typeface="Courier New" pitchFamily="34" charset="-120"/>
              </a:rPr>
              <a:t>switchport port-security mac-address sticky</a:t>
            </a:r>
            <a:endParaRPr lang="en-US" sz="1200" dirty="0"/>
          </a:p>
          <a:p>
            <a:pPr indent="0" marL="0">
              <a:buNone/>
            </a:pPr>
            <a:r>
              <a:rPr lang="en-US" sz="1200" b="1" dirty="0">
                <a:solidFill>
                  <a:srgbClr val="1E5631"/>
                </a:solidFill>
                <a:latin typeface="Courier New" pitchFamily="34" charset="0"/>
                <a:ea typeface="Courier New" pitchFamily="34" charset="-122"/>
                <a:cs typeface="Courier New" pitchFamily="34" charset="-120"/>
              </a:rPr>
              <a:t>switchport port-security violation shutdown</a:t>
            </a:r>
            <a:endParaRPr lang="en-US" sz="1200" dirty="0"/>
          </a:p>
          <a:p>
            <a:pPr indent="0" marL="0">
              <a:buNone/>
            </a:pPr>
            <a:r>
              <a:rPr lang="en-US" sz="1200" b="1" dirty="0">
                <a:solidFill>
                  <a:srgbClr val="1E5631"/>
                </a:solidFill>
                <a:latin typeface="Courier New" pitchFamily="34" charset="0"/>
                <a:ea typeface="Courier New" pitchFamily="34" charset="-122"/>
                <a:cs typeface="Courier New" pitchFamily="34" charset="-120"/>
              </a:rPr>
              <a:t>spanning-tree mode rapid-pvst</a:t>
            </a:r>
            <a:endParaRPr lang="en-US" sz="1200" dirty="0"/>
          </a:p>
          <a:p>
            <a:pPr indent="0" marL="0">
              <a:buNone/>
            </a:pPr>
            <a:r>
              <a:rPr lang="en-US" sz="1200" b="1" dirty="0">
                <a:solidFill>
                  <a:srgbClr val="1E5631"/>
                </a:solidFill>
                <a:latin typeface="Courier New" pitchFamily="34" charset="0"/>
                <a:ea typeface="Courier New" pitchFamily="34" charset="-122"/>
                <a:cs typeface="Courier New" pitchFamily="34" charset="-120"/>
              </a:rPr>
              <a:t>spanning-tree vlan 10 root primary</a:t>
            </a:r>
            <a:endParaRPr lang="en-US" sz="1200" dirty="0"/>
          </a:p>
          <a:p>
            <a:pPr indent="0" marL="0">
              <a:buNone/>
            </a:pPr>
            <a:r>
              <a:rPr lang="en-US" sz="1200" b="1" dirty="0">
                <a:solidFill>
                  <a:srgbClr val="1E5631"/>
                </a:solidFill>
                <a:latin typeface="Courier New" pitchFamily="34" charset="0"/>
                <a:ea typeface="Courier New" pitchFamily="34" charset="-122"/>
                <a:cs typeface="Courier New" pitchFamily="34" charset="-120"/>
              </a:rPr>
              <a:t>spanning-tree portfast</a:t>
            </a:r>
            <a:endParaRPr lang="en-US" sz="1200" dirty="0"/>
          </a:p>
          <a:p>
            <a:pPr indent="0" marL="0">
              <a:buNone/>
            </a:pPr>
            <a:r>
              <a:rPr lang="en-US" sz="1200" b="1" dirty="0">
                <a:solidFill>
                  <a:srgbClr val="1E5631"/>
                </a:solidFill>
                <a:latin typeface="Courier New" pitchFamily="34" charset="0"/>
                <a:ea typeface="Courier New" pitchFamily="34" charset="-122"/>
                <a:cs typeface="Courier New" pitchFamily="34" charset="-120"/>
              </a:rPr>
              <a:t>spanning-tree bpduguard enable</a:t>
            </a:r>
            <a:endParaRPr lang="en-US" sz="1200" dirty="0"/>
          </a:p>
          <a:p>
            <a:pPr indent="0" marL="0">
              <a:buNone/>
            </a:pPr>
            <a:r>
              <a:rPr lang="en-US" sz="1200" b="1" dirty="0">
                <a:solidFill>
                  <a:srgbClr val="1E5631"/>
                </a:solidFill>
                <a:latin typeface="Courier New" pitchFamily="34" charset="0"/>
                <a:ea typeface="Courier New" pitchFamily="34" charset="-122"/>
                <a:cs typeface="Courier New" pitchFamily="34" charset="-120"/>
              </a:rPr>
              <a:t>channel-group 1 mode active</a:t>
            </a:r>
            <a:endParaRPr lang="en-US" sz="1200" dirty="0"/>
          </a:p>
        </p:txBody>
      </p:sp>
      <p:sp>
        <p:nvSpPr>
          <p:cNvPr id="18" name="Shape 15"/>
          <p:cNvSpPr/>
          <p:nvPr/>
        </p:nvSpPr>
        <p:spPr>
          <a:xfrm>
            <a:off x="6196432" y="4096512"/>
            <a:ext cx="5446624" cy="2249424"/>
          </a:xfrm>
          <a:prstGeom prst="roundRect">
            <a:avLst>
              <a:gd name="adj" fmla="val 3252"/>
            </a:avLst>
          </a:prstGeom>
          <a:solidFill>
            <a:srgbClr val="1B2B22"/>
          </a:solidFill>
          <a:ln w="12700">
            <a:solidFill>
              <a:srgbClr val="1B2B22"/>
            </a:solidFill>
            <a:prstDash val="solid"/>
          </a:ln>
        </p:spPr>
      </p:sp>
      <p:sp>
        <p:nvSpPr>
          <p:cNvPr id="19" name="Shape 16"/>
          <p:cNvSpPr/>
          <p:nvPr/>
        </p:nvSpPr>
        <p:spPr>
          <a:xfrm>
            <a:off x="6196432" y="4096512"/>
            <a:ext cx="5446624" cy="411480"/>
          </a:xfrm>
          <a:prstGeom prst="roundRect">
            <a:avLst>
              <a:gd name="adj" fmla="val 17778"/>
            </a:avLst>
          </a:prstGeom>
          <a:solidFill>
            <a:srgbClr val="24663A"/>
          </a:solidFill>
          <a:ln/>
        </p:spPr>
      </p:sp>
      <p:sp>
        <p:nvSpPr>
          <p:cNvPr id="20" name="Text 17"/>
          <p:cNvSpPr txBox="1"/>
          <p:nvPr/>
        </p:nvSpPr>
        <p:spPr>
          <a:xfrm>
            <a:off x="6361024" y="4096512"/>
            <a:ext cx="5172304" cy="411480"/>
          </a:xfrm>
          <a:prstGeom prst="rect">
            <a:avLst/>
          </a:prstGeom>
          <a:noFill/>
          <a:ln/>
        </p:spPr>
        <p:txBody>
          <a:bodyPr wrap="square" lIns="0" tIns="0" rIns="0" bIns="0" rtlCol="0" anchor="ctr"/>
          <a:lstStyle/>
          <a:p>
            <a:pPr indent="0" marL="0">
              <a:buNone/>
            </a:pPr>
            <a:r>
              <a:rPr lang="en-US" sz="1400" b="1" dirty="0">
                <a:solidFill>
                  <a:srgbClr val="FFFFFF"/>
                </a:solidFill>
              </a:rPr>
              <a:t>Check it</a:t>
            </a:r>
            <a:endParaRPr lang="en-US" sz="1400" dirty="0"/>
          </a:p>
        </p:txBody>
      </p:sp>
      <p:sp>
        <p:nvSpPr>
          <p:cNvPr id="21" name="Text 18"/>
          <p:cNvSpPr txBox="1"/>
          <p:nvPr/>
        </p:nvSpPr>
        <p:spPr>
          <a:xfrm>
            <a:off x="6361024" y="4608576"/>
            <a:ext cx="5117440" cy="1664208"/>
          </a:xfrm>
          <a:prstGeom prst="rect">
            <a:avLst/>
          </a:prstGeom>
          <a:noFill/>
          <a:ln/>
        </p:spPr>
        <p:txBody>
          <a:bodyPr wrap="square" lIns="0" tIns="0" rIns="0" bIns="0" rtlCol="0" anchor="t"/>
          <a:lstStyle/>
          <a:p>
            <a:pPr indent="0" marL="0">
              <a:buNone/>
            </a:pPr>
            <a:r>
              <a:rPr lang="en-US" sz="1200" b="1" dirty="0">
                <a:solidFill>
                  <a:srgbClr val="FFFFFF"/>
                </a:solidFill>
                <a:latin typeface="Courier New" pitchFamily="34" charset="0"/>
                <a:ea typeface="Courier New" pitchFamily="34" charset="-122"/>
                <a:cs typeface="Courier New" pitchFamily="34" charset="-120"/>
              </a:rPr>
              <a:t>show vlan brief</a:t>
            </a:r>
            <a:endParaRPr lang="en-US" sz="1200" dirty="0"/>
          </a:p>
          <a:p>
            <a:pPr indent="0" marL="0">
              <a:buNone/>
            </a:pPr>
            <a:r>
              <a:rPr lang="en-US" sz="1200" b="1" dirty="0">
                <a:solidFill>
                  <a:srgbClr val="FFFFFF"/>
                </a:solidFill>
                <a:latin typeface="Courier New" pitchFamily="34" charset="0"/>
                <a:ea typeface="Courier New" pitchFamily="34" charset="-122"/>
                <a:cs typeface="Courier New" pitchFamily="34" charset="-120"/>
              </a:rPr>
              <a:t>show interfaces trunk</a:t>
            </a:r>
            <a:endParaRPr lang="en-US" sz="1200" dirty="0"/>
          </a:p>
          <a:p>
            <a:pPr indent="0" marL="0">
              <a:buNone/>
            </a:pPr>
            <a:r>
              <a:rPr lang="en-US" sz="1200" b="1" dirty="0">
                <a:solidFill>
                  <a:srgbClr val="FFFFFF"/>
                </a:solidFill>
                <a:latin typeface="Courier New" pitchFamily="34" charset="0"/>
                <a:ea typeface="Courier New" pitchFamily="34" charset="-122"/>
                <a:cs typeface="Courier New" pitchFamily="34" charset="-120"/>
              </a:rPr>
              <a:t>show ip interface brief</a:t>
            </a:r>
            <a:endParaRPr lang="en-US" sz="1200" dirty="0"/>
          </a:p>
          <a:p>
            <a:pPr indent="0" marL="0">
              <a:buNone/>
            </a:pPr>
            <a:r>
              <a:rPr lang="en-US" sz="1200" b="1" dirty="0">
                <a:solidFill>
                  <a:srgbClr val="FFFFFF"/>
                </a:solidFill>
                <a:latin typeface="Courier New" pitchFamily="34" charset="0"/>
                <a:ea typeface="Courier New" pitchFamily="34" charset="-122"/>
                <a:cs typeface="Courier New" pitchFamily="34" charset="-120"/>
              </a:rPr>
              <a:t>show mac address-table</a:t>
            </a:r>
            <a:endParaRPr lang="en-US" sz="1200" dirty="0"/>
          </a:p>
          <a:p>
            <a:pPr indent="0" marL="0">
              <a:buNone/>
            </a:pPr>
            <a:r>
              <a:rPr lang="en-US" sz="1200" b="1" dirty="0">
                <a:solidFill>
                  <a:srgbClr val="FFFFFF"/>
                </a:solidFill>
                <a:latin typeface="Courier New" pitchFamily="34" charset="0"/>
                <a:ea typeface="Courier New" pitchFamily="34" charset="-122"/>
                <a:cs typeface="Courier New" pitchFamily="34" charset="-120"/>
              </a:rPr>
              <a:t>show port-security interface fa0/1</a:t>
            </a:r>
            <a:endParaRPr lang="en-US" sz="1200" dirty="0"/>
          </a:p>
          <a:p>
            <a:pPr indent="0" marL="0">
              <a:buNone/>
            </a:pPr>
            <a:r>
              <a:rPr lang="en-US" sz="1200" b="1" dirty="0">
                <a:solidFill>
                  <a:srgbClr val="FFFFFF"/>
                </a:solidFill>
                <a:latin typeface="Courier New" pitchFamily="34" charset="0"/>
                <a:ea typeface="Courier New" pitchFamily="34" charset="-122"/>
                <a:cs typeface="Courier New" pitchFamily="34" charset="-120"/>
              </a:rPr>
              <a:t>show spanning-tree vlan 10</a:t>
            </a:r>
            <a:endParaRPr lang="en-US" sz="1200" dirty="0"/>
          </a:p>
          <a:p>
            <a:pPr indent="0" marL="0">
              <a:buNone/>
            </a:pPr>
            <a:r>
              <a:rPr lang="en-US" sz="1200" b="1" dirty="0">
                <a:solidFill>
                  <a:srgbClr val="FFFFFF"/>
                </a:solidFill>
                <a:latin typeface="Courier New" pitchFamily="34" charset="0"/>
                <a:ea typeface="Courier New" pitchFamily="34" charset="-122"/>
                <a:cs typeface="Courier New" pitchFamily="34" charset="-120"/>
              </a:rPr>
              <a:t>show etherchannel summary</a:t>
            </a:r>
            <a:endParaRPr lang="en-US" sz="1200" dirty="0"/>
          </a:p>
          <a:p>
            <a:pPr indent="0" marL="0">
              <a:buNone/>
            </a:pPr>
            <a:r>
              <a:rPr lang="en-US" sz="1200" b="1" dirty="0">
                <a:solidFill>
                  <a:srgbClr val="FFFFFF"/>
                </a:solidFill>
                <a:latin typeface="Courier New" pitchFamily="34" charset="0"/>
                <a:ea typeface="Courier New" pitchFamily="34" charset="-122"/>
                <a:cs typeface="Courier New" pitchFamily="34" charset="-120"/>
              </a:rPr>
              <a:t>show cdp neighbors</a:t>
            </a:r>
            <a:endParaRPr lang="en-US" sz="1200" dirty="0"/>
          </a:p>
        </p:txBody>
      </p:sp>
      <p:sp>
        <p:nvSpPr>
          <p:cNvPr id="25" name="Slide Number Placeholder 0"/>
          <p:cNvSpPr>
            <a:spLocks noGrp="1"/>
          </p:cNvSpPr>
          <p:nvPr>
            <p:ph type="sldNum" sz="quarter" idx="4294967295"/>
          </p:nvPr>
        </p:nvSpPr>
        <p:spPr>
          <a:xfrm>
            <a:off x="10698480" y="6464808"/>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r"/>
            <a:fld id="{F7021451-1387-4CA6-816F-3879F97B5CBC}" type="slidenum">
              <a:rPr b="0" lang="en-US"/>
              <a:t>90</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ext 1"/>
          <p:cNvSpPr/>
          <p:nvPr>
            <p:ph idx="102" type="body" hasCustomPrompt="1"/>
          </p:nvPr>
        </p:nvSpPr>
        <p:spPr>
          <a:xfrm>
            <a:off x="548640" y="274320"/>
            <a:ext cx="9966960" cy="256032"/>
          </a:xfrm>
          <a:prstGeom prst="rect">
            <a:avLst/>
          </a:prstGeom>
          <a:noFill/>
          <a:ln/>
        </p:spPr>
        <p:txBody>
          <a:bodyPr wrap="square" lIns="0" tIns="0" rIns="0" bIns="0" rtlCol="0" anchor="ctr"/>
          <a:lstStyle/>
          <a:p>
            <a:pPr algn="l" indent="0" marL="0">
              <a:buNone/>
            </a:pPr>
            <a:r>
              <a:rPr lang="en-US" sz="1100" b="1" spc="100" kern="0" dirty="0">
                <a:solidFill>
                  <a:schemeClr val="accent2"/>
                </a:solidFill>
              </a:rPr>
              <a:t>12  •  PRACTICE &amp; QUICK REFERENCE</a:t>
            </a:r>
            <a:endParaRPr lang="en-US" sz="1100" dirty="0"/>
          </a:p>
        </p:txBody>
      </p:sp>
      <p:sp>
        <p:nvSpPr>
          <p:cNvPr id="3" name="Text 1"/>
          <p:cNvSpPr/>
          <p:nvPr>
            <p:ph idx="103" type="title" hasCustomPrompt="1"/>
          </p:nvPr>
        </p:nvSpPr>
        <p:spPr>
          <a:xfrm>
            <a:off x="548640" y="548640"/>
            <a:ext cx="10149840" cy="548640"/>
          </a:xfrm>
          <a:prstGeom prst="rect">
            <a:avLst/>
          </a:prstGeom>
          <a:noFill/>
          <a:ln/>
        </p:spPr>
        <p:txBody>
          <a:bodyPr wrap="square" lIns="0" tIns="0" rIns="0" bIns="0" rtlCol="0" anchor="ctr"/>
          <a:lstStyle/>
          <a:p>
            <a:pPr algn="l" indent="0" marL="0">
              <a:buNone/>
            </a:pPr>
            <a:r>
              <a:rPr lang="en-US" sz="2600" b="1" dirty="0">
                <a:solidFill>
                  <a:schemeClr val="accent1"/>
                </a:solidFill>
              </a:rPr>
              <a:t>How to remember the commands: router quick reference</a:t>
            </a:r>
            <a:endParaRPr lang="en-US" sz="2600" dirty="0"/>
          </a:p>
        </p:txBody>
      </p:sp>
      <p:pic>
        <p:nvPicPr>
          <p:cNvPr id="4" name="Home button" descr="Home: back to the workbook menu">
            <a:hlinkClick r:id="rId2" tooltip="Back to the workbook menu" action="ppaction://hlinksldjump"/>
          </p:cNvPr>
          <p:cNvPicPr>
            <a:picLocks noChangeAspect="1"/>
          </p:cNvPicPr>
          <p:nvPr/>
        </p:nvPicPr>
        <p:blipFill>
          <a:blip r:embed="rId1"/>
          <a:stretch>
            <a:fillRect/>
          </a:stretch>
        </p:blipFill>
        <p:spPr>
          <a:xfrm>
            <a:off x="11365992" y="6336792"/>
            <a:ext cx="365760" cy="365760"/>
          </a:xfrm>
          <a:prstGeom prst="rect">
            <a:avLst/>
          </a:prstGeom>
        </p:spPr>
      </p:pic>
      <p:sp>
        <p:nvSpPr>
          <p:cNvPr id="5" name="Goal"/>
          <p:cNvSpPr txBox="1"/>
          <p:nvPr/>
        </p:nvSpPr>
        <p:spPr>
          <a:xfrm>
            <a:off x="548640" y="1161288"/>
            <a:ext cx="11094415" cy="384048"/>
          </a:xfrm>
          <a:prstGeom prst="rect">
            <a:avLst/>
          </a:prstGeom>
          <a:noFill/>
          <a:ln/>
        </p:spPr>
        <p:txBody>
          <a:bodyPr wrap="square" lIns="0" tIns="0" rIns="0" bIns="0" rtlCol="0" anchor="ctr"/>
          <a:lstStyle/>
          <a:p>
            <a:pPr indent="0" marL="0">
              <a:buNone/>
            </a:pPr>
            <a:r>
              <a:rPr lang="en-US" sz="1400" b="1" dirty="0">
                <a:solidFill>
                  <a:srgbClr val="2B7043"/>
                </a:solidFill>
              </a:rPr>
              <a:t>Goal:  </a:t>
            </a:r>
            <a:r>
              <a:rPr lang="en-US" sz="1400" dirty="0">
                <a:solidFill>
                  <a:srgbClr val="2B2B2B"/>
                </a:solidFill>
              </a:rPr>
              <a:t>One page of the router commands used in this workbook. Practise until you no longer need it.</a:t>
            </a:r>
            <a:endParaRPr lang="en-US" sz="1400" dirty="0"/>
          </a:p>
        </p:txBody>
      </p:sp>
      <p:sp>
        <p:nvSpPr>
          <p:cNvPr id="6" name="Shape 3"/>
          <p:cNvSpPr/>
          <p:nvPr/>
        </p:nvSpPr>
        <p:spPr>
          <a:xfrm>
            <a:off x="548640" y="1645920"/>
            <a:ext cx="5446624" cy="2249424"/>
          </a:xfrm>
          <a:prstGeom prst="roundRect">
            <a:avLst>
              <a:gd name="adj" fmla="val 3252"/>
            </a:avLst>
          </a:prstGeom>
          <a:solidFill>
            <a:srgbClr val="F2F8F3"/>
          </a:solidFill>
          <a:ln w="12700">
            <a:solidFill>
              <a:srgbClr val="B7C9BA"/>
            </a:solidFill>
            <a:prstDash val="solid"/>
          </a:ln>
        </p:spPr>
      </p:sp>
      <p:sp>
        <p:nvSpPr>
          <p:cNvPr id="7" name="Shape 4"/>
          <p:cNvSpPr/>
          <p:nvPr/>
        </p:nvSpPr>
        <p:spPr>
          <a:xfrm>
            <a:off x="548640" y="1645920"/>
            <a:ext cx="5446624" cy="411480"/>
          </a:xfrm>
          <a:prstGeom prst="roundRect">
            <a:avLst>
              <a:gd name="adj" fmla="val 17778"/>
            </a:avLst>
          </a:prstGeom>
          <a:solidFill>
            <a:srgbClr val="1E5631"/>
          </a:solidFill>
          <a:ln/>
        </p:spPr>
      </p:sp>
      <p:sp>
        <p:nvSpPr>
          <p:cNvPr id="8" name="Text 5"/>
          <p:cNvSpPr txBox="1"/>
          <p:nvPr/>
        </p:nvSpPr>
        <p:spPr>
          <a:xfrm>
            <a:off x="713232" y="1645920"/>
            <a:ext cx="5172304" cy="411480"/>
          </a:xfrm>
          <a:prstGeom prst="rect">
            <a:avLst/>
          </a:prstGeom>
          <a:noFill/>
          <a:ln/>
        </p:spPr>
        <p:txBody>
          <a:bodyPr wrap="square" lIns="0" tIns="0" rIns="0" bIns="0" rtlCol="0" anchor="ctr"/>
          <a:lstStyle/>
          <a:p>
            <a:pPr indent="0" marL="0">
              <a:buNone/>
            </a:pPr>
            <a:r>
              <a:rPr lang="en-US" sz="1400" b="1" dirty="0">
                <a:solidFill>
                  <a:srgbClr val="FFFFFF"/>
                </a:solidFill>
              </a:rPr>
              <a:t>Interfaces and SSH</a:t>
            </a:r>
            <a:endParaRPr lang="en-US" sz="1400" dirty="0"/>
          </a:p>
        </p:txBody>
      </p:sp>
      <p:sp>
        <p:nvSpPr>
          <p:cNvPr id="9" name="Text 6"/>
          <p:cNvSpPr txBox="1"/>
          <p:nvPr/>
        </p:nvSpPr>
        <p:spPr>
          <a:xfrm>
            <a:off x="713232" y="2157984"/>
            <a:ext cx="5117440" cy="1664208"/>
          </a:xfrm>
          <a:prstGeom prst="rect">
            <a:avLst/>
          </a:prstGeom>
          <a:noFill/>
          <a:ln/>
        </p:spPr>
        <p:txBody>
          <a:bodyPr wrap="square" lIns="0" tIns="0" rIns="0" bIns="0" rtlCol="0" anchor="t"/>
          <a:lstStyle/>
          <a:p>
            <a:pPr indent="0" marL="0">
              <a:buNone/>
            </a:pPr>
            <a:r>
              <a:rPr lang="en-US" sz="1100" b="1" dirty="0">
                <a:solidFill>
                  <a:srgbClr val="1E5631"/>
                </a:solidFill>
                <a:latin typeface="Courier New" pitchFamily="34" charset="0"/>
                <a:ea typeface="Courier New" pitchFamily="34" charset="-122"/>
                <a:cs typeface="Courier New" pitchFamily="34" charset="-120"/>
              </a:rPr>
              <a:t>interface g0/0/0</a:t>
            </a:r>
            <a:endParaRPr lang="en-US" sz="1100" dirty="0"/>
          </a:p>
          <a:p>
            <a:pPr indent="0" marL="0">
              <a:buNone/>
            </a:pPr>
            <a:r>
              <a:rPr lang="en-US" sz="1100" dirty="0">
                <a:solidFill>
                  <a:srgbClr val="1E5631"/>
                </a:solidFill>
                <a:latin typeface="Courier New" pitchFamily="34" charset="0"/>
                <a:ea typeface="Courier New" pitchFamily="34" charset="-122"/>
                <a:cs typeface="Courier New" pitchFamily="34" charset="-120"/>
              </a:rPr>
              <a:t> ip address &lt;ip&gt; &lt;mask&gt;</a:t>
            </a:r>
            <a:endParaRPr lang="en-US" sz="1100" dirty="0"/>
          </a:p>
          <a:p>
            <a:pPr indent="0" marL="0">
              <a:buNone/>
            </a:pPr>
            <a:r>
              <a:rPr lang="en-US" sz="1100" dirty="0">
                <a:solidFill>
                  <a:srgbClr val="1E5631"/>
                </a:solidFill>
                <a:latin typeface="Courier New" pitchFamily="34" charset="0"/>
                <a:ea typeface="Courier New" pitchFamily="34" charset="-122"/>
                <a:cs typeface="Courier New" pitchFamily="34" charset="-120"/>
              </a:rPr>
              <a:t> no shutdown</a:t>
            </a:r>
            <a:endParaRPr lang="en-US" sz="1100" dirty="0"/>
          </a:p>
          <a:p>
            <a:pPr indent="0" marL="0">
              <a:buNone/>
            </a:pPr>
            <a:r>
              <a:rPr lang="en-US" sz="1100" b="1" dirty="0">
                <a:solidFill>
                  <a:srgbClr val="1E5631"/>
                </a:solidFill>
                <a:latin typeface="Courier New" pitchFamily="34" charset="0"/>
                <a:ea typeface="Courier New" pitchFamily="34" charset="-122"/>
                <a:cs typeface="Courier New" pitchFamily="34" charset="-120"/>
              </a:rPr>
              <a:t>interface g0/0/1.10</a:t>
            </a:r>
            <a:endParaRPr lang="en-US" sz="1100" dirty="0"/>
          </a:p>
          <a:p>
            <a:pPr indent="0" marL="0">
              <a:buNone/>
            </a:pPr>
            <a:r>
              <a:rPr lang="en-US" sz="1100" dirty="0">
                <a:solidFill>
                  <a:srgbClr val="1E5631"/>
                </a:solidFill>
                <a:latin typeface="Courier New" pitchFamily="34" charset="0"/>
                <a:ea typeface="Courier New" pitchFamily="34" charset="-122"/>
                <a:cs typeface="Courier New" pitchFamily="34" charset="-120"/>
              </a:rPr>
              <a:t> encapsulation dot1Q 10</a:t>
            </a:r>
            <a:endParaRPr lang="en-US" sz="1100" dirty="0"/>
          </a:p>
          <a:p>
            <a:pPr indent="0" marL="0">
              <a:buNone/>
            </a:pPr>
            <a:r>
              <a:rPr lang="en-US" sz="1100" b="1" dirty="0">
                <a:solidFill>
                  <a:srgbClr val="1E5631"/>
                </a:solidFill>
                <a:latin typeface="Courier New" pitchFamily="34" charset="0"/>
                <a:ea typeface="Courier New" pitchFamily="34" charset="-122"/>
                <a:cs typeface="Courier New" pitchFamily="34" charset="-120"/>
              </a:rPr>
              <a:t>ip domain-name &lt;domain&gt;</a:t>
            </a:r>
            <a:endParaRPr lang="en-US" sz="1100" dirty="0"/>
          </a:p>
          <a:p>
            <a:pPr indent="0" marL="0">
              <a:buNone/>
            </a:pPr>
            <a:r>
              <a:rPr lang="en-US" sz="1100" b="1" dirty="0">
                <a:solidFill>
                  <a:srgbClr val="1E5631"/>
                </a:solidFill>
                <a:latin typeface="Courier New" pitchFamily="34" charset="0"/>
                <a:ea typeface="Courier New" pitchFamily="34" charset="-122"/>
                <a:cs typeface="Courier New" pitchFamily="34" charset="-120"/>
              </a:rPr>
              <a:t>crypto key generate rsa general-keys modulus 1024</a:t>
            </a:r>
            <a:endParaRPr lang="en-US" sz="1100" dirty="0"/>
          </a:p>
          <a:p>
            <a:pPr indent="0" marL="0">
              <a:buNone/>
            </a:pPr>
            <a:r>
              <a:rPr lang="en-US" sz="1100" b="1" dirty="0">
                <a:solidFill>
                  <a:srgbClr val="1E5631"/>
                </a:solidFill>
                <a:latin typeface="Courier New" pitchFamily="34" charset="0"/>
                <a:ea typeface="Courier New" pitchFamily="34" charset="-122"/>
                <a:cs typeface="Courier New" pitchFamily="34" charset="-120"/>
              </a:rPr>
              <a:t>line vty 0 4</a:t>
            </a:r>
            <a:endParaRPr lang="en-US" sz="1100" dirty="0"/>
          </a:p>
          <a:p>
            <a:pPr indent="0" marL="0">
              <a:buNone/>
            </a:pPr>
            <a:r>
              <a:rPr lang="en-US" sz="1100" dirty="0">
                <a:solidFill>
                  <a:srgbClr val="1E5631"/>
                </a:solidFill>
                <a:latin typeface="Courier New" pitchFamily="34" charset="0"/>
                <a:ea typeface="Courier New" pitchFamily="34" charset="-122"/>
                <a:cs typeface="Courier New" pitchFamily="34" charset="-120"/>
              </a:rPr>
              <a:t> transport input ssh</a:t>
            </a:r>
            <a:endParaRPr lang="en-US" sz="1100" dirty="0"/>
          </a:p>
          <a:p>
            <a:pPr indent="0" marL="0">
              <a:buNone/>
            </a:pPr>
            <a:r>
              <a:rPr lang="en-US" sz="1100" dirty="0">
                <a:solidFill>
                  <a:srgbClr val="1E5631"/>
                </a:solidFill>
                <a:latin typeface="Courier New" pitchFamily="34" charset="0"/>
                <a:ea typeface="Courier New" pitchFamily="34" charset="-122"/>
                <a:cs typeface="Courier New" pitchFamily="34" charset="-120"/>
              </a:rPr>
              <a:t> login local</a:t>
            </a:r>
            <a:endParaRPr lang="en-US" sz="1100" dirty="0"/>
          </a:p>
        </p:txBody>
      </p:sp>
      <p:sp>
        <p:nvSpPr>
          <p:cNvPr id="10" name="Shape 7"/>
          <p:cNvSpPr/>
          <p:nvPr/>
        </p:nvSpPr>
        <p:spPr>
          <a:xfrm>
            <a:off x="6196432" y="1645920"/>
            <a:ext cx="5446624" cy="2249424"/>
          </a:xfrm>
          <a:prstGeom prst="roundRect">
            <a:avLst>
              <a:gd name="adj" fmla="val 3252"/>
            </a:avLst>
          </a:prstGeom>
          <a:solidFill>
            <a:srgbClr val="F2F8F3"/>
          </a:solidFill>
          <a:ln w="12700">
            <a:solidFill>
              <a:srgbClr val="B7C9BA"/>
            </a:solidFill>
            <a:prstDash val="solid"/>
          </a:ln>
        </p:spPr>
      </p:sp>
      <p:sp>
        <p:nvSpPr>
          <p:cNvPr id="11" name="Shape 8"/>
          <p:cNvSpPr/>
          <p:nvPr/>
        </p:nvSpPr>
        <p:spPr>
          <a:xfrm>
            <a:off x="6196432" y="1645920"/>
            <a:ext cx="5446624" cy="411480"/>
          </a:xfrm>
          <a:prstGeom prst="roundRect">
            <a:avLst>
              <a:gd name="adj" fmla="val 17778"/>
            </a:avLst>
          </a:prstGeom>
          <a:solidFill>
            <a:srgbClr val="1E5631"/>
          </a:solidFill>
          <a:ln/>
        </p:spPr>
      </p:sp>
      <p:sp>
        <p:nvSpPr>
          <p:cNvPr id="12" name="Text 9"/>
          <p:cNvSpPr txBox="1"/>
          <p:nvPr/>
        </p:nvSpPr>
        <p:spPr>
          <a:xfrm>
            <a:off x="6361024" y="1645920"/>
            <a:ext cx="5172304" cy="411480"/>
          </a:xfrm>
          <a:prstGeom prst="rect">
            <a:avLst/>
          </a:prstGeom>
          <a:noFill/>
          <a:ln/>
        </p:spPr>
        <p:txBody>
          <a:bodyPr wrap="square" lIns="0" tIns="0" rIns="0" bIns="0" rtlCol="0" anchor="ctr"/>
          <a:lstStyle/>
          <a:p>
            <a:pPr indent="0" marL="0">
              <a:buNone/>
            </a:pPr>
            <a:r>
              <a:rPr lang="en-US" sz="1400" b="1" dirty="0">
                <a:solidFill>
                  <a:srgbClr val="FFFFFF"/>
                </a:solidFill>
              </a:rPr>
              <a:t>Routing</a:t>
            </a:r>
            <a:endParaRPr lang="en-US" sz="1400" dirty="0"/>
          </a:p>
        </p:txBody>
      </p:sp>
      <p:sp>
        <p:nvSpPr>
          <p:cNvPr id="13" name="Text 10"/>
          <p:cNvSpPr txBox="1"/>
          <p:nvPr/>
        </p:nvSpPr>
        <p:spPr>
          <a:xfrm>
            <a:off x="6361024" y="2157984"/>
            <a:ext cx="5117440" cy="1664208"/>
          </a:xfrm>
          <a:prstGeom prst="rect">
            <a:avLst/>
          </a:prstGeom>
          <a:noFill/>
          <a:ln/>
        </p:spPr>
        <p:txBody>
          <a:bodyPr wrap="square" lIns="0" tIns="0" rIns="0" bIns="0" rtlCol="0" anchor="t"/>
          <a:lstStyle/>
          <a:p>
            <a:pPr indent="0" marL="0">
              <a:buNone/>
            </a:pPr>
            <a:r>
              <a:rPr lang="en-US" sz="1200" b="1" dirty="0">
                <a:solidFill>
                  <a:srgbClr val="1E5631"/>
                </a:solidFill>
                <a:latin typeface="Courier New" pitchFamily="34" charset="0"/>
                <a:ea typeface="Courier New" pitchFamily="34" charset="-122"/>
                <a:cs typeface="Courier New" pitchFamily="34" charset="-120"/>
              </a:rPr>
              <a:t>ip route &lt;network&gt; &lt;mask&gt; &lt;next-hop&gt;</a:t>
            </a:r>
            <a:endParaRPr lang="en-US" sz="1200" dirty="0"/>
          </a:p>
          <a:p>
            <a:pPr indent="0" marL="0">
              <a:buNone/>
            </a:pPr>
            <a:r>
              <a:rPr lang="en-US" sz="1200" b="1" dirty="0">
                <a:solidFill>
                  <a:srgbClr val="1E5631"/>
                </a:solidFill>
                <a:latin typeface="Courier New" pitchFamily="34" charset="0"/>
                <a:ea typeface="Courier New" pitchFamily="34" charset="-122"/>
                <a:cs typeface="Courier New" pitchFamily="34" charset="-120"/>
              </a:rPr>
              <a:t>ip route 0.0.0.0 0.0.0.0 &lt;isp-address&gt;</a:t>
            </a:r>
            <a:endParaRPr lang="en-US" sz="1200" dirty="0"/>
          </a:p>
          <a:p>
            <a:pPr indent="0" marL="0">
              <a:buNone/>
            </a:pPr>
            <a:r>
              <a:rPr lang="en-US" sz="1200" b="1" dirty="0">
                <a:solidFill>
                  <a:srgbClr val="1E5631"/>
                </a:solidFill>
                <a:latin typeface="Courier New" pitchFamily="34" charset="0"/>
                <a:ea typeface="Courier New" pitchFamily="34" charset="-122"/>
                <a:cs typeface="Courier New" pitchFamily="34" charset="-120"/>
              </a:rPr>
              <a:t>router ospf 10</a:t>
            </a:r>
            <a:endParaRPr lang="en-US" sz="1200" dirty="0"/>
          </a:p>
          <a:p>
            <a:pPr indent="0" marL="0">
              <a:buNone/>
            </a:pPr>
            <a:r>
              <a:rPr lang="en-US" sz="1200" dirty="0">
                <a:solidFill>
                  <a:srgbClr val="1E5631"/>
                </a:solidFill>
                <a:latin typeface="Courier New" pitchFamily="34" charset="0"/>
                <a:ea typeface="Courier New" pitchFamily="34" charset="-122"/>
                <a:cs typeface="Courier New" pitchFamily="34" charset="-120"/>
              </a:rPr>
              <a:t> router-id 1.1.1.1</a:t>
            </a:r>
            <a:endParaRPr lang="en-US" sz="1200" dirty="0"/>
          </a:p>
          <a:p>
            <a:pPr indent="0" marL="0">
              <a:buNone/>
            </a:pPr>
            <a:r>
              <a:rPr lang="en-US" sz="1200" dirty="0">
                <a:solidFill>
                  <a:srgbClr val="1E5631"/>
                </a:solidFill>
                <a:latin typeface="Courier New" pitchFamily="34" charset="0"/>
                <a:ea typeface="Courier New" pitchFamily="34" charset="-122"/>
                <a:cs typeface="Courier New" pitchFamily="34" charset="-120"/>
              </a:rPr>
              <a:t> network &lt;network&gt; &lt;wildcard&gt; area 0</a:t>
            </a:r>
            <a:endParaRPr lang="en-US" sz="1200" dirty="0"/>
          </a:p>
          <a:p>
            <a:pPr indent="0" marL="0">
              <a:buNone/>
            </a:pPr>
            <a:r>
              <a:rPr lang="en-US" sz="1200" dirty="0">
                <a:solidFill>
                  <a:srgbClr val="1E5631"/>
                </a:solidFill>
                <a:latin typeface="Courier New" pitchFamily="34" charset="0"/>
                <a:ea typeface="Courier New" pitchFamily="34" charset="-122"/>
                <a:cs typeface="Courier New" pitchFamily="34" charset="-120"/>
              </a:rPr>
              <a:t> passive-interface g0/0/0</a:t>
            </a:r>
            <a:endParaRPr lang="en-US" sz="1200" dirty="0"/>
          </a:p>
          <a:p>
            <a:pPr indent="0" marL="0">
              <a:buNone/>
            </a:pPr>
            <a:r>
              <a:rPr lang="en-US" sz="1200" b="1" dirty="0">
                <a:solidFill>
                  <a:srgbClr val="1E5631"/>
                </a:solidFill>
                <a:latin typeface="Courier New" pitchFamily="34" charset="0"/>
                <a:ea typeface="Courier New" pitchFamily="34" charset="-122"/>
                <a:cs typeface="Courier New" pitchFamily="34" charset="-120"/>
              </a:rPr>
              <a:t>router eigrp 100</a:t>
            </a:r>
            <a:endParaRPr lang="en-US" sz="1200" dirty="0"/>
          </a:p>
          <a:p>
            <a:pPr indent="0" marL="0">
              <a:buNone/>
            </a:pPr>
            <a:r>
              <a:rPr lang="en-US" sz="1200" b="1" dirty="0">
                <a:solidFill>
                  <a:srgbClr val="1E5631"/>
                </a:solidFill>
                <a:latin typeface="Courier New" pitchFamily="34" charset="0"/>
                <a:ea typeface="Courier New" pitchFamily="34" charset="-122"/>
                <a:cs typeface="Courier New" pitchFamily="34" charset="-120"/>
              </a:rPr>
              <a:t>router rip</a:t>
            </a:r>
            <a:endParaRPr lang="en-US" sz="1200" dirty="0"/>
          </a:p>
          <a:p>
            <a:pPr indent="0" marL="0">
              <a:buNone/>
            </a:pPr>
            <a:r>
              <a:rPr lang="en-US" sz="1200" b="1" dirty="0">
                <a:solidFill>
                  <a:srgbClr val="1E5631"/>
                </a:solidFill>
                <a:latin typeface="Courier New" pitchFamily="34" charset="0"/>
                <a:ea typeface="Courier New" pitchFamily="34" charset="-122"/>
                <a:cs typeface="Courier New" pitchFamily="34" charset="-120"/>
              </a:rPr>
              <a:t>ipv6 unicast-routing</a:t>
            </a:r>
            <a:endParaRPr lang="en-US" sz="1200" dirty="0"/>
          </a:p>
        </p:txBody>
      </p:sp>
      <p:sp>
        <p:nvSpPr>
          <p:cNvPr id="14" name="Shape 11"/>
          <p:cNvSpPr/>
          <p:nvPr/>
        </p:nvSpPr>
        <p:spPr>
          <a:xfrm>
            <a:off x="548640" y="4096512"/>
            <a:ext cx="5446624" cy="2249424"/>
          </a:xfrm>
          <a:prstGeom prst="roundRect">
            <a:avLst>
              <a:gd name="adj" fmla="val 3252"/>
            </a:avLst>
          </a:prstGeom>
          <a:solidFill>
            <a:srgbClr val="F2F8F3"/>
          </a:solidFill>
          <a:ln w="12700">
            <a:solidFill>
              <a:srgbClr val="B7C9BA"/>
            </a:solidFill>
            <a:prstDash val="solid"/>
          </a:ln>
        </p:spPr>
      </p:sp>
      <p:sp>
        <p:nvSpPr>
          <p:cNvPr id="15" name="Shape 12"/>
          <p:cNvSpPr/>
          <p:nvPr/>
        </p:nvSpPr>
        <p:spPr>
          <a:xfrm>
            <a:off x="548640" y="4096512"/>
            <a:ext cx="5446624" cy="411480"/>
          </a:xfrm>
          <a:prstGeom prst="roundRect">
            <a:avLst>
              <a:gd name="adj" fmla="val 17778"/>
            </a:avLst>
          </a:prstGeom>
          <a:solidFill>
            <a:srgbClr val="1E5631"/>
          </a:solidFill>
          <a:ln/>
        </p:spPr>
      </p:sp>
      <p:sp>
        <p:nvSpPr>
          <p:cNvPr id="16" name="Text 13"/>
          <p:cNvSpPr txBox="1"/>
          <p:nvPr/>
        </p:nvSpPr>
        <p:spPr>
          <a:xfrm>
            <a:off x="713232" y="4096512"/>
            <a:ext cx="5172304" cy="411480"/>
          </a:xfrm>
          <a:prstGeom prst="rect">
            <a:avLst/>
          </a:prstGeom>
          <a:noFill/>
          <a:ln/>
        </p:spPr>
        <p:txBody>
          <a:bodyPr wrap="square" lIns="0" tIns="0" rIns="0" bIns="0" rtlCol="0" anchor="ctr"/>
          <a:lstStyle/>
          <a:p>
            <a:pPr indent="0" marL="0">
              <a:buNone/>
            </a:pPr>
            <a:r>
              <a:rPr lang="en-US" sz="1400" b="1" dirty="0">
                <a:solidFill>
                  <a:srgbClr val="FFFFFF"/>
                </a:solidFill>
              </a:rPr>
              <a:t>DHCP, NAT, ACL</a:t>
            </a:r>
            <a:endParaRPr lang="en-US" sz="1400" dirty="0"/>
          </a:p>
        </p:txBody>
      </p:sp>
      <p:sp>
        <p:nvSpPr>
          <p:cNvPr id="17" name="Text 14"/>
          <p:cNvSpPr txBox="1"/>
          <p:nvPr/>
        </p:nvSpPr>
        <p:spPr>
          <a:xfrm>
            <a:off x="713232" y="4608576"/>
            <a:ext cx="5117440" cy="1664208"/>
          </a:xfrm>
          <a:prstGeom prst="rect">
            <a:avLst/>
          </a:prstGeom>
          <a:noFill/>
          <a:ln/>
        </p:spPr>
        <p:txBody>
          <a:bodyPr wrap="square" lIns="0" tIns="0" rIns="0" bIns="0" rtlCol="0" anchor="t"/>
          <a:lstStyle/>
          <a:p>
            <a:pPr indent="0" marL="0">
              <a:buNone/>
            </a:pPr>
            <a:r>
              <a:rPr lang="en-US" sz="1200" b="1" dirty="0">
                <a:solidFill>
                  <a:srgbClr val="1E5631"/>
                </a:solidFill>
                <a:latin typeface="Courier New" pitchFamily="34" charset="0"/>
                <a:ea typeface="Courier New" pitchFamily="34" charset="-122"/>
                <a:cs typeface="Courier New" pitchFamily="34" charset="-120"/>
              </a:rPr>
              <a:t>ip dhcp excluded-address &lt;first&gt; &lt;last&gt;</a:t>
            </a:r>
            <a:endParaRPr lang="en-US" sz="1200" dirty="0"/>
          </a:p>
          <a:p>
            <a:pPr indent="0" marL="0">
              <a:buNone/>
            </a:pPr>
            <a:r>
              <a:rPr lang="en-US" sz="1200" b="1" dirty="0">
                <a:solidFill>
                  <a:srgbClr val="1E5631"/>
                </a:solidFill>
                <a:latin typeface="Courier New" pitchFamily="34" charset="0"/>
                <a:ea typeface="Courier New" pitchFamily="34" charset="-122"/>
                <a:cs typeface="Courier New" pitchFamily="34" charset="-120"/>
              </a:rPr>
              <a:t>ip dhcp pool &lt;NAME&gt;</a:t>
            </a:r>
            <a:endParaRPr lang="en-US" sz="1200" dirty="0"/>
          </a:p>
          <a:p>
            <a:pPr indent="0" marL="0">
              <a:buNone/>
            </a:pPr>
            <a:r>
              <a:rPr lang="en-US" sz="1200" dirty="0">
                <a:solidFill>
                  <a:srgbClr val="1E5631"/>
                </a:solidFill>
                <a:latin typeface="Courier New" pitchFamily="34" charset="0"/>
                <a:ea typeface="Courier New" pitchFamily="34" charset="-122"/>
                <a:cs typeface="Courier New" pitchFamily="34" charset="-120"/>
              </a:rPr>
              <a:t> network &lt;network&gt; &lt;mask&gt;</a:t>
            </a:r>
            <a:endParaRPr lang="en-US" sz="1200" dirty="0"/>
          </a:p>
          <a:p>
            <a:pPr indent="0" marL="0">
              <a:buNone/>
            </a:pPr>
            <a:r>
              <a:rPr lang="en-US" sz="1200" dirty="0">
                <a:solidFill>
                  <a:srgbClr val="1E5631"/>
                </a:solidFill>
                <a:latin typeface="Courier New" pitchFamily="34" charset="0"/>
                <a:ea typeface="Courier New" pitchFamily="34" charset="-122"/>
                <a:cs typeface="Courier New" pitchFamily="34" charset="-120"/>
              </a:rPr>
              <a:t> default-router &lt;gateway&gt;</a:t>
            </a:r>
            <a:endParaRPr lang="en-US" sz="1200" dirty="0"/>
          </a:p>
          <a:p>
            <a:pPr indent="0" marL="0">
              <a:buNone/>
            </a:pPr>
            <a:r>
              <a:rPr lang="en-US" sz="1200" b="1" dirty="0">
                <a:solidFill>
                  <a:srgbClr val="1E5631"/>
                </a:solidFill>
                <a:latin typeface="Courier New" pitchFamily="34" charset="0"/>
                <a:ea typeface="Courier New" pitchFamily="34" charset="-122"/>
                <a:cs typeface="Courier New" pitchFamily="34" charset="-120"/>
              </a:rPr>
              <a:t>ip helper-address &lt;server&gt;</a:t>
            </a:r>
            <a:endParaRPr lang="en-US" sz="1200" dirty="0"/>
          </a:p>
          <a:p>
            <a:pPr indent="0" marL="0">
              <a:buNone/>
            </a:pPr>
            <a:r>
              <a:rPr lang="en-US" sz="1200" b="1" dirty="0">
                <a:solidFill>
                  <a:srgbClr val="1E5631"/>
                </a:solidFill>
                <a:latin typeface="Courier New" pitchFamily="34" charset="0"/>
                <a:ea typeface="Courier New" pitchFamily="34" charset="-122"/>
                <a:cs typeface="Courier New" pitchFamily="34" charset="-120"/>
              </a:rPr>
              <a:t>ip nat inside   |   ip nat outside</a:t>
            </a:r>
            <a:endParaRPr lang="en-US" sz="1200" dirty="0"/>
          </a:p>
          <a:p>
            <a:pPr indent="0" marL="0">
              <a:buNone/>
            </a:pPr>
            <a:r>
              <a:rPr lang="en-US" sz="1200" b="1" dirty="0">
                <a:solidFill>
                  <a:srgbClr val="1E5631"/>
                </a:solidFill>
                <a:latin typeface="Courier New" pitchFamily="34" charset="0"/>
                <a:ea typeface="Courier New" pitchFamily="34" charset="-122"/>
                <a:cs typeface="Courier New" pitchFamily="34" charset="-120"/>
              </a:rPr>
              <a:t>ip nat inside source list 1 interface g0/0/2 overload</a:t>
            </a:r>
            <a:endParaRPr lang="en-US" sz="1200" dirty="0"/>
          </a:p>
          <a:p>
            <a:pPr indent="0" marL="0">
              <a:buNone/>
            </a:pPr>
            <a:r>
              <a:rPr lang="en-US" sz="1200" b="1" dirty="0">
                <a:solidFill>
                  <a:srgbClr val="1E5631"/>
                </a:solidFill>
                <a:latin typeface="Courier New" pitchFamily="34" charset="0"/>
                <a:ea typeface="Courier New" pitchFamily="34" charset="-122"/>
                <a:cs typeface="Courier New" pitchFamily="34" charset="-120"/>
              </a:rPr>
              <a:t>ip access-group &lt;ACL&gt; in</a:t>
            </a:r>
            <a:endParaRPr lang="en-US" sz="1200" dirty="0"/>
          </a:p>
        </p:txBody>
      </p:sp>
      <p:sp>
        <p:nvSpPr>
          <p:cNvPr id="18" name="Shape 15"/>
          <p:cNvSpPr/>
          <p:nvPr/>
        </p:nvSpPr>
        <p:spPr>
          <a:xfrm>
            <a:off x="6196432" y="4096512"/>
            <a:ext cx="5446624" cy="2249424"/>
          </a:xfrm>
          <a:prstGeom prst="roundRect">
            <a:avLst>
              <a:gd name="adj" fmla="val 3252"/>
            </a:avLst>
          </a:prstGeom>
          <a:solidFill>
            <a:srgbClr val="1B2B22"/>
          </a:solidFill>
          <a:ln w="12700">
            <a:solidFill>
              <a:srgbClr val="1B2B22"/>
            </a:solidFill>
            <a:prstDash val="solid"/>
          </a:ln>
        </p:spPr>
      </p:sp>
      <p:sp>
        <p:nvSpPr>
          <p:cNvPr id="19" name="Shape 16"/>
          <p:cNvSpPr/>
          <p:nvPr/>
        </p:nvSpPr>
        <p:spPr>
          <a:xfrm>
            <a:off x="6196432" y="4096512"/>
            <a:ext cx="5446624" cy="411480"/>
          </a:xfrm>
          <a:prstGeom prst="roundRect">
            <a:avLst>
              <a:gd name="adj" fmla="val 17778"/>
            </a:avLst>
          </a:prstGeom>
          <a:solidFill>
            <a:srgbClr val="24663A"/>
          </a:solidFill>
          <a:ln/>
        </p:spPr>
      </p:sp>
      <p:sp>
        <p:nvSpPr>
          <p:cNvPr id="20" name="Text 17"/>
          <p:cNvSpPr txBox="1"/>
          <p:nvPr/>
        </p:nvSpPr>
        <p:spPr>
          <a:xfrm>
            <a:off x="6361024" y="4096512"/>
            <a:ext cx="5172304" cy="411480"/>
          </a:xfrm>
          <a:prstGeom prst="rect">
            <a:avLst/>
          </a:prstGeom>
          <a:noFill/>
          <a:ln/>
        </p:spPr>
        <p:txBody>
          <a:bodyPr wrap="square" lIns="0" tIns="0" rIns="0" bIns="0" rtlCol="0" anchor="ctr"/>
          <a:lstStyle/>
          <a:p>
            <a:pPr indent="0" marL="0">
              <a:buNone/>
            </a:pPr>
            <a:r>
              <a:rPr lang="en-US" sz="1400" b="1" dirty="0">
                <a:solidFill>
                  <a:srgbClr val="FFFFFF"/>
                </a:solidFill>
              </a:rPr>
              <a:t>Check it</a:t>
            </a:r>
            <a:endParaRPr lang="en-US" sz="1400" dirty="0"/>
          </a:p>
        </p:txBody>
      </p:sp>
      <p:sp>
        <p:nvSpPr>
          <p:cNvPr id="21" name="Text 18"/>
          <p:cNvSpPr txBox="1"/>
          <p:nvPr/>
        </p:nvSpPr>
        <p:spPr>
          <a:xfrm>
            <a:off x="6361024" y="4608576"/>
            <a:ext cx="5117440" cy="1664208"/>
          </a:xfrm>
          <a:prstGeom prst="rect">
            <a:avLst/>
          </a:prstGeom>
          <a:noFill/>
          <a:ln/>
        </p:spPr>
        <p:txBody>
          <a:bodyPr wrap="square" lIns="0" tIns="0" rIns="0" bIns="0" rtlCol="0" anchor="t"/>
          <a:lstStyle/>
          <a:p>
            <a:pPr indent="0" marL="0">
              <a:buNone/>
            </a:pPr>
            <a:r>
              <a:rPr lang="en-US" sz="1200" b="1" dirty="0">
                <a:solidFill>
                  <a:srgbClr val="FFFFFF"/>
                </a:solidFill>
                <a:latin typeface="Courier New" pitchFamily="34" charset="0"/>
                <a:ea typeface="Courier New" pitchFamily="34" charset="-122"/>
                <a:cs typeface="Courier New" pitchFamily="34" charset="-120"/>
              </a:rPr>
              <a:t>show ip interface brief</a:t>
            </a:r>
            <a:endParaRPr lang="en-US" sz="1200" dirty="0"/>
          </a:p>
          <a:p>
            <a:pPr indent="0" marL="0">
              <a:buNone/>
            </a:pPr>
            <a:r>
              <a:rPr lang="en-US" sz="1200" b="1" dirty="0">
                <a:solidFill>
                  <a:srgbClr val="FFFFFF"/>
                </a:solidFill>
                <a:latin typeface="Courier New" pitchFamily="34" charset="0"/>
                <a:ea typeface="Courier New" pitchFamily="34" charset="-122"/>
                <a:cs typeface="Courier New" pitchFamily="34" charset="-120"/>
              </a:rPr>
              <a:t>show ip route</a:t>
            </a:r>
            <a:endParaRPr lang="en-US" sz="1200" dirty="0"/>
          </a:p>
          <a:p>
            <a:pPr indent="0" marL="0">
              <a:buNone/>
            </a:pPr>
            <a:r>
              <a:rPr lang="en-US" sz="1200" b="1" dirty="0">
                <a:solidFill>
                  <a:srgbClr val="FFFFFF"/>
                </a:solidFill>
                <a:latin typeface="Courier New" pitchFamily="34" charset="0"/>
                <a:ea typeface="Courier New" pitchFamily="34" charset="-122"/>
                <a:cs typeface="Courier New" pitchFamily="34" charset="-120"/>
              </a:rPr>
              <a:t>show ip protocols</a:t>
            </a:r>
            <a:endParaRPr lang="en-US" sz="1200" dirty="0"/>
          </a:p>
          <a:p>
            <a:pPr indent="0" marL="0">
              <a:buNone/>
            </a:pPr>
            <a:r>
              <a:rPr lang="en-US" sz="1200" b="1" dirty="0">
                <a:solidFill>
                  <a:srgbClr val="FFFFFF"/>
                </a:solidFill>
                <a:latin typeface="Courier New" pitchFamily="34" charset="0"/>
                <a:ea typeface="Courier New" pitchFamily="34" charset="-122"/>
                <a:cs typeface="Courier New" pitchFamily="34" charset="-120"/>
              </a:rPr>
              <a:t>show ip ospf neighbor</a:t>
            </a:r>
            <a:endParaRPr lang="en-US" sz="1200" dirty="0"/>
          </a:p>
          <a:p>
            <a:pPr indent="0" marL="0">
              <a:buNone/>
            </a:pPr>
            <a:r>
              <a:rPr lang="en-US" sz="1200" b="1" dirty="0">
                <a:solidFill>
                  <a:srgbClr val="FFFFFF"/>
                </a:solidFill>
                <a:latin typeface="Courier New" pitchFamily="34" charset="0"/>
                <a:ea typeface="Courier New" pitchFamily="34" charset="-122"/>
                <a:cs typeface="Courier New" pitchFamily="34" charset="-120"/>
              </a:rPr>
              <a:t>show ip dhcp binding</a:t>
            </a:r>
            <a:endParaRPr lang="en-US" sz="1200" dirty="0"/>
          </a:p>
          <a:p>
            <a:pPr indent="0" marL="0">
              <a:buNone/>
            </a:pPr>
            <a:r>
              <a:rPr lang="en-US" sz="1200" b="1" dirty="0">
                <a:solidFill>
                  <a:srgbClr val="FFFFFF"/>
                </a:solidFill>
                <a:latin typeface="Courier New" pitchFamily="34" charset="0"/>
                <a:ea typeface="Courier New" pitchFamily="34" charset="-122"/>
                <a:cs typeface="Courier New" pitchFamily="34" charset="-120"/>
              </a:rPr>
              <a:t>show ip nat translations</a:t>
            </a:r>
            <a:endParaRPr lang="en-US" sz="1200" dirty="0"/>
          </a:p>
          <a:p>
            <a:pPr indent="0" marL="0">
              <a:buNone/>
            </a:pPr>
            <a:r>
              <a:rPr lang="en-US" sz="1200" b="1" dirty="0">
                <a:solidFill>
                  <a:srgbClr val="FFFFFF"/>
                </a:solidFill>
                <a:latin typeface="Courier New" pitchFamily="34" charset="0"/>
                <a:ea typeface="Courier New" pitchFamily="34" charset="-122"/>
                <a:cs typeface="Courier New" pitchFamily="34" charset="-120"/>
              </a:rPr>
              <a:t>show access-lists</a:t>
            </a:r>
            <a:endParaRPr lang="en-US" sz="1200" dirty="0"/>
          </a:p>
          <a:p>
            <a:pPr indent="0" marL="0">
              <a:buNone/>
            </a:pPr>
            <a:r>
              <a:rPr lang="en-US" sz="1200" b="1" dirty="0">
                <a:solidFill>
                  <a:srgbClr val="FFFFFF"/>
                </a:solidFill>
                <a:latin typeface="Courier New" pitchFamily="34" charset="0"/>
                <a:ea typeface="Courier New" pitchFamily="34" charset="-122"/>
                <a:cs typeface="Courier New" pitchFamily="34" charset="-120"/>
              </a:rPr>
              <a:t>show running-config</a:t>
            </a:r>
            <a:endParaRPr lang="en-US" sz="1200" dirty="0"/>
          </a:p>
        </p:txBody>
      </p:sp>
      <p:sp>
        <p:nvSpPr>
          <p:cNvPr id="25" name="Slide Number Placeholder 0"/>
          <p:cNvSpPr>
            <a:spLocks noGrp="1"/>
          </p:cNvSpPr>
          <p:nvPr>
            <p:ph type="sldNum" sz="quarter" idx="4294967295"/>
          </p:nvPr>
        </p:nvSpPr>
        <p:spPr>
          <a:xfrm>
            <a:off x="10698480" y="6464808"/>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r"/>
            <a:fld id="{F7021451-1387-4CA6-816F-3879F97B5CBC}" type="slidenum">
              <a:rPr b="0" lang="en-US"/>
              <a:t>91</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Text 1"/>
          <p:cNvSpPr/>
          <p:nvPr>
            <p:ph idx="101" type="body" hasCustomPrompt="1"/>
          </p:nvPr>
        </p:nvSpPr>
        <p:spPr>
          <a:xfrm>
            <a:off x="548640" y="685800"/>
            <a:ext cx="3200400" cy="1143000"/>
          </a:xfrm>
          <a:prstGeom prst="rect">
            <a:avLst/>
          </a:prstGeom>
          <a:noFill/>
          <a:ln/>
        </p:spPr>
        <p:txBody>
          <a:bodyPr wrap="square" lIns="0" tIns="0" rIns="0" bIns="0" rtlCol="0" anchor="b"/>
          <a:lstStyle/>
          <a:p>
            <a:pPr algn="l" indent="0" marL="0">
              <a:buNone/>
            </a:pPr>
            <a:r>
              <a:rPr lang="en-US" sz="7200" b="1" dirty="0">
                <a:solidFill>
                  <a:schemeClr val="accent3"/>
                </a:solidFill>
                <a:latin typeface="Cambria" pitchFamily="34" charset="0"/>
                <a:ea typeface="Cambria" pitchFamily="34" charset="-122"/>
                <a:cs typeface="Cambria" pitchFamily="34" charset="-120"/>
              </a:rPr>
              <a:t>★</a:t>
            </a:r>
            <a:endParaRPr lang="en-US" sz="7200" dirty="0"/>
          </a:p>
        </p:txBody>
      </p:sp>
      <p:sp>
        <p:nvSpPr>
          <p:cNvPr id="3" name="Text 1"/>
          <p:cNvSpPr/>
          <p:nvPr>
            <p:ph idx="102" type="title" hasCustomPrompt="1"/>
          </p:nvPr>
        </p:nvSpPr>
        <p:spPr>
          <a:xfrm>
            <a:off x="548640" y="2011680"/>
            <a:ext cx="6492240" cy="1600200"/>
          </a:xfrm>
          <a:prstGeom prst="rect">
            <a:avLst/>
          </a:prstGeom>
          <a:noFill/>
          <a:ln/>
        </p:spPr>
        <p:txBody>
          <a:bodyPr wrap="square" lIns="0" tIns="0" rIns="0" bIns="0" rtlCol="0" anchor="t"/>
          <a:lstStyle/>
          <a:p>
            <a:pPr algn="l" indent="0" marL="0">
              <a:buNone/>
            </a:pPr>
            <a:r>
              <a:rPr lang="en-US" sz="3400" b="1" dirty="0">
                <a:solidFill>
                  <a:srgbClr val="FFFFFF"/>
                </a:solidFill>
              </a:rPr>
              <a:t>How to keep improving after this workbook</a:t>
            </a:r>
            <a:endParaRPr lang="en-US" sz="3400" dirty="0"/>
          </a:p>
        </p:txBody>
      </p:sp>
      <p:sp>
        <p:nvSpPr>
          <p:cNvPr id="4" name="Text 1"/>
          <p:cNvSpPr/>
          <p:nvPr>
            <p:ph idx="103" type="body" hasCustomPrompt="1"/>
          </p:nvPr>
        </p:nvSpPr>
        <p:spPr>
          <a:xfrm>
            <a:off x="548640" y="3703320"/>
            <a:ext cx="6309360" cy="1188720"/>
          </a:xfrm>
          <a:prstGeom prst="rect">
            <a:avLst/>
          </a:prstGeom>
          <a:noFill/>
          <a:ln/>
        </p:spPr>
        <p:txBody>
          <a:bodyPr wrap="square" lIns="0" tIns="0" rIns="0" bIns="0" rtlCol="0" anchor="t"/>
          <a:lstStyle/>
          <a:p>
            <a:pPr algn="l" indent="0" marL="0">
              <a:buNone/>
            </a:pPr>
            <a:r>
              <a:rPr lang="en-US" sz="1600" dirty="0">
                <a:solidFill>
                  <a:srgbClr val="CFE3D4"/>
                </a:solidFill>
              </a:rPr>
              <a:t>Competence comes from repetition: rebuild each lab from a blank workspace until you can do it without the slides.</a:t>
            </a:r>
            <a:endParaRPr lang="en-US" sz="1600" dirty="0"/>
          </a:p>
        </p:txBody>
      </p:sp>
      <p:sp>
        <p:nvSpPr>
          <p:cNvPr id="5" name="Shape 3"/>
          <p:cNvSpPr/>
          <p:nvPr/>
        </p:nvSpPr>
        <p:spPr>
          <a:xfrm>
            <a:off x="7452360" y="1234440"/>
            <a:ext cx="4187952" cy="1024128"/>
          </a:xfrm>
          <a:prstGeom prst="roundRect">
            <a:avLst>
              <a:gd name="adj" fmla="val 7143"/>
            </a:avLst>
          </a:prstGeom>
          <a:solidFill>
            <a:srgbClr val="1B2B22">
              <a:alpha val="75000"/>
            </a:srgbClr>
          </a:solidFill>
          <a:ln w="12700">
            <a:solidFill>
              <a:srgbClr val="24663A"/>
            </a:solidFill>
            <a:prstDash val="solid"/>
          </a:ln>
        </p:spPr>
      </p:sp>
      <p:pic>
        <p:nvPicPr>
          <p:cNvPr id="6" name="Image 0" descr="Repeat">    </p:cNvPr>
          <p:cNvPicPr>
            <a:picLocks noChangeAspect="1"/>
          </p:cNvPicPr>
          <p:nvPr/>
        </p:nvPicPr>
        <p:blipFill>
          <a:blip r:embed="rId1"/>
          <a:stretch>
            <a:fillRect/>
          </a:stretch>
        </p:blipFill>
        <p:spPr>
          <a:xfrm>
            <a:off x="7635240" y="1481328"/>
            <a:ext cx="475488" cy="475488"/>
          </a:xfrm>
          <a:prstGeom prst="rect">
            <a:avLst/>
          </a:prstGeom>
        </p:spPr>
      </p:pic>
      <p:sp>
        <p:nvSpPr>
          <p:cNvPr id="7" name="Text 4"/>
          <p:cNvSpPr txBox="1"/>
          <p:nvPr/>
        </p:nvSpPr>
        <p:spPr>
          <a:xfrm>
            <a:off x="8257032" y="1307592"/>
            <a:ext cx="3273552" cy="877824"/>
          </a:xfrm>
          <a:prstGeom prst="rect">
            <a:avLst/>
          </a:prstGeom>
          <a:noFill/>
          <a:ln/>
        </p:spPr>
        <p:txBody>
          <a:bodyPr wrap="square" lIns="0" tIns="0" rIns="0" bIns="0" rtlCol="0" anchor="ctr"/>
          <a:lstStyle/>
          <a:p>
            <a:pPr indent="0" marL="0">
              <a:buNone/>
            </a:pPr>
            <a:r>
              <a:rPr lang="en-US" sz="1300" b="1" dirty="0">
                <a:solidFill>
                  <a:srgbClr val="E8B92E"/>
                </a:solidFill>
              </a:rPr>
              <a:t>Repeat</a:t>
            </a:r>
            <a:endParaRPr lang="en-US" sz="1300" dirty="0"/>
          </a:p>
          <a:p>
            <a:pPr indent="0" marL="0">
              <a:buNone/>
            </a:pPr>
            <a:r>
              <a:rPr lang="en-US" sz="1300" dirty="0">
                <a:solidFill>
                  <a:srgbClr val="FFFFFF"/>
                </a:solidFill>
              </a:rPr>
              <a:t>Rebuild every lab from scratch; time yourself.</a:t>
            </a:r>
            <a:endParaRPr lang="en-US" sz="1300" dirty="0"/>
          </a:p>
        </p:txBody>
      </p:sp>
      <p:sp>
        <p:nvSpPr>
          <p:cNvPr id="8" name="Shape 5"/>
          <p:cNvSpPr/>
          <p:nvPr/>
        </p:nvSpPr>
        <p:spPr>
          <a:xfrm>
            <a:off x="7452360" y="2368296"/>
            <a:ext cx="4187952" cy="1024128"/>
          </a:xfrm>
          <a:prstGeom prst="roundRect">
            <a:avLst>
              <a:gd name="adj" fmla="val 7143"/>
            </a:avLst>
          </a:prstGeom>
          <a:solidFill>
            <a:srgbClr val="1B2B22">
              <a:alpha val="75000"/>
            </a:srgbClr>
          </a:solidFill>
          <a:ln w="12700">
            <a:solidFill>
              <a:srgbClr val="24663A"/>
            </a:solidFill>
            <a:prstDash val="solid"/>
          </a:ln>
        </p:spPr>
      </p:sp>
      <p:pic>
        <p:nvPicPr>
          <p:cNvPr id="9" name="Image 1" descr="Save evidence">    </p:cNvPr>
          <p:cNvPicPr>
            <a:picLocks noChangeAspect="1"/>
          </p:cNvPicPr>
          <p:nvPr/>
        </p:nvPicPr>
        <p:blipFill>
          <a:blip r:embed="rId2"/>
          <a:stretch>
            <a:fillRect/>
          </a:stretch>
        </p:blipFill>
        <p:spPr>
          <a:xfrm>
            <a:off x="7635240" y="2615184"/>
            <a:ext cx="475488" cy="475488"/>
          </a:xfrm>
          <a:prstGeom prst="rect">
            <a:avLst/>
          </a:prstGeom>
        </p:spPr>
      </p:pic>
      <p:sp>
        <p:nvSpPr>
          <p:cNvPr id="10" name="Text 6"/>
          <p:cNvSpPr txBox="1"/>
          <p:nvPr/>
        </p:nvSpPr>
        <p:spPr>
          <a:xfrm>
            <a:off x="8257032" y="2441448"/>
            <a:ext cx="3273552" cy="877824"/>
          </a:xfrm>
          <a:prstGeom prst="rect">
            <a:avLst/>
          </a:prstGeom>
          <a:noFill/>
          <a:ln/>
        </p:spPr>
        <p:txBody>
          <a:bodyPr wrap="square" lIns="0" tIns="0" rIns="0" bIns="0" rtlCol="0" anchor="ctr"/>
          <a:lstStyle/>
          <a:p>
            <a:pPr indent="0" marL="0">
              <a:buNone/>
            </a:pPr>
            <a:r>
              <a:rPr lang="en-US" sz="1300" b="1" dirty="0">
                <a:solidFill>
                  <a:srgbClr val="E8B92E"/>
                </a:solidFill>
              </a:rPr>
              <a:t>Save evidence</a:t>
            </a:r>
            <a:endParaRPr lang="en-US" sz="1300" dirty="0"/>
          </a:p>
          <a:p>
            <a:pPr indent="0" marL="0">
              <a:buNone/>
            </a:pPr>
            <a:r>
              <a:rPr lang="en-US" sz="1300" dirty="0">
                <a:solidFill>
                  <a:srgbClr val="FFFFFF"/>
                </a:solidFill>
              </a:rPr>
              <a:t>Keep each .pkt file and config backup in your portfolio.</a:t>
            </a:r>
            <a:endParaRPr lang="en-US" sz="1300" dirty="0"/>
          </a:p>
        </p:txBody>
      </p:sp>
      <p:sp>
        <p:nvSpPr>
          <p:cNvPr id="11" name="Shape 7"/>
          <p:cNvSpPr/>
          <p:nvPr/>
        </p:nvSpPr>
        <p:spPr>
          <a:xfrm>
            <a:off x="7452360" y="3502152"/>
            <a:ext cx="4187952" cy="1024128"/>
          </a:xfrm>
          <a:prstGeom prst="roundRect">
            <a:avLst>
              <a:gd name="adj" fmla="val 7143"/>
            </a:avLst>
          </a:prstGeom>
          <a:solidFill>
            <a:srgbClr val="1B2B22">
              <a:alpha val="75000"/>
            </a:srgbClr>
          </a:solidFill>
          <a:ln w="12700">
            <a:solidFill>
              <a:srgbClr val="24663A"/>
            </a:solidFill>
            <a:prstDash val="solid"/>
          </a:ln>
        </p:spPr>
      </p:sp>
      <p:pic>
        <p:nvPicPr>
          <p:cNvPr id="12" name="Image 2" descr="Read further">    </p:cNvPr>
          <p:cNvPicPr>
            <a:picLocks noChangeAspect="1"/>
          </p:cNvPicPr>
          <p:nvPr/>
        </p:nvPicPr>
        <p:blipFill>
          <a:blip r:embed="rId3"/>
          <a:stretch>
            <a:fillRect/>
          </a:stretch>
        </p:blipFill>
        <p:spPr>
          <a:xfrm>
            <a:off x="7635240" y="3749040"/>
            <a:ext cx="475488" cy="475488"/>
          </a:xfrm>
          <a:prstGeom prst="rect">
            <a:avLst/>
          </a:prstGeom>
        </p:spPr>
      </p:pic>
      <p:sp>
        <p:nvSpPr>
          <p:cNvPr id="13" name="Text 8"/>
          <p:cNvSpPr txBox="1"/>
          <p:nvPr/>
        </p:nvSpPr>
        <p:spPr>
          <a:xfrm>
            <a:off x="8257032" y="3575304"/>
            <a:ext cx="3273552" cy="877824"/>
          </a:xfrm>
          <a:prstGeom prst="rect">
            <a:avLst/>
          </a:prstGeom>
          <a:noFill/>
          <a:ln/>
        </p:spPr>
        <p:txBody>
          <a:bodyPr wrap="square" lIns="0" tIns="0" rIns="0" bIns="0" rtlCol="0" anchor="ctr"/>
          <a:lstStyle/>
          <a:p>
            <a:pPr indent="0" marL="0">
              <a:buNone/>
            </a:pPr>
            <a:r>
              <a:rPr lang="en-US" sz="1300" b="1" dirty="0">
                <a:solidFill>
                  <a:srgbClr val="E8B92E"/>
                </a:solidFill>
              </a:rPr>
              <a:t>Read further</a:t>
            </a:r>
            <a:endParaRPr lang="en-US" sz="1300" dirty="0"/>
          </a:p>
          <a:p>
            <a:pPr indent="0" marL="0">
              <a:buNone/>
            </a:pPr>
            <a:r>
              <a:rPr lang="en-US" sz="1300" dirty="0">
                <a:solidFill>
                  <a:srgbClr val="FFFFFF"/>
                </a:solidFill>
              </a:rPr>
              <a:t>Cisco Networking Academy: Packet Tracer and CCNA courses; Jeremy’s IT Lab (free CCNA videos).</a:t>
            </a:r>
            <a:endParaRPr lang="en-US" sz="1300" dirty="0"/>
          </a:p>
        </p:txBody>
      </p:sp>
      <p:sp>
        <p:nvSpPr>
          <p:cNvPr id="14" name="Shape 9"/>
          <p:cNvSpPr/>
          <p:nvPr/>
        </p:nvSpPr>
        <p:spPr>
          <a:xfrm>
            <a:off x="7452360" y="4636008"/>
            <a:ext cx="4187952" cy="1024128"/>
          </a:xfrm>
          <a:prstGeom prst="roundRect">
            <a:avLst>
              <a:gd name="adj" fmla="val 7143"/>
            </a:avLst>
          </a:prstGeom>
          <a:solidFill>
            <a:srgbClr val="1B2B22">
              <a:alpha val="75000"/>
            </a:srgbClr>
          </a:solidFill>
          <a:ln w="12700">
            <a:solidFill>
              <a:srgbClr val="24663A"/>
            </a:solidFill>
            <a:prstDash val="solid"/>
          </a:ln>
        </p:spPr>
      </p:sp>
      <p:pic>
        <p:nvPicPr>
          <p:cNvPr id="15" name="Image 3" descr="Ask">    </p:cNvPr>
          <p:cNvPicPr>
            <a:picLocks noChangeAspect="1"/>
          </p:cNvPicPr>
          <p:nvPr/>
        </p:nvPicPr>
        <p:blipFill>
          <a:blip r:embed="rId4"/>
          <a:stretch>
            <a:fillRect/>
          </a:stretch>
        </p:blipFill>
        <p:spPr>
          <a:xfrm>
            <a:off x="7635240" y="4882896"/>
            <a:ext cx="475488" cy="475488"/>
          </a:xfrm>
          <a:prstGeom prst="rect">
            <a:avLst/>
          </a:prstGeom>
        </p:spPr>
      </p:pic>
      <p:sp>
        <p:nvSpPr>
          <p:cNvPr id="16" name="Text 10"/>
          <p:cNvSpPr txBox="1"/>
          <p:nvPr/>
        </p:nvSpPr>
        <p:spPr>
          <a:xfrm>
            <a:off x="8257032" y="4709160"/>
            <a:ext cx="3273552" cy="877824"/>
          </a:xfrm>
          <a:prstGeom prst="rect">
            <a:avLst/>
          </a:prstGeom>
          <a:noFill/>
          <a:ln/>
        </p:spPr>
        <p:txBody>
          <a:bodyPr wrap="square" lIns="0" tIns="0" rIns="0" bIns="0" rtlCol="0" anchor="ctr"/>
          <a:lstStyle/>
          <a:p>
            <a:pPr indent="0" marL="0">
              <a:buNone/>
            </a:pPr>
            <a:r>
              <a:rPr lang="en-US" sz="1300" b="1" dirty="0">
                <a:solidFill>
                  <a:srgbClr val="E8B92E"/>
                </a:solidFill>
              </a:rPr>
              <a:t>Ask</a:t>
            </a:r>
            <a:endParaRPr lang="en-US" sz="1300" dirty="0"/>
          </a:p>
          <a:p>
            <a:pPr indent="0" marL="0">
              <a:buNone/>
            </a:pPr>
            <a:r>
              <a:rPr lang="en-US" sz="1300" dirty="0">
                <a:solidFill>
                  <a:srgbClr val="FFFFFF"/>
                </a:solidFill>
              </a:rPr>
              <a:t>Bring every error message to class — they are the best lessons.</a:t>
            </a:r>
            <a:endParaRPr lang="en-US" sz="1300" dirty="0"/>
          </a:p>
        </p:txBody>
      </p:sp>
      <p:sp>
        <p:nvSpPr>
          <p:cNvPr id="17" name="Text 11"/>
          <p:cNvSpPr txBox="1"/>
          <p:nvPr/>
        </p:nvSpPr>
        <p:spPr>
          <a:xfrm>
            <a:off x="548640" y="5074920"/>
            <a:ext cx="5486400" cy="548640"/>
          </a:xfrm>
          <a:prstGeom prst="rect">
            <a:avLst/>
          </a:prstGeom>
          <a:noFill/>
          <a:ln/>
        </p:spPr>
        <p:txBody>
          <a:bodyPr wrap="square" lIns="0" tIns="0" rIns="0" bIns="0" rtlCol="0" anchor="ctr"/>
          <a:lstStyle/>
          <a:p>
            <a:pPr indent="0" marL="0">
              <a:buNone/>
            </a:pPr>
            <a:r>
              <a:rPr lang="en-US" sz="2800" b="1" dirty="0">
                <a:solidFill>
                  <a:srgbClr val="E8B92E"/>
                </a:solidFill>
                <a:latin typeface="Cambria" pitchFamily="34" charset="0"/>
                <a:ea typeface="Cambria" pitchFamily="34" charset="-122"/>
                <a:cs typeface="Cambria" pitchFamily="34" charset="-120"/>
              </a:rPr>
              <a:t>Questions?</a:t>
            </a:r>
            <a:endParaRPr lang="en-US" sz="2800" dirty="0"/>
          </a:p>
        </p:txBody>
      </p:sp>
      <p:sp>
        <p:nvSpPr>
          <p:cNvPr id="18" name="Shape 12"/>
          <p:cNvSpPr/>
          <p:nvPr/>
        </p:nvSpPr>
        <p:spPr>
          <a:xfrm>
            <a:off x="548640" y="5989320"/>
            <a:ext cx="914400" cy="566928"/>
          </a:xfrm>
          <a:prstGeom prst="roundRect">
            <a:avLst>
              <a:gd name="adj" fmla="val 9677"/>
            </a:avLst>
          </a:prstGeom>
          <a:solidFill>
            <a:srgbClr val="FFFFFF"/>
          </a:solidFill>
          <a:ln/>
        </p:spPr>
      </p:sp>
      <p:pic>
        <p:nvPicPr>
          <p:cNvPr id="19" name="Image 4" descr="Kabete National Polytechnic logo">    </p:cNvPr>
          <p:cNvPicPr>
            <a:picLocks noChangeAspect="1"/>
          </p:cNvPicPr>
          <p:nvPr/>
        </p:nvPicPr>
        <p:blipFill>
          <a:blip r:embed="rId5"/>
          <a:stretch>
            <a:fillRect/>
          </a:stretch>
        </p:blipFill>
        <p:spPr>
          <a:xfrm>
            <a:off x="594360" y="6022175"/>
            <a:ext cx="822960" cy="501218"/>
          </a:xfrm>
          <a:prstGeom prst="rect">
            <a:avLst/>
          </a:prstGeom>
        </p:spPr>
      </p:pic>
      <p:pic>
        <p:nvPicPr>
          <p:cNvPr id="20" name="Home button" descr="Home: back to the workbook menu">
            <a:hlinkClick r:id="rId7" tooltip="Back to the workbook menu" action="ppaction://hlinksldjump"/>
          </p:cNvPr>
          <p:cNvPicPr>
            <a:picLocks noChangeAspect="1"/>
          </p:cNvPicPr>
          <p:nvPr/>
        </p:nvPicPr>
        <p:blipFill>
          <a:blip r:embed="rId6"/>
          <a:stretch>
            <a:fillRect/>
          </a:stretch>
        </p:blipFill>
        <p:spPr>
          <a:xfrm>
            <a:off x="11365992" y="6336792"/>
            <a:ext cx="365760" cy="365760"/>
          </a:xfrm>
          <a:prstGeom prst="rect">
            <a:avLst/>
          </a:prstGeom>
        </p:spPr>
      </p:pic>
      <p:sp>
        <p:nvSpPr>
          <p:cNvPr id="25" name="Slide Number Placeholder 0"/>
          <p:cNvSpPr>
            <a:spLocks noGrp="1"/>
          </p:cNvSpPr>
          <p:nvPr>
            <p:ph type="sldNum" sz="quarter" idx="4294967295"/>
          </p:nvPr>
        </p:nvSpPr>
        <p:spPr>
          <a:xfrm>
            <a:off x="10698480" y="6464808"/>
            <a:ext cx="54864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CFE3D4"/>
                </a:solidFill>
              </a:defRPr>
            </a:lvl1pPr>
          </a:lstStyle>
          <a:p>
            <a:pPr algn="r"/>
            <a:fld id="{F7021451-1387-4CA6-816F-3879F97B5CBC}" type="slidenum">
              <a:rPr b="0" lang="en-US"/>
              <a:t>92</a:t>
            </a:fld>
            <a:endParaRPr lang="en-US"/>
          </a:p>
        </p:txBody>
      </p:sp>
    </p:spTree>
  </p:cSld>
  <p:clrMapOvr>
    <a:masterClrMapping/>
  </p:clrMapOvr>
</p:sld>
</file>

<file path=ppt/theme/theme1.xml><?xml version="1.0" encoding="utf-8"?>
<a:theme xmlns:a="http://schemas.openxmlformats.org/drawingml/2006/main" name="KNP Packet Tracer">
  <a:themeElements>
    <a:clrScheme name="KNP Packet Tracer">
      <a:dk1>
        <a:srgbClr val="2B2B2B"/>
      </a:dk1>
      <a:lt1>
        <a:srgbClr val="FFFFFF"/>
      </a:lt1>
      <a:dk2>
        <a:srgbClr val="1E5631"/>
      </a:dk2>
      <a:lt2>
        <a:srgbClr val="E8F1EA"/>
      </a:lt2>
      <a:accent1>
        <a:srgbClr val="1E5631"/>
      </a:accent1>
      <a:accent2>
        <a:srgbClr val="2B7043"/>
      </a:accent2>
      <a:accent3>
        <a:srgbClr val="E8B92E"/>
      </a:accent3>
      <a:accent4>
        <a:srgbClr val="2B6CB0"/>
      </a:accent4>
      <a:accent5>
        <a:srgbClr val="C05621"/>
      </a:accent5>
      <a:accent6>
        <a:srgbClr val="8B1A1A"/>
      </a:accent6>
      <a:hlink>
        <a:srgbClr val="2B7043"/>
      </a:hlink>
      <a:folHlink>
        <a:srgbClr val="24663A"/>
      </a:folHlink>
    </a:clrScheme>
    <a:fontScheme name="KNP Packet Trac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92</Slides>
  <Notes>92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92</vt:i4>
      </vt:variant>
    </vt:vector>
  </HeadingPairs>
  <TitlesOfParts>
    <vt:vector size="9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vector>
  </TitlesOfParts>
  <Company>Kabete National Polytechnic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to configure switches and routers in Packet Tracer</dc:title>
  <dc:subject>Cisco IOS CLI workbook — Perform Network Design and Management (0612 451 07A), ICT Technician Level 6</dc:subject>
  <dc:creator>Jacob Kimwele</dc:creator>
  <cp:lastModifiedBy>Jacob Kimwele</cp:lastModifiedBy>
  <cp:revision>1</cp:revision>
  <dcterms:created xsi:type="dcterms:W3CDTF">2026-10-06T05:59:57Z</dcterms:created>
  <dcterms:modified xsi:type="dcterms:W3CDTF">2026-10-06T05:59:57Z</dcterms:modified>
</cp:coreProperties>
</file>